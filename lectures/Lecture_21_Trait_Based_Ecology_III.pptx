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f2cfda31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f2cfda31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6e753b3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6e753b3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6e753b35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6e753b35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6e753b35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6e753b35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6e753b35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6e753b35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6e753b35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6e753b35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6e753b35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6e753b35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6e753b35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6e753b35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e753b35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6e753b35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e753b35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6e753b35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6e753b3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6e753b3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6e753b35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6e753b35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6e41bf1c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6e41bf1c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c46ae63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c46ae63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c46ae638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c46ae638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c46ae638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c46ae638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c46ae638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c46ae63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c46ae638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c46ae638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c46ae638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c46ae638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c46ae638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c46ae638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c46ae638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c46ae638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c46ae6383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c46ae638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c46ae638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c46ae638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c46ae638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c46ae638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c46ae638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c46ae638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c46ae638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c46ae638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PFTs make sense: broadleaf in upper right, gramminoid systems in the upper left, needleleaves in the bottom, etc.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c46ae638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4c46ae638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c46ae6383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4c46ae6383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c46ae6383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4c46ae6383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c46ae6383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c46ae6383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c46ae638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c46ae638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c46ae638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c46ae638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4c46ae6383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4c46ae638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c46ae638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4c46ae638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4c46ae638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4c46ae638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c46ae638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4c46ae638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c46ae638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4c46ae638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4c46ae638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4c46ae638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= past, B = difference past vs present, C= difference, past vs future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c46ae638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c46ae638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= how much they spread around P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4c46ae638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4c46ae638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= how much they spread around P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4c46ae638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4c46ae638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part of the equation basically controls the amount of food being fluxed, the other part how far its spread out. Note also that aside from alpha and beta, </a:t>
            </a:r>
            <a:r>
              <a:rPr lang="en"/>
              <a:t>everything</a:t>
            </a:r>
            <a:r>
              <a:rPr lang="en"/>
              <a:t> is correlated with mass, allowing the equation to be simplified as a fx of mass.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4c46ae638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4c46ae638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= how much they spread around P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4c46ae638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4c46ae638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= how much they spread around P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c46ae638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c46ae638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= diffusivity data, B = mean P across amazon basic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4c46ae638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4c46ae638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4c46ae638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4c46ae638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4c46ae6383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4c46ae6383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4c46ae6383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4c46ae638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d180 provides an estimate of the avg temp when photosynthesis occurs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4c46ae6383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4c46ae6383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d180 provides an estimate of the avg temp when photosynthesis occurs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c46ae6383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4c46ae6383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d180 provides an estimate of the avg temp when photosynthesis occurs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4c46ae6383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4c46ae6383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traits are use to understand leaf economics, but can also be used to understand temperature response!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4c46ae6383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4c46ae6383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4c46ae638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4c46ae638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4c46ae6383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4c46ae6383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4c46ae6383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4c46ae6383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4c46ae6383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4c46ae6383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4c46ae6383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4c46ae6383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most of the differences were due to ITV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4c46ae6383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4c46ae6383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due to the large amount of variation explained by ITV, neglecting it would lead to much worse models!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4c46ae6383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4c46ae6383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1.png"/><Relationship Id="rId4" Type="http://schemas.openxmlformats.org/officeDocument/2006/relationships/image" Target="../media/image3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1.png"/><Relationship Id="rId4" Type="http://schemas.openxmlformats.org/officeDocument/2006/relationships/image" Target="../media/image1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Trait-based Ecology III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Traits and ecosystem function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Syllabus update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</a:t>
            </a:r>
            <a:r>
              <a:rPr lang="en"/>
              <a:t> things remaining: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Project 3 (Due Friday)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Group project (due Wed, April 29th in class)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Final: Wed, May 6th from 12:30 to 2:30.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Project 4 (due May 7th, end of semester)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Assignment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Focus: variable/changing ecosystems in Florida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E.g., variation due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Ecological succession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Temporally fluctuating environments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obvious examples might be: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Fire-dependent ecosystems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Tidal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Hurricanes as successional drivers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Ephemeral water bodies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Assignment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your own group  (Groups can be of one person)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in a group gets the same grade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Do/make something that explains your your chosen system to lay people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anything that can convey a message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Possibly bonus points for creativity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Assignment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Products will be presented in class on April 29th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off what you created to the class (and 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group should briefly explain: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you did/created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rationale behind the approach you took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it conveys the underlying concepts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so far?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Due May 7th before midnight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University policies force me to be a bit stricter about the deadlines on this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Feel free to submit early to avoid the end-of-semester crunch!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a research question about community ecology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 alternative research approaches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parts: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Intro (1-2 pages, 4 max)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Methods (</a:t>
            </a:r>
            <a:r>
              <a:rPr b="1" lang="en"/>
              <a:t>funded</a:t>
            </a:r>
            <a:r>
              <a:rPr lang="en"/>
              <a:t> version, 1-2 pages)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Methods (</a:t>
            </a:r>
            <a:r>
              <a:rPr b="1" lang="en"/>
              <a:t>free</a:t>
            </a:r>
            <a:r>
              <a:rPr lang="en"/>
              <a:t> version, 1-2 pages)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Ecology is cool because it can often be done for 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you can usually do even better work with some funding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 here is to think about different approaches to a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set number of references to 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Re-use as much old text as you like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to cite where you need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Worth 15 points (other projects were 10)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on Project 4?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week:</a:t>
            </a:r>
            <a:endParaRPr/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I’ll be out of town, so no class.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I’ll be cutting the lectures on Metacommunities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But they’re posted if you really want to read them…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Full points to everyone for next week’s quizzes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 recommend you use the time to work on the group project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311700" y="117368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focus on traits?</a:t>
            </a:r>
            <a:endParaRPr/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Generality: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Rather than focusing on particular species in particular systems, we can say things </a:t>
            </a:r>
            <a:r>
              <a:rPr lang="en"/>
              <a:t>about all species in all systems (or at least a larger subset of species/systems).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Quantitative: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move from species (categorical) to continuous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Links to mechanism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can focus on traits that are linked to particular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if we want to work on predation, mouth size might be useful.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predictive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 us to say something about potential future scenarios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focus on traits?</a:t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Generality: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Rather than focusing on particular species in particular systems, we can say things about all species in all systems (or at least a larger subset of species/systems).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Quantitative: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move from species (categorical) to continuous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Links to mechanism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can focus on traits that are linked to particular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if we want to work on predation, mouth size might be useful.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predictive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 us to say something about potential future scenarios</a:t>
            </a:r>
            <a:endParaRPr/>
          </a:p>
        </p:txBody>
      </p:sp>
      <p:sp>
        <p:nvSpPr>
          <p:cNvPr id="138" name="Google Shape;138;p27"/>
          <p:cNvSpPr/>
          <p:nvPr/>
        </p:nvSpPr>
        <p:spPr>
          <a:xfrm>
            <a:off x="368675" y="2659950"/>
            <a:ext cx="6471600" cy="78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ecosystem function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Which organisms?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Which traits map onto which services?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much do traits vs </a:t>
            </a:r>
            <a:r>
              <a:rPr lang="en"/>
              <a:t>environment</a:t>
            </a:r>
            <a:r>
              <a:rPr lang="en"/>
              <a:t> matter?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</a:t>
            </a:r>
            <a:r>
              <a:rPr lang="en"/>
              <a:t>people studying?</a:t>
            </a:r>
            <a:endParaRPr/>
          </a:p>
        </p:txBody>
      </p:sp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911999" cy="362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9"/>
          <p:cNvPicPr preferRelativeResize="0"/>
          <p:nvPr/>
        </p:nvPicPr>
        <p:blipFill rotWithShape="1">
          <a:blip r:embed="rId4">
            <a:alphaModFix/>
          </a:blip>
          <a:srcRect b="40002" l="36004" r="19775" t="21270"/>
          <a:stretch/>
        </p:blipFill>
        <p:spPr>
          <a:xfrm>
            <a:off x="6814262" y="83250"/>
            <a:ext cx="2206186" cy="1086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people studying?</a:t>
            </a:r>
            <a:endParaRPr/>
          </a:p>
        </p:txBody>
      </p:sp>
      <p:pic>
        <p:nvPicPr>
          <p:cNvPr id="157" name="Google Shape;1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911999" cy="362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0"/>
          <p:cNvSpPr txBox="1"/>
          <p:nvPr/>
        </p:nvSpPr>
        <p:spPr>
          <a:xfrm>
            <a:off x="5819400" y="3561800"/>
            <a:ext cx="3347700" cy="73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Why might these be what people are studying?</a:t>
            </a:r>
            <a:endParaRPr sz="1800">
              <a:solidFill>
                <a:srgbClr val="980000"/>
              </a:solidFill>
            </a:endParaRPr>
          </a:p>
        </p:txBody>
      </p:sp>
      <p:pic>
        <p:nvPicPr>
          <p:cNvPr id="159" name="Google Shape;159;p30"/>
          <p:cNvPicPr preferRelativeResize="0"/>
          <p:nvPr/>
        </p:nvPicPr>
        <p:blipFill rotWithShape="1">
          <a:blip r:embed="rId4">
            <a:alphaModFix/>
          </a:blip>
          <a:srcRect b="40002" l="36004" r="19775" t="21270"/>
          <a:stretch/>
        </p:blipFill>
        <p:spPr>
          <a:xfrm>
            <a:off x="6814262" y="83250"/>
            <a:ext cx="2206186" cy="1086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people studying?</a:t>
            </a:r>
            <a:endParaRPr/>
          </a:p>
        </p:txBody>
      </p:sp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700" y="159275"/>
            <a:ext cx="3019284" cy="498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1"/>
          <p:cNvPicPr preferRelativeResize="0"/>
          <p:nvPr/>
        </p:nvPicPr>
        <p:blipFill rotWithShape="1">
          <a:blip r:embed="rId4">
            <a:alphaModFix/>
          </a:blip>
          <a:srcRect b="40002" l="36004" r="19775" t="21270"/>
          <a:stretch/>
        </p:blipFill>
        <p:spPr>
          <a:xfrm>
            <a:off x="6774612" y="3839300"/>
            <a:ext cx="2206186" cy="1086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people studying?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700" y="159275"/>
            <a:ext cx="3019284" cy="498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2"/>
          <p:cNvSpPr txBox="1"/>
          <p:nvPr/>
        </p:nvSpPr>
        <p:spPr>
          <a:xfrm>
            <a:off x="942600" y="3714200"/>
            <a:ext cx="3347700" cy="73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Why might these be what people are studying?</a:t>
            </a:r>
            <a:endParaRPr sz="1800">
              <a:solidFill>
                <a:srgbClr val="980000"/>
              </a:solidFill>
            </a:endParaRPr>
          </a:p>
        </p:txBody>
      </p:sp>
      <p:pic>
        <p:nvPicPr>
          <p:cNvPr id="174" name="Google Shape;174;p32"/>
          <p:cNvPicPr preferRelativeResize="0"/>
          <p:nvPr/>
        </p:nvPicPr>
        <p:blipFill rotWithShape="1">
          <a:blip r:embed="rId4">
            <a:alphaModFix/>
          </a:blip>
          <a:srcRect b="40002" l="36004" r="19775" t="21270"/>
          <a:stretch/>
        </p:blipFill>
        <p:spPr>
          <a:xfrm>
            <a:off x="6774612" y="3839300"/>
            <a:ext cx="2206186" cy="1086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people studying?</a:t>
            </a:r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4450"/>
            <a:ext cx="5439050" cy="39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3"/>
          <p:cNvPicPr preferRelativeResize="0"/>
          <p:nvPr/>
        </p:nvPicPr>
        <p:blipFill rotWithShape="1">
          <a:blip r:embed="rId4">
            <a:alphaModFix/>
          </a:blip>
          <a:srcRect b="40002" l="36004" r="19775" t="21270"/>
          <a:stretch/>
        </p:blipFill>
        <p:spPr>
          <a:xfrm>
            <a:off x="6814262" y="83250"/>
            <a:ext cx="2206186" cy="10868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187" name="Google Shape;187;p34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34"/>
          <p:cNvSpPr txBox="1"/>
          <p:nvPr/>
        </p:nvSpPr>
        <p:spPr>
          <a:xfrm>
            <a:off x="288525" y="1211425"/>
            <a:ext cx="5326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Lots of ecosystem </a:t>
            </a:r>
            <a:r>
              <a:rPr lang="en" sz="1800">
                <a:solidFill>
                  <a:schemeClr val="dk2"/>
                </a:solidFill>
              </a:rPr>
              <a:t>functions</a:t>
            </a:r>
            <a:r>
              <a:rPr lang="en" sz="1800">
                <a:solidFill>
                  <a:schemeClr val="dk2"/>
                </a:solidFill>
              </a:rPr>
              <a:t> we might study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Some correlated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Wanted to understand major variation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194" name="Google Shape;194;p35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1046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35"/>
          <p:cNvSpPr txBox="1"/>
          <p:nvPr/>
        </p:nvSpPr>
        <p:spPr>
          <a:xfrm>
            <a:off x="-16275" y="1211425"/>
            <a:ext cx="89697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Ecosystem services measured: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WUEt, variant of water-use efficiency, but based on transpiration estimates</a:t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underlying water-use efficiency (uWUE)</a:t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maximum and mean basal ecosystem respiration (Rbmax and Rb, respectively)</a:t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maximum net ecosystem productivity (NEPmax), </a:t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maximum dry canopy surface conductance (Gsmax)</a:t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maximum gross CO2 uptake at light saturation (GPPsat)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01" name="Google Shape;201;p36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1046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2" name="Google Shape;202;p36"/>
          <p:cNvSpPr txBox="1"/>
          <p:nvPr/>
        </p:nvSpPr>
        <p:spPr>
          <a:xfrm>
            <a:off x="-16275" y="1135225"/>
            <a:ext cx="89697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Continued: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stomatal slope at ecosystem scale (G1)</a:t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maximum evapotranspiration (ETmax), </a:t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EF amplitude (EFampl)</a:t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evaporative fraction (EF) (that is, the ratio between latent heat flux and available energy, indicative of energy partitioning)</a:t>
            </a:r>
            <a:endParaRPr sz="1800">
              <a:solidFill>
                <a:schemeClr val="dk2"/>
              </a:solidFill>
            </a:endParaRPr>
          </a:p>
          <a:p>
            <a:pPr indent="-2286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apparent carbon-use efficiency (aCUE) (that is, the remaining fraction of carbon entering the ecosystem).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9" name="Google Shape;20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512665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15" name="Google Shape;215;p38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6" name="Google Shape;21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512665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8"/>
          <p:cNvSpPr txBox="1"/>
          <p:nvPr/>
        </p:nvSpPr>
        <p:spPr>
          <a:xfrm>
            <a:off x="5279050" y="2737275"/>
            <a:ext cx="3720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80000"/>
                </a:solidFill>
              </a:rPr>
              <a:t>PC1 = maximum ecosystem productivity</a:t>
            </a:r>
            <a:endParaRPr sz="15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80000"/>
                </a:solidFill>
              </a:rPr>
              <a:t>PC2 = ecosystem water-use strategies </a:t>
            </a:r>
            <a:endParaRPr sz="15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80000"/>
                </a:solidFill>
              </a:rPr>
              <a:t>PC3 = ecosystem carbon-use efficiency</a:t>
            </a:r>
            <a:endParaRPr sz="15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23" name="Google Shape;223;p39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4" name="Google Shape;22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512665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9"/>
          <p:cNvSpPr txBox="1"/>
          <p:nvPr/>
        </p:nvSpPr>
        <p:spPr>
          <a:xfrm>
            <a:off x="408750" y="2700275"/>
            <a:ext cx="18309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Max productivity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6" name="Google Shape;226;p39"/>
          <p:cNvSpPr txBox="1"/>
          <p:nvPr/>
        </p:nvSpPr>
        <p:spPr>
          <a:xfrm rot="-5400000">
            <a:off x="-668775" y="1835450"/>
            <a:ext cx="18309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Water use strategy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7" name="Google Shape;227;p39"/>
          <p:cNvSpPr txBox="1"/>
          <p:nvPr/>
        </p:nvSpPr>
        <p:spPr>
          <a:xfrm>
            <a:off x="5615125" y="2267525"/>
            <a:ext cx="34845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CSH =closed shrublands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DBF = deciduous broadleaved forest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DNF = deciduous needleleaf forests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EBF =evergreen broadleaved forest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ENF =evergreen needleleaf forest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GRA =grasslands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MF =mixed forest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OSH =open shrublands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SAV = savannah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WET = wetlands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33" name="Google Shape;233;p40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4" name="Google Shape;234;p40"/>
          <p:cNvSpPr txBox="1"/>
          <p:nvPr/>
        </p:nvSpPr>
        <p:spPr>
          <a:xfrm>
            <a:off x="5615125" y="2267525"/>
            <a:ext cx="34845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CSH =closed shrublands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DBF = deciduous broadleaved forest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DNF = deciduous needleleaf forests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EBF =evergreen broadleaved forest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ENF =evergreen needleleaf forest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GRA =grasslands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MF =mixed forest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OSH =open shrublands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SAV = savannah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WET = wetlands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235" name="Google Shape;23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50" y="1155000"/>
            <a:ext cx="5317576" cy="35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0"/>
          <p:cNvSpPr txBox="1"/>
          <p:nvPr/>
        </p:nvSpPr>
        <p:spPr>
          <a:xfrm rot="-5400000">
            <a:off x="-482100" y="1295700"/>
            <a:ext cx="1318200" cy="35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Max productivity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37" name="Google Shape;237;p40"/>
          <p:cNvSpPr txBox="1"/>
          <p:nvPr/>
        </p:nvSpPr>
        <p:spPr>
          <a:xfrm rot="-5400000">
            <a:off x="-245550" y="2716125"/>
            <a:ext cx="845100" cy="35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Water use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38" name="Google Shape;238;p40"/>
          <p:cNvSpPr txBox="1"/>
          <p:nvPr/>
        </p:nvSpPr>
        <p:spPr>
          <a:xfrm rot="-5400000">
            <a:off x="-299850" y="3954575"/>
            <a:ext cx="953700" cy="35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Carbon</a:t>
            </a:r>
            <a:r>
              <a:rPr lang="en" sz="1100">
                <a:solidFill>
                  <a:schemeClr val="dk2"/>
                </a:solidFill>
              </a:rPr>
              <a:t> use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44" name="Google Shape;244;p41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5" name="Google Shape;245;p41"/>
          <p:cNvSpPr txBox="1"/>
          <p:nvPr/>
        </p:nvSpPr>
        <p:spPr>
          <a:xfrm>
            <a:off x="84475" y="1376575"/>
            <a:ext cx="477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traits best explain this variation?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Compared plant traits vs climate traits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51" name="Google Shape;251;p42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2" name="Google Shape;252;p42"/>
          <p:cNvSpPr txBox="1"/>
          <p:nvPr/>
        </p:nvSpPr>
        <p:spPr>
          <a:xfrm>
            <a:off x="84475" y="1376575"/>
            <a:ext cx="4770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Plant traits: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Nitrogen content (N%)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maximum leaf area index (LAIma</a:t>
            </a:r>
            <a:r>
              <a:rPr lang="en" sz="1800">
                <a:solidFill>
                  <a:schemeClr val="dk2"/>
                </a:solidFill>
              </a:rPr>
              <a:t>x)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maximum canopy height (Hc)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above-ground biomass (AGB)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58" name="Google Shape;258;p43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9" name="Google Shape;259;p43"/>
          <p:cNvSpPr txBox="1"/>
          <p:nvPr/>
        </p:nvSpPr>
        <p:spPr>
          <a:xfrm>
            <a:off x="84475" y="1376575"/>
            <a:ext cx="569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Climate traits</a:t>
            </a:r>
            <a:r>
              <a:rPr b="1" lang="en" sz="1800">
                <a:solidFill>
                  <a:schemeClr val="dk2"/>
                </a:solidFill>
              </a:rPr>
              <a:t>: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cumulative soil water availability index (CSWI),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mean annual precipitation (P)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mean shortwave incoming radiation (SWin)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mean air temperature (Tair)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mean vapour pressure deficit (VPD)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65" name="Google Shape;265;p44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6" name="Google Shape;26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40626"/>
            <a:ext cx="8839204" cy="238244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4"/>
          <p:cNvSpPr txBox="1"/>
          <p:nvPr/>
        </p:nvSpPr>
        <p:spPr>
          <a:xfrm>
            <a:off x="54450" y="4642275"/>
            <a:ext cx="903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80000"/>
                </a:solidFill>
              </a:rPr>
              <a:t>PC1 = maximum ecosystem productivity PC2 = ecosystem water-use strategies  PC3 = ecosystem carbon-use efficiency</a:t>
            </a:r>
            <a:endParaRPr sz="13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 axes</a:t>
            </a:r>
            <a:endParaRPr/>
          </a:p>
        </p:txBody>
      </p:sp>
      <p:pic>
        <p:nvPicPr>
          <p:cNvPr id="273" name="Google Shape;273;p45"/>
          <p:cNvPicPr preferRelativeResize="0"/>
          <p:nvPr/>
        </p:nvPicPr>
        <p:blipFill rotWithShape="1">
          <a:blip r:embed="rId3">
            <a:alphaModFix/>
          </a:blip>
          <a:srcRect b="34378" l="35215" r="16952" t="18659"/>
          <a:stretch/>
        </p:blipFill>
        <p:spPr>
          <a:xfrm>
            <a:off x="5864850" y="257075"/>
            <a:ext cx="3134875" cy="173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4" name="Google Shape;274;p45"/>
          <p:cNvSpPr txBox="1"/>
          <p:nvPr/>
        </p:nvSpPr>
        <p:spPr>
          <a:xfrm>
            <a:off x="183875" y="1285450"/>
            <a:ext cx="477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Note: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These types of studies are always sensitive to which traits, which services, etc.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Still, shows how important traits can be for linking with function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organisms are most important?</a:t>
            </a:r>
            <a:endParaRPr/>
          </a:p>
        </p:txBody>
      </p:sp>
      <p:pic>
        <p:nvPicPr>
          <p:cNvPr id="280" name="Google Shape;280;p46"/>
          <p:cNvPicPr preferRelativeResize="0"/>
          <p:nvPr/>
        </p:nvPicPr>
        <p:blipFill rotWithShape="1">
          <a:blip r:embed="rId3">
            <a:alphaModFix/>
          </a:blip>
          <a:srcRect b="58330" l="33233" r="9755" t="21446"/>
          <a:stretch/>
        </p:blipFill>
        <p:spPr>
          <a:xfrm>
            <a:off x="5105775" y="1017725"/>
            <a:ext cx="3844498" cy="76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1" name="Google Shape;281;p46"/>
          <p:cNvSpPr txBox="1"/>
          <p:nvPr/>
        </p:nvSpPr>
        <p:spPr>
          <a:xfrm>
            <a:off x="334275" y="1369450"/>
            <a:ext cx="5175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Mass ratio hypothesis: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The traits of the species that account for most of the biomass drive functioning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Grime noted that </a:t>
            </a:r>
            <a:r>
              <a:rPr lang="en" sz="1800">
                <a:solidFill>
                  <a:schemeClr val="dk2"/>
                </a:solidFill>
              </a:rPr>
              <a:t>that this only refers to autotrophs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organisms are most important?</a:t>
            </a:r>
            <a:endParaRPr/>
          </a:p>
        </p:txBody>
      </p:sp>
      <p:sp>
        <p:nvSpPr>
          <p:cNvPr id="287" name="Google Shape;287;p47"/>
          <p:cNvSpPr txBox="1"/>
          <p:nvPr/>
        </p:nvSpPr>
        <p:spPr>
          <a:xfrm>
            <a:off x="334275" y="1369450"/>
            <a:ext cx="517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big things </a:t>
            </a:r>
            <a:r>
              <a:rPr lang="en" sz="1800">
                <a:solidFill>
                  <a:schemeClr val="dk2"/>
                </a:solidFill>
              </a:rPr>
              <a:t>drive functions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8" name="Google Shape;288;p47"/>
          <p:cNvPicPr preferRelativeResize="0"/>
          <p:nvPr/>
        </p:nvPicPr>
        <p:blipFill rotWithShape="1">
          <a:blip r:embed="rId3">
            <a:alphaModFix/>
          </a:blip>
          <a:srcRect b="40645" l="34828" r="18113" t="17526"/>
          <a:stretch/>
        </p:blipFill>
        <p:spPr>
          <a:xfrm>
            <a:off x="6336800" y="372000"/>
            <a:ext cx="2659848" cy="1329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9" name="Google Shape;28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874700"/>
            <a:ext cx="5097123" cy="31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organisms are most important?</a:t>
            </a:r>
            <a:endParaRPr/>
          </a:p>
        </p:txBody>
      </p:sp>
      <p:sp>
        <p:nvSpPr>
          <p:cNvPr id="295" name="Google Shape;295;p48"/>
          <p:cNvSpPr txBox="1"/>
          <p:nvPr/>
        </p:nvSpPr>
        <p:spPr>
          <a:xfrm>
            <a:off x="334275" y="1369450"/>
            <a:ext cx="517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big things drive functions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6" name="Google Shape;296;p48"/>
          <p:cNvPicPr preferRelativeResize="0"/>
          <p:nvPr/>
        </p:nvPicPr>
        <p:blipFill rotWithShape="1">
          <a:blip r:embed="rId3">
            <a:alphaModFix/>
          </a:blip>
          <a:srcRect b="40645" l="34828" r="18113" t="17526"/>
          <a:stretch/>
        </p:blipFill>
        <p:spPr>
          <a:xfrm>
            <a:off x="6336800" y="372000"/>
            <a:ext cx="2659848" cy="1329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7" name="Google Shape;29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83550"/>
            <a:ext cx="8839200" cy="264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organisms are most important?</a:t>
            </a:r>
            <a:endParaRPr/>
          </a:p>
        </p:txBody>
      </p:sp>
      <p:sp>
        <p:nvSpPr>
          <p:cNvPr id="303" name="Google Shape;303;p49"/>
          <p:cNvSpPr txBox="1"/>
          <p:nvPr/>
        </p:nvSpPr>
        <p:spPr>
          <a:xfrm>
            <a:off x="334275" y="1369450"/>
            <a:ext cx="517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big things drive functions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4" name="Google Shape;304;p49"/>
          <p:cNvPicPr preferRelativeResize="0"/>
          <p:nvPr/>
        </p:nvPicPr>
        <p:blipFill rotWithShape="1">
          <a:blip r:embed="rId3">
            <a:alphaModFix/>
          </a:blip>
          <a:srcRect b="40645" l="34828" r="18113" t="17526"/>
          <a:stretch/>
        </p:blipFill>
        <p:spPr>
          <a:xfrm>
            <a:off x="6336800" y="372000"/>
            <a:ext cx="2659848" cy="1329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83550"/>
            <a:ext cx="8705825" cy="30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organisms are most important?</a:t>
            </a:r>
            <a:endParaRPr/>
          </a:p>
        </p:txBody>
      </p:sp>
      <p:sp>
        <p:nvSpPr>
          <p:cNvPr id="311" name="Google Shape;311;p50"/>
          <p:cNvSpPr txBox="1"/>
          <p:nvPr/>
        </p:nvSpPr>
        <p:spPr>
          <a:xfrm>
            <a:off x="334275" y="1369450"/>
            <a:ext cx="517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big things drive functions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2" name="Google Shape;312;p50"/>
          <p:cNvPicPr preferRelativeResize="0"/>
          <p:nvPr/>
        </p:nvPicPr>
        <p:blipFill rotWithShape="1">
          <a:blip r:embed="rId3">
            <a:alphaModFix/>
          </a:blip>
          <a:srcRect b="40645" l="34828" r="18113" t="17526"/>
          <a:stretch/>
        </p:blipFill>
        <p:spPr>
          <a:xfrm>
            <a:off x="6336800" y="372000"/>
            <a:ext cx="2659848" cy="1329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765050"/>
            <a:ext cx="3686348" cy="3226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organisms are most important?</a:t>
            </a:r>
            <a:endParaRPr/>
          </a:p>
        </p:txBody>
      </p:sp>
      <p:sp>
        <p:nvSpPr>
          <p:cNvPr id="319" name="Google Shape;319;p51"/>
          <p:cNvSpPr txBox="1"/>
          <p:nvPr/>
        </p:nvSpPr>
        <p:spPr>
          <a:xfrm>
            <a:off x="334275" y="1369450"/>
            <a:ext cx="517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big things drive functions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0" name="Google Shape;320;p51"/>
          <p:cNvPicPr preferRelativeResize="0"/>
          <p:nvPr/>
        </p:nvPicPr>
        <p:blipFill rotWithShape="1">
          <a:blip r:embed="rId3">
            <a:alphaModFix/>
          </a:blip>
          <a:srcRect b="40645" l="34828" r="18113" t="17526"/>
          <a:stretch/>
        </p:blipFill>
        <p:spPr>
          <a:xfrm>
            <a:off x="6336800" y="372000"/>
            <a:ext cx="2659848" cy="1329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1" name="Google Shape;32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100" y="1135450"/>
            <a:ext cx="3936123" cy="3842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Megafauna services</a:t>
            </a:r>
            <a:endParaRPr/>
          </a:p>
        </p:txBody>
      </p:sp>
      <p:pic>
        <p:nvPicPr>
          <p:cNvPr id="327" name="Google Shape;327;p52"/>
          <p:cNvPicPr preferRelativeResize="0"/>
          <p:nvPr/>
        </p:nvPicPr>
        <p:blipFill rotWithShape="1">
          <a:blip r:embed="rId3">
            <a:alphaModFix/>
          </a:blip>
          <a:srcRect b="56059" l="35113" r="16755" t="18913"/>
          <a:stretch/>
        </p:blipFill>
        <p:spPr>
          <a:xfrm>
            <a:off x="6374075" y="0"/>
            <a:ext cx="2769926" cy="81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8" name="Google Shape;328;p52"/>
          <p:cNvSpPr txBox="1"/>
          <p:nvPr/>
        </p:nvSpPr>
        <p:spPr>
          <a:xfrm>
            <a:off x="286850" y="1296275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Q: How has megafauna loss impacted nutrients?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Megafauna services</a:t>
            </a:r>
            <a:endParaRPr/>
          </a:p>
        </p:txBody>
      </p:sp>
      <p:pic>
        <p:nvPicPr>
          <p:cNvPr id="334" name="Google Shape;334;p53"/>
          <p:cNvPicPr preferRelativeResize="0"/>
          <p:nvPr/>
        </p:nvPicPr>
        <p:blipFill rotWithShape="1">
          <a:blip r:embed="rId3">
            <a:alphaModFix/>
          </a:blip>
          <a:srcRect b="56059" l="35113" r="16755" t="18913"/>
          <a:stretch/>
        </p:blipFill>
        <p:spPr>
          <a:xfrm>
            <a:off x="6374075" y="0"/>
            <a:ext cx="2769926" cy="81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5" name="Google Shape;335;p53"/>
          <p:cNvSpPr txBox="1"/>
          <p:nvPr/>
        </p:nvSpPr>
        <p:spPr>
          <a:xfrm>
            <a:off x="286850" y="1296275"/>
            <a:ext cx="5708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Q: How has megafauna loss impacted nutrients?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Approach: models based on traits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Traits used: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Body size (M)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Range size (DD)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Metabolic rate (MR)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Population density (PD)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Food passage time (PR)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otal plant biomass (B)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Edible fraction of plant biomass (</a:t>
            </a:r>
            <a:r>
              <a:rPr lang="en" sz="1800">
                <a:solidFill>
                  <a:schemeClr val="dk2"/>
                </a:solidFill>
              </a:rPr>
              <a:t>α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Megafauna services</a:t>
            </a:r>
            <a:endParaRPr/>
          </a:p>
        </p:txBody>
      </p:sp>
      <p:pic>
        <p:nvPicPr>
          <p:cNvPr id="341" name="Google Shape;341;p54"/>
          <p:cNvPicPr preferRelativeResize="0"/>
          <p:nvPr/>
        </p:nvPicPr>
        <p:blipFill rotWithShape="1">
          <a:blip r:embed="rId3">
            <a:alphaModFix/>
          </a:blip>
          <a:srcRect b="56059" l="35113" r="16755" t="18913"/>
          <a:stretch/>
        </p:blipFill>
        <p:spPr>
          <a:xfrm>
            <a:off x="6374075" y="0"/>
            <a:ext cx="2769926" cy="81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2" name="Google Shape;342;p54"/>
          <p:cNvSpPr txBox="1"/>
          <p:nvPr/>
        </p:nvSpPr>
        <p:spPr>
          <a:xfrm>
            <a:off x="286850" y="1296275"/>
            <a:ext cx="5708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Q: How has megafauna loss impacted nutrients?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Approach: models based on traits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Traits used: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Body size (M)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Range size (DD)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Metabolic rate (MR)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Population density (PD)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Food passage time (PR)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Total plant biomass (B)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Edible fraction of plant biomass (α)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43" name="Google Shape;343;p54"/>
          <p:cNvPicPr preferRelativeResize="0"/>
          <p:nvPr/>
        </p:nvPicPr>
        <p:blipFill rotWithShape="1">
          <a:blip r:embed="rId4">
            <a:alphaModFix/>
          </a:blip>
          <a:srcRect b="40037" l="51869" r="7182" t="50957"/>
          <a:stretch/>
        </p:blipFill>
        <p:spPr>
          <a:xfrm>
            <a:off x="4378027" y="1931300"/>
            <a:ext cx="462944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Megafauna services</a:t>
            </a:r>
            <a:endParaRPr/>
          </a:p>
        </p:txBody>
      </p:sp>
      <p:pic>
        <p:nvPicPr>
          <p:cNvPr id="349" name="Google Shape;349;p55"/>
          <p:cNvPicPr preferRelativeResize="0"/>
          <p:nvPr/>
        </p:nvPicPr>
        <p:blipFill rotWithShape="1">
          <a:blip r:embed="rId3">
            <a:alphaModFix/>
          </a:blip>
          <a:srcRect b="56059" l="35113" r="16755" t="18913"/>
          <a:stretch/>
        </p:blipFill>
        <p:spPr>
          <a:xfrm>
            <a:off x="6374075" y="0"/>
            <a:ext cx="2769926" cy="81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0" name="Google Shape;350;p55"/>
          <p:cNvSpPr txBox="1"/>
          <p:nvPr/>
        </p:nvSpPr>
        <p:spPr>
          <a:xfrm>
            <a:off x="286850" y="1296275"/>
            <a:ext cx="5708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Q: How has megafauna loss impacted nutrients?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Approach: models based on traits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Traits used: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Body size (M)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Range size (DD)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Metabolic rate (MR)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Population density (PD)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Food passage time (PR)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Total plant biomass (B)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Edible fraction of plant biomass (α)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51" name="Google Shape;351;p55"/>
          <p:cNvPicPr preferRelativeResize="0"/>
          <p:nvPr/>
        </p:nvPicPr>
        <p:blipFill rotWithShape="1">
          <a:blip r:embed="rId4">
            <a:alphaModFix/>
          </a:blip>
          <a:srcRect b="40037" l="51869" r="7182" t="50957"/>
          <a:stretch/>
        </p:blipFill>
        <p:spPr>
          <a:xfrm>
            <a:off x="4378025" y="1931300"/>
            <a:ext cx="462945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5"/>
          <p:cNvSpPr/>
          <p:nvPr/>
        </p:nvSpPr>
        <p:spPr>
          <a:xfrm>
            <a:off x="8060125" y="1931300"/>
            <a:ext cx="438000" cy="339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" name="Google Shape;353;p55"/>
          <p:cNvCxnSpPr>
            <a:stCxn id="352" idx="2"/>
          </p:cNvCxnSpPr>
          <p:nvPr/>
        </p:nvCxnSpPr>
        <p:spPr>
          <a:xfrm flipH="1">
            <a:off x="7797325" y="2270600"/>
            <a:ext cx="481800" cy="908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p55"/>
          <p:cNvSpPr txBox="1"/>
          <p:nvPr/>
        </p:nvSpPr>
        <p:spPr>
          <a:xfrm>
            <a:off x="5859525" y="3310750"/>
            <a:ext cx="330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Note: superlinear scaling means bigger </a:t>
            </a:r>
            <a:r>
              <a:rPr lang="en" sz="1800">
                <a:solidFill>
                  <a:srgbClr val="980000"/>
                </a:solidFill>
              </a:rPr>
              <a:t>things</a:t>
            </a:r>
            <a:r>
              <a:rPr lang="en" sz="1800">
                <a:solidFill>
                  <a:srgbClr val="980000"/>
                </a:solidFill>
              </a:rPr>
              <a:t> are disproportionately important!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Megafauna services</a:t>
            </a:r>
            <a:endParaRPr/>
          </a:p>
        </p:txBody>
      </p:sp>
      <p:pic>
        <p:nvPicPr>
          <p:cNvPr id="360" name="Google Shape;36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2931878" cy="39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6"/>
          <p:cNvPicPr preferRelativeResize="0"/>
          <p:nvPr/>
        </p:nvPicPr>
        <p:blipFill rotWithShape="1">
          <a:blip r:embed="rId4">
            <a:alphaModFix/>
          </a:blip>
          <a:srcRect b="56059" l="35113" r="16755" t="18913"/>
          <a:stretch/>
        </p:blipFill>
        <p:spPr>
          <a:xfrm>
            <a:off x="6374075" y="0"/>
            <a:ext cx="2769926" cy="81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Megafauna services</a:t>
            </a:r>
            <a:endParaRPr/>
          </a:p>
        </p:txBody>
      </p:sp>
      <p:pic>
        <p:nvPicPr>
          <p:cNvPr id="367" name="Google Shape;36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2931878" cy="39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7575" y="1060400"/>
            <a:ext cx="2850301" cy="393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7"/>
          <p:cNvPicPr preferRelativeResize="0"/>
          <p:nvPr/>
        </p:nvPicPr>
        <p:blipFill rotWithShape="1">
          <a:blip r:embed="rId5">
            <a:alphaModFix/>
          </a:blip>
          <a:srcRect b="56059" l="35113" r="16755" t="18913"/>
          <a:stretch/>
        </p:blipFill>
        <p:spPr>
          <a:xfrm>
            <a:off x="6374075" y="0"/>
            <a:ext cx="2769926" cy="81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Megafauna services</a:t>
            </a:r>
            <a:endParaRPr/>
          </a:p>
        </p:txBody>
      </p:sp>
      <p:pic>
        <p:nvPicPr>
          <p:cNvPr id="375" name="Google Shape;37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424760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58"/>
          <p:cNvPicPr preferRelativeResize="0"/>
          <p:nvPr/>
        </p:nvPicPr>
        <p:blipFill rotWithShape="1">
          <a:blip r:embed="rId4">
            <a:alphaModFix/>
          </a:blip>
          <a:srcRect b="56059" l="35113" r="16755" t="18913"/>
          <a:stretch/>
        </p:blipFill>
        <p:spPr>
          <a:xfrm>
            <a:off x="6374075" y="0"/>
            <a:ext cx="2769926" cy="81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Megafauna services</a:t>
            </a:r>
            <a:endParaRPr/>
          </a:p>
        </p:txBody>
      </p:sp>
      <p:pic>
        <p:nvPicPr>
          <p:cNvPr id="382" name="Google Shape;382;p59"/>
          <p:cNvPicPr preferRelativeResize="0"/>
          <p:nvPr/>
        </p:nvPicPr>
        <p:blipFill rotWithShape="1">
          <a:blip r:embed="rId3">
            <a:alphaModFix/>
          </a:blip>
          <a:srcRect b="56059" l="35113" r="16755" t="18913"/>
          <a:stretch/>
        </p:blipFill>
        <p:spPr>
          <a:xfrm>
            <a:off x="6374075" y="0"/>
            <a:ext cx="2769926" cy="810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3" name="Google Shape;383;p59"/>
          <p:cNvPicPr preferRelativeResize="0"/>
          <p:nvPr/>
        </p:nvPicPr>
        <p:blipFill rotWithShape="1">
          <a:blip r:embed="rId4">
            <a:alphaModFix/>
          </a:blip>
          <a:srcRect b="40459" l="26919" r="8958" t="34142"/>
          <a:stretch/>
        </p:blipFill>
        <p:spPr>
          <a:xfrm>
            <a:off x="361225" y="1671850"/>
            <a:ext cx="8078275" cy="17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temp and photosynthesis</a:t>
            </a:r>
            <a:endParaRPr/>
          </a:p>
        </p:txBody>
      </p:sp>
      <p:pic>
        <p:nvPicPr>
          <p:cNvPr id="389" name="Google Shape;3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25" y="1121773"/>
            <a:ext cx="681945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0"/>
          <p:cNvSpPr txBox="1"/>
          <p:nvPr/>
        </p:nvSpPr>
        <p:spPr>
          <a:xfrm>
            <a:off x="335825" y="4654475"/>
            <a:ext cx="864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Photosynthesis is temp-dependent, but not much global signal of temperature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91" name="Google Shape;391;p60"/>
          <p:cNvPicPr preferRelativeResize="0"/>
          <p:nvPr/>
        </p:nvPicPr>
        <p:blipFill rotWithShape="1">
          <a:blip r:embed="rId4">
            <a:alphaModFix/>
          </a:blip>
          <a:srcRect b="46946" l="32538" r="31840" t="18896"/>
          <a:stretch/>
        </p:blipFill>
        <p:spPr>
          <a:xfrm>
            <a:off x="6914950" y="66900"/>
            <a:ext cx="2170123" cy="11705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</a:t>
            </a:r>
            <a:r>
              <a:rPr lang="en"/>
              <a:t>and temp </a:t>
            </a:r>
            <a:r>
              <a:rPr lang="en"/>
              <a:t>and photosynthesis</a:t>
            </a:r>
            <a:endParaRPr/>
          </a:p>
        </p:txBody>
      </p:sp>
      <p:pic>
        <p:nvPicPr>
          <p:cNvPr id="397" name="Google Shape;39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23078" cy="3820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61"/>
          <p:cNvPicPr preferRelativeResize="0"/>
          <p:nvPr/>
        </p:nvPicPr>
        <p:blipFill rotWithShape="1">
          <a:blip r:embed="rId4">
            <a:alphaModFix/>
          </a:blip>
          <a:srcRect b="46946" l="32538" r="31840" t="18896"/>
          <a:stretch/>
        </p:blipFill>
        <p:spPr>
          <a:xfrm>
            <a:off x="6914950" y="66900"/>
            <a:ext cx="2170123" cy="11705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</a:t>
            </a:r>
            <a:r>
              <a:rPr lang="en"/>
              <a:t>and temp </a:t>
            </a:r>
            <a:r>
              <a:rPr lang="en"/>
              <a:t>and photosynthesis</a:t>
            </a:r>
            <a:endParaRPr/>
          </a:p>
        </p:txBody>
      </p:sp>
      <p:pic>
        <p:nvPicPr>
          <p:cNvPr id="404" name="Google Shape;40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940825"/>
            <a:ext cx="4062177" cy="405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62"/>
          <p:cNvPicPr preferRelativeResize="0"/>
          <p:nvPr/>
        </p:nvPicPr>
        <p:blipFill rotWithShape="1">
          <a:blip r:embed="rId4">
            <a:alphaModFix/>
          </a:blip>
          <a:srcRect b="46946" l="32538" r="31840" t="18896"/>
          <a:stretch/>
        </p:blipFill>
        <p:spPr>
          <a:xfrm>
            <a:off x="6914950" y="66900"/>
            <a:ext cx="2170123" cy="11705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temp and photosynthesis</a:t>
            </a:r>
            <a:endParaRPr/>
          </a:p>
        </p:txBody>
      </p:sp>
      <p:sp>
        <p:nvSpPr>
          <p:cNvPr id="411" name="Google Shape;411;p63"/>
          <p:cNvSpPr txBox="1"/>
          <p:nvPr/>
        </p:nvSpPr>
        <p:spPr>
          <a:xfrm>
            <a:off x="365300" y="1408125"/>
            <a:ext cx="5656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need to predict photosynthetic rate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Photosynthetic rate depends on temperature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Leaf temperature can’t be predicted from air temp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do we get at leaf temp?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12" name="Google Shape;412;p63"/>
          <p:cNvPicPr preferRelativeResize="0"/>
          <p:nvPr/>
        </p:nvPicPr>
        <p:blipFill rotWithShape="1">
          <a:blip r:embed="rId3">
            <a:alphaModFix/>
          </a:blip>
          <a:srcRect b="52966" l="34759" r="17561" t="18072"/>
          <a:stretch/>
        </p:blipFill>
        <p:spPr>
          <a:xfrm>
            <a:off x="6050825" y="51075"/>
            <a:ext cx="3014626" cy="1029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temp and photosynthesis</a:t>
            </a:r>
            <a:endParaRPr/>
          </a:p>
        </p:txBody>
      </p:sp>
      <p:pic>
        <p:nvPicPr>
          <p:cNvPr id="418" name="Google Shape;41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9826"/>
            <a:ext cx="7570680" cy="360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64"/>
          <p:cNvPicPr preferRelativeResize="0"/>
          <p:nvPr/>
        </p:nvPicPr>
        <p:blipFill rotWithShape="1">
          <a:blip r:embed="rId4">
            <a:alphaModFix/>
          </a:blip>
          <a:srcRect b="52966" l="34759" r="17561" t="18072"/>
          <a:stretch/>
        </p:blipFill>
        <p:spPr>
          <a:xfrm>
            <a:off x="6050825" y="51075"/>
            <a:ext cx="3014626" cy="1029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temp and photosynthesis</a:t>
            </a:r>
            <a:endParaRPr/>
          </a:p>
        </p:txBody>
      </p:sp>
      <p:pic>
        <p:nvPicPr>
          <p:cNvPr id="425" name="Google Shape;42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020337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65"/>
          <p:cNvSpPr txBox="1"/>
          <p:nvPr/>
        </p:nvSpPr>
        <p:spPr>
          <a:xfrm>
            <a:off x="5785700" y="2083725"/>
            <a:ext cx="337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</a:rPr>
              <a:t>Pink</a:t>
            </a:r>
            <a:r>
              <a:rPr lang="en" sz="1800">
                <a:solidFill>
                  <a:schemeClr val="dk2"/>
                </a:solidFill>
              </a:rPr>
              <a:t> = prediction from trait-based model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Black</a:t>
            </a:r>
            <a:r>
              <a:rPr lang="en" sz="1800">
                <a:solidFill>
                  <a:schemeClr val="dk2"/>
                </a:solidFill>
              </a:rPr>
              <a:t> = best fit regression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27" name="Google Shape;427;p65"/>
          <p:cNvPicPr preferRelativeResize="0"/>
          <p:nvPr/>
        </p:nvPicPr>
        <p:blipFill rotWithShape="1">
          <a:blip r:embed="rId4">
            <a:alphaModFix/>
          </a:blip>
          <a:srcRect b="52966" l="34759" r="17561" t="18072"/>
          <a:stretch/>
        </p:blipFill>
        <p:spPr>
          <a:xfrm>
            <a:off x="6050825" y="51075"/>
            <a:ext cx="3014626" cy="1029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temp and photosynthesis</a:t>
            </a:r>
            <a:endParaRPr/>
          </a:p>
        </p:txBody>
      </p:sp>
      <p:pic>
        <p:nvPicPr>
          <p:cNvPr id="433" name="Google Shape;433;p66"/>
          <p:cNvPicPr preferRelativeResize="0"/>
          <p:nvPr/>
        </p:nvPicPr>
        <p:blipFill rotWithShape="1">
          <a:blip r:embed="rId3">
            <a:alphaModFix/>
          </a:blip>
          <a:srcRect b="52966" l="34759" r="17561" t="18072"/>
          <a:stretch/>
        </p:blipFill>
        <p:spPr>
          <a:xfrm>
            <a:off x="6050825" y="51075"/>
            <a:ext cx="3014626" cy="1029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4" name="Google Shape;434;p66"/>
          <p:cNvSpPr txBox="1"/>
          <p:nvPr/>
        </p:nvSpPr>
        <p:spPr>
          <a:xfrm>
            <a:off x="669700" y="1889300"/>
            <a:ext cx="565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Studies and theory like this represent major advances in linking form and function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Intraspecific variation matters</a:t>
            </a:r>
            <a:endParaRPr/>
          </a:p>
        </p:txBody>
      </p:sp>
      <p:sp>
        <p:nvSpPr>
          <p:cNvPr id="440" name="Google Shape;440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studies use species level mean trait values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Turns out, this is a bad idea for estimating functioning</a:t>
            </a:r>
            <a:endParaRPr/>
          </a:p>
        </p:txBody>
      </p:sp>
      <p:pic>
        <p:nvPicPr>
          <p:cNvPr id="441" name="Google Shape;441;p67"/>
          <p:cNvPicPr preferRelativeResize="0"/>
          <p:nvPr/>
        </p:nvPicPr>
        <p:blipFill rotWithShape="1">
          <a:blip r:embed="rId3">
            <a:alphaModFix/>
          </a:blip>
          <a:srcRect b="25376" l="20984" r="21273" t="22410"/>
          <a:stretch/>
        </p:blipFill>
        <p:spPr>
          <a:xfrm>
            <a:off x="6591825" y="0"/>
            <a:ext cx="2552174" cy="1298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Intraspecific variation matters</a:t>
            </a:r>
            <a:endParaRPr/>
          </a:p>
        </p:txBody>
      </p:sp>
      <p:sp>
        <p:nvSpPr>
          <p:cNvPr id="447" name="Google Shape;447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Overview: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Measured CO</a:t>
            </a:r>
            <a:r>
              <a:rPr baseline="-25000" lang="en"/>
              <a:t>2</a:t>
            </a:r>
            <a:r>
              <a:rPr lang="en"/>
              <a:t> fluxes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Measured traits (including intraspecific variation)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Measured environment</a:t>
            </a:r>
            <a:endParaRPr/>
          </a:p>
        </p:txBody>
      </p:sp>
      <p:pic>
        <p:nvPicPr>
          <p:cNvPr id="448" name="Google Shape;448;p68"/>
          <p:cNvPicPr preferRelativeResize="0"/>
          <p:nvPr/>
        </p:nvPicPr>
        <p:blipFill rotWithShape="1">
          <a:blip r:embed="rId3">
            <a:alphaModFix/>
          </a:blip>
          <a:srcRect b="0" l="0" r="0" t="70050"/>
          <a:stretch/>
        </p:blipFill>
        <p:spPr>
          <a:xfrm>
            <a:off x="550325" y="3332549"/>
            <a:ext cx="8043351" cy="154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68"/>
          <p:cNvPicPr preferRelativeResize="0"/>
          <p:nvPr/>
        </p:nvPicPr>
        <p:blipFill rotWithShape="1">
          <a:blip r:embed="rId3">
            <a:alphaModFix/>
          </a:blip>
          <a:srcRect b="33577" l="0" r="58561" t="0"/>
          <a:stretch/>
        </p:blipFill>
        <p:spPr>
          <a:xfrm>
            <a:off x="5868975" y="295125"/>
            <a:ext cx="2963325" cy="303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Intraspecific variation matters</a:t>
            </a:r>
            <a:endParaRPr/>
          </a:p>
        </p:txBody>
      </p:sp>
      <p:sp>
        <p:nvSpPr>
          <p:cNvPr id="455" name="Google Shape;455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estimate the magnitude of ITV: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Compare trait estimates using species mean vs those with ITV</a:t>
            </a:r>
            <a:endParaRPr/>
          </a:p>
        </p:txBody>
      </p:sp>
      <p:pic>
        <p:nvPicPr>
          <p:cNvPr id="456" name="Google Shape;456;p69"/>
          <p:cNvPicPr preferRelativeResize="0"/>
          <p:nvPr/>
        </p:nvPicPr>
        <p:blipFill rotWithShape="1">
          <a:blip r:embed="rId3">
            <a:alphaModFix/>
          </a:blip>
          <a:srcRect b="25376" l="20984" r="21273" t="22410"/>
          <a:stretch/>
        </p:blipFill>
        <p:spPr>
          <a:xfrm>
            <a:off x="6591825" y="0"/>
            <a:ext cx="2552174" cy="1298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Intraspecific variation matters</a:t>
            </a:r>
            <a:endParaRPr/>
          </a:p>
        </p:txBody>
      </p:sp>
      <p:pic>
        <p:nvPicPr>
          <p:cNvPr id="462" name="Google Shape;46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23" y="1017725"/>
            <a:ext cx="6119398" cy="419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70"/>
          <p:cNvPicPr preferRelativeResize="0"/>
          <p:nvPr/>
        </p:nvPicPr>
        <p:blipFill rotWithShape="1">
          <a:blip r:embed="rId4">
            <a:alphaModFix/>
          </a:blip>
          <a:srcRect b="25376" l="20984" r="21273" t="22410"/>
          <a:stretch/>
        </p:blipFill>
        <p:spPr>
          <a:xfrm>
            <a:off x="6591825" y="0"/>
            <a:ext cx="2552174" cy="1298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Intraspecific variation matters</a:t>
            </a:r>
            <a:endParaRPr/>
          </a:p>
        </p:txBody>
      </p:sp>
      <p:pic>
        <p:nvPicPr>
          <p:cNvPr id="469" name="Google Shape;469;p71"/>
          <p:cNvPicPr preferRelativeResize="0"/>
          <p:nvPr/>
        </p:nvPicPr>
        <p:blipFill rotWithShape="1">
          <a:blip r:embed="rId3">
            <a:alphaModFix/>
          </a:blip>
          <a:srcRect b="0" l="20758" r="20185" t="55978"/>
          <a:stretch/>
        </p:blipFill>
        <p:spPr>
          <a:xfrm>
            <a:off x="311701" y="1177376"/>
            <a:ext cx="5009449" cy="3637324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71"/>
          <p:cNvSpPr txBox="1"/>
          <p:nvPr/>
        </p:nvSpPr>
        <p:spPr>
          <a:xfrm>
            <a:off x="5646800" y="1232700"/>
            <a:ext cx="3372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GEP = gross ecosystem productivity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eco</a:t>
            </a:r>
            <a:r>
              <a:rPr lang="en" sz="1800">
                <a:solidFill>
                  <a:schemeClr val="dk2"/>
                </a:solidFill>
              </a:rPr>
              <a:t> = ecosystem respiration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NEE = net ecosystem CO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exchange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GEP = NEE + </a:t>
            </a: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eco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71" name="Google Shape;471;p71"/>
          <p:cNvPicPr preferRelativeResize="0"/>
          <p:nvPr/>
        </p:nvPicPr>
        <p:blipFill rotWithShape="1">
          <a:blip r:embed="rId4">
            <a:alphaModFix/>
          </a:blip>
          <a:srcRect b="25376" l="20984" r="21273" t="22410"/>
          <a:stretch/>
        </p:blipFill>
        <p:spPr>
          <a:xfrm>
            <a:off x="6591825" y="0"/>
            <a:ext cx="2552174" cy="1298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477" name="Google Shape;477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Traits help us understand variation in ecosystem services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Traits - environment interactions can be important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Mechanistic trait models can provide important insights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Intraspecific trait </a:t>
            </a:r>
            <a:r>
              <a:rPr lang="en" sz="2000"/>
              <a:t>variation</a:t>
            </a:r>
            <a:r>
              <a:rPr lang="en" sz="2000"/>
              <a:t> is super important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Some species are more important than others</a:t>
            </a:r>
            <a:endParaRPr sz="2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Traits and global change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