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d8981be03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d8981be03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46f2cfda31_0_34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46f2cfda31_0_3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46e41bf1c5_0_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46e41bf1c5_0_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4c46ae638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4c46ae638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4c46ae638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34c46ae638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4c46ae6383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4c46ae6383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4c46ae6383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4c46ae6383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4c46ae6383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4c46ae6383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4c46ae6383_0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4c46ae6383_0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4c46ae6383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4c46ae6383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4c46ae6383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" name="Google Shape;120;g34c46ae6383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4c46ae6383_0_1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4c46ae6383_0_1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g34c46ae6383_0_1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4" name="Google Shape;134;g34c46ae6383_0_1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4c46ae6383_0_17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4c46ae6383_0_1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4c46ae6383_0_2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4c46ae6383_0_2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g34c46ae6383_0_1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" name="Google Shape;156;g34c46ae6383_0_1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that PFTs make sense: broadleaf in upper right, gramminoid systems in the upper left, needleleaves in the bottom, etc.</a:t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4c46ae6383_0_2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4c46ae6383_0_2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4c46ae6383_0_2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4c46ae6383_0_2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4c46ae6383_0_2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4c46ae6383_0_2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4c46ae6383_0_2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4c46ae6383_0_2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4c46ae6383_0_2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4c46ae6383_0_2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4c46ae6383_0_2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4c46ae6383_0_2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4c46ae6383_0_1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4c46ae6383_0_1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4c46ae6383_0_1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4c46ae6383_0_1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4c46ae6383_0_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4c46ae6383_0_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4c46ae6383_0_1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6" name="Google Shape;236;g34c46ae6383_0_1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4c46ae6383_0_1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4c46ae6383_0_1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4c46ae6383_0_1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34c46ae6383_0_1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= past, B = difference past vs present, C= difference, past vs future</a:t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4c46ae6383_0_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4c46ae6383_0_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 = how much they spread around P</a:t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4c46ae6383_0_8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4c46ae6383_0_8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 = how much they spread around P</a:t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g34c46ae6383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4" name="Google Shape;274;g34c46ae6383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Note: part of the equation basically controls the amount of food being fluxed, the other part how far its spread out. Note also that aside from alpha and beta, </a:t>
            </a:r>
            <a:r>
              <a:rPr lang="en"/>
              <a:t>everything</a:t>
            </a:r>
            <a:r>
              <a:rPr lang="en"/>
              <a:t> is correlated with mass, allowing the equation to be simplified as a fx of mass.</a:t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34c46ae6383_0_1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34c46ae6383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 = how much they spread around P</a:t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4c46ae6383_0_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4c46ae6383_0_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 = how much they spread around P</a:t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4c46ae6383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4c46ae6383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 = diffusivity data, B = mean P across amazon basic</a:t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4c46ae6383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34c46ae6383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4c46ae6383_0_1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4c46ae6383_0_1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4c46ae6383_0_27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4c46ae6383_0_27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4c46ae6383_0_28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4c46ae6383_0_28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Note: d180 provides an estimate of the avg temp when photosynthesis occurs</a:t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4c46ae6383_0_2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34c46ae6383_0_2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Note: d180 provides an estimate of the avg temp when photosynthesis occurs</a:t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4c46ae6383_0_3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4c46ae6383_0_3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Note: d180 provides an estimate of the avg temp when photosynthesis occurs</a:t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34c46ae6383_0_3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1" name="Google Shape;351;g34c46ae6383_0_3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These traits are use to understand leaf economics, but can also be used to understand temperature response!</a:t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4c46ae6383_0_3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4c46ae6383_0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4c46ae6383_0_3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34c46ae6383_0_3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4c46ae6383_0_3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3" name="Google Shape;373;g34c46ae6383_0_3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4c46ae6383_0_3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0" name="Google Shape;380;g34c46ae6383_0_3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4c46ae6383_0_3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34c46ae6383_0_3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4c46ae6383_0_3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4c46ae6383_0_3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that most of the differences were due to ITV</a:t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4c46ae6383_0_3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4c46ae6383_0_3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Note: due to the large amount of variation explained by ITV, neglecting it would lead to much worse models!</a:t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34c46ae6383_0_3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34c46ae6383_0_3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2d8981be037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2d8981be037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Relationship Id="rId4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1.png"/><Relationship Id="rId4" Type="http://schemas.openxmlformats.org/officeDocument/2006/relationships/image" Target="../media/image14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Relationship Id="rId4" Type="http://schemas.openxmlformats.org/officeDocument/2006/relationships/image" Target="../media/image1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Relationship Id="rId4" Type="http://schemas.openxmlformats.org/officeDocument/2006/relationships/image" Target="../media/image2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2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2.png"/><Relationship Id="rId4" Type="http://schemas.openxmlformats.org/officeDocument/2006/relationships/image" Target="../media/image16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2.png"/><Relationship Id="rId4" Type="http://schemas.openxmlformats.org/officeDocument/2006/relationships/image" Target="../media/image16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5.png"/><Relationship Id="rId4" Type="http://schemas.openxmlformats.org/officeDocument/2006/relationships/image" Target="../media/image22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Relationship Id="rId5" Type="http://schemas.openxmlformats.org/officeDocument/2006/relationships/image" Target="../media/image2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30.png"/><Relationship Id="rId4" Type="http://schemas.openxmlformats.org/officeDocument/2006/relationships/image" Target="../media/image22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2.png"/><Relationship Id="rId4" Type="http://schemas.openxmlformats.org/officeDocument/2006/relationships/image" Target="../media/image20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8.png"/><Relationship Id="rId4" Type="http://schemas.openxmlformats.org/officeDocument/2006/relationships/image" Target="../media/image19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3.png"/><Relationship Id="rId4" Type="http://schemas.openxmlformats.org/officeDocument/2006/relationships/image" Target="../media/image19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31.png"/><Relationship Id="rId4" Type="http://schemas.openxmlformats.org/officeDocument/2006/relationships/image" Target="../media/image19.png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33.png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32.png"/><Relationship Id="rId4" Type="http://schemas.openxmlformats.org/officeDocument/2006/relationships/image" Target="../media/image33.png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6.png"/><Relationship Id="rId4" Type="http://schemas.openxmlformats.org/officeDocument/2006/relationships/image" Target="../media/image33.png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33.png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8.png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5.xml"/><Relationship Id="rId3" Type="http://schemas.openxmlformats.org/officeDocument/2006/relationships/image" Target="../media/image25.png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8.png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7.xml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115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Trait-based Ecology III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389575"/>
            <a:ext cx="8520600" cy="24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Quiz</a:t>
            </a:r>
            <a:endParaRPr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Traits and ecosystem function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Syllabus update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Removed one “TBD” </a:t>
            </a:r>
            <a:r>
              <a:rPr lang="en"/>
              <a:t>assignment and rolled the points into the Project 4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Project 4 will allow you to recycle a lot of text from previous projects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Remaining Assignment will be a group project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We’ll go over these two items next Monday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Three things remaining: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Project 3 (Due Friday)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Group project (due due April 30th)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AutoNum type="arabicParenR"/>
            </a:pPr>
            <a:r>
              <a:rPr lang="en"/>
              <a:t>Project 4 (due May 9th, unless there are USF restrictions I don’t know about)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focus on traits?</a:t>
            </a:r>
            <a:endParaRPr/>
          </a:p>
        </p:txBody>
      </p:sp>
      <p:sp>
        <p:nvSpPr>
          <p:cNvPr id="67" name="Google Shape;67;p1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Generality: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Rather than focusing on particular species in particular systems, we can say things </a:t>
            </a:r>
            <a:r>
              <a:rPr lang="en"/>
              <a:t>about all species in all systems (or at least a larger subset of species/systems).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Quantitative: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We move from species (categorical) to continuous measurements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Links to mechanism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We can focus on traits that are linked to particular mechanisms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E.g., if we want to work on predation, mouth size might be useful.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More predictive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Allow us to say something about potential future scenarios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focus on traits?</a:t>
            </a:r>
            <a:endParaRPr/>
          </a:p>
        </p:txBody>
      </p:sp>
      <p:sp>
        <p:nvSpPr>
          <p:cNvPr id="73" name="Google Shape;73;p1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Generality: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Rather than focusing on particular species in particular systems, we can say things about all species in all systems (or at least a larger subset of species/systems).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Quantitative: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We move from species (categorical) to continuous measurements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Links to mechanism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We can focus on traits that are linked to particular mechanisms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E.g., if we want to work on predation, mouth size might be useful.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More predictive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"/>
              <a:t>Allow us to say something about potential future scenarios</a:t>
            </a:r>
            <a:endParaRPr/>
          </a:p>
        </p:txBody>
      </p:sp>
      <p:sp>
        <p:nvSpPr>
          <p:cNvPr id="74" name="Google Shape;74;p16"/>
          <p:cNvSpPr/>
          <p:nvPr/>
        </p:nvSpPr>
        <p:spPr>
          <a:xfrm>
            <a:off x="368675" y="2659950"/>
            <a:ext cx="6471600" cy="783000"/>
          </a:xfrm>
          <a:prstGeom prst="roundRect">
            <a:avLst>
              <a:gd fmla="val 16667" name="adj"/>
            </a:avLst>
          </a:prstGeom>
          <a:noFill/>
          <a:ln cap="flat" cmpd="sng" w="38100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Traits and ecosystem function</a:t>
            </a:r>
            <a:endParaRPr/>
          </a:p>
        </p:txBody>
      </p:sp>
      <p:sp>
        <p:nvSpPr>
          <p:cNvPr id="80" name="Google Shape;80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Which organisms?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Which traits map onto which services?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How much do traits vs </a:t>
            </a:r>
            <a:r>
              <a:rPr lang="en"/>
              <a:t>environment</a:t>
            </a:r>
            <a:r>
              <a:rPr lang="en"/>
              <a:t> matter?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are </a:t>
            </a:r>
            <a:r>
              <a:rPr lang="en"/>
              <a:t>people studying?</a:t>
            </a:r>
            <a:endParaRPr/>
          </a:p>
        </p:txBody>
      </p:sp>
      <p:pic>
        <p:nvPicPr>
          <p:cNvPr id="86" name="Google Shape;8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6911999" cy="3620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18"/>
          <p:cNvPicPr preferRelativeResize="0"/>
          <p:nvPr/>
        </p:nvPicPr>
        <p:blipFill rotWithShape="1">
          <a:blip r:embed="rId4">
            <a:alphaModFix/>
          </a:blip>
          <a:srcRect b="40002" l="36004" r="19775" t="21269"/>
          <a:stretch/>
        </p:blipFill>
        <p:spPr>
          <a:xfrm>
            <a:off x="6814262" y="83250"/>
            <a:ext cx="2206186" cy="10868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are people studying?</a:t>
            </a:r>
            <a:endParaRPr/>
          </a:p>
        </p:txBody>
      </p:sp>
      <p:pic>
        <p:nvPicPr>
          <p:cNvPr id="93" name="Google Shape;93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6911999" cy="362057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9"/>
          <p:cNvSpPr txBox="1"/>
          <p:nvPr/>
        </p:nvSpPr>
        <p:spPr>
          <a:xfrm>
            <a:off x="5819400" y="3561800"/>
            <a:ext cx="3347700" cy="73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980000"/>
                </a:solidFill>
              </a:rPr>
              <a:t>Why might these be what people are studying?</a:t>
            </a:r>
            <a:endParaRPr sz="1800">
              <a:solidFill>
                <a:srgbClr val="980000"/>
              </a:solidFill>
            </a:endParaRPr>
          </a:p>
        </p:txBody>
      </p:sp>
      <p:pic>
        <p:nvPicPr>
          <p:cNvPr id="95" name="Google Shape;95;p19"/>
          <p:cNvPicPr preferRelativeResize="0"/>
          <p:nvPr/>
        </p:nvPicPr>
        <p:blipFill rotWithShape="1">
          <a:blip r:embed="rId4">
            <a:alphaModFix/>
          </a:blip>
          <a:srcRect b="40002" l="36004" r="19775" t="21269"/>
          <a:stretch/>
        </p:blipFill>
        <p:spPr>
          <a:xfrm>
            <a:off x="6814262" y="83250"/>
            <a:ext cx="2206186" cy="10868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are people studying?</a:t>
            </a:r>
            <a:endParaRPr/>
          </a:p>
        </p:txBody>
      </p:sp>
      <p:pic>
        <p:nvPicPr>
          <p:cNvPr id="101" name="Google Shape;10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4700" y="159275"/>
            <a:ext cx="3019284" cy="4984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0"/>
          <p:cNvPicPr preferRelativeResize="0"/>
          <p:nvPr/>
        </p:nvPicPr>
        <p:blipFill rotWithShape="1">
          <a:blip r:embed="rId4">
            <a:alphaModFix/>
          </a:blip>
          <a:srcRect b="40002" l="36004" r="19775" t="21269"/>
          <a:stretch/>
        </p:blipFill>
        <p:spPr>
          <a:xfrm>
            <a:off x="6774612" y="3839300"/>
            <a:ext cx="2206186" cy="10868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are people studying?</a:t>
            </a:r>
            <a:endParaRPr/>
          </a:p>
        </p:txBody>
      </p:sp>
      <p:pic>
        <p:nvPicPr>
          <p:cNvPr id="108" name="Google Shape;10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24700" y="159275"/>
            <a:ext cx="3019284" cy="4984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1"/>
          <p:cNvSpPr txBox="1"/>
          <p:nvPr/>
        </p:nvSpPr>
        <p:spPr>
          <a:xfrm>
            <a:off x="942600" y="3714200"/>
            <a:ext cx="3347700" cy="7389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980000"/>
                </a:solidFill>
              </a:rPr>
              <a:t>Why might these be what people are studying?</a:t>
            </a:r>
            <a:endParaRPr sz="1800">
              <a:solidFill>
                <a:srgbClr val="980000"/>
              </a:solidFill>
            </a:endParaRPr>
          </a:p>
        </p:txBody>
      </p:sp>
      <p:pic>
        <p:nvPicPr>
          <p:cNvPr id="110" name="Google Shape;110;p21"/>
          <p:cNvPicPr preferRelativeResize="0"/>
          <p:nvPr/>
        </p:nvPicPr>
        <p:blipFill rotWithShape="1">
          <a:blip r:embed="rId4">
            <a:alphaModFix/>
          </a:blip>
          <a:srcRect b="40002" l="36004" r="19775" t="21269"/>
          <a:stretch/>
        </p:blipFill>
        <p:spPr>
          <a:xfrm>
            <a:off x="6774612" y="3839300"/>
            <a:ext cx="2206186" cy="10868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are people studying?</a:t>
            </a:r>
            <a:endParaRPr/>
          </a:p>
        </p:txBody>
      </p:sp>
      <p:pic>
        <p:nvPicPr>
          <p:cNvPr id="116" name="Google Shape;116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974450"/>
            <a:ext cx="5439050" cy="39866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2"/>
          <p:cNvPicPr preferRelativeResize="0"/>
          <p:nvPr/>
        </p:nvPicPr>
        <p:blipFill rotWithShape="1">
          <a:blip r:embed="rId4">
            <a:alphaModFix/>
          </a:blip>
          <a:srcRect b="40002" l="36004" r="19775" t="21269"/>
          <a:stretch/>
        </p:blipFill>
        <p:spPr>
          <a:xfrm>
            <a:off x="6814262" y="83250"/>
            <a:ext cx="2206186" cy="1086874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 axes</a:t>
            </a:r>
            <a:endParaRPr/>
          </a:p>
        </p:txBody>
      </p:sp>
      <p:pic>
        <p:nvPicPr>
          <p:cNvPr id="123" name="Google Shape;123;p23"/>
          <p:cNvPicPr preferRelativeResize="0"/>
          <p:nvPr/>
        </p:nvPicPr>
        <p:blipFill rotWithShape="1">
          <a:blip r:embed="rId3">
            <a:alphaModFix/>
          </a:blip>
          <a:srcRect b="34377" l="35214" r="16952" t="18658"/>
          <a:stretch/>
        </p:blipFill>
        <p:spPr>
          <a:xfrm>
            <a:off x="5864850" y="257075"/>
            <a:ext cx="3134875" cy="17311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24" name="Google Shape;124;p23"/>
          <p:cNvSpPr txBox="1"/>
          <p:nvPr/>
        </p:nvSpPr>
        <p:spPr>
          <a:xfrm>
            <a:off x="288525" y="1211425"/>
            <a:ext cx="53265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Lots of ecosystem </a:t>
            </a:r>
            <a:r>
              <a:rPr lang="en" sz="1800">
                <a:solidFill>
                  <a:schemeClr val="dk2"/>
                </a:solidFill>
              </a:rPr>
              <a:t>functions</a:t>
            </a:r>
            <a:r>
              <a:rPr lang="en" sz="1800">
                <a:solidFill>
                  <a:schemeClr val="dk2"/>
                </a:solidFill>
              </a:rPr>
              <a:t> we might study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Some correlated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Wanted to understand major variation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 axes</a:t>
            </a:r>
            <a:endParaRPr/>
          </a:p>
        </p:txBody>
      </p:sp>
      <p:pic>
        <p:nvPicPr>
          <p:cNvPr id="130" name="Google Shape;130;p24"/>
          <p:cNvPicPr preferRelativeResize="0"/>
          <p:nvPr/>
        </p:nvPicPr>
        <p:blipFill rotWithShape="1">
          <a:blip r:embed="rId3">
            <a:alphaModFix/>
          </a:blip>
          <a:srcRect b="34377" l="35214" r="16952" t="18658"/>
          <a:stretch/>
        </p:blipFill>
        <p:spPr>
          <a:xfrm>
            <a:off x="5864850" y="104675"/>
            <a:ext cx="3134875" cy="17311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1" name="Google Shape;131;p24"/>
          <p:cNvSpPr txBox="1"/>
          <p:nvPr/>
        </p:nvSpPr>
        <p:spPr>
          <a:xfrm>
            <a:off x="-16275" y="1211425"/>
            <a:ext cx="8969700" cy="2692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Ecosystem services measured: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chemeClr val="dk2"/>
              </a:solidFill>
            </a:endParaRPr>
          </a:p>
          <a:p>
            <a:pPr indent="-228600" lvl="0" marL="1714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WUEt, variant of water-use efficiency, but based on transpiration estimates</a:t>
            </a:r>
            <a:endParaRPr sz="1800">
              <a:solidFill>
                <a:schemeClr val="dk2"/>
              </a:solidFill>
            </a:endParaRPr>
          </a:p>
          <a:p>
            <a:pPr indent="-228600" lvl="0" marL="1714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underlying water-use efficiency (uWUE)</a:t>
            </a:r>
            <a:endParaRPr sz="1800">
              <a:solidFill>
                <a:schemeClr val="dk2"/>
              </a:solidFill>
            </a:endParaRPr>
          </a:p>
          <a:p>
            <a:pPr indent="-228600" lvl="0" marL="1714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maximum and mean basal ecosystem respiration (Rbmax and Rb, respectively)</a:t>
            </a:r>
            <a:endParaRPr sz="1800">
              <a:solidFill>
                <a:schemeClr val="dk2"/>
              </a:solidFill>
            </a:endParaRPr>
          </a:p>
          <a:p>
            <a:pPr indent="-228600" lvl="0" marL="1714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maximum net ecosystem productivity (NEPmax), </a:t>
            </a:r>
            <a:endParaRPr sz="1800">
              <a:solidFill>
                <a:schemeClr val="dk2"/>
              </a:solidFill>
            </a:endParaRPr>
          </a:p>
          <a:p>
            <a:pPr indent="-228600" lvl="0" marL="1714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maximum dry canopy surface conductance (Gsmax)</a:t>
            </a:r>
            <a:endParaRPr sz="1800">
              <a:solidFill>
                <a:schemeClr val="dk2"/>
              </a:solidFill>
            </a:endParaRPr>
          </a:p>
          <a:p>
            <a:pPr indent="-228600" lvl="0" marL="1714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maximum gross CO2 uptake at light saturation (GPPsat)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 axes</a:t>
            </a:r>
            <a:endParaRPr/>
          </a:p>
        </p:txBody>
      </p:sp>
      <p:pic>
        <p:nvPicPr>
          <p:cNvPr id="137" name="Google Shape;137;p25"/>
          <p:cNvPicPr preferRelativeResize="0"/>
          <p:nvPr/>
        </p:nvPicPr>
        <p:blipFill rotWithShape="1">
          <a:blip r:embed="rId3">
            <a:alphaModFix/>
          </a:blip>
          <a:srcRect b="34377" l="35214" r="16952" t="18658"/>
          <a:stretch/>
        </p:blipFill>
        <p:spPr>
          <a:xfrm>
            <a:off x="5864850" y="104675"/>
            <a:ext cx="3134875" cy="17311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8" name="Google Shape;138;p25"/>
          <p:cNvSpPr txBox="1"/>
          <p:nvPr/>
        </p:nvSpPr>
        <p:spPr>
          <a:xfrm>
            <a:off x="-16275" y="1135225"/>
            <a:ext cx="8969700" cy="301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Continued:</a:t>
            </a:r>
            <a:endParaRPr b="1" sz="1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228600" lvl="0" marL="1714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stomatal slope at ecosystem scale (G1)</a:t>
            </a:r>
            <a:endParaRPr sz="1800">
              <a:solidFill>
                <a:schemeClr val="dk2"/>
              </a:solidFill>
            </a:endParaRPr>
          </a:p>
          <a:p>
            <a:pPr indent="-228600" lvl="0" marL="1714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maximum evapotranspiration (ETmax), </a:t>
            </a:r>
            <a:endParaRPr sz="1800">
              <a:solidFill>
                <a:schemeClr val="dk2"/>
              </a:solidFill>
            </a:endParaRPr>
          </a:p>
          <a:p>
            <a:pPr indent="-228600" lvl="0" marL="1714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EF amplitude (EFampl)</a:t>
            </a:r>
            <a:endParaRPr sz="1800">
              <a:solidFill>
                <a:schemeClr val="dk2"/>
              </a:solidFill>
            </a:endParaRPr>
          </a:p>
          <a:p>
            <a:pPr indent="-228600" lvl="0" marL="1714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evaporative fraction (EF) (that is, the ratio between latent heat flux and available energy, indicative of energy partitioning)</a:t>
            </a:r>
            <a:endParaRPr sz="1800">
              <a:solidFill>
                <a:schemeClr val="dk2"/>
              </a:solidFill>
            </a:endParaRPr>
          </a:p>
          <a:p>
            <a:pPr indent="-228600" lvl="0" marL="1714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apparent carbon-use efficiency (aCUE) (that is, the remaining fraction of carbon entering the ecosystem). 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 axes</a:t>
            </a:r>
            <a:endParaRPr/>
          </a:p>
        </p:txBody>
      </p:sp>
      <p:pic>
        <p:nvPicPr>
          <p:cNvPr id="144" name="Google Shape;144;p26"/>
          <p:cNvPicPr preferRelativeResize="0"/>
          <p:nvPr/>
        </p:nvPicPr>
        <p:blipFill rotWithShape="1">
          <a:blip r:embed="rId3">
            <a:alphaModFix/>
          </a:blip>
          <a:srcRect b="34377" l="35214" r="16952" t="18658"/>
          <a:stretch/>
        </p:blipFill>
        <p:spPr>
          <a:xfrm>
            <a:off x="5864850" y="257075"/>
            <a:ext cx="3134875" cy="17311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45" name="Google Shape;145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170125"/>
            <a:ext cx="5126653" cy="3820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 axes</a:t>
            </a:r>
            <a:endParaRPr/>
          </a:p>
        </p:txBody>
      </p:sp>
      <p:pic>
        <p:nvPicPr>
          <p:cNvPr id="151" name="Google Shape;151;p27"/>
          <p:cNvPicPr preferRelativeResize="0"/>
          <p:nvPr/>
        </p:nvPicPr>
        <p:blipFill rotWithShape="1">
          <a:blip r:embed="rId3">
            <a:alphaModFix/>
          </a:blip>
          <a:srcRect b="34377" l="35214" r="16952" t="18658"/>
          <a:stretch/>
        </p:blipFill>
        <p:spPr>
          <a:xfrm>
            <a:off x="5864850" y="257075"/>
            <a:ext cx="3134875" cy="17311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52" name="Google Shape;152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170125"/>
            <a:ext cx="5126653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27"/>
          <p:cNvSpPr txBox="1"/>
          <p:nvPr/>
        </p:nvSpPr>
        <p:spPr>
          <a:xfrm>
            <a:off x="5279050" y="2737275"/>
            <a:ext cx="37206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980000"/>
                </a:solidFill>
              </a:rPr>
              <a:t>PC1 = maximum ecosystem productivity</a:t>
            </a:r>
            <a:endParaRPr sz="1500"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980000"/>
                </a:solidFill>
              </a:rPr>
              <a:t>PC2 = ecosystem water-use strategies </a:t>
            </a:r>
            <a:endParaRPr sz="1500"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rgbClr val="980000"/>
                </a:solidFill>
              </a:rPr>
              <a:t>PC3 = ecosystem carbon-use efficiency</a:t>
            </a:r>
            <a:endParaRPr sz="15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 axes</a:t>
            </a:r>
            <a:endParaRPr/>
          </a:p>
        </p:txBody>
      </p:sp>
      <p:pic>
        <p:nvPicPr>
          <p:cNvPr id="159" name="Google Shape;159;p28"/>
          <p:cNvPicPr preferRelativeResize="0"/>
          <p:nvPr/>
        </p:nvPicPr>
        <p:blipFill rotWithShape="1">
          <a:blip r:embed="rId3">
            <a:alphaModFix/>
          </a:blip>
          <a:srcRect b="34377" l="35214" r="16952" t="18658"/>
          <a:stretch/>
        </p:blipFill>
        <p:spPr>
          <a:xfrm>
            <a:off x="5864850" y="257075"/>
            <a:ext cx="3134875" cy="17311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160" name="Google Shape;160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170125"/>
            <a:ext cx="5126653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8"/>
          <p:cNvSpPr txBox="1"/>
          <p:nvPr/>
        </p:nvSpPr>
        <p:spPr>
          <a:xfrm>
            <a:off x="408750" y="2700275"/>
            <a:ext cx="1830900" cy="4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Max productivity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62" name="Google Shape;162;p28"/>
          <p:cNvSpPr txBox="1"/>
          <p:nvPr/>
        </p:nvSpPr>
        <p:spPr>
          <a:xfrm rot="-5400000">
            <a:off x="-668775" y="1835450"/>
            <a:ext cx="1830900" cy="400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2"/>
                </a:solidFill>
              </a:rPr>
              <a:t>Water use strategy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163" name="Google Shape;163;p28"/>
          <p:cNvSpPr txBox="1"/>
          <p:nvPr/>
        </p:nvSpPr>
        <p:spPr>
          <a:xfrm>
            <a:off x="5615125" y="2267525"/>
            <a:ext cx="3484500" cy="24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CSH =closed shrublands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DBF = deciduous broadleaved forest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DNF = deciduous needleleaf forests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EBF =evergreen broadleaved forest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ENF =evergreen needleleaf forest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GRA =grasslands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MF =mixed forest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OSH =open shrublands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SAV = savannah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WET = wetlands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 axes</a:t>
            </a:r>
            <a:endParaRPr/>
          </a:p>
        </p:txBody>
      </p:sp>
      <p:pic>
        <p:nvPicPr>
          <p:cNvPr id="169" name="Google Shape;169;p29"/>
          <p:cNvPicPr preferRelativeResize="0"/>
          <p:nvPr/>
        </p:nvPicPr>
        <p:blipFill rotWithShape="1">
          <a:blip r:embed="rId3">
            <a:alphaModFix/>
          </a:blip>
          <a:srcRect b="34377" l="35214" r="16952" t="18658"/>
          <a:stretch/>
        </p:blipFill>
        <p:spPr>
          <a:xfrm>
            <a:off x="5864850" y="257075"/>
            <a:ext cx="3134875" cy="17311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0" name="Google Shape;170;p29"/>
          <p:cNvSpPr txBox="1"/>
          <p:nvPr/>
        </p:nvSpPr>
        <p:spPr>
          <a:xfrm>
            <a:off x="5615125" y="2267525"/>
            <a:ext cx="3484500" cy="249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CSH =closed shrublands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DBF = deciduous broadleaved forest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DNF = deciduous needleleaf forests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EBF =evergreen broadleaved forest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ENF =evergreen needleleaf forest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GRA =grasslands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MF =mixed forest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OSH =open shrublands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SAV = savannah</a:t>
            </a:r>
            <a:endParaRPr sz="15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2"/>
                </a:solidFill>
              </a:rPr>
              <a:t>WET = wetlands</a:t>
            </a:r>
            <a:endParaRPr sz="1500">
              <a:solidFill>
                <a:schemeClr val="dk2"/>
              </a:solidFill>
            </a:endParaRPr>
          </a:p>
        </p:txBody>
      </p:sp>
      <p:pic>
        <p:nvPicPr>
          <p:cNvPr id="171" name="Google Shape;171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45150" y="1155000"/>
            <a:ext cx="5317576" cy="35463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9"/>
          <p:cNvSpPr txBox="1"/>
          <p:nvPr/>
        </p:nvSpPr>
        <p:spPr>
          <a:xfrm rot="-5400000">
            <a:off x="-482100" y="1295700"/>
            <a:ext cx="1318200" cy="354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Max productivity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73" name="Google Shape;173;p29"/>
          <p:cNvSpPr txBox="1"/>
          <p:nvPr/>
        </p:nvSpPr>
        <p:spPr>
          <a:xfrm rot="-5400000">
            <a:off x="-245550" y="2716125"/>
            <a:ext cx="845100" cy="354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Water use</a:t>
            </a:r>
            <a:endParaRPr sz="1100">
              <a:solidFill>
                <a:schemeClr val="dk2"/>
              </a:solidFill>
            </a:endParaRPr>
          </a:p>
        </p:txBody>
      </p:sp>
      <p:sp>
        <p:nvSpPr>
          <p:cNvPr id="174" name="Google Shape;174;p29"/>
          <p:cNvSpPr txBox="1"/>
          <p:nvPr/>
        </p:nvSpPr>
        <p:spPr>
          <a:xfrm rot="-5400000">
            <a:off x="-299850" y="3954575"/>
            <a:ext cx="953700" cy="354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2"/>
                </a:solidFill>
              </a:rPr>
              <a:t>Carbon</a:t>
            </a:r>
            <a:r>
              <a:rPr lang="en" sz="1100">
                <a:solidFill>
                  <a:schemeClr val="dk2"/>
                </a:solidFill>
              </a:rPr>
              <a:t> use</a:t>
            </a:r>
            <a:endParaRPr sz="11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 axes</a:t>
            </a:r>
            <a:endParaRPr/>
          </a:p>
        </p:txBody>
      </p:sp>
      <p:pic>
        <p:nvPicPr>
          <p:cNvPr id="180" name="Google Shape;180;p30"/>
          <p:cNvPicPr preferRelativeResize="0"/>
          <p:nvPr/>
        </p:nvPicPr>
        <p:blipFill rotWithShape="1">
          <a:blip r:embed="rId3">
            <a:alphaModFix/>
          </a:blip>
          <a:srcRect b="34377" l="35214" r="16952" t="18658"/>
          <a:stretch/>
        </p:blipFill>
        <p:spPr>
          <a:xfrm>
            <a:off x="5864850" y="257075"/>
            <a:ext cx="3134875" cy="17311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81" name="Google Shape;181;p30"/>
          <p:cNvSpPr txBox="1"/>
          <p:nvPr/>
        </p:nvSpPr>
        <p:spPr>
          <a:xfrm>
            <a:off x="84475" y="1376575"/>
            <a:ext cx="4770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What traits best explain this variation?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Compared plant traits vs climate traits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 axes</a:t>
            </a:r>
            <a:endParaRPr/>
          </a:p>
        </p:txBody>
      </p:sp>
      <p:pic>
        <p:nvPicPr>
          <p:cNvPr id="187" name="Google Shape;187;p31"/>
          <p:cNvPicPr preferRelativeResize="0"/>
          <p:nvPr/>
        </p:nvPicPr>
        <p:blipFill rotWithShape="1">
          <a:blip r:embed="rId3">
            <a:alphaModFix/>
          </a:blip>
          <a:srcRect b="34377" l="35214" r="16952" t="18658"/>
          <a:stretch/>
        </p:blipFill>
        <p:spPr>
          <a:xfrm>
            <a:off x="5864850" y="257075"/>
            <a:ext cx="3134875" cy="17311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88" name="Google Shape;188;p31"/>
          <p:cNvSpPr txBox="1"/>
          <p:nvPr/>
        </p:nvSpPr>
        <p:spPr>
          <a:xfrm>
            <a:off x="84475" y="1376575"/>
            <a:ext cx="47709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Plant traits:</a:t>
            </a:r>
            <a:endParaRPr b="1"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Nitrogen content (N%)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maximum leaf area index (LAIma</a:t>
            </a:r>
            <a:r>
              <a:rPr lang="en" sz="1800">
                <a:solidFill>
                  <a:schemeClr val="dk2"/>
                </a:solidFill>
              </a:rPr>
              <a:t>x)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maximum canopy height (Hc)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above-ground biomass (AGB)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 axes</a:t>
            </a:r>
            <a:endParaRPr/>
          </a:p>
        </p:txBody>
      </p:sp>
      <p:pic>
        <p:nvPicPr>
          <p:cNvPr id="194" name="Google Shape;194;p32"/>
          <p:cNvPicPr preferRelativeResize="0"/>
          <p:nvPr/>
        </p:nvPicPr>
        <p:blipFill rotWithShape="1">
          <a:blip r:embed="rId3">
            <a:alphaModFix/>
          </a:blip>
          <a:srcRect b="34377" l="35214" r="16952" t="18658"/>
          <a:stretch/>
        </p:blipFill>
        <p:spPr>
          <a:xfrm>
            <a:off x="5864850" y="257075"/>
            <a:ext cx="3134875" cy="17311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95" name="Google Shape;195;p32"/>
          <p:cNvSpPr txBox="1"/>
          <p:nvPr/>
        </p:nvSpPr>
        <p:spPr>
          <a:xfrm>
            <a:off x="84475" y="1376575"/>
            <a:ext cx="5698500" cy="184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Climate traits</a:t>
            </a:r>
            <a:r>
              <a:rPr b="1" lang="en" sz="1800">
                <a:solidFill>
                  <a:schemeClr val="dk2"/>
                </a:solidFill>
              </a:rPr>
              <a:t>:</a:t>
            </a:r>
            <a:endParaRPr b="1"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cumulative soil water availability index (CSWI), 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mean annual precipitation (P)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mean shortwave incoming radiation (SWin)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mean air temperature (Tair)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mean vapour pressure deficit (VPD)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 axes</a:t>
            </a:r>
            <a:endParaRPr/>
          </a:p>
        </p:txBody>
      </p: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34377" l="35214" r="16952" t="18658"/>
          <a:stretch/>
        </p:blipFill>
        <p:spPr>
          <a:xfrm>
            <a:off x="5864850" y="257075"/>
            <a:ext cx="3134875" cy="17311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02" name="Google Shape;202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2140626"/>
            <a:ext cx="8839204" cy="2382442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33"/>
          <p:cNvSpPr txBox="1"/>
          <p:nvPr/>
        </p:nvSpPr>
        <p:spPr>
          <a:xfrm>
            <a:off x="54450" y="4642275"/>
            <a:ext cx="9035100" cy="3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980000"/>
                </a:solidFill>
              </a:rPr>
              <a:t>PC1 = maximum ecosystem productivity PC2 = ecosystem water-use strategies  PC3 = ecosystem carbon-use efficiency</a:t>
            </a:r>
            <a:endParaRPr sz="13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Ecosystem function axes</a:t>
            </a:r>
            <a:endParaRPr/>
          </a:p>
        </p:txBody>
      </p:sp>
      <p:pic>
        <p:nvPicPr>
          <p:cNvPr id="209" name="Google Shape;209;p34"/>
          <p:cNvPicPr preferRelativeResize="0"/>
          <p:nvPr/>
        </p:nvPicPr>
        <p:blipFill rotWithShape="1">
          <a:blip r:embed="rId3">
            <a:alphaModFix/>
          </a:blip>
          <a:srcRect b="34377" l="35214" r="16952" t="18658"/>
          <a:stretch/>
        </p:blipFill>
        <p:spPr>
          <a:xfrm>
            <a:off x="5864850" y="257075"/>
            <a:ext cx="3134875" cy="173115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0" name="Google Shape;210;p34"/>
          <p:cNvSpPr txBox="1"/>
          <p:nvPr/>
        </p:nvSpPr>
        <p:spPr>
          <a:xfrm>
            <a:off x="183875" y="1285450"/>
            <a:ext cx="47709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Note: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These types of studies are always sensitive to which traits, which services, etc.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Still, shows how important traits can be for linking with function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Which organisms are most important?</a:t>
            </a:r>
            <a:endParaRPr/>
          </a:p>
        </p:txBody>
      </p:sp>
      <p:pic>
        <p:nvPicPr>
          <p:cNvPr id="216" name="Google Shape;216;p35"/>
          <p:cNvPicPr preferRelativeResize="0"/>
          <p:nvPr/>
        </p:nvPicPr>
        <p:blipFill rotWithShape="1">
          <a:blip r:embed="rId3">
            <a:alphaModFix/>
          </a:blip>
          <a:srcRect b="58330" l="33232" r="9754" t="21445"/>
          <a:stretch/>
        </p:blipFill>
        <p:spPr>
          <a:xfrm>
            <a:off x="5105775" y="1017725"/>
            <a:ext cx="3844498" cy="7671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7" name="Google Shape;217;p35"/>
          <p:cNvSpPr txBox="1"/>
          <p:nvPr/>
        </p:nvSpPr>
        <p:spPr>
          <a:xfrm>
            <a:off x="334275" y="1369450"/>
            <a:ext cx="51759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Mass ratio hypothesis: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The traits of the species that account for most of the biomass drive functioning</a:t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Grime noted that </a:t>
            </a:r>
            <a:r>
              <a:rPr lang="en" sz="1800">
                <a:solidFill>
                  <a:schemeClr val="dk2"/>
                </a:solidFill>
              </a:rPr>
              <a:t>that this only refers to autotrophs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Which organisms are most important?</a:t>
            </a:r>
            <a:endParaRPr/>
          </a:p>
        </p:txBody>
      </p:sp>
      <p:sp>
        <p:nvSpPr>
          <p:cNvPr id="223" name="Google Shape;223;p36"/>
          <p:cNvSpPr txBox="1"/>
          <p:nvPr/>
        </p:nvSpPr>
        <p:spPr>
          <a:xfrm>
            <a:off x="334275" y="1369450"/>
            <a:ext cx="5175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The big things drive functions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24" name="Google Shape;224;p36"/>
          <p:cNvPicPr preferRelativeResize="0"/>
          <p:nvPr/>
        </p:nvPicPr>
        <p:blipFill rotWithShape="1">
          <a:blip r:embed="rId3">
            <a:alphaModFix/>
          </a:blip>
          <a:srcRect b="40645" l="34828" r="18112" t="17526"/>
          <a:stretch/>
        </p:blipFill>
        <p:spPr>
          <a:xfrm>
            <a:off x="6336800" y="372000"/>
            <a:ext cx="2659848" cy="13299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25" name="Google Shape;225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7200" y="1874700"/>
            <a:ext cx="5097123" cy="31164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Which organisms are most important?</a:t>
            </a:r>
            <a:endParaRPr/>
          </a:p>
        </p:txBody>
      </p:sp>
      <p:sp>
        <p:nvSpPr>
          <p:cNvPr id="231" name="Google Shape;231;p37"/>
          <p:cNvSpPr txBox="1"/>
          <p:nvPr/>
        </p:nvSpPr>
        <p:spPr>
          <a:xfrm>
            <a:off x="334275" y="1369450"/>
            <a:ext cx="5175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The big things drive functions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32" name="Google Shape;232;p37"/>
          <p:cNvPicPr preferRelativeResize="0"/>
          <p:nvPr/>
        </p:nvPicPr>
        <p:blipFill rotWithShape="1">
          <a:blip r:embed="rId3">
            <a:alphaModFix/>
          </a:blip>
          <a:srcRect b="40645" l="34828" r="18112" t="17526"/>
          <a:stretch/>
        </p:blipFill>
        <p:spPr>
          <a:xfrm>
            <a:off x="6336800" y="372000"/>
            <a:ext cx="2659848" cy="13299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3" name="Google Shape;23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983550"/>
            <a:ext cx="8839200" cy="2641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Which organisms are most important?</a:t>
            </a:r>
            <a:endParaRPr/>
          </a:p>
        </p:txBody>
      </p:sp>
      <p:sp>
        <p:nvSpPr>
          <p:cNvPr id="239" name="Google Shape;239;p38"/>
          <p:cNvSpPr txBox="1"/>
          <p:nvPr/>
        </p:nvSpPr>
        <p:spPr>
          <a:xfrm>
            <a:off x="334275" y="1369450"/>
            <a:ext cx="5175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The big things drive functions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40" name="Google Shape;240;p38"/>
          <p:cNvPicPr preferRelativeResize="0"/>
          <p:nvPr/>
        </p:nvPicPr>
        <p:blipFill rotWithShape="1">
          <a:blip r:embed="rId3">
            <a:alphaModFix/>
          </a:blip>
          <a:srcRect b="40645" l="34828" r="18112" t="17526"/>
          <a:stretch/>
        </p:blipFill>
        <p:spPr>
          <a:xfrm>
            <a:off x="6336800" y="372000"/>
            <a:ext cx="2659848" cy="13299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1" name="Google Shape;241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983550"/>
            <a:ext cx="8705825" cy="3007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Which organisms are most important?</a:t>
            </a:r>
            <a:endParaRPr/>
          </a:p>
        </p:txBody>
      </p:sp>
      <p:sp>
        <p:nvSpPr>
          <p:cNvPr id="247" name="Google Shape;247;p39"/>
          <p:cNvSpPr txBox="1"/>
          <p:nvPr/>
        </p:nvSpPr>
        <p:spPr>
          <a:xfrm>
            <a:off x="334275" y="1369450"/>
            <a:ext cx="5175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The big things drive functions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48" name="Google Shape;248;p39"/>
          <p:cNvPicPr preferRelativeResize="0"/>
          <p:nvPr/>
        </p:nvPicPr>
        <p:blipFill rotWithShape="1">
          <a:blip r:embed="rId3">
            <a:alphaModFix/>
          </a:blip>
          <a:srcRect b="40645" l="34828" r="18112" t="17526"/>
          <a:stretch/>
        </p:blipFill>
        <p:spPr>
          <a:xfrm>
            <a:off x="6336800" y="372000"/>
            <a:ext cx="2659848" cy="13299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49" name="Google Shape;249;p3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8600" y="1765050"/>
            <a:ext cx="3686348" cy="3226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Which organisms are most important?</a:t>
            </a:r>
            <a:endParaRPr/>
          </a:p>
        </p:txBody>
      </p:sp>
      <p:sp>
        <p:nvSpPr>
          <p:cNvPr id="255" name="Google Shape;255;p40"/>
          <p:cNvSpPr txBox="1"/>
          <p:nvPr/>
        </p:nvSpPr>
        <p:spPr>
          <a:xfrm>
            <a:off x="334275" y="1369450"/>
            <a:ext cx="51759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The big things drive functions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56" name="Google Shape;256;p40"/>
          <p:cNvPicPr preferRelativeResize="0"/>
          <p:nvPr/>
        </p:nvPicPr>
        <p:blipFill rotWithShape="1">
          <a:blip r:embed="rId3">
            <a:alphaModFix/>
          </a:blip>
          <a:srcRect b="40645" l="34828" r="18112" t="17526"/>
          <a:stretch/>
        </p:blipFill>
        <p:spPr>
          <a:xfrm>
            <a:off x="6336800" y="372000"/>
            <a:ext cx="2659848" cy="13299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57" name="Google Shape;257;p4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5100" y="1135450"/>
            <a:ext cx="3936123" cy="38427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Megafauna services</a:t>
            </a:r>
            <a:endParaRPr/>
          </a:p>
        </p:txBody>
      </p:sp>
      <p:pic>
        <p:nvPicPr>
          <p:cNvPr id="263" name="Google Shape;263;p41"/>
          <p:cNvPicPr preferRelativeResize="0"/>
          <p:nvPr/>
        </p:nvPicPr>
        <p:blipFill rotWithShape="1">
          <a:blip r:embed="rId3">
            <a:alphaModFix/>
          </a:blip>
          <a:srcRect b="56059" l="35112" r="16754" t="18913"/>
          <a:stretch/>
        </p:blipFill>
        <p:spPr>
          <a:xfrm>
            <a:off x="6374075" y="0"/>
            <a:ext cx="2769926" cy="8101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64" name="Google Shape;264;p41"/>
          <p:cNvSpPr txBox="1"/>
          <p:nvPr/>
        </p:nvSpPr>
        <p:spPr>
          <a:xfrm>
            <a:off x="286850" y="1296275"/>
            <a:ext cx="57084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Q: How has megafauna loss impacted nutrients?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Megafauna services</a:t>
            </a:r>
            <a:endParaRPr/>
          </a:p>
        </p:txBody>
      </p:sp>
      <p:pic>
        <p:nvPicPr>
          <p:cNvPr id="270" name="Google Shape;270;p42"/>
          <p:cNvPicPr preferRelativeResize="0"/>
          <p:nvPr/>
        </p:nvPicPr>
        <p:blipFill rotWithShape="1">
          <a:blip r:embed="rId3">
            <a:alphaModFix/>
          </a:blip>
          <a:srcRect b="56059" l="35112" r="16754" t="18913"/>
          <a:stretch/>
        </p:blipFill>
        <p:spPr>
          <a:xfrm>
            <a:off x="6374075" y="0"/>
            <a:ext cx="2769926" cy="8101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71" name="Google Shape;271;p42"/>
          <p:cNvSpPr txBox="1"/>
          <p:nvPr/>
        </p:nvSpPr>
        <p:spPr>
          <a:xfrm>
            <a:off x="286850" y="1296275"/>
            <a:ext cx="57084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Q: How has megafauna loss impacted nutrients?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Approach: models based on traits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Traits used: 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Body size (M)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Range size (DD)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Metabolic rate (MR)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Population density (PD)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Food passage time (PR)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</a:t>
            </a:r>
            <a:r>
              <a:rPr lang="en" sz="1800">
                <a:solidFill>
                  <a:schemeClr val="dk2"/>
                </a:solidFill>
              </a:rPr>
              <a:t>otal plant biomass (B)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Edible fraction of plant biomass (</a:t>
            </a:r>
            <a:r>
              <a:rPr lang="en" sz="1800">
                <a:solidFill>
                  <a:schemeClr val="dk2"/>
                </a:solidFill>
              </a:rPr>
              <a:t>α</a:t>
            </a:r>
            <a:r>
              <a:rPr lang="en" sz="1800">
                <a:solidFill>
                  <a:schemeClr val="dk2"/>
                </a:solidFill>
              </a:rPr>
              <a:t>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Megafauna services</a:t>
            </a:r>
            <a:endParaRPr/>
          </a:p>
        </p:txBody>
      </p:sp>
      <p:pic>
        <p:nvPicPr>
          <p:cNvPr id="277" name="Google Shape;277;p43"/>
          <p:cNvPicPr preferRelativeResize="0"/>
          <p:nvPr/>
        </p:nvPicPr>
        <p:blipFill rotWithShape="1">
          <a:blip r:embed="rId3">
            <a:alphaModFix/>
          </a:blip>
          <a:srcRect b="56059" l="35112" r="16754" t="18913"/>
          <a:stretch/>
        </p:blipFill>
        <p:spPr>
          <a:xfrm>
            <a:off x="6374075" y="0"/>
            <a:ext cx="2769926" cy="8101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78" name="Google Shape;278;p43"/>
          <p:cNvSpPr txBox="1"/>
          <p:nvPr/>
        </p:nvSpPr>
        <p:spPr>
          <a:xfrm>
            <a:off x="286850" y="1296275"/>
            <a:ext cx="57084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Q: How has megafauna loss impacted nutrients?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Approach: models based on traits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Traits used: 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Body size (M)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Range size (DD)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Metabolic rate (MR)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Population density (PD)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Food passage time (PR)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Total plant biomass (B)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Edible fraction of plant biomass (α)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79" name="Google Shape;279;p43"/>
          <p:cNvPicPr preferRelativeResize="0"/>
          <p:nvPr/>
        </p:nvPicPr>
        <p:blipFill rotWithShape="1">
          <a:blip r:embed="rId4">
            <a:alphaModFix/>
          </a:blip>
          <a:srcRect b="40037" l="51869" r="7182" t="50956"/>
          <a:stretch/>
        </p:blipFill>
        <p:spPr>
          <a:xfrm>
            <a:off x="4378027" y="1931300"/>
            <a:ext cx="4629446" cy="572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Megafauna services</a:t>
            </a:r>
            <a:endParaRPr/>
          </a:p>
        </p:txBody>
      </p:sp>
      <p:pic>
        <p:nvPicPr>
          <p:cNvPr id="285" name="Google Shape;285;p44"/>
          <p:cNvPicPr preferRelativeResize="0"/>
          <p:nvPr/>
        </p:nvPicPr>
        <p:blipFill rotWithShape="1">
          <a:blip r:embed="rId3">
            <a:alphaModFix/>
          </a:blip>
          <a:srcRect b="56059" l="35112" r="16754" t="18913"/>
          <a:stretch/>
        </p:blipFill>
        <p:spPr>
          <a:xfrm>
            <a:off x="6374075" y="0"/>
            <a:ext cx="2769926" cy="8101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6" name="Google Shape;286;p44"/>
          <p:cNvSpPr txBox="1"/>
          <p:nvPr/>
        </p:nvSpPr>
        <p:spPr>
          <a:xfrm>
            <a:off x="286850" y="1296275"/>
            <a:ext cx="57084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Q: How has megafauna loss impacted nutrients?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Approach: models based on traits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Traits used: 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Body size (M)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Range size (DD)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Metabolic rate (MR)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Population density (PD)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Food passage time (PR)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Total plant biomass (B)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Edible fraction of plant biomass (α)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87" name="Google Shape;287;p44"/>
          <p:cNvPicPr preferRelativeResize="0"/>
          <p:nvPr/>
        </p:nvPicPr>
        <p:blipFill rotWithShape="1">
          <a:blip r:embed="rId4">
            <a:alphaModFix/>
          </a:blip>
          <a:srcRect b="40037" l="51869" r="7182" t="50956"/>
          <a:stretch/>
        </p:blipFill>
        <p:spPr>
          <a:xfrm>
            <a:off x="4378025" y="1931300"/>
            <a:ext cx="4629451" cy="57270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44"/>
          <p:cNvSpPr/>
          <p:nvPr/>
        </p:nvSpPr>
        <p:spPr>
          <a:xfrm>
            <a:off x="8060125" y="1931300"/>
            <a:ext cx="438000" cy="339300"/>
          </a:xfrm>
          <a:prstGeom prst="roundRect">
            <a:avLst>
              <a:gd fmla="val 16667" name="adj"/>
            </a:avLst>
          </a:prstGeom>
          <a:noFill/>
          <a:ln cap="flat" cmpd="sng" w="19050">
            <a:solidFill>
              <a:srgbClr val="98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289" name="Google Shape;289;p44"/>
          <p:cNvCxnSpPr>
            <a:stCxn id="288" idx="2"/>
          </p:cNvCxnSpPr>
          <p:nvPr/>
        </p:nvCxnSpPr>
        <p:spPr>
          <a:xfrm flipH="1">
            <a:off x="7797325" y="2270600"/>
            <a:ext cx="481800" cy="9087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290" name="Google Shape;290;p44"/>
          <p:cNvSpPr txBox="1"/>
          <p:nvPr/>
        </p:nvSpPr>
        <p:spPr>
          <a:xfrm>
            <a:off x="5859525" y="3310750"/>
            <a:ext cx="3304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980000"/>
                </a:solidFill>
              </a:rPr>
              <a:t>Note: superlinear scaling means bigger </a:t>
            </a:r>
            <a:r>
              <a:rPr lang="en" sz="1800">
                <a:solidFill>
                  <a:srgbClr val="980000"/>
                </a:solidFill>
              </a:rPr>
              <a:t>things</a:t>
            </a:r>
            <a:r>
              <a:rPr lang="en" sz="1800">
                <a:solidFill>
                  <a:srgbClr val="980000"/>
                </a:solidFill>
              </a:rPr>
              <a:t> are disproportionately important!</a:t>
            </a:r>
            <a:endParaRPr sz="18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Megafauna services</a:t>
            </a:r>
            <a:endParaRPr/>
          </a:p>
        </p:txBody>
      </p:sp>
      <p:pic>
        <p:nvPicPr>
          <p:cNvPr id="296" name="Google Shape;296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17725"/>
            <a:ext cx="2931878" cy="397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45"/>
          <p:cNvPicPr preferRelativeResize="0"/>
          <p:nvPr/>
        </p:nvPicPr>
        <p:blipFill rotWithShape="1">
          <a:blip r:embed="rId4">
            <a:alphaModFix/>
          </a:blip>
          <a:srcRect b="56059" l="35112" r="16754" t="18913"/>
          <a:stretch/>
        </p:blipFill>
        <p:spPr>
          <a:xfrm>
            <a:off x="6374075" y="0"/>
            <a:ext cx="2769926" cy="8101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Megafauna services</a:t>
            </a:r>
            <a:endParaRPr/>
          </a:p>
        </p:txBody>
      </p:sp>
      <p:pic>
        <p:nvPicPr>
          <p:cNvPr id="303" name="Google Shape;303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017725"/>
            <a:ext cx="2931878" cy="3973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37575" y="1060400"/>
            <a:ext cx="2850301" cy="3930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46"/>
          <p:cNvPicPr preferRelativeResize="0"/>
          <p:nvPr/>
        </p:nvPicPr>
        <p:blipFill rotWithShape="1">
          <a:blip r:embed="rId5">
            <a:alphaModFix/>
          </a:blip>
          <a:srcRect b="56059" l="35112" r="16754" t="18913"/>
          <a:stretch/>
        </p:blipFill>
        <p:spPr>
          <a:xfrm>
            <a:off x="6374075" y="0"/>
            <a:ext cx="2769926" cy="8101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Megafauna services</a:t>
            </a:r>
            <a:endParaRPr/>
          </a:p>
        </p:txBody>
      </p:sp>
      <p:pic>
        <p:nvPicPr>
          <p:cNvPr id="311" name="Google Shape;311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6424760" cy="38209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47"/>
          <p:cNvPicPr preferRelativeResize="0"/>
          <p:nvPr/>
        </p:nvPicPr>
        <p:blipFill rotWithShape="1">
          <a:blip r:embed="rId4">
            <a:alphaModFix/>
          </a:blip>
          <a:srcRect b="56059" l="35112" r="16754" t="18913"/>
          <a:stretch/>
        </p:blipFill>
        <p:spPr>
          <a:xfrm>
            <a:off x="6374075" y="0"/>
            <a:ext cx="2769926" cy="8101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Megafauna services</a:t>
            </a:r>
            <a:endParaRPr/>
          </a:p>
        </p:txBody>
      </p:sp>
      <p:pic>
        <p:nvPicPr>
          <p:cNvPr id="318" name="Google Shape;318;p48"/>
          <p:cNvPicPr preferRelativeResize="0"/>
          <p:nvPr/>
        </p:nvPicPr>
        <p:blipFill rotWithShape="1">
          <a:blip r:embed="rId3">
            <a:alphaModFix/>
          </a:blip>
          <a:srcRect b="56059" l="35112" r="16754" t="18913"/>
          <a:stretch/>
        </p:blipFill>
        <p:spPr>
          <a:xfrm>
            <a:off x="6374075" y="0"/>
            <a:ext cx="2769926" cy="8101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19" name="Google Shape;319;p48"/>
          <p:cNvPicPr preferRelativeResize="0"/>
          <p:nvPr/>
        </p:nvPicPr>
        <p:blipFill rotWithShape="1">
          <a:blip r:embed="rId4">
            <a:alphaModFix/>
          </a:blip>
          <a:srcRect b="40458" l="26918" r="8957" t="34141"/>
          <a:stretch/>
        </p:blipFill>
        <p:spPr>
          <a:xfrm>
            <a:off x="361225" y="1671850"/>
            <a:ext cx="8078275" cy="1799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Traits and temp and photosynthesis</a:t>
            </a:r>
            <a:endParaRPr/>
          </a:p>
        </p:txBody>
      </p:sp>
      <p:pic>
        <p:nvPicPr>
          <p:cNvPr id="325" name="Google Shape;325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8025" y="1121773"/>
            <a:ext cx="6819451" cy="3416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6" name="Google Shape;326;p49"/>
          <p:cNvSpPr txBox="1"/>
          <p:nvPr/>
        </p:nvSpPr>
        <p:spPr>
          <a:xfrm>
            <a:off x="335825" y="4654475"/>
            <a:ext cx="8641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Photosynthesis is temp-dependent, but not much global signal of temperature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27" name="Google Shape;327;p49"/>
          <p:cNvPicPr preferRelativeResize="0"/>
          <p:nvPr/>
        </p:nvPicPr>
        <p:blipFill rotWithShape="1">
          <a:blip r:embed="rId4">
            <a:alphaModFix/>
          </a:blip>
          <a:srcRect b="46946" l="32537" r="31839" t="18896"/>
          <a:stretch/>
        </p:blipFill>
        <p:spPr>
          <a:xfrm>
            <a:off x="6914950" y="66900"/>
            <a:ext cx="2170123" cy="11705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Traits </a:t>
            </a:r>
            <a:r>
              <a:rPr lang="en"/>
              <a:t>and temp </a:t>
            </a:r>
            <a:r>
              <a:rPr lang="en"/>
              <a:t>and photosynthesis</a:t>
            </a:r>
            <a:endParaRPr/>
          </a:p>
        </p:txBody>
      </p:sp>
      <p:pic>
        <p:nvPicPr>
          <p:cNvPr id="333" name="Google Shape;333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4223078" cy="3820979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50"/>
          <p:cNvPicPr preferRelativeResize="0"/>
          <p:nvPr/>
        </p:nvPicPr>
        <p:blipFill rotWithShape="1">
          <a:blip r:embed="rId4">
            <a:alphaModFix/>
          </a:blip>
          <a:srcRect b="46946" l="32537" r="31839" t="18896"/>
          <a:stretch/>
        </p:blipFill>
        <p:spPr>
          <a:xfrm>
            <a:off x="6914950" y="66900"/>
            <a:ext cx="2170123" cy="11705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5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Traits </a:t>
            </a:r>
            <a:r>
              <a:rPr lang="en"/>
              <a:t>and temp </a:t>
            </a:r>
            <a:r>
              <a:rPr lang="en"/>
              <a:t>and photosynthesis</a:t>
            </a:r>
            <a:endParaRPr/>
          </a:p>
        </p:txBody>
      </p:sp>
      <p:pic>
        <p:nvPicPr>
          <p:cNvPr id="340" name="Google Shape;340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600" y="940825"/>
            <a:ext cx="4062177" cy="4050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51"/>
          <p:cNvPicPr preferRelativeResize="0"/>
          <p:nvPr/>
        </p:nvPicPr>
        <p:blipFill rotWithShape="1">
          <a:blip r:embed="rId4">
            <a:alphaModFix/>
          </a:blip>
          <a:srcRect b="46946" l="32537" r="31839" t="18896"/>
          <a:stretch/>
        </p:blipFill>
        <p:spPr>
          <a:xfrm>
            <a:off x="6914950" y="66900"/>
            <a:ext cx="2170123" cy="117052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5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Traits and temp and photosynthesis</a:t>
            </a:r>
            <a:endParaRPr/>
          </a:p>
        </p:txBody>
      </p:sp>
      <p:sp>
        <p:nvSpPr>
          <p:cNvPr id="347" name="Google Shape;347;p52"/>
          <p:cNvSpPr txBox="1"/>
          <p:nvPr/>
        </p:nvSpPr>
        <p:spPr>
          <a:xfrm>
            <a:off x="365300" y="1408125"/>
            <a:ext cx="56562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We need to predict photosynthetic rate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Photosynthetic rate depends on temperature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Leaf temperature can’t be predicted from air temp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How do we get at leaf temp?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48" name="Google Shape;348;p52"/>
          <p:cNvPicPr preferRelativeResize="0"/>
          <p:nvPr/>
        </p:nvPicPr>
        <p:blipFill rotWithShape="1">
          <a:blip r:embed="rId3">
            <a:alphaModFix/>
          </a:blip>
          <a:srcRect b="52965" l="34758" r="17560" t="18072"/>
          <a:stretch/>
        </p:blipFill>
        <p:spPr>
          <a:xfrm>
            <a:off x="6050825" y="51075"/>
            <a:ext cx="3014626" cy="10299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5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Traits and temp and photosynthesis</a:t>
            </a:r>
            <a:endParaRPr/>
          </a:p>
        </p:txBody>
      </p:sp>
      <p:pic>
        <p:nvPicPr>
          <p:cNvPr id="354" name="Google Shape;354;p5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389826"/>
            <a:ext cx="7570680" cy="3601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53"/>
          <p:cNvPicPr preferRelativeResize="0"/>
          <p:nvPr/>
        </p:nvPicPr>
        <p:blipFill rotWithShape="1">
          <a:blip r:embed="rId4">
            <a:alphaModFix/>
          </a:blip>
          <a:srcRect b="52965" l="34758" r="17560" t="18072"/>
          <a:stretch/>
        </p:blipFill>
        <p:spPr>
          <a:xfrm>
            <a:off x="6050825" y="51075"/>
            <a:ext cx="3014626" cy="10299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Traits and temp and photosynthesis</a:t>
            </a:r>
            <a:endParaRPr/>
          </a:p>
        </p:txBody>
      </p:sp>
      <p:pic>
        <p:nvPicPr>
          <p:cNvPr id="361" name="Google Shape;361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5020337" cy="3820975"/>
          </a:xfrm>
          <a:prstGeom prst="rect">
            <a:avLst/>
          </a:prstGeom>
          <a:noFill/>
          <a:ln>
            <a:noFill/>
          </a:ln>
        </p:spPr>
      </p:pic>
      <p:sp>
        <p:nvSpPr>
          <p:cNvPr id="362" name="Google Shape;362;p54"/>
          <p:cNvSpPr txBox="1"/>
          <p:nvPr/>
        </p:nvSpPr>
        <p:spPr>
          <a:xfrm>
            <a:off x="5785700" y="2083725"/>
            <a:ext cx="33759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FF00FF"/>
                </a:solidFill>
              </a:rPr>
              <a:t>Pink</a:t>
            </a:r>
            <a:r>
              <a:rPr lang="en" sz="1800">
                <a:solidFill>
                  <a:schemeClr val="dk2"/>
                </a:solidFill>
              </a:rPr>
              <a:t> = prediction from trait-based model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1"/>
                </a:solidFill>
              </a:rPr>
              <a:t>Black</a:t>
            </a:r>
            <a:r>
              <a:rPr lang="en" sz="1800">
                <a:solidFill>
                  <a:schemeClr val="dk2"/>
                </a:solidFill>
              </a:rPr>
              <a:t> = best fit regression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63" name="Google Shape;363;p54"/>
          <p:cNvPicPr preferRelativeResize="0"/>
          <p:nvPr/>
        </p:nvPicPr>
        <p:blipFill rotWithShape="1">
          <a:blip r:embed="rId4">
            <a:alphaModFix/>
          </a:blip>
          <a:srcRect b="52965" l="34758" r="17560" t="18072"/>
          <a:stretch/>
        </p:blipFill>
        <p:spPr>
          <a:xfrm>
            <a:off x="6050825" y="51075"/>
            <a:ext cx="3014626" cy="10299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5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Traits and temp and photosynthesis</a:t>
            </a:r>
            <a:endParaRPr/>
          </a:p>
        </p:txBody>
      </p:sp>
      <p:pic>
        <p:nvPicPr>
          <p:cNvPr id="369" name="Google Shape;369;p55"/>
          <p:cNvPicPr preferRelativeResize="0"/>
          <p:nvPr/>
        </p:nvPicPr>
        <p:blipFill rotWithShape="1">
          <a:blip r:embed="rId3">
            <a:alphaModFix/>
          </a:blip>
          <a:srcRect b="52965" l="34758" r="17560" t="18072"/>
          <a:stretch/>
        </p:blipFill>
        <p:spPr>
          <a:xfrm>
            <a:off x="6050825" y="51075"/>
            <a:ext cx="3014626" cy="10299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70" name="Google Shape;370;p55"/>
          <p:cNvSpPr txBox="1"/>
          <p:nvPr/>
        </p:nvSpPr>
        <p:spPr>
          <a:xfrm>
            <a:off x="669700" y="1889300"/>
            <a:ext cx="5656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Studies and theory like this represent major advances in linking form and function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5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Intraspecific variation matters</a:t>
            </a:r>
            <a:endParaRPr/>
          </a:p>
        </p:txBody>
      </p:sp>
      <p:sp>
        <p:nvSpPr>
          <p:cNvPr id="376" name="Google Shape;376;p5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Many studies use species level mean trait values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Turns out, this is a bad idea for estimating functioning</a:t>
            </a:r>
            <a:endParaRPr/>
          </a:p>
        </p:txBody>
      </p:sp>
      <p:pic>
        <p:nvPicPr>
          <p:cNvPr id="377" name="Google Shape;377;p56"/>
          <p:cNvPicPr preferRelativeResize="0"/>
          <p:nvPr/>
        </p:nvPicPr>
        <p:blipFill rotWithShape="1">
          <a:blip r:embed="rId3">
            <a:alphaModFix/>
          </a:blip>
          <a:srcRect b="25375" l="20983" r="21272" t="22410"/>
          <a:stretch/>
        </p:blipFill>
        <p:spPr>
          <a:xfrm>
            <a:off x="6591825" y="0"/>
            <a:ext cx="2552174" cy="12982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5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Intraspecific variation matters</a:t>
            </a:r>
            <a:endParaRPr/>
          </a:p>
        </p:txBody>
      </p:sp>
      <p:sp>
        <p:nvSpPr>
          <p:cNvPr id="383" name="Google Shape;383;p5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Overview:</a:t>
            </a:r>
            <a:endParaRPr b="1"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Measured CO</a:t>
            </a:r>
            <a:r>
              <a:rPr baseline="-25000" lang="en"/>
              <a:t>2</a:t>
            </a:r>
            <a:r>
              <a:rPr lang="en"/>
              <a:t> fluxes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Measured traits (including intraspecific variation)</a:t>
            </a:r>
            <a:endParaRPr/>
          </a:p>
          <a:p>
            <a:pPr indent="0" lvl="0" marL="45720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Measured environment</a:t>
            </a:r>
            <a:endParaRPr/>
          </a:p>
        </p:txBody>
      </p:sp>
      <p:pic>
        <p:nvPicPr>
          <p:cNvPr id="384" name="Google Shape;384;p57"/>
          <p:cNvPicPr preferRelativeResize="0"/>
          <p:nvPr/>
        </p:nvPicPr>
        <p:blipFill rotWithShape="1">
          <a:blip r:embed="rId3">
            <a:alphaModFix/>
          </a:blip>
          <a:srcRect b="0" l="0" r="0" t="70050"/>
          <a:stretch/>
        </p:blipFill>
        <p:spPr>
          <a:xfrm>
            <a:off x="550325" y="3332549"/>
            <a:ext cx="8043351" cy="1540474"/>
          </a:xfrm>
          <a:prstGeom prst="rect">
            <a:avLst/>
          </a:prstGeom>
          <a:noFill/>
          <a:ln>
            <a:noFill/>
          </a:ln>
        </p:spPr>
      </p:pic>
      <p:pic>
        <p:nvPicPr>
          <p:cNvPr id="385" name="Google Shape;385;p57"/>
          <p:cNvPicPr preferRelativeResize="0"/>
          <p:nvPr/>
        </p:nvPicPr>
        <p:blipFill rotWithShape="1">
          <a:blip r:embed="rId3">
            <a:alphaModFix/>
          </a:blip>
          <a:srcRect b="33576" l="0" r="58561" t="0"/>
          <a:stretch/>
        </p:blipFill>
        <p:spPr>
          <a:xfrm>
            <a:off x="5868975" y="295125"/>
            <a:ext cx="2963325" cy="30374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Intraspecific variation matters</a:t>
            </a:r>
            <a:endParaRPr/>
          </a:p>
        </p:txBody>
      </p:sp>
      <p:sp>
        <p:nvSpPr>
          <p:cNvPr id="391" name="Google Shape;391;p5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 estimate the magnitude of ITV:</a:t>
            </a:r>
            <a:endParaRPr/>
          </a:p>
          <a:p>
            <a:pPr indent="-342900" lvl="0" marL="457200" rtl="0" algn="l">
              <a:spcBef>
                <a:spcPts val="1200"/>
              </a:spcBef>
              <a:spcAft>
                <a:spcPts val="0"/>
              </a:spcAft>
              <a:buSzPts val="1800"/>
              <a:buChar char="-"/>
            </a:pPr>
            <a:r>
              <a:rPr lang="en"/>
              <a:t>Compare trait estimates using species mean vs those with ITV</a:t>
            </a:r>
            <a:endParaRPr/>
          </a:p>
        </p:txBody>
      </p:sp>
      <p:pic>
        <p:nvPicPr>
          <p:cNvPr id="392" name="Google Shape;392;p58"/>
          <p:cNvPicPr preferRelativeResize="0"/>
          <p:nvPr/>
        </p:nvPicPr>
        <p:blipFill rotWithShape="1">
          <a:blip r:embed="rId3">
            <a:alphaModFix/>
          </a:blip>
          <a:srcRect b="25375" l="20983" r="21272" t="22410"/>
          <a:stretch/>
        </p:blipFill>
        <p:spPr>
          <a:xfrm>
            <a:off x="6591825" y="0"/>
            <a:ext cx="2552174" cy="12982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5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Intraspecific variation matters</a:t>
            </a:r>
            <a:endParaRPr/>
          </a:p>
        </p:txBody>
      </p:sp>
      <p:pic>
        <p:nvPicPr>
          <p:cNvPr id="398" name="Google Shape;398;p5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8723" y="1017725"/>
            <a:ext cx="6119398" cy="4198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99" name="Google Shape;399;p59"/>
          <p:cNvPicPr preferRelativeResize="0"/>
          <p:nvPr/>
        </p:nvPicPr>
        <p:blipFill rotWithShape="1">
          <a:blip r:embed="rId4">
            <a:alphaModFix/>
          </a:blip>
          <a:srcRect b="25375" l="20983" r="21272" t="22410"/>
          <a:stretch/>
        </p:blipFill>
        <p:spPr>
          <a:xfrm>
            <a:off x="6591825" y="0"/>
            <a:ext cx="2552174" cy="12982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6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Intraspecific variation matters</a:t>
            </a:r>
            <a:endParaRPr/>
          </a:p>
        </p:txBody>
      </p:sp>
      <p:pic>
        <p:nvPicPr>
          <p:cNvPr id="405" name="Google Shape;405;p60"/>
          <p:cNvPicPr preferRelativeResize="0"/>
          <p:nvPr/>
        </p:nvPicPr>
        <p:blipFill rotWithShape="1">
          <a:blip r:embed="rId3">
            <a:alphaModFix/>
          </a:blip>
          <a:srcRect b="0" l="20758" r="20185" t="55978"/>
          <a:stretch/>
        </p:blipFill>
        <p:spPr>
          <a:xfrm>
            <a:off x="311701" y="1177376"/>
            <a:ext cx="5009449" cy="3637324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60"/>
          <p:cNvSpPr txBox="1"/>
          <p:nvPr/>
        </p:nvSpPr>
        <p:spPr>
          <a:xfrm>
            <a:off x="5646800" y="1232700"/>
            <a:ext cx="33726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GEP = gross ecosystem productivity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eco</a:t>
            </a:r>
            <a:r>
              <a:rPr lang="en" sz="1800">
                <a:solidFill>
                  <a:schemeClr val="dk2"/>
                </a:solidFill>
              </a:rPr>
              <a:t> = ecosystem respiration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NEE = net ecosystem CO</a:t>
            </a:r>
            <a:r>
              <a:rPr baseline="-25000" lang="en" sz="1800">
                <a:solidFill>
                  <a:schemeClr val="dk2"/>
                </a:solidFill>
              </a:rPr>
              <a:t>2</a:t>
            </a:r>
            <a:r>
              <a:rPr lang="en" sz="1800">
                <a:solidFill>
                  <a:schemeClr val="dk2"/>
                </a:solidFill>
              </a:rPr>
              <a:t> exchange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GEP = NEE + </a:t>
            </a:r>
            <a:r>
              <a:rPr lang="en" sz="1800">
                <a:solidFill>
                  <a:schemeClr val="dk2"/>
                </a:solidFill>
              </a:rPr>
              <a:t>R</a:t>
            </a:r>
            <a:r>
              <a:rPr baseline="-25000" lang="en" sz="1800">
                <a:solidFill>
                  <a:schemeClr val="dk2"/>
                </a:solidFill>
              </a:rPr>
              <a:t>eco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407" name="Google Shape;407;p60"/>
          <p:cNvPicPr preferRelativeResize="0"/>
          <p:nvPr/>
        </p:nvPicPr>
        <p:blipFill rotWithShape="1">
          <a:blip r:embed="rId4">
            <a:alphaModFix/>
          </a:blip>
          <a:srcRect b="25375" l="20983" r="21272" t="22410"/>
          <a:stretch/>
        </p:blipFill>
        <p:spPr>
          <a:xfrm>
            <a:off x="6591825" y="0"/>
            <a:ext cx="2552174" cy="1298225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6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Takeaways</a:t>
            </a:r>
            <a:endParaRPr/>
          </a:p>
        </p:txBody>
      </p:sp>
      <p:sp>
        <p:nvSpPr>
          <p:cNvPr id="413" name="Google Shape;413;p6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Traits help us understand variation in ecosystem services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Traits - environment interactions can be important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Mechanistic trait models can provide important insights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Intraspecific trait </a:t>
            </a:r>
            <a:r>
              <a:rPr lang="en" sz="2000"/>
              <a:t>variation</a:t>
            </a:r>
            <a:r>
              <a:rPr lang="en" sz="2000"/>
              <a:t> is super important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Some species are more important than others</a:t>
            </a:r>
            <a:endParaRPr sz="200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class: Traits and global change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