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3CA82C-882B-44A0-B65D-3505EBA71534}">
  <a:tblStyle styleId="{6C3CA82C-882B-44A0-B65D-3505EBA715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93ce3efa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93ce3efa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93ce3efa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93ce3efa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93ce3efa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93ce3efa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93ce3efa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93ce3efa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93ce3efa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93ce3efa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93ce3efa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93ce3efa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93ce3efa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93ce3efa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93ce3efa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93ce3efa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393ce3efa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393ce3efa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93ce3efa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93ce3efa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93ce3efa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93ce3efa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93ce3efa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93ce3efa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93ce3efa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93ce3efa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93ce3efa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93ce3efa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393ce3efa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393ce3efa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93ce3efa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93ce3efa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93ce3efa6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93ce3efa6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93ce3efa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393ce3efa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Mutualism = mutual exploitation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93ce3efa6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93ce3efa6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93ce3efa6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393ce3efa6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93ce3efa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393ce3efa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93ce3efa6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93ce3efa6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93ce3efa6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393ce3efa6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393ce3efa6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393ce3efa6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93ce3efa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393ce3efa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393ce3efa6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393ce3efa6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393ce3efa6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393ce3efa6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93ce3efa6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393ce3efa6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393ce3efa6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393ce3efa6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393ce3efa6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393ce3efa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393ce3efa6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393ce3efa6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393ce3efa6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393ce3efa6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393ce3efa6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393ce3efa6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where species grow/shrink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393ce3efa6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393ce3efa6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393ce3efa6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393ce3efa6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393ce3efa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393ce3efa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393ce3efa6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393ce3efa6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393ce3efa6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393ce3efa6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393ce3efa6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393ce3efa6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393ce3efa6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393ce3efa6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393ce3efa6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393ce3efa6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393ce3efa6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393ce3efa6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393ce3efa6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393ce3efa6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393ce3efa6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393ce3efa6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393ce3efa6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393ce3efa6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393ce3efa6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393ce3efa6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don’t we see some of these other transitions?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393ce3efa6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393ce3efa6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Mutualism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Quiz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Preparing for the midterm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Network assignment</a:t>
            </a:r>
            <a:endParaRPr/>
          </a:p>
          <a:p>
            <a:pPr indent="-393065" lvl="0" marL="457200" rtl="0" algn="ctr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Mutualism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Preparing for the midterm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time is the midterm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of the questions will be recycled from the </a:t>
            </a:r>
            <a:r>
              <a:rPr lang="en"/>
              <a:t>quizzes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 be modified (e.g., changed to multiple choice, reworded, etc)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 look over </a:t>
            </a:r>
            <a:r>
              <a:rPr lang="en"/>
              <a:t>quizzes</a:t>
            </a:r>
            <a:r>
              <a:rPr lang="en"/>
              <a:t>, particularly missed questions!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be a few new things pulled from lectures or the book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Consists of 3 parts: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Consists of 3 parts: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Read papers before class on March 3!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16 options given (see the assignment details on Canvas for the list)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Don’t have to read all, but should read a subset of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b="1" lang="en"/>
              <a:t>In-class discussion will be part of your grade!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Consists of 3 parts: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Read papers before class on March 3!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Write about network(s) that might be useful for your question/system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Explain which network type(s) or representation(s) seem best suited to your system/question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Explain </a:t>
            </a:r>
            <a:r>
              <a:rPr b="1" lang="en">
                <a:solidFill>
                  <a:schemeClr val="dk1"/>
                </a:solidFill>
              </a:rPr>
              <a:t>why</a:t>
            </a:r>
            <a:r>
              <a:rPr lang="en">
                <a:solidFill>
                  <a:schemeClr val="dk1"/>
                </a:solidFill>
              </a:rPr>
              <a:t> these types/representations are well suited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Explain why other types/representations may </a:t>
            </a:r>
            <a:r>
              <a:rPr b="1" lang="en">
                <a:solidFill>
                  <a:schemeClr val="dk1"/>
                </a:solidFill>
              </a:rPr>
              <a:t>not be</a:t>
            </a:r>
            <a:r>
              <a:rPr lang="en">
                <a:solidFill>
                  <a:schemeClr val="dk1"/>
                </a:solidFill>
              </a:rPr>
              <a:t> a good fit.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Support your arguments with ideas from class, your readings, or your own reasoning, but remember to cite anything that comes from a published article.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arenR"/>
            </a:pPr>
            <a:r>
              <a:rPr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ne to two pages, double spaced (citations don’t count against the word limit) 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Consists of 3 parts: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Read papers before class on March 3!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Write about network(s) that might be useful for your question/system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How might network ecology help us to address big questions in ecology?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E.g., networks are integrated into species distribution modelling via joint SDMs, allowing prey distributions to inform predator distributions.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Write a short explanation (a page or so, double spaced) about how a major topic in ecology might benefit from integrating ecological networks.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arenR"/>
            </a:pPr>
            <a:r>
              <a:rPr lang="en">
                <a:solidFill>
                  <a:schemeClr val="dk1"/>
                </a:solidFill>
              </a:rPr>
              <a:t>For potential ideas of “major topics” you can look to your syllabus (competition, coexistence, biodiversity-ecosystem functioning, etc.), but aren’t limited to what is mentioned there.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Grade Breakdown:</a:t>
            </a:r>
            <a:endParaRPr i="1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In-class participation and discussion			30%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Written portion 1						50%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Written portion 2						20%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Assignment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Questions?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21"/>
          <p:cNvGraphicFramePr/>
          <p:nvPr/>
        </p:nvGraphicFramePr>
        <p:xfrm>
          <a:off x="196175" y="96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{6C3CA82C-882B-44A0-B65D-3505EBA71534}</a:tableStyleId>
              </a:tblPr>
              <a:tblGrid>
                <a:gridCol w="1794650"/>
                <a:gridCol w="417150"/>
                <a:gridCol w="1586575"/>
                <a:gridCol w="1418075"/>
                <a:gridCol w="1219850"/>
              </a:tblGrid>
              <a:tr h="5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872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?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 rotWithShape="1">
          <a:blip r:embed="rId3">
            <a:alphaModFix/>
          </a:blip>
          <a:srcRect b="31517" l="39103" r="9740" t="30061"/>
          <a:stretch/>
        </p:blipFill>
        <p:spPr>
          <a:xfrm>
            <a:off x="6632475" y="51047"/>
            <a:ext cx="2511523" cy="106100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22"/>
          <p:cNvGraphicFramePr/>
          <p:nvPr/>
        </p:nvGraphicFramePr>
        <p:xfrm>
          <a:off x="196175" y="96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{6C3CA82C-882B-44A0-B65D-3505EBA71534}</a:tableStyleId>
              </a:tblPr>
              <a:tblGrid>
                <a:gridCol w="1794650"/>
                <a:gridCol w="417150"/>
                <a:gridCol w="1586575"/>
                <a:gridCol w="1418075"/>
                <a:gridCol w="1219850"/>
              </a:tblGrid>
              <a:tr h="5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872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pic>
        <p:nvPicPr>
          <p:cNvPr id="111" name="Google Shape;111;p22"/>
          <p:cNvPicPr preferRelativeResize="0"/>
          <p:nvPr/>
        </p:nvPicPr>
        <p:blipFill rotWithShape="1">
          <a:blip r:embed="rId3">
            <a:alphaModFix/>
          </a:blip>
          <a:srcRect b="31517" l="39103" r="9740" t="30061"/>
          <a:stretch/>
        </p:blipFill>
        <p:spPr>
          <a:xfrm>
            <a:off x="6632475" y="51047"/>
            <a:ext cx="2511523" cy="106100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Facilitation:</a:t>
            </a:r>
            <a:r>
              <a:rPr lang="en"/>
              <a:t> one species alters the environment in such a way that it </a:t>
            </a:r>
            <a:r>
              <a:rPr lang="en"/>
              <a:t>benefits</a:t>
            </a:r>
            <a:r>
              <a:rPr lang="en"/>
              <a:t> another species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Obligate vs facultative mutualisms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Obligate: need a specific partner to live/reproduce/etc.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Facultative: don’t require a specific partner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Obligate vs facultative mutualisms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Obligate: need a specific partner to live/reproduce/etc.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Facultative: don’t require a specific partner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Just because one partner is an obligate doesn’t mean the </a:t>
            </a:r>
            <a:r>
              <a:rPr lang="en"/>
              <a:t>other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lot of (most?) interactions are asymmetrical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Obligate Mutualism Example</a:t>
            </a:r>
            <a:endParaRPr/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7673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/>
          <p:cNvPicPr preferRelativeResize="0"/>
          <p:nvPr/>
        </p:nvPicPr>
        <p:blipFill rotWithShape="1">
          <a:blip r:embed="rId4">
            <a:alphaModFix/>
          </a:blip>
          <a:srcRect b="38156" l="34542" r="18113" t="18453"/>
          <a:stretch/>
        </p:blipFill>
        <p:spPr>
          <a:xfrm>
            <a:off x="6780700" y="212100"/>
            <a:ext cx="2229850" cy="11496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Facultative </a:t>
            </a:r>
            <a:r>
              <a:rPr lang="en"/>
              <a:t>Mutualism</a:t>
            </a:r>
            <a:r>
              <a:rPr lang="en"/>
              <a:t> Example</a:t>
            </a:r>
            <a:endParaRPr/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25" y="1110650"/>
            <a:ext cx="2099250" cy="27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 txBox="1"/>
          <p:nvPr/>
        </p:nvSpPr>
        <p:spPr>
          <a:xfrm>
            <a:off x="0" y="4741125"/>
            <a:ext cx="57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Photos: Peter A. Mansfeld CC-BY; Jake Nitta CC-BY;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293150" y="3958200"/>
            <a:ext cx="308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202122"/>
                </a:solidFill>
                <a:highlight>
                  <a:srgbClr val="FFFFFF"/>
                </a:highlight>
              </a:rPr>
              <a:t>Cylindropuntia imbricata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350" y="1110650"/>
            <a:ext cx="2206275" cy="14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/>
          <p:nvPr/>
        </p:nvSpPr>
        <p:spPr>
          <a:xfrm>
            <a:off x="3264338" y="2648575"/>
            <a:ext cx="265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Crematogaster opuntiae</a:t>
            </a:r>
            <a:endParaRPr i="1" sz="1800">
              <a:solidFill>
                <a:schemeClr val="dk2"/>
              </a:solidFill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8600" y="1090513"/>
            <a:ext cx="2266750" cy="15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 txBox="1"/>
          <p:nvPr/>
        </p:nvSpPr>
        <p:spPr>
          <a:xfrm>
            <a:off x="6176150" y="2672950"/>
            <a:ext cx="277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Liometopum apiculatum</a:t>
            </a:r>
            <a:endParaRPr i="1" sz="1800">
              <a:solidFill>
                <a:schemeClr val="dk2"/>
              </a:solidFill>
            </a:endParaRPr>
          </a:p>
        </p:txBody>
      </p:sp>
      <p:pic>
        <p:nvPicPr>
          <p:cNvPr id="149" name="Google Shape;149;p27"/>
          <p:cNvPicPr preferRelativeResize="0"/>
          <p:nvPr/>
        </p:nvPicPr>
        <p:blipFill rotWithShape="1">
          <a:blip r:embed="rId6">
            <a:alphaModFix/>
          </a:blip>
          <a:srcRect b="34292" l="21874" r="25018" t="22160"/>
          <a:stretch/>
        </p:blipFill>
        <p:spPr>
          <a:xfrm>
            <a:off x="5891799" y="3649850"/>
            <a:ext cx="3100363" cy="14299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Facultative Mutualism Example</a:t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25" y="1110650"/>
            <a:ext cx="2099250" cy="27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/>
        </p:nvSpPr>
        <p:spPr>
          <a:xfrm>
            <a:off x="0" y="4741125"/>
            <a:ext cx="57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Photos: Peter A. Mansfeld CC-BY; Jake Nitta CC-BY;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293150" y="3958200"/>
            <a:ext cx="308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202122"/>
                </a:solidFill>
                <a:highlight>
                  <a:srgbClr val="FFFFFF"/>
                </a:highlight>
              </a:rPr>
              <a:t>Cylindropuntia imbricata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350" y="1110650"/>
            <a:ext cx="2206275" cy="14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/>
          <p:cNvSpPr txBox="1"/>
          <p:nvPr/>
        </p:nvSpPr>
        <p:spPr>
          <a:xfrm>
            <a:off x="3264338" y="2648575"/>
            <a:ext cx="265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Crematogaster opuntiae</a:t>
            </a:r>
            <a:endParaRPr i="1" sz="1800">
              <a:solidFill>
                <a:schemeClr val="dk2"/>
              </a:solidFill>
            </a:endParaRPr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8600" y="1090513"/>
            <a:ext cx="2266750" cy="15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/>
        </p:nvSpPr>
        <p:spPr>
          <a:xfrm>
            <a:off x="6176150" y="2672950"/>
            <a:ext cx="277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Liometopum apiculatum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409250" y="4324900"/>
            <a:ext cx="23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Extrafloral</a:t>
            </a:r>
            <a:r>
              <a:rPr lang="en" sz="1800">
                <a:solidFill>
                  <a:schemeClr val="dk2"/>
                </a:solidFill>
              </a:rPr>
              <a:t> nectaries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3381050" y="3029500"/>
            <a:ext cx="23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Bad defense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6352850" y="3029500"/>
            <a:ext cx="23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Good </a:t>
            </a:r>
            <a:r>
              <a:rPr lang="en" sz="1800">
                <a:solidFill>
                  <a:schemeClr val="dk2"/>
                </a:solidFill>
              </a:rPr>
              <a:t>Defense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5" name="Google Shape;165;p28"/>
          <p:cNvPicPr preferRelativeResize="0"/>
          <p:nvPr/>
        </p:nvPicPr>
        <p:blipFill rotWithShape="1">
          <a:blip r:embed="rId6">
            <a:alphaModFix/>
          </a:blip>
          <a:srcRect b="34292" l="21874" r="25018" t="22160"/>
          <a:stretch/>
        </p:blipFill>
        <p:spPr>
          <a:xfrm>
            <a:off x="5891799" y="3649850"/>
            <a:ext cx="3100363" cy="14299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Facultative Mutualism Example</a:t>
            </a:r>
            <a:endParaRPr/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725" y="1110650"/>
            <a:ext cx="2099250" cy="27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9"/>
          <p:cNvSpPr txBox="1"/>
          <p:nvPr/>
        </p:nvSpPr>
        <p:spPr>
          <a:xfrm>
            <a:off x="0" y="4741125"/>
            <a:ext cx="57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Photos: Peter A. Mansfeld CC-BY; Jake Nitta CC-BY;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293150" y="3958200"/>
            <a:ext cx="308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202122"/>
                </a:solidFill>
                <a:highlight>
                  <a:srgbClr val="FFFFFF"/>
                </a:highlight>
              </a:rPr>
              <a:t>Cylindropuntia imbricata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350" y="1110650"/>
            <a:ext cx="2206275" cy="14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9"/>
          <p:cNvSpPr txBox="1"/>
          <p:nvPr/>
        </p:nvSpPr>
        <p:spPr>
          <a:xfrm>
            <a:off x="3264338" y="2648575"/>
            <a:ext cx="265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Crematogaster opuntiae</a:t>
            </a:r>
            <a:endParaRPr i="1" sz="1800">
              <a:solidFill>
                <a:schemeClr val="dk2"/>
              </a:solidFill>
            </a:endParaRPr>
          </a:p>
        </p:txBody>
      </p:sp>
      <p:sp>
        <p:nvSpPr>
          <p:cNvPr id="176" name="Google Shape;176;p29"/>
          <p:cNvSpPr txBox="1"/>
          <p:nvPr/>
        </p:nvSpPr>
        <p:spPr>
          <a:xfrm>
            <a:off x="409250" y="4324900"/>
            <a:ext cx="23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3381050" y="3029500"/>
            <a:ext cx="23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Bad defense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4350" y="1015575"/>
            <a:ext cx="4646500" cy="372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9"/>
          <p:cNvPicPr preferRelativeResize="0"/>
          <p:nvPr/>
        </p:nvPicPr>
        <p:blipFill rotWithShape="1">
          <a:blip r:embed="rId6">
            <a:alphaModFix/>
          </a:blip>
          <a:srcRect b="34292" l="21874" r="25018" t="22160"/>
          <a:stretch/>
        </p:blipFill>
        <p:spPr>
          <a:xfrm>
            <a:off x="5959762" y="63450"/>
            <a:ext cx="3100363" cy="14299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Facultative Mutualism Example</a:t>
            </a:r>
            <a:endParaRPr/>
          </a:p>
        </p:txBody>
      </p:sp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 b="34292" l="21874" r="25018" t="22160"/>
          <a:stretch/>
        </p:blipFill>
        <p:spPr>
          <a:xfrm>
            <a:off x="5959762" y="63450"/>
            <a:ext cx="3100363" cy="14299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86" name="Google Shape;186;p30"/>
          <p:cNvGraphicFramePr/>
          <p:nvPr/>
        </p:nvGraphicFramePr>
        <p:xfrm>
          <a:off x="196175" y="96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{6C3CA82C-882B-44A0-B65D-3505EBA71534}</a:tableStyleId>
              </a:tblPr>
              <a:tblGrid>
                <a:gridCol w="1794650"/>
                <a:gridCol w="417150"/>
                <a:gridCol w="1586575"/>
                <a:gridCol w="1418075"/>
                <a:gridCol w="1219850"/>
              </a:tblGrid>
              <a:tr h="5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872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7" name="Google Shape;18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5200" y="1961490"/>
            <a:ext cx="496450" cy="33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1000" y="1961490"/>
            <a:ext cx="496450" cy="330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6175" y="773700"/>
            <a:ext cx="496450" cy="661934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0"/>
          <p:cNvSpPr txBox="1"/>
          <p:nvPr/>
        </p:nvSpPr>
        <p:spPr>
          <a:xfrm>
            <a:off x="0" y="4741125"/>
            <a:ext cx="57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Photos: Peter A. Mansfeld CC-BY; Jake Nitta CC-BY; 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of Mutualism</a:t>
            </a:r>
            <a:endParaRPr/>
          </a:p>
        </p:txBody>
      </p:sp>
      <p:graphicFrame>
        <p:nvGraphicFramePr>
          <p:cNvPr id="196" name="Google Shape;196;p31"/>
          <p:cNvGraphicFramePr/>
          <p:nvPr/>
        </p:nvGraphicFramePr>
        <p:xfrm>
          <a:off x="2558375" y="195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{6C3CA82C-882B-44A0-B65D-3505EBA71534}</a:tableStyleId>
              </a:tblPr>
              <a:tblGrid>
                <a:gridCol w="1794650"/>
                <a:gridCol w="417150"/>
                <a:gridCol w="1586575"/>
                <a:gridCol w="1418075"/>
                <a:gridCol w="1219850"/>
              </a:tblGrid>
              <a:tr h="5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872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31"/>
          <p:cNvSpPr txBox="1"/>
          <p:nvPr/>
        </p:nvSpPr>
        <p:spPr>
          <a:xfrm>
            <a:off x="190275" y="1104025"/>
            <a:ext cx="6263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Costs vs benefits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Evolution only ‘cares’ about net benefits to a species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Want to minimize costs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Selection pushes towards parasitism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of Mutualism</a:t>
            </a:r>
            <a:endParaRPr/>
          </a:p>
        </p:txBody>
      </p:sp>
      <p:sp>
        <p:nvSpPr>
          <p:cNvPr id="203" name="Google Shape;203;p32"/>
          <p:cNvSpPr txBox="1"/>
          <p:nvPr/>
        </p:nvSpPr>
        <p:spPr>
          <a:xfrm>
            <a:off x="190275" y="1104025"/>
            <a:ext cx="570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are mutualisms maintained?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Partner fidelity (e.g., lichen, chloroplasts)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Partner choice (only choose reliable partners)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Changes in Evolutionary Time</a:t>
            </a:r>
            <a:endParaRPr/>
          </a:p>
        </p:txBody>
      </p:sp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272514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3"/>
          <p:cNvPicPr preferRelativeResize="0"/>
          <p:nvPr/>
        </p:nvPicPr>
        <p:blipFill rotWithShape="1">
          <a:blip r:embed="rId4">
            <a:alphaModFix/>
          </a:blip>
          <a:srcRect b="48977" l="42878" r="17621" t="18252"/>
          <a:stretch/>
        </p:blipFill>
        <p:spPr>
          <a:xfrm>
            <a:off x="5755675" y="176425"/>
            <a:ext cx="3155750" cy="1472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does mutualism lag behind competition and predation?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Remember these competition models?</a:t>
            </a:r>
            <a:endParaRPr/>
          </a:p>
        </p:txBody>
      </p:sp>
      <p:sp>
        <p:nvSpPr>
          <p:cNvPr id="223" name="Google Shape;223;p35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24" name="Google Shape;224;p35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25" name="Google Shape;225;p35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35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27" name="Google Shape;227;p35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28" name="Google Shape;228;p35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5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1 </a:t>
            </a:r>
            <a:r>
              <a:rPr lang="en" sz="1800">
                <a:solidFill>
                  <a:srgbClr val="595959"/>
                </a:solidFill>
              </a:rPr>
              <a:t>- 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30" name="Google Shape;230;p35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5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2" name="Google Shape;232;p35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carrying capacity of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#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lang="en" sz="1800">
                <a:solidFill>
                  <a:srgbClr val="595959"/>
                </a:solidFill>
              </a:rPr>
              <a:t>= #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 = relative impact of sp. 2 on sp.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34" name="Google Shape;234;p35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35" name="Google Shape;235;p35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5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38" name="Google Shape;238;p35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5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lang="en" sz="1800">
                <a:solidFill>
                  <a:srgbClr val="595959"/>
                </a:solidFill>
              </a:rPr>
              <a:t>- 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40" name="Google Shape;240;p35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35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42" name="Google Shape;242;p35"/>
          <p:cNvSpPr txBox="1"/>
          <p:nvPr/>
        </p:nvSpPr>
        <p:spPr>
          <a:xfrm>
            <a:off x="4917775" y="2927525"/>
            <a:ext cx="468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= carrying capacity of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 = relative impact of sp. 1 on sp.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Remember these competition models? - Now they’re mutualism models</a:t>
            </a:r>
            <a:endParaRPr/>
          </a:p>
        </p:txBody>
      </p:sp>
      <p:sp>
        <p:nvSpPr>
          <p:cNvPr id="249" name="Google Shape;249;p36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50" name="Google Shape;250;p36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51" name="Google Shape;251;p36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36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53" name="Google Shape;253;p36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54" name="Google Shape;254;p36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6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1 </a:t>
            </a:r>
            <a:r>
              <a:rPr b="1" lang="en" sz="1800">
                <a:solidFill>
                  <a:srgbClr val="980000"/>
                </a:solidFill>
              </a:rPr>
              <a:t>+</a:t>
            </a:r>
            <a:r>
              <a:rPr lang="en" sz="1800">
                <a:solidFill>
                  <a:srgbClr val="595959"/>
                </a:solidFill>
              </a:rPr>
              <a:t> 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56" name="Google Shape;256;p36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36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58" name="Google Shape;258;p36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carrying capacity of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#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lang="en" sz="1800">
                <a:solidFill>
                  <a:srgbClr val="595959"/>
                </a:solidFill>
              </a:rPr>
              <a:t>= #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 = relative impact of sp. 2 on sp.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60" name="Google Shape;260;p36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61" name="Google Shape;261;p36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" name="Google Shape;262;p36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63" name="Google Shape;263;p36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64" name="Google Shape;264;p36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6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b="1" lang="en" sz="1800">
                <a:solidFill>
                  <a:srgbClr val="980000"/>
                </a:solidFill>
              </a:rPr>
              <a:t>+</a:t>
            </a:r>
            <a:r>
              <a:rPr lang="en" sz="1800">
                <a:solidFill>
                  <a:srgbClr val="595959"/>
                </a:solidFill>
              </a:rPr>
              <a:t> 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66" name="Google Shape;266;p36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6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4917775" y="2927525"/>
            <a:ext cx="468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= carrying capacity of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 = relative impact of sp. 1 on sp.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Where can species 1 invade?</a:t>
            </a:r>
            <a:endParaRPr/>
          </a:p>
        </p:txBody>
      </p:sp>
      <p:sp>
        <p:nvSpPr>
          <p:cNvPr id="275" name="Google Shape;275;p37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76" name="Google Shape;276;p37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77" name="Google Shape;277;p37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7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80" name="Google Shape;280;p37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7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1 </a:t>
            </a:r>
            <a:r>
              <a:rPr b="1" lang="en" sz="1800">
                <a:solidFill>
                  <a:srgbClr val="980000"/>
                </a:solidFill>
              </a:rPr>
              <a:t>+</a:t>
            </a:r>
            <a:r>
              <a:rPr lang="en" sz="1800">
                <a:solidFill>
                  <a:srgbClr val="595959"/>
                </a:solidFill>
              </a:rPr>
              <a:t> 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82" name="Google Shape;282;p37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" name="Google Shape;283;p37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269575" y="2927525"/>
            <a:ext cx="4687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carrying capacity of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r>
              <a:rPr lang="en" sz="1800">
                <a:solidFill>
                  <a:srgbClr val="595959"/>
                </a:solidFill>
              </a:rPr>
              <a:t> = # species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lang="en" sz="1800">
                <a:solidFill>
                  <a:srgbClr val="595959"/>
                </a:solidFill>
              </a:rPr>
              <a:t>= #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12</a:t>
            </a:r>
            <a:r>
              <a:rPr lang="en" sz="1800">
                <a:solidFill>
                  <a:srgbClr val="595959"/>
                </a:solidFill>
              </a:rPr>
              <a:t> = relative impact of sp. 2 on sp. 1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85" name="Google Shape;285;p37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86" name="Google Shape;286;p37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dt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87" name="Google Shape;287;p37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37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=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r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</p:txBody>
      </p:sp>
      <p:sp>
        <p:nvSpPr>
          <p:cNvPr id="290" name="Google Shape;290;p37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7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- N</a:t>
            </a:r>
            <a:r>
              <a:rPr baseline="-25000" lang="en" sz="1800">
                <a:solidFill>
                  <a:srgbClr val="595959"/>
                </a:solidFill>
              </a:rPr>
              <a:t>2 </a:t>
            </a:r>
            <a:r>
              <a:rPr b="1" lang="en" sz="1800">
                <a:solidFill>
                  <a:srgbClr val="980000"/>
                </a:solidFill>
              </a:rPr>
              <a:t>+</a:t>
            </a:r>
            <a:r>
              <a:rPr lang="en" sz="1800">
                <a:solidFill>
                  <a:srgbClr val="595959"/>
                </a:solidFill>
              </a:rPr>
              <a:t> 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N</a:t>
            </a:r>
            <a:r>
              <a:rPr baseline="-25000" lang="en" sz="1800">
                <a:solidFill>
                  <a:srgbClr val="595959"/>
                </a:solidFill>
              </a:rPr>
              <a:t>1</a:t>
            </a:r>
            <a:endParaRPr baseline="-25000" sz="1800">
              <a:solidFill>
                <a:srgbClr val="595959"/>
              </a:solidFill>
            </a:endParaRPr>
          </a:p>
        </p:txBody>
      </p:sp>
      <p:cxnSp>
        <p:nvCxnSpPr>
          <p:cNvPr id="292" name="Google Shape;292;p37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37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94" name="Google Shape;294;p37"/>
          <p:cNvSpPr txBox="1"/>
          <p:nvPr/>
        </p:nvSpPr>
        <p:spPr>
          <a:xfrm>
            <a:off x="4917775" y="2927525"/>
            <a:ext cx="4687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dN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/dT = rate of change in N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endParaRPr baseline="-25000"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k</a:t>
            </a:r>
            <a:r>
              <a:rPr baseline="-25000" lang="en" sz="1800">
                <a:solidFill>
                  <a:srgbClr val="595959"/>
                </a:solidFill>
              </a:rPr>
              <a:t>2</a:t>
            </a:r>
            <a:r>
              <a:rPr lang="en" sz="1800">
                <a:solidFill>
                  <a:srgbClr val="595959"/>
                </a:solidFill>
              </a:rPr>
              <a:t> = carrying capacity of species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</a:rPr>
              <a:t>α</a:t>
            </a:r>
            <a:r>
              <a:rPr baseline="-25000" lang="en" sz="1800">
                <a:solidFill>
                  <a:srgbClr val="595959"/>
                </a:solidFill>
              </a:rPr>
              <a:t>21</a:t>
            </a:r>
            <a:r>
              <a:rPr lang="en" sz="1800">
                <a:solidFill>
                  <a:srgbClr val="595959"/>
                </a:solidFill>
              </a:rPr>
              <a:t> = relative impact of sp. 1 on sp. 2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00" name="Google Shape;300;p38"/>
          <p:cNvSpPr txBox="1"/>
          <p:nvPr/>
        </p:nvSpPr>
        <p:spPr>
          <a:xfrm>
            <a:off x="3191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3191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02" name="Google Shape;302;p38"/>
          <p:cNvCxnSpPr/>
          <p:nvPr/>
        </p:nvCxnSpPr>
        <p:spPr>
          <a:xfrm>
            <a:off x="2429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38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4" name="Google Shape;304;p38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05" name="Google Shape;305;p38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8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07" name="Google Shape;307;p38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38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9" name="Google Shape;309;p38"/>
          <p:cNvSpPr txBox="1"/>
          <p:nvPr/>
        </p:nvSpPr>
        <p:spPr>
          <a:xfrm>
            <a:off x="5424525" y="16193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5424525" y="20765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dt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11" name="Google Shape;311;p38"/>
          <p:cNvCxnSpPr/>
          <p:nvPr/>
        </p:nvCxnSpPr>
        <p:spPr>
          <a:xfrm>
            <a:off x="53483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8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14" name="Google Shape;314;p38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8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16" name="Google Shape;316;p38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8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23" name="Google Shape;323;p39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24" name="Google Shape;324;p39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25" name="Google Shape;325;p39"/>
          <p:cNvSpPr txBox="1"/>
          <p:nvPr/>
        </p:nvSpPr>
        <p:spPr>
          <a:xfrm>
            <a:off x="13628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26" name="Google Shape;326;p39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9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28" name="Google Shape;328;p39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39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0" name="Google Shape;330;p39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31" name="Google Shape;331;p39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6468225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33" name="Google Shape;333;p39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9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35" name="Google Shape;335;p39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39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42" name="Google Shape;342;p40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43" name="Google Shape;343;p40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19208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0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46" name="Google Shape;346;p40"/>
          <p:cNvCxnSpPr/>
          <p:nvPr/>
        </p:nvCxnSpPr>
        <p:spPr>
          <a:xfrm flipH="1" rot="10800000">
            <a:off x="19955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0"/>
          <p:cNvSpPr txBox="1"/>
          <p:nvPr/>
        </p:nvSpPr>
        <p:spPr>
          <a:xfrm>
            <a:off x="25589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8" name="Google Shape;348;p40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49" name="Google Shape;349;p40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0" name="Google Shape;350;p40"/>
          <p:cNvSpPr/>
          <p:nvPr/>
        </p:nvSpPr>
        <p:spPr>
          <a:xfrm>
            <a:off x="7026275" y="1603150"/>
            <a:ext cx="1942500" cy="9513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0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52" name="Google Shape;352;p40"/>
          <p:cNvCxnSpPr/>
          <p:nvPr/>
        </p:nvCxnSpPr>
        <p:spPr>
          <a:xfrm flipH="1" rot="10800000">
            <a:off x="7100925" y="2075200"/>
            <a:ext cx="1560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40"/>
          <p:cNvSpPr txBox="1"/>
          <p:nvPr/>
        </p:nvSpPr>
        <p:spPr>
          <a:xfrm>
            <a:off x="7664325" y="20765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59" name="Google Shape;359;p41"/>
          <p:cNvSpPr txBox="1"/>
          <p:nvPr/>
        </p:nvSpPr>
        <p:spPr>
          <a:xfrm>
            <a:off x="242925" y="1777925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60" name="Google Shape;360;p41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1" name="Google Shape;361;p41"/>
          <p:cNvSpPr txBox="1"/>
          <p:nvPr/>
        </p:nvSpPr>
        <p:spPr>
          <a:xfrm>
            <a:off x="20199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62" name="Google Shape;362;p41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63" name="Google Shape;363;p41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4" name="Google Shape;364;p41"/>
          <p:cNvSpPr txBox="1"/>
          <p:nvPr/>
        </p:nvSpPr>
        <p:spPr>
          <a:xfrm>
            <a:off x="7125375" y="16224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N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+</a:t>
            </a:r>
            <a:r>
              <a:rPr lang="en" sz="1800">
                <a:solidFill>
                  <a:schemeClr val="dk2"/>
                </a:solidFill>
              </a:rPr>
              <a:t> 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70" name="Google Shape;370;p42"/>
          <p:cNvSpPr txBox="1"/>
          <p:nvPr/>
        </p:nvSpPr>
        <p:spPr>
          <a:xfrm>
            <a:off x="31170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71" name="Google Shape;371;p42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2" name="Google Shape;372;p42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+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73" name="Google Shape;373;p42"/>
          <p:cNvSpPr txBox="1"/>
          <p:nvPr/>
        </p:nvSpPr>
        <p:spPr>
          <a:xfrm>
            <a:off x="5407050" y="1847950"/>
            <a:ext cx="7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74" name="Google Shape;374;p42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5" name="Google Shape;375;p42"/>
          <p:cNvSpPr txBox="1"/>
          <p:nvPr/>
        </p:nvSpPr>
        <p:spPr>
          <a:xfrm>
            <a:off x="6619925" y="18999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</a:t>
            </a: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81" name="Google Shape;381;p43"/>
          <p:cNvSpPr txBox="1"/>
          <p:nvPr/>
        </p:nvSpPr>
        <p:spPr>
          <a:xfrm>
            <a:off x="562725" y="1847950"/>
            <a:ext cx="44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82" name="Google Shape;382;p43"/>
          <p:cNvSpPr txBox="1"/>
          <p:nvPr/>
        </p:nvSpPr>
        <p:spPr>
          <a:xfrm>
            <a:off x="10061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3" name="Google Shape;383;p43"/>
          <p:cNvSpPr txBox="1"/>
          <p:nvPr/>
        </p:nvSpPr>
        <p:spPr>
          <a:xfrm>
            <a:off x="1425350" y="1847950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k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 + α</a:t>
            </a:r>
            <a:r>
              <a:rPr baseline="-25000" lang="en" sz="1800">
                <a:solidFill>
                  <a:schemeClr val="dk2"/>
                </a:solidFill>
              </a:rPr>
              <a:t>12</a:t>
            </a: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84" name="Google Shape;384;p43"/>
          <p:cNvSpPr txBox="1"/>
          <p:nvPr/>
        </p:nvSpPr>
        <p:spPr>
          <a:xfrm>
            <a:off x="5704375" y="1847950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85" name="Google Shape;385;p43"/>
          <p:cNvSpPr txBox="1"/>
          <p:nvPr/>
        </p:nvSpPr>
        <p:spPr>
          <a:xfrm>
            <a:off x="6111525" y="1847950"/>
            <a:ext cx="35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6543725" y="1595125"/>
            <a:ext cx="189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- k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87" name="Google Shape;387;p43"/>
          <p:cNvSpPr txBox="1"/>
          <p:nvPr/>
        </p:nvSpPr>
        <p:spPr>
          <a:xfrm>
            <a:off x="6700425" y="2100775"/>
            <a:ext cx="49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α</a:t>
            </a:r>
            <a:r>
              <a:rPr baseline="-25000" lang="en" sz="1800">
                <a:solidFill>
                  <a:schemeClr val="dk2"/>
                </a:solidFill>
              </a:rPr>
              <a:t>21</a:t>
            </a:r>
            <a:endParaRPr/>
          </a:p>
        </p:txBody>
      </p:sp>
      <p:cxnSp>
        <p:nvCxnSpPr>
          <p:cNvPr id="388" name="Google Shape;388;p43"/>
          <p:cNvCxnSpPr/>
          <p:nvPr/>
        </p:nvCxnSpPr>
        <p:spPr>
          <a:xfrm>
            <a:off x="6567525" y="2078800"/>
            <a:ext cx="76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394" name="Google Shape;394;p44"/>
          <p:cNvSpPr txBox="1"/>
          <p:nvPr/>
        </p:nvSpPr>
        <p:spPr>
          <a:xfrm>
            <a:off x="6171838" y="83127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95" name="Google Shape;395;p44"/>
          <p:cNvSpPr txBox="1"/>
          <p:nvPr/>
        </p:nvSpPr>
        <p:spPr>
          <a:xfrm>
            <a:off x="6171838" y="12338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396" name="Google Shape;3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7" name="Google Shape;397;p44"/>
          <p:cNvCxnSpPr/>
          <p:nvPr/>
        </p:nvCxnSpPr>
        <p:spPr>
          <a:xfrm rot="10800000">
            <a:off x="2259475" y="32422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8" name="Google Shape;398;p44"/>
          <p:cNvCxnSpPr/>
          <p:nvPr/>
        </p:nvCxnSpPr>
        <p:spPr>
          <a:xfrm>
            <a:off x="925825" y="32994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" name="Google Shape;399;p44"/>
          <p:cNvCxnSpPr/>
          <p:nvPr/>
        </p:nvCxnSpPr>
        <p:spPr>
          <a:xfrm rot="10800000">
            <a:off x="2564275" y="15658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0" name="Google Shape;400;p44"/>
          <p:cNvCxnSpPr/>
          <p:nvPr/>
        </p:nvCxnSpPr>
        <p:spPr>
          <a:xfrm>
            <a:off x="3116575" y="156582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44"/>
          <p:cNvCxnSpPr/>
          <p:nvPr/>
        </p:nvCxnSpPr>
        <p:spPr>
          <a:xfrm flipH="1" rot="10800000">
            <a:off x="1233950" y="4299600"/>
            <a:ext cx="415800" cy="12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44"/>
          <p:cNvCxnSpPr/>
          <p:nvPr/>
        </p:nvCxnSpPr>
        <p:spPr>
          <a:xfrm flipH="1" rot="10800000">
            <a:off x="2830825" y="29770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44"/>
          <p:cNvCxnSpPr/>
          <p:nvPr/>
        </p:nvCxnSpPr>
        <p:spPr>
          <a:xfrm flipH="1" rot="10800000">
            <a:off x="1230625" y="39676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4" name="Google Shape;404;p44"/>
          <p:cNvCxnSpPr/>
          <p:nvPr/>
        </p:nvCxnSpPr>
        <p:spPr>
          <a:xfrm>
            <a:off x="906775" y="331842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410" name="Google Shape;410;p45"/>
          <p:cNvSpPr txBox="1"/>
          <p:nvPr/>
        </p:nvSpPr>
        <p:spPr>
          <a:xfrm>
            <a:off x="6171838" y="83127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411" name="Google Shape;411;p45"/>
          <p:cNvSpPr txBox="1"/>
          <p:nvPr/>
        </p:nvSpPr>
        <p:spPr>
          <a:xfrm>
            <a:off x="6171838" y="12338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pic>
        <p:nvPicPr>
          <p:cNvPr id="412" name="Google Shape;41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5"/>
          <p:cNvCxnSpPr/>
          <p:nvPr/>
        </p:nvCxnSpPr>
        <p:spPr>
          <a:xfrm rot="10800000">
            <a:off x="2259475" y="32422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45"/>
          <p:cNvCxnSpPr/>
          <p:nvPr/>
        </p:nvCxnSpPr>
        <p:spPr>
          <a:xfrm>
            <a:off x="925825" y="3299450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45"/>
          <p:cNvCxnSpPr/>
          <p:nvPr/>
        </p:nvCxnSpPr>
        <p:spPr>
          <a:xfrm rot="10800000">
            <a:off x="2564275" y="15658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45"/>
          <p:cNvCxnSpPr/>
          <p:nvPr/>
        </p:nvCxnSpPr>
        <p:spPr>
          <a:xfrm>
            <a:off x="3116575" y="156582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7" name="Google Shape;417;p45"/>
          <p:cNvCxnSpPr/>
          <p:nvPr/>
        </p:nvCxnSpPr>
        <p:spPr>
          <a:xfrm flipH="1" rot="10800000">
            <a:off x="1233950" y="4299600"/>
            <a:ext cx="415800" cy="12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45"/>
          <p:cNvCxnSpPr/>
          <p:nvPr/>
        </p:nvCxnSpPr>
        <p:spPr>
          <a:xfrm flipH="1" rot="10800000">
            <a:off x="2830825" y="29770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45"/>
          <p:cNvCxnSpPr/>
          <p:nvPr/>
        </p:nvCxnSpPr>
        <p:spPr>
          <a:xfrm flipH="1" rot="10800000">
            <a:off x="1230625" y="39676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45"/>
          <p:cNvCxnSpPr/>
          <p:nvPr/>
        </p:nvCxnSpPr>
        <p:spPr>
          <a:xfrm>
            <a:off x="906775" y="331842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1" name="Google Shape;421;p45"/>
          <p:cNvSpPr txBox="1"/>
          <p:nvPr/>
        </p:nvSpPr>
        <p:spPr>
          <a:xfrm>
            <a:off x="4957175" y="2313100"/>
            <a:ext cx="269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Can lead to coexistence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2" name="Google Shape;422;p45"/>
          <p:cNvSpPr/>
          <p:nvPr/>
        </p:nvSpPr>
        <p:spPr>
          <a:xfrm>
            <a:off x="1878325" y="3194900"/>
            <a:ext cx="171300" cy="1713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Net Growth Isoclines (ZNGIs)</a:t>
            </a:r>
            <a:endParaRPr/>
          </a:p>
        </p:txBody>
      </p:sp>
      <p:sp>
        <p:nvSpPr>
          <p:cNvPr id="428" name="Google Shape;428;p46"/>
          <p:cNvSpPr txBox="1"/>
          <p:nvPr/>
        </p:nvSpPr>
        <p:spPr>
          <a:xfrm>
            <a:off x="6171838" y="831275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Species 1</a:t>
            </a:r>
            <a:endParaRPr b="1" sz="1800">
              <a:solidFill>
                <a:srgbClr val="0000FF"/>
              </a:solidFill>
            </a:endParaRPr>
          </a:p>
        </p:txBody>
      </p:sp>
      <p:pic>
        <p:nvPicPr>
          <p:cNvPr id="429" name="Google Shape;42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959417" cy="38209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6"/>
          <p:cNvCxnSpPr/>
          <p:nvPr/>
        </p:nvCxnSpPr>
        <p:spPr>
          <a:xfrm>
            <a:off x="2356225" y="2044575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46"/>
          <p:cNvCxnSpPr/>
          <p:nvPr/>
        </p:nvCxnSpPr>
        <p:spPr>
          <a:xfrm flipH="1" rot="10800000">
            <a:off x="2373625" y="17578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2" name="Google Shape;432;p46"/>
          <p:cNvCxnSpPr/>
          <p:nvPr/>
        </p:nvCxnSpPr>
        <p:spPr>
          <a:xfrm rot="10800000">
            <a:off x="3326275" y="3623225"/>
            <a:ext cx="5523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" name="Google Shape;433;p46"/>
          <p:cNvCxnSpPr/>
          <p:nvPr/>
        </p:nvCxnSpPr>
        <p:spPr>
          <a:xfrm>
            <a:off x="679825" y="1358775"/>
            <a:ext cx="647700" cy="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4" name="Google Shape;434;p46"/>
          <p:cNvCxnSpPr/>
          <p:nvPr/>
        </p:nvCxnSpPr>
        <p:spPr>
          <a:xfrm>
            <a:off x="678175" y="1337225"/>
            <a:ext cx="300" cy="3429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46"/>
          <p:cNvCxnSpPr/>
          <p:nvPr/>
        </p:nvCxnSpPr>
        <p:spPr>
          <a:xfrm flipH="1" rot="10800000">
            <a:off x="3897625" y="3281875"/>
            <a:ext cx="9600" cy="3048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" name="Google Shape;436;p46"/>
          <p:cNvSpPr txBox="1"/>
          <p:nvPr/>
        </p:nvSpPr>
        <p:spPr>
          <a:xfrm>
            <a:off x="6171838" y="1233850"/>
            <a:ext cx="124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Species 2</a:t>
            </a:r>
            <a:endParaRPr b="1" sz="1800">
              <a:solidFill>
                <a:srgbClr val="980000"/>
              </a:solidFill>
            </a:endParaRPr>
          </a:p>
        </p:txBody>
      </p:sp>
      <p:sp>
        <p:nvSpPr>
          <p:cNvPr id="437" name="Google Shape;437;p46"/>
          <p:cNvSpPr txBox="1"/>
          <p:nvPr/>
        </p:nvSpPr>
        <p:spPr>
          <a:xfrm>
            <a:off x="4689600" y="2313100"/>
            <a:ext cx="385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Can also lead to unlimited growth!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443" name="Google Shape;443;p47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Why don’t we see this unlimited growth among mutualistic partners in nature?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issues with integrating mutualism into theory</a:t>
            </a:r>
            <a:endParaRPr/>
          </a:p>
        </p:txBody>
      </p:sp>
      <p:sp>
        <p:nvSpPr>
          <p:cNvPr id="449" name="Google Shape;449;p48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don’t we see this unlimited growth among mutualistic partners in nature?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Mutualisms have costs!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is also why they </a:t>
            </a:r>
            <a:r>
              <a:rPr lang="en"/>
              <a:t>evolution</a:t>
            </a:r>
            <a:r>
              <a:rPr lang="en"/>
              <a:t> and context can alter them!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</a:t>
            </a:r>
            <a:endParaRPr/>
          </a:p>
        </p:txBody>
      </p:sp>
      <p:sp>
        <p:nvSpPr>
          <p:cNvPr id="455" name="Google Shape;455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Changing conditions may lead to changes in </a:t>
            </a:r>
            <a:r>
              <a:rPr lang="en"/>
              <a:t>interaction</a:t>
            </a:r>
            <a:r>
              <a:rPr lang="en"/>
              <a:t> types</a:t>
            </a:r>
            <a:endParaRPr/>
          </a:p>
        </p:txBody>
      </p:sp>
      <p:graphicFrame>
        <p:nvGraphicFramePr>
          <p:cNvPr id="456" name="Google Shape;456;p49"/>
          <p:cNvGraphicFramePr/>
          <p:nvPr/>
        </p:nvGraphicFramePr>
        <p:xfrm>
          <a:off x="2558375" y="195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{6C3CA82C-882B-44A0-B65D-3505EBA71534}</a:tableStyleId>
              </a:tblPr>
              <a:tblGrid>
                <a:gridCol w="1794650"/>
                <a:gridCol w="417150"/>
                <a:gridCol w="1586575"/>
                <a:gridCol w="1418075"/>
                <a:gridCol w="1219850"/>
              </a:tblGrid>
              <a:tr h="549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287200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05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AMF+Plants</a:t>
            </a:r>
            <a:endParaRPr/>
          </a:p>
        </p:txBody>
      </p:sp>
      <p:pic>
        <p:nvPicPr>
          <p:cNvPr id="462" name="Google Shape;46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75" y="1160225"/>
            <a:ext cx="4035775" cy="26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0"/>
          <p:cNvPicPr preferRelativeResize="0"/>
          <p:nvPr/>
        </p:nvPicPr>
        <p:blipFill rotWithShape="1">
          <a:blip r:embed="rId4">
            <a:alphaModFix/>
          </a:blip>
          <a:srcRect b="35444" l="21985" r="23282" t="19790"/>
          <a:stretch/>
        </p:blipFill>
        <p:spPr>
          <a:xfrm>
            <a:off x="6661775" y="0"/>
            <a:ext cx="2428027" cy="11170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</a:t>
            </a:r>
            <a:r>
              <a:rPr lang="en"/>
              <a:t>: AMF+Plants</a:t>
            </a:r>
            <a:endParaRPr/>
          </a:p>
        </p:txBody>
      </p:sp>
      <p:pic>
        <p:nvPicPr>
          <p:cNvPr id="469" name="Google Shape;46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75" y="1160225"/>
            <a:ext cx="4035775" cy="26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750" y="1170125"/>
            <a:ext cx="4653633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1"/>
          <p:cNvPicPr preferRelativeResize="0"/>
          <p:nvPr/>
        </p:nvPicPr>
        <p:blipFill rotWithShape="1">
          <a:blip r:embed="rId5">
            <a:alphaModFix/>
          </a:blip>
          <a:srcRect b="35444" l="21985" r="23282" t="19790"/>
          <a:stretch/>
        </p:blipFill>
        <p:spPr>
          <a:xfrm>
            <a:off x="6661775" y="0"/>
            <a:ext cx="2428027" cy="11170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Seeds and Mice</a:t>
            </a:r>
            <a:endParaRPr/>
          </a:p>
        </p:txBody>
      </p:sp>
      <p:pic>
        <p:nvPicPr>
          <p:cNvPr id="477" name="Google Shape;47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630651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Seeds and Mice</a:t>
            </a:r>
            <a:endParaRPr/>
          </a:p>
        </p:txBody>
      </p:sp>
      <p:pic>
        <p:nvPicPr>
          <p:cNvPr id="483" name="Google Shape;48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630651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5451" y="1170125"/>
            <a:ext cx="272766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Daphnia parasites</a:t>
            </a:r>
            <a:endParaRPr/>
          </a:p>
        </p:txBody>
      </p:sp>
      <p:pic>
        <p:nvPicPr>
          <p:cNvPr id="490" name="Google Shape;49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800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54"/>
          <p:cNvPicPr preferRelativeResize="0"/>
          <p:nvPr/>
        </p:nvPicPr>
        <p:blipFill rotWithShape="1">
          <a:blip r:embed="rId4">
            <a:alphaModFix/>
          </a:blip>
          <a:srcRect b="53613" l="44274" r="15744" t="25127"/>
          <a:stretch/>
        </p:blipFill>
        <p:spPr>
          <a:xfrm>
            <a:off x="7282375" y="560525"/>
            <a:ext cx="1765099" cy="527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Daphnia parasites</a:t>
            </a:r>
            <a:endParaRPr/>
          </a:p>
        </p:txBody>
      </p:sp>
      <p:pic>
        <p:nvPicPr>
          <p:cNvPr id="497" name="Google Shape;49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800856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5"/>
          <p:cNvSpPr/>
          <p:nvPr/>
        </p:nvSpPr>
        <p:spPr>
          <a:xfrm>
            <a:off x="-354800" y="2382450"/>
            <a:ext cx="9623100" cy="931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9" name="Google Shape;499;p55"/>
          <p:cNvPicPr preferRelativeResize="0"/>
          <p:nvPr/>
        </p:nvPicPr>
        <p:blipFill rotWithShape="1">
          <a:blip r:embed="rId4">
            <a:alphaModFix/>
          </a:blip>
          <a:srcRect b="53613" l="44274" r="15744" t="25127"/>
          <a:stretch/>
        </p:blipFill>
        <p:spPr>
          <a:xfrm>
            <a:off x="7282375" y="560525"/>
            <a:ext cx="1765099" cy="527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Daphnia parasites</a:t>
            </a:r>
            <a:endParaRPr/>
          </a:p>
        </p:txBody>
      </p:sp>
      <p:pic>
        <p:nvPicPr>
          <p:cNvPr id="505" name="Google Shape;50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10959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56"/>
          <p:cNvPicPr preferRelativeResize="0"/>
          <p:nvPr/>
        </p:nvPicPr>
        <p:blipFill rotWithShape="1">
          <a:blip r:embed="rId4">
            <a:alphaModFix/>
          </a:blip>
          <a:srcRect b="53613" l="44274" r="15744" t="25127"/>
          <a:stretch/>
        </p:blipFill>
        <p:spPr>
          <a:xfrm>
            <a:off x="5406325" y="1017725"/>
            <a:ext cx="3641150" cy="10890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dependency: Daphnia parasites</a:t>
            </a:r>
            <a:endParaRPr/>
          </a:p>
        </p:txBody>
      </p:sp>
      <p:pic>
        <p:nvPicPr>
          <p:cNvPr id="512" name="Google Shape;51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2109590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4390" y="1170125"/>
            <a:ext cx="2819088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7"/>
          <p:cNvPicPr preferRelativeResize="0"/>
          <p:nvPr/>
        </p:nvPicPr>
        <p:blipFill rotWithShape="1">
          <a:blip r:embed="rId5">
            <a:alphaModFix/>
          </a:blip>
          <a:srcRect b="53613" l="44274" r="15744" t="25127"/>
          <a:stretch/>
        </p:blipFill>
        <p:spPr>
          <a:xfrm>
            <a:off x="5406325" y="1017725"/>
            <a:ext cx="3641150" cy="10890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5" name="Google Shape;515;p57"/>
          <p:cNvSpPr txBox="1"/>
          <p:nvPr/>
        </p:nvSpPr>
        <p:spPr>
          <a:xfrm>
            <a:off x="6075250" y="2748100"/>
            <a:ext cx="309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4CCCC"/>
                </a:solidFill>
                <a:highlight>
                  <a:srgbClr val="F4CCCC"/>
                </a:highlight>
              </a:rPr>
              <a:t>Red       </a:t>
            </a:r>
            <a:r>
              <a:rPr lang="en" sz="1800">
                <a:solidFill>
                  <a:schemeClr val="dk2"/>
                </a:solidFill>
              </a:rPr>
              <a:t>= Parasitism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2CC"/>
                </a:solidFill>
                <a:highlight>
                  <a:srgbClr val="FFF2CC"/>
                </a:highlight>
              </a:rPr>
              <a:t>Yellow</a:t>
            </a:r>
            <a:r>
              <a:rPr lang="en" sz="1800">
                <a:solidFill>
                  <a:srgbClr val="FFF2CC"/>
                </a:solidFill>
                <a:highlight>
                  <a:srgbClr val="FFF2CC"/>
                </a:highlight>
              </a:rPr>
              <a:t>   </a:t>
            </a:r>
            <a:r>
              <a:rPr lang="en" sz="1800">
                <a:solidFill>
                  <a:schemeClr val="dk2"/>
                </a:solidFill>
              </a:rPr>
              <a:t>= Commensalism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highlight>
                  <a:srgbClr val="9FC5E8"/>
                </a:highlight>
              </a:rPr>
              <a:t>              </a:t>
            </a:r>
            <a:r>
              <a:rPr lang="en" sz="1800">
                <a:solidFill>
                  <a:schemeClr val="dk2"/>
                </a:solidFill>
              </a:rPr>
              <a:t>= Mutualism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</a:t>
            </a:r>
            <a:endParaRPr/>
          </a:p>
        </p:txBody>
      </p:sp>
      <p:graphicFrame>
        <p:nvGraphicFramePr>
          <p:cNvPr id="521" name="Google Shape;521;p58"/>
          <p:cNvGraphicFramePr/>
          <p:nvPr/>
        </p:nvGraphicFramePr>
        <p:xfrm>
          <a:off x="311700" y="95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{6C3CA82C-882B-44A0-B65D-3505EBA71534}</a:tableStyleId>
              </a:tblPr>
              <a:tblGrid>
                <a:gridCol w="2095250"/>
                <a:gridCol w="487025"/>
                <a:gridCol w="1852325"/>
                <a:gridCol w="1655600"/>
                <a:gridCol w="1424175"/>
              </a:tblGrid>
              <a:tr h="70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508325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dependency</a:t>
            </a:r>
            <a:endParaRPr/>
          </a:p>
        </p:txBody>
      </p:sp>
      <p:graphicFrame>
        <p:nvGraphicFramePr>
          <p:cNvPr id="527" name="Google Shape;527;p59"/>
          <p:cNvGraphicFramePr/>
          <p:nvPr/>
        </p:nvGraphicFramePr>
        <p:xfrm>
          <a:off x="311700" y="95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{6C3CA82C-882B-44A0-B65D-3505EBA71534}</a:tableStyleId>
              </a:tblPr>
              <a:tblGrid>
                <a:gridCol w="2095250"/>
                <a:gridCol w="487025"/>
                <a:gridCol w="1852325"/>
                <a:gridCol w="1655600"/>
                <a:gridCol w="1424175"/>
              </a:tblGrid>
              <a:tr h="70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A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508325">
                <a:tc row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Species 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+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Mutualism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Predation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84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Predation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Parasitism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Amensalism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Competition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28" name="Google Shape;528;p59"/>
          <p:cNvCxnSpPr/>
          <p:nvPr/>
        </p:nvCxnSpPr>
        <p:spPr>
          <a:xfrm>
            <a:off x="3822550" y="2376025"/>
            <a:ext cx="3443700" cy="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29" name="Google Shape;529;p59"/>
          <p:cNvCxnSpPr/>
          <p:nvPr/>
        </p:nvCxnSpPr>
        <p:spPr>
          <a:xfrm flipH="1">
            <a:off x="3054850" y="2528425"/>
            <a:ext cx="5700" cy="21609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Mutualism and conservation</a:t>
            </a:r>
            <a:endParaRPr/>
          </a:p>
        </p:txBody>
      </p:sp>
      <p:pic>
        <p:nvPicPr>
          <p:cNvPr id="535" name="Google Shape;53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389" y="0"/>
            <a:ext cx="4109610" cy="5143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36" name="Google Shape;536;p60"/>
          <p:cNvPicPr preferRelativeResize="0"/>
          <p:nvPr/>
        </p:nvPicPr>
        <p:blipFill rotWithShape="1">
          <a:blip r:embed="rId4">
            <a:alphaModFix/>
          </a:blip>
          <a:srcRect b="44374" l="21130" r="21668" t="17627"/>
          <a:stretch/>
        </p:blipFill>
        <p:spPr>
          <a:xfrm>
            <a:off x="462400" y="1480625"/>
            <a:ext cx="4109602" cy="153548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Midterm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