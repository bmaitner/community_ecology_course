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AE30A2-776A-4C3F-B21D-283C4F40D9B3}">
  <a:tblStyle styleId="{EFAE30A2-776A-4C3F-B21D-283C4F40D9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9408ed0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9408ed0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9594ad5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9594ad5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94ad5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9594ad5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94ad5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9594ad5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9594ad5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9594ad5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9594ad59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9594ad5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9594ad59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9594ad59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9594ad59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9594ad59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9594ad59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9594ad59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9594ad59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9594ad59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9594ad59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9594ad59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9594ad59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9594ad59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9594ad59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9594ad59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9594ad59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9594ad59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94ad59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94ad59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9594ad59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9594ad59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9594ad59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9594ad59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9594ad59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9594ad5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9594ad59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9594ad59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9594ad59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9594ad5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9594ad59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9594ad5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9594ad59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9594ad59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9594ad59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d9594ad59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9594ad59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9594ad59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be driven by camouflage, etc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9594ad59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9594ad59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9594ad59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d9594ad59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d9594ad59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d9594ad59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9594ad59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9594ad59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9594ad59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9594ad59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9594ad59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d9594ad59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9594ad594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9594ad59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9594ad59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d9594ad59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9594ad59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9594ad59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d9594ad594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d9594ad594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d9594ad594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d9594ad594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d9594ad594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d9594ad59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d9594ad594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d9594ad594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d9594ad59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d9594ad59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d9594ad594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d9594ad59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d9594ad594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d9594ad594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d9594ad594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d9594ad594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d9594ad594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d9594ad594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d9594ad594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d9594ad594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d9594ad594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d9594ad594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d9594ad594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d9594ad594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d9594ad594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d9594ad594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d9594ad594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d9594ad594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d9594ad594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d9594ad594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d9594ad594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d9594ad594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d9594ad594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d9594ad594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d9594ad59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d9594ad59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d9594ad594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d9594ad594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d9594ad59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d9594ad59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d9408ed0bf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d9408ed0bf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Coexistence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Paradox of the plankton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need different niches to coexist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so many species of plankton coexist?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need the same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Well-mixed, homogeneous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35953" l="28416" r="29640" t="42660"/>
          <a:stretch/>
        </p:blipFill>
        <p:spPr>
          <a:xfrm>
            <a:off x="5336758" y="63425"/>
            <a:ext cx="3624216" cy="10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Paradox of the plankton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need different niches to coexist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so many species of plankton coexist?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need the same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Well-mixed, homogeneous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Or, more generally, how can so many </a:t>
            </a:r>
            <a:r>
              <a:rPr lang="en"/>
              <a:t>species</a:t>
            </a:r>
            <a:r>
              <a:rPr lang="en"/>
              <a:t> coexist in a given location when they all need more or less the same things (oxygen, water, carbon, etc.)?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35953" l="28416" r="29640" t="42660"/>
          <a:stretch/>
        </p:blipFill>
        <p:spPr>
          <a:xfrm>
            <a:off x="5336758" y="63425"/>
            <a:ext cx="3624216" cy="10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know the answer (in a broad sense)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needs to happen for species to coexist?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know the answer (in a broad sense)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needs to happen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/>
              <a:t>			α</a:t>
            </a:r>
            <a:r>
              <a:rPr b="1" baseline="-25000" lang="en" sz="2600"/>
              <a:t>ii</a:t>
            </a:r>
            <a:r>
              <a:rPr b="1" lang="en" sz="2600"/>
              <a:t> &gt; α</a:t>
            </a:r>
            <a:r>
              <a:rPr b="1" baseline="-25000" lang="en" sz="2600"/>
              <a:t>ji</a:t>
            </a:r>
            <a:endParaRPr b="1" baseline="-25000"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baseline="-25000" lang="en" sz="2600"/>
              <a:t>			</a:t>
            </a:r>
            <a:r>
              <a:rPr b="1" lang="en" sz="2600"/>
              <a:t>α</a:t>
            </a:r>
            <a:r>
              <a:rPr b="1" baseline="-25000" lang="en" sz="2600"/>
              <a:t>jj</a:t>
            </a:r>
            <a:r>
              <a:rPr b="1" lang="en" sz="2600"/>
              <a:t> &gt; α</a:t>
            </a:r>
            <a:r>
              <a:rPr b="1" baseline="-25000" lang="en" sz="2600"/>
              <a:t>ij</a:t>
            </a:r>
            <a:endParaRPr b="1" baseline="-25000"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</a:t>
            </a:r>
            <a:r>
              <a:rPr lang="en"/>
              <a:t>species</a:t>
            </a:r>
            <a:r>
              <a:rPr lang="en"/>
              <a:t> to limit themselves more than their </a:t>
            </a:r>
            <a:r>
              <a:rPr lang="en"/>
              <a:t>competitors</a:t>
            </a:r>
            <a:r>
              <a:rPr lang="en"/>
              <a:t>?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predators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species to limit themselves more than their competitors?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predators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variation (use different locations)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variation (use different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combination of these things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Increases intraspecific competition relative to interspecific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Increases intraspecific competition relative to interspecific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r>
              <a:rPr b="1" lang="en" sz="2600"/>
              <a:t>			α</a:t>
            </a:r>
            <a:r>
              <a:rPr b="1" baseline="-25000" lang="en" sz="2600"/>
              <a:t>ii</a:t>
            </a:r>
            <a:r>
              <a:rPr b="1" lang="en" sz="2600"/>
              <a:t> &gt; α</a:t>
            </a:r>
            <a:r>
              <a:rPr b="1" baseline="-25000" lang="en" sz="2600"/>
              <a:t>ji</a:t>
            </a:r>
            <a:endParaRPr b="1" baseline="-25000"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42" name="Google Shape;142;p27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43" name="Google Shape;143;p2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5" name="Google Shape;145;p27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7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54" name="Google Shape;154;p28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55" name="Google Shape;155;p28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8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7" name="Google Shape;157;p28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8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2717425" y="3036550"/>
            <a:ext cx="1020900" cy="7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8"/>
          <p:cNvSpPr txBox="1"/>
          <p:nvPr/>
        </p:nvSpPr>
        <p:spPr>
          <a:xfrm rot="2158261">
            <a:off x="1427920" y="2502376"/>
            <a:ext cx="1793741" cy="461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Stress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68" name="Google Shape;168;p29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69" name="Google Shape;169;p29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9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" name="Google Shape;171;p29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3" name="Google Shape;173;p29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4" name="Google Shape;174;p29"/>
          <p:cNvGrpSpPr/>
          <p:nvPr/>
        </p:nvGrpSpPr>
        <p:grpSpPr>
          <a:xfrm>
            <a:off x="5317925" y="2088925"/>
            <a:ext cx="3092100" cy="2156700"/>
            <a:chOff x="517325" y="2088925"/>
            <a:chExt cx="3092100" cy="2156700"/>
          </a:xfrm>
        </p:grpSpPr>
        <p:cxnSp>
          <p:nvCxnSpPr>
            <p:cNvPr id="175" name="Google Shape;175;p29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29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7" name="Google Shape;177;p29"/>
          <p:cNvSpPr txBox="1"/>
          <p:nvPr/>
        </p:nvSpPr>
        <p:spPr>
          <a:xfrm>
            <a:off x="5710375" y="4315000"/>
            <a:ext cx="24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Predation Tolerance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9"/>
          <p:cNvSpPr txBox="1"/>
          <p:nvPr/>
        </p:nvSpPr>
        <p:spPr>
          <a:xfrm rot="-5400000">
            <a:off x="3667475" y="2875000"/>
            <a:ext cx="27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Dominance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9" name="Google Shape;179;p29"/>
          <p:cNvCxnSpPr/>
          <p:nvPr/>
        </p:nvCxnSpPr>
        <p:spPr>
          <a:xfrm>
            <a:off x="54331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86" name="Google Shape;186;p30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30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1" name="Google Shape;191;p30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" name="Google Shape;192;p30"/>
          <p:cNvGrpSpPr/>
          <p:nvPr/>
        </p:nvGrpSpPr>
        <p:grpSpPr>
          <a:xfrm>
            <a:off x="5317925" y="2088925"/>
            <a:ext cx="3092100" cy="2156700"/>
            <a:chOff x="517325" y="2088925"/>
            <a:chExt cx="3092100" cy="2156700"/>
          </a:xfrm>
        </p:grpSpPr>
        <p:cxnSp>
          <p:nvCxnSpPr>
            <p:cNvPr id="193" name="Google Shape;193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" name="Google Shape;195;p30"/>
          <p:cNvSpPr txBox="1"/>
          <p:nvPr/>
        </p:nvSpPr>
        <p:spPr>
          <a:xfrm>
            <a:off x="5710375" y="4315000"/>
            <a:ext cx="24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Predation Tolerance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0"/>
          <p:cNvSpPr txBox="1"/>
          <p:nvPr/>
        </p:nvSpPr>
        <p:spPr>
          <a:xfrm rot="-5400000">
            <a:off x="3667475" y="2875000"/>
            <a:ext cx="27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Dominance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7" name="Google Shape;197;p30"/>
          <p:cNvCxnSpPr/>
          <p:nvPr/>
        </p:nvCxnSpPr>
        <p:spPr>
          <a:xfrm>
            <a:off x="54331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0"/>
          <p:cNvCxnSpPr/>
          <p:nvPr/>
        </p:nvCxnSpPr>
        <p:spPr>
          <a:xfrm>
            <a:off x="7213225" y="2960350"/>
            <a:ext cx="1020900" cy="7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30"/>
          <p:cNvSpPr txBox="1"/>
          <p:nvPr/>
        </p:nvSpPr>
        <p:spPr>
          <a:xfrm rot="2158261">
            <a:off x="5615470" y="2211051"/>
            <a:ext cx="1793741" cy="461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Predation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Tolerance-Fecundity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3817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46607" l="17578" r="20417" t="23128"/>
          <a:stretch/>
        </p:blipFill>
        <p:spPr>
          <a:xfrm>
            <a:off x="4413500" y="112975"/>
            <a:ext cx="4656499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Tolerance-Fecundity</a:t>
            </a:r>
            <a:endParaRPr/>
          </a:p>
        </p:txBody>
      </p:sp>
      <p:pic>
        <p:nvPicPr>
          <p:cNvPr id="212" name="Google Shape;2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3817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4">
            <a:alphaModFix/>
          </a:blip>
          <a:srcRect b="46607" l="17578" r="20417" t="23128"/>
          <a:stretch/>
        </p:blipFill>
        <p:spPr>
          <a:xfrm>
            <a:off x="4413500" y="112975"/>
            <a:ext cx="4656499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32"/>
          <p:cNvSpPr txBox="1"/>
          <p:nvPr/>
        </p:nvSpPr>
        <p:spPr>
          <a:xfrm>
            <a:off x="5343700" y="1936500"/>
            <a:ext cx="38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Found theoretical support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r>
              <a:rPr lang="en"/>
              <a:t>-Defense Trade-off</a:t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98449" cy="3820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98449" cy="3820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 rotWithShape="1">
          <a:blip r:embed="rId4">
            <a:alphaModFix/>
          </a:blip>
          <a:srcRect b="0" l="33488" r="0" t="0"/>
          <a:stretch/>
        </p:blipFill>
        <p:spPr>
          <a:xfrm>
            <a:off x="5115750" y="1017725"/>
            <a:ext cx="3488901" cy="3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 rotWithShape="1">
          <a:blip r:embed="rId5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070876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070876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6582500" y="955375"/>
            <a:ext cx="2584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Found trade-offs, but…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Trade-off sometimes helped, sometimes made things worse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4" name="Google Shape;244;p36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</a:t>
            </a:r>
            <a:r>
              <a:rPr lang="en"/>
              <a:t>differences</a:t>
            </a:r>
            <a:endParaRPr/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resource, but </a:t>
            </a:r>
            <a:r>
              <a:rPr lang="en"/>
              <a:t>different</a:t>
            </a:r>
            <a:r>
              <a:rPr lang="en"/>
              <a:t> </a:t>
            </a:r>
            <a:r>
              <a:rPr lang="en"/>
              <a:t>locations: increases α</a:t>
            </a:r>
            <a:r>
              <a:rPr baseline="-25000" lang="en"/>
              <a:t>ii</a:t>
            </a:r>
            <a:r>
              <a:rPr lang="en"/>
              <a:t> relative to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resource, but different locations: increases α</a:t>
            </a:r>
            <a:r>
              <a:rPr baseline="-25000" lang="en"/>
              <a:t>ii</a:t>
            </a:r>
            <a:r>
              <a:rPr lang="en"/>
              <a:t> relative to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9"/>
          <p:cNvSpPr txBox="1"/>
          <p:nvPr/>
        </p:nvSpPr>
        <p:spPr>
          <a:xfrm>
            <a:off x="845350" y="310952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 that there are a few caveats about this!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269" name="Google Shape;269;p40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275" name="Google Shape;275;p41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41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1"/>
          <p:cNvSpPr/>
          <p:nvPr/>
        </p:nvSpPr>
        <p:spPr>
          <a:xfrm rot="1806979">
            <a:off x="2995403" y="21901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1"/>
          <p:cNvSpPr/>
          <p:nvPr/>
        </p:nvSpPr>
        <p:spPr>
          <a:xfrm rot="1806979">
            <a:off x="2157203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1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1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/>
          <p:nvPr/>
        </p:nvSpPr>
        <p:spPr>
          <a:xfrm rot="1806979">
            <a:off x="5282603" y="3288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1"/>
          <p:cNvSpPr/>
          <p:nvPr/>
        </p:nvSpPr>
        <p:spPr>
          <a:xfrm rot="1806979">
            <a:off x="1111053" y="3288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1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1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1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1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1"/>
          <p:cNvSpPr/>
          <p:nvPr/>
        </p:nvSpPr>
        <p:spPr>
          <a:xfrm rot="-8992804">
            <a:off x="2807210" y="3731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1"/>
          <p:cNvSpPr/>
          <p:nvPr/>
        </p:nvSpPr>
        <p:spPr>
          <a:xfrm rot="-8992804">
            <a:off x="3326285" y="20237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1"/>
          <p:cNvSpPr/>
          <p:nvPr/>
        </p:nvSpPr>
        <p:spPr>
          <a:xfrm rot="-8992804">
            <a:off x="5229710" y="2093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1"/>
          <p:cNvSpPr/>
          <p:nvPr/>
        </p:nvSpPr>
        <p:spPr>
          <a:xfrm rot="-8992804">
            <a:off x="4233185" y="31667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1"/>
          <p:cNvSpPr/>
          <p:nvPr/>
        </p:nvSpPr>
        <p:spPr>
          <a:xfrm rot="-8992804">
            <a:off x="2176160" y="20999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1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1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1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 rot="-8992804">
            <a:off x="2869085" y="2651339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1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1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6113850" y="2405050"/>
            <a:ext cx="30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Similar </a:t>
            </a:r>
            <a:r>
              <a:rPr lang="en" sz="1800">
                <a:solidFill>
                  <a:schemeClr val="dk2"/>
                </a:solidFill>
              </a:rPr>
              <a:t>preferences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08" name="Google Shape;308;p42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2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2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2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2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2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2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2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2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 rot="-8992804">
            <a:off x="5229710" y="2093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2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2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2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6113850" y="2405050"/>
            <a:ext cx="30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</a:t>
            </a:r>
            <a:r>
              <a:rPr lang="en" sz="1800">
                <a:solidFill>
                  <a:schemeClr val="dk2"/>
                </a:solidFill>
              </a:rPr>
              <a:t> preferences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41" name="Google Shape;341;p43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43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3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3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3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3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3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3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3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3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3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3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3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3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3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3"/>
          <p:cNvSpPr/>
          <p:nvPr/>
        </p:nvSpPr>
        <p:spPr>
          <a:xfrm>
            <a:off x="4766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37762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"/>
          <p:cNvSpPr/>
          <p:nvPr/>
        </p:nvSpPr>
        <p:spPr>
          <a:xfrm>
            <a:off x="30904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3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3"/>
          <p:cNvSpPr/>
          <p:nvPr/>
        </p:nvSpPr>
        <p:spPr>
          <a:xfrm>
            <a:off x="5071675" y="2601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3"/>
          <p:cNvSpPr/>
          <p:nvPr/>
        </p:nvSpPr>
        <p:spPr>
          <a:xfrm>
            <a:off x="44620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3"/>
          <p:cNvSpPr/>
          <p:nvPr/>
        </p:nvSpPr>
        <p:spPr>
          <a:xfrm>
            <a:off x="4157275" y="2906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3"/>
          <p:cNvSpPr/>
          <p:nvPr/>
        </p:nvSpPr>
        <p:spPr>
          <a:xfrm>
            <a:off x="28618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3"/>
          <p:cNvSpPr/>
          <p:nvPr/>
        </p:nvSpPr>
        <p:spPr>
          <a:xfrm>
            <a:off x="30904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3"/>
          <p:cNvSpPr/>
          <p:nvPr/>
        </p:nvSpPr>
        <p:spPr>
          <a:xfrm>
            <a:off x="50716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3"/>
          <p:cNvSpPr/>
          <p:nvPr/>
        </p:nvSpPr>
        <p:spPr>
          <a:xfrm>
            <a:off x="2328475" y="2753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3"/>
          <p:cNvSpPr/>
          <p:nvPr/>
        </p:nvSpPr>
        <p:spPr>
          <a:xfrm>
            <a:off x="1337875" y="3439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3"/>
          <p:cNvSpPr/>
          <p:nvPr/>
        </p:nvSpPr>
        <p:spPr>
          <a:xfrm>
            <a:off x="5147875" y="3134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3"/>
          <p:cNvSpPr/>
          <p:nvPr/>
        </p:nvSpPr>
        <p:spPr>
          <a:xfrm>
            <a:off x="5452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3"/>
          <p:cNvSpPr/>
          <p:nvPr/>
        </p:nvSpPr>
        <p:spPr>
          <a:xfrm>
            <a:off x="4462075" y="4049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3"/>
          <p:cNvSpPr/>
          <p:nvPr/>
        </p:nvSpPr>
        <p:spPr>
          <a:xfrm>
            <a:off x="43096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3"/>
          <p:cNvSpPr/>
          <p:nvPr/>
        </p:nvSpPr>
        <p:spPr>
          <a:xfrm>
            <a:off x="40048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3"/>
          <p:cNvSpPr/>
          <p:nvPr/>
        </p:nvSpPr>
        <p:spPr>
          <a:xfrm>
            <a:off x="61384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3"/>
          <p:cNvSpPr txBox="1"/>
          <p:nvPr/>
        </p:nvSpPr>
        <p:spPr>
          <a:xfrm>
            <a:off x="6429175" y="1829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Resources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6113850" y="2405050"/>
            <a:ext cx="305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 preferences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Mostly intraspecific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92" name="Google Shape;392;p44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44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4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4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4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4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4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4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4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4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4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4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4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4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4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4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4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4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4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4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4"/>
          <p:cNvSpPr/>
          <p:nvPr/>
        </p:nvSpPr>
        <p:spPr>
          <a:xfrm>
            <a:off x="4766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"/>
          <p:cNvSpPr/>
          <p:nvPr/>
        </p:nvSpPr>
        <p:spPr>
          <a:xfrm>
            <a:off x="37762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4"/>
          <p:cNvSpPr/>
          <p:nvPr/>
        </p:nvSpPr>
        <p:spPr>
          <a:xfrm>
            <a:off x="30904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4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5071675" y="2601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"/>
          <p:cNvSpPr/>
          <p:nvPr/>
        </p:nvSpPr>
        <p:spPr>
          <a:xfrm>
            <a:off x="44620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4"/>
          <p:cNvSpPr/>
          <p:nvPr/>
        </p:nvSpPr>
        <p:spPr>
          <a:xfrm>
            <a:off x="4157275" y="2906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4"/>
          <p:cNvSpPr/>
          <p:nvPr/>
        </p:nvSpPr>
        <p:spPr>
          <a:xfrm>
            <a:off x="28618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"/>
          <p:cNvSpPr/>
          <p:nvPr/>
        </p:nvSpPr>
        <p:spPr>
          <a:xfrm>
            <a:off x="30904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4"/>
          <p:cNvSpPr/>
          <p:nvPr/>
        </p:nvSpPr>
        <p:spPr>
          <a:xfrm>
            <a:off x="50716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4"/>
          <p:cNvSpPr/>
          <p:nvPr/>
        </p:nvSpPr>
        <p:spPr>
          <a:xfrm>
            <a:off x="2328475" y="2753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4"/>
          <p:cNvSpPr/>
          <p:nvPr/>
        </p:nvSpPr>
        <p:spPr>
          <a:xfrm>
            <a:off x="1337875" y="3439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4"/>
          <p:cNvSpPr/>
          <p:nvPr/>
        </p:nvSpPr>
        <p:spPr>
          <a:xfrm>
            <a:off x="5147875" y="3134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4"/>
          <p:cNvSpPr/>
          <p:nvPr/>
        </p:nvSpPr>
        <p:spPr>
          <a:xfrm>
            <a:off x="5452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4462075" y="4049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43096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40048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61384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4"/>
          <p:cNvSpPr txBox="1"/>
          <p:nvPr/>
        </p:nvSpPr>
        <p:spPr>
          <a:xfrm>
            <a:off x="6429175" y="1829475"/>
            <a:ext cx="264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Resources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(can now move)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37" name="Google Shape;437;p44"/>
          <p:cNvCxnSpPr>
            <a:stCxn id="420" idx="0"/>
          </p:cNvCxnSpPr>
          <p:nvPr/>
        </p:nvCxnSpPr>
        <p:spPr>
          <a:xfrm rot="10800000">
            <a:off x="3484525" y="1670925"/>
            <a:ext cx="663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44"/>
          <p:cNvCxnSpPr>
            <a:stCxn id="419" idx="1"/>
          </p:cNvCxnSpPr>
          <p:nvPr/>
        </p:nvCxnSpPr>
        <p:spPr>
          <a:xfrm rot="10800000">
            <a:off x="2313916" y="1760259"/>
            <a:ext cx="7998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44"/>
          <p:cNvCxnSpPr>
            <a:stCxn id="427" idx="0"/>
            <a:endCxn id="413" idx="0"/>
          </p:cNvCxnSpPr>
          <p:nvPr/>
        </p:nvCxnSpPr>
        <p:spPr>
          <a:xfrm>
            <a:off x="2407825" y="2753925"/>
            <a:ext cx="863400" cy="5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4"/>
          <p:cNvCxnSpPr>
            <a:stCxn id="428" idx="4"/>
          </p:cNvCxnSpPr>
          <p:nvPr/>
        </p:nvCxnSpPr>
        <p:spPr>
          <a:xfrm flipH="1">
            <a:off x="1222225" y="3576525"/>
            <a:ext cx="195000" cy="2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4"/>
          <p:cNvCxnSpPr>
            <a:stCxn id="423" idx="4"/>
          </p:cNvCxnSpPr>
          <p:nvPr/>
        </p:nvCxnSpPr>
        <p:spPr>
          <a:xfrm>
            <a:off x="4236625" y="3043125"/>
            <a:ext cx="71400" cy="3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44"/>
          <p:cNvCxnSpPr>
            <a:stCxn id="426" idx="2"/>
          </p:cNvCxnSpPr>
          <p:nvPr/>
        </p:nvCxnSpPr>
        <p:spPr>
          <a:xfrm rot="10800000">
            <a:off x="4794175" y="3595725"/>
            <a:ext cx="2775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4"/>
          <p:cNvCxnSpPr>
            <a:stCxn id="432" idx="6"/>
          </p:cNvCxnSpPr>
          <p:nvPr/>
        </p:nvCxnSpPr>
        <p:spPr>
          <a:xfrm flipH="1" rot="10800000">
            <a:off x="4468375" y="1621125"/>
            <a:ext cx="365700" cy="1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44"/>
          <p:cNvSpPr txBox="1"/>
          <p:nvPr/>
        </p:nvSpPr>
        <p:spPr>
          <a:xfrm>
            <a:off x="6113850" y="2786050"/>
            <a:ext cx="305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 preferences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 longer consuming unique resource,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increases </a:t>
            </a:r>
            <a:r>
              <a:rPr b="1" lang="en" sz="1800">
                <a:solidFill>
                  <a:schemeClr val="dk2"/>
                </a:solidFill>
              </a:rPr>
              <a:t>interspecific </a:t>
            </a:r>
            <a:r>
              <a:rPr lang="en" sz="1800">
                <a:solidFill>
                  <a:schemeClr val="dk2"/>
                </a:solidFill>
              </a:rPr>
              <a:t>competition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temporal mechanisms</a:t>
            </a:r>
            <a:endParaRPr/>
          </a:p>
        </p:txBody>
      </p:sp>
      <p:sp>
        <p:nvSpPr>
          <p:cNvPr id="450" name="Google Shape;45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niche partitioning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 non-linearity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Storage effects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sp>
        <p:nvSpPr>
          <p:cNvPr id="456" name="Google Shape;45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use resources at different times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the resource pools need to be different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62" name="Google Shape;462;p47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" name="Google Shape;463;p47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64" name="Google Shape;464;p47"/>
          <p:cNvCxnSpPr>
            <a:stCxn id="463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70" name="Google Shape;470;p48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1" name="Google Shape;471;p48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2" name="Google Shape;472;p48"/>
          <p:cNvCxnSpPr>
            <a:stCxn id="471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48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8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8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8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8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8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8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8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8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8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89" name="Google Shape;489;p49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0" name="Google Shape;490;p49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1" name="Google Shape;491;p49"/>
          <p:cNvCxnSpPr>
            <a:stCxn id="490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49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9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9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9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9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9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9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9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9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8195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8424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4234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9"/>
          <p:cNvSpPr/>
          <p:nvPr/>
        </p:nvSpPr>
        <p:spPr>
          <a:xfrm>
            <a:off x="7282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9"/>
          <p:cNvSpPr/>
          <p:nvPr/>
        </p:nvSpPr>
        <p:spPr>
          <a:xfrm>
            <a:off x="14140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9"/>
          <p:cNvSpPr/>
          <p:nvPr/>
        </p:nvSpPr>
        <p:spPr>
          <a:xfrm>
            <a:off x="1871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9"/>
          <p:cNvSpPr/>
          <p:nvPr/>
        </p:nvSpPr>
        <p:spPr>
          <a:xfrm>
            <a:off x="2480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2709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9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9"/>
          <p:cNvSpPr/>
          <p:nvPr/>
        </p:nvSpPr>
        <p:spPr>
          <a:xfrm>
            <a:off x="25570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9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9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9"/>
          <p:cNvSpPr/>
          <p:nvPr/>
        </p:nvSpPr>
        <p:spPr>
          <a:xfrm>
            <a:off x="35476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9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9"/>
          <p:cNvSpPr/>
          <p:nvPr/>
        </p:nvSpPr>
        <p:spPr>
          <a:xfrm>
            <a:off x="33190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9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9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9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9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9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9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9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9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9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9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9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9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9"/>
          <p:cNvSpPr/>
          <p:nvPr/>
        </p:nvSpPr>
        <p:spPr>
          <a:xfrm>
            <a:off x="6290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9"/>
          <p:cNvSpPr/>
          <p:nvPr/>
        </p:nvSpPr>
        <p:spPr>
          <a:xfrm>
            <a:off x="7052875" y="2068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9"/>
          <p:cNvSpPr/>
          <p:nvPr/>
        </p:nvSpPr>
        <p:spPr>
          <a:xfrm>
            <a:off x="7052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9"/>
          <p:cNvSpPr/>
          <p:nvPr/>
        </p:nvSpPr>
        <p:spPr>
          <a:xfrm>
            <a:off x="68242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9"/>
          <p:cNvSpPr/>
          <p:nvPr/>
        </p:nvSpPr>
        <p:spPr>
          <a:xfrm>
            <a:off x="7738675" y="2068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9"/>
          <p:cNvSpPr/>
          <p:nvPr/>
        </p:nvSpPr>
        <p:spPr>
          <a:xfrm>
            <a:off x="77386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9"/>
          <p:cNvSpPr/>
          <p:nvPr/>
        </p:nvSpPr>
        <p:spPr>
          <a:xfrm>
            <a:off x="75100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9"/>
          <p:cNvSpPr/>
          <p:nvPr/>
        </p:nvSpPr>
        <p:spPr>
          <a:xfrm>
            <a:off x="7662475" y="1306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9"/>
          <p:cNvSpPr/>
          <p:nvPr/>
        </p:nvSpPr>
        <p:spPr>
          <a:xfrm>
            <a:off x="76624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9"/>
          <p:cNvSpPr/>
          <p:nvPr/>
        </p:nvSpPr>
        <p:spPr>
          <a:xfrm>
            <a:off x="74338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9"/>
          <p:cNvSpPr/>
          <p:nvPr/>
        </p:nvSpPr>
        <p:spPr>
          <a:xfrm>
            <a:off x="75862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9"/>
          <p:cNvSpPr/>
          <p:nvPr/>
        </p:nvSpPr>
        <p:spPr>
          <a:xfrm>
            <a:off x="75862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9"/>
          <p:cNvSpPr/>
          <p:nvPr/>
        </p:nvSpPr>
        <p:spPr>
          <a:xfrm>
            <a:off x="73576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9"/>
          <p:cNvSpPr/>
          <p:nvPr/>
        </p:nvSpPr>
        <p:spPr>
          <a:xfrm>
            <a:off x="8348275" y="1306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9"/>
          <p:cNvSpPr/>
          <p:nvPr/>
        </p:nvSpPr>
        <p:spPr>
          <a:xfrm>
            <a:off x="8348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9"/>
          <p:cNvSpPr/>
          <p:nvPr/>
        </p:nvSpPr>
        <p:spPr>
          <a:xfrm>
            <a:off x="81196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9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over time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can </a:t>
            </a:r>
            <a:r>
              <a:rPr lang="en" sz="1800">
                <a:solidFill>
                  <a:schemeClr val="dk2"/>
                </a:solidFill>
              </a:rPr>
              <a:t>increase</a:t>
            </a:r>
            <a:r>
              <a:rPr lang="en" sz="1800">
                <a:solidFill>
                  <a:schemeClr val="dk2"/>
                </a:solidFill>
              </a:rPr>
              <a:t> intraspecific competition vs interspecific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556" name="Google Shape;556;p50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7" name="Google Shape;557;p50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8" name="Google Shape;558;p50"/>
          <p:cNvCxnSpPr>
            <a:stCxn id="557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9" name="Google Shape;559;p50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0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0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0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0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0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0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0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0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0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0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0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0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0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0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0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0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0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0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0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0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0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0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0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0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0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0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0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0"/>
          <p:cNvSpPr/>
          <p:nvPr/>
        </p:nvSpPr>
        <p:spPr>
          <a:xfrm>
            <a:off x="6062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rarely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dominance by one competitor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597" name="Google Shape;597;p51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{EFAE30A2-776A-4C3F-B21D-283C4F40D9B3}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8" name="Google Shape;598;p51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9" name="Google Shape;599;p51"/>
          <p:cNvCxnSpPr>
            <a:stCxn id="598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51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1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1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1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1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1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1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1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1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1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1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1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1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1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1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1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1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1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1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1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1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1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1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1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1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1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1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1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51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1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1"/>
          <p:cNvSpPr/>
          <p:nvPr/>
        </p:nvSpPr>
        <p:spPr>
          <a:xfrm>
            <a:off x="6062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1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rarely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dominance by one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3" name="Google Shape;633;p51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1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1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/>
          <p:nvPr/>
        </p:nvSpPr>
        <p:spPr>
          <a:xfrm>
            <a:off x="8230000" y="1547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1"/>
          <p:cNvSpPr/>
          <p:nvPr/>
        </p:nvSpPr>
        <p:spPr>
          <a:xfrm>
            <a:off x="381400" y="1547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1"/>
          <p:cNvSpPr/>
          <p:nvPr/>
        </p:nvSpPr>
        <p:spPr>
          <a:xfrm>
            <a:off x="533800" y="1928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1"/>
          <p:cNvSpPr/>
          <p:nvPr/>
        </p:nvSpPr>
        <p:spPr>
          <a:xfrm>
            <a:off x="1067200" y="20046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1"/>
          <p:cNvSpPr/>
          <p:nvPr/>
        </p:nvSpPr>
        <p:spPr>
          <a:xfrm>
            <a:off x="991000" y="1699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1"/>
          <p:cNvSpPr/>
          <p:nvPr/>
        </p:nvSpPr>
        <p:spPr>
          <a:xfrm>
            <a:off x="991000" y="1318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1"/>
          <p:cNvSpPr/>
          <p:nvPr/>
        </p:nvSpPr>
        <p:spPr>
          <a:xfrm>
            <a:off x="1753000" y="1699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653" name="Google Shape;653;p53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654" name="Google Shape;654;p53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53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6" name="Google Shape;656;p53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7" name="Google Shape;657;p53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53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64" name="Google Shape;664;p54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665" name="Google Shape;665;p54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54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7" name="Google Shape;667;p54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8" name="Google Shape;668;p54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54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70" name="Google Shape;670;p54"/>
          <p:cNvGrpSpPr/>
          <p:nvPr/>
        </p:nvGrpSpPr>
        <p:grpSpPr>
          <a:xfrm>
            <a:off x="5622725" y="1555525"/>
            <a:ext cx="3092100" cy="2156700"/>
            <a:chOff x="517325" y="2088925"/>
            <a:chExt cx="3092100" cy="2156700"/>
          </a:xfrm>
        </p:grpSpPr>
        <p:cxnSp>
          <p:nvCxnSpPr>
            <p:cNvPr id="671" name="Google Shape;671;p54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54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3" name="Google Shape;673;p54"/>
          <p:cNvSpPr txBox="1"/>
          <p:nvPr/>
        </p:nvSpPr>
        <p:spPr>
          <a:xfrm>
            <a:off x="56657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4" name="Google Shape;674;p54"/>
          <p:cNvSpPr txBox="1"/>
          <p:nvPr/>
        </p:nvSpPr>
        <p:spPr>
          <a:xfrm rot="-5400000">
            <a:off x="4641875" y="2340900"/>
            <a:ext cx="15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Growth rate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5" name="Google Shape;675;p54"/>
          <p:cNvSpPr/>
          <p:nvPr/>
        </p:nvSpPr>
        <p:spPr>
          <a:xfrm>
            <a:off x="6480975" y="1770050"/>
            <a:ext cx="1696539" cy="1805800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B6D7A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6" name="Google Shape;676;p54"/>
          <p:cNvSpPr/>
          <p:nvPr/>
        </p:nvSpPr>
        <p:spPr>
          <a:xfrm>
            <a:off x="5947575" y="2464600"/>
            <a:ext cx="2230010" cy="1187494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7" name="Google Shape;677;p54"/>
          <p:cNvSpPr/>
          <p:nvPr/>
        </p:nvSpPr>
        <p:spPr>
          <a:xfrm>
            <a:off x="6938175" y="1261950"/>
            <a:ext cx="1239346" cy="2313952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83" name="Google Shape;683;p55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684" name="Google Shape;684;p55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55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6" name="Google Shape;686;p55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7" name="Google Shape;687;p55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8" name="Google Shape;688;p55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94" name="Google Shape;694;p56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695" name="Google Shape;695;p56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56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7" name="Google Shape;697;p56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8" name="Google Shape;698;p56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0" name="Google Shape;700;p56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6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6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6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6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6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6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6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6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6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6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6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6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6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6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/>
        </p:nvSpPr>
        <p:spPr>
          <a:xfrm>
            <a:off x="69000" y="45730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Effect on Resources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3" name="Google Shape;73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734" name="Google Shape;734;p57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735" name="Google Shape;735;p5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5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7" name="Google Shape;737;p57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57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9" name="Google Shape;739;p57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0" name="Google Shape;740;p57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7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7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7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7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7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7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7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7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7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7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7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7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7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7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7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7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7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57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7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7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7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7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7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7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7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7"/>
          <p:cNvSpPr/>
          <p:nvPr/>
        </p:nvSpPr>
        <p:spPr>
          <a:xfrm rot="-8992804">
            <a:off x="3583460" y="46500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8" name="Google Shape;768;p57"/>
          <p:cNvCxnSpPr/>
          <p:nvPr/>
        </p:nvCxnSpPr>
        <p:spPr>
          <a:xfrm rot="10800000">
            <a:off x="28575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57"/>
          <p:cNvCxnSpPr/>
          <p:nvPr/>
        </p:nvCxnSpPr>
        <p:spPr>
          <a:xfrm rot="10800000">
            <a:off x="40767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70" name="Google Shape;770;p57"/>
          <p:cNvSpPr/>
          <p:nvPr/>
        </p:nvSpPr>
        <p:spPr>
          <a:xfrm rot="1806979">
            <a:off x="2498503" y="47275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7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sp>
        <p:nvSpPr>
          <p:cNvPr id="782" name="Google Shape;78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differ in the environment they do best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can persist through sub-optimal conditions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(Note that there is a spatial version of this as well)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788" name="Google Shape;788;p60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789" name="Google Shape;789;p6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1" name="Google Shape;791;p60"/>
          <p:cNvSpPr txBox="1"/>
          <p:nvPr/>
        </p:nvSpPr>
        <p:spPr>
          <a:xfrm>
            <a:off x="788975" y="3808025"/>
            <a:ext cx="318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 to low resources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92" name="Google Shape;792;p60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60"/>
          <p:cNvSpPr txBox="1"/>
          <p:nvPr/>
        </p:nvSpPr>
        <p:spPr>
          <a:xfrm rot="-5400000">
            <a:off x="-1006675" y="2240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Growth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799" name="Google Shape;799;p61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800" name="Google Shape;800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2" name="Google Shape;802;p61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3" name="Google Shape;803;p61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Mean Annual </a:t>
            </a:r>
            <a:r>
              <a:rPr b="1" lang="en" sz="1800">
                <a:solidFill>
                  <a:schemeClr val="dk2"/>
                </a:solidFill>
              </a:rPr>
              <a:t>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04" name="Google Shape;804;p61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805" name="Google Shape;805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7" name="Google Shape;807;p61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808" name="Google Shape;808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0" name="Google Shape;810;p61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1" name="Google Shape;811;p61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2" name="Google Shape;812;p61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1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61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1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1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1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1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1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1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1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1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1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1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1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1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1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1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61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1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61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61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1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1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1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1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1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1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1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1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1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1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61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61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1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1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61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1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61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61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61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1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61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1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1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1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1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1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1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61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1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1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1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1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1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61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61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1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1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1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61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61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1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1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61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1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1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1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1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1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1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1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926" name="Google Shape;926;p62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927" name="Google Shape;927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9" name="Google Shape;929;p62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0" name="Google Shape;930;p62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Mean Annual 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31" name="Google Shape;931;p62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932" name="Google Shape;932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4" name="Google Shape;934;p62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935" name="Google Shape;935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7" name="Google Shape;937;p62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8" name="Google Shape;938;p62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9" name="Google Shape;939;p62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2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2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2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2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2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2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2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7" name="Google Shape;94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62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2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2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2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2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2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2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2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2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2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2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2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2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2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2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2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2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2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2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2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2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2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2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2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2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2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2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2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2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2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2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2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2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2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2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2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2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2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2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2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2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2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2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2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2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2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2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2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2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2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2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2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2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8" name="Google Shape;1048;p62"/>
          <p:cNvCxnSpPr/>
          <p:nvPr/>
        </p:nvCxnSpPr>
        <p:spPr>
          <a:xfrm rot="10800000">
            <a:off x="6044400" y="827500"/>
            <a:ext cx="545700" cy="2053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9" name="Google Shape;1049;p62"/>
          <p:cNvSpPr txBox="1"/>
          <p:nvPr/>
        </p:nvSpPr>
        <p:spPr>
          <a:xfrm>
            <a:off x="5391725" y="193475"/>
            <a:ext cx="12561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980000"/>
                </a:solidFill>
              </a:rPr>
              <a:t>α</a:t>
            </a:r>
            <a:r>
              <a:rPr b="1" baseline="-25000" lang="en" sz="2600">
                <a:solidFill>
                  <a:srgbClr val="980000"/>
                </a:solidFill>
              </a:rPr>
              <a:t>ii</a:t>
            </a:r>
            <a:r>
              <a:rPr b="1" lang="en" sz="2600">
                <a:solidFill>
                  <a:srgbClr val="980000"/>
                </a:solidFill>
              </a:rPr>
              <a:t> &gt; α</a:t>
            </a:r>
            <a:r>
              <a:rPr b="1" baseline="-25000" lang="en" sz="2600">
                <a:solidFill>
                  <a:srgbClr val="980000"/>
                </a:solidFill>
              </a:rPr>
              <a:t>ji</a:t>
            </a:r>
            <a:endParaRPr b="1" baseline="-25000" sz="2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55" name="Google Shape;1055;p63"/>
          <p:cNvPicPr preferRelativeResize="0"/>
          <p:nvPr/>
        </p:nvPicPr>
        <p:blipFill rotWithShape="1">
          <a:blip r:embed="rId3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61" name="Google Shape;106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64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68" name="Google Shape;10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100" y="46400"/>
            <a:ext cx="2910299" cy="50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5"/>
          <p:cNvPicPr preferRelativeResize="0"/>
          <p:nvPr/>
        </p:nvPicPr>
        <p:blipFill rotWithShape="1">
          <a:blip r:embed="rId5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76" name="Google Shape;1076;p66"/>
          <p:cNvPicPr preferRelativeResize="0"/>
          <p:nvPr/>
        </p:nvPicPr>
        <p:blipFill rotWithShape="1">
          <a:blip r:embed="rId3">
            <a:alphaModFix/>
          </a:blip>
          <a:srcRect b="0" l="0" r="46265" t="0"/>
          <a:stretch/>
        </p:blipFill>
        <p:spPr>
          <a:xfrm>
            <a:off x="152400" y="1170125"/>
            <a:ext cx="3560373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7" name="Google Shape;1077;p66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r>
              <a:rPr lang="en"/>
              <a:t>Takeaways</a:t>
            </a:r>
            <a:endParaRPr/>
          </a:p>
        </p:txBody>
      </p:sp>
      <p:sp>
        <p:nvSpPr>
          <p:cNvPr id="1083" name="Google Shape;1083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</a:t>
            </a:r>
            <a:r>
              <a:rPr lang="en"/>
              <a:t> coexistence requires meaningful differences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can differ in </a:t>
            </a:r>
            <a:r>
              <a:rPr lang="en"/>
              <a:t>resource/predation in space and/or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Trade-offs are critical!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Trade-offs need to make </a:t>
            </a:r>
            <a:r>
              <a:rPr b="1" lang="en"/>
              <a:t>α</a:t>
            </a:r>
            <a:r>
              <a:rPr b="1" baseline="-25000" lang="en"/>
              <a:t>ii</a:t>
            </a:r>
            <a:r>
              <a:rPr b="1" lang="en"/>
              <a:t> &gt; α</a:t>
            </a:r>
            <a:r>
              <a:rPr b="1" baseline="-25000" lang="en"/>
              <a:t>ji</a:t>
            </a:r>
            <a:r>
              <a:rPr baseline="-25000" lang="en"/>
              <a:t> </a:t>
            </a:r>
            <a:r>
              <a:rPr lang="en"/>
              <a:t>for coexistence</a:t>
            </a:r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Mutualism and Facilitation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