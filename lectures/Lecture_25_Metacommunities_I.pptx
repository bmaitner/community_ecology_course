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8981be03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8981be0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21cc0de1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21cc0de1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2687f98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2687f98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dd329bb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dd329bb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dd329bbb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dd329bbb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dd329bbb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4dd329bbb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4dd329bbb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4dd329bbb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dd329bbb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dd329bbb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dd329bbb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dd329bbb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</a:t>
            </a:r>
            <a:r>
              <a:rPr lang="en"/>
              <a:t>assembly</a:t>
            </a:r>
            <a:r>
              <a:rPr lang="en"/>
              <a:t> stuff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dd329bbb9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dd329bbb9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 stuff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4dd329bbb9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4dd329bbb9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4dd329bbb9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4dd329bbb9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can only survive in the optimal environment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4dd329bbb9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4dd329bbb9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4dd329bbb9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4dd329bbb9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4dd329bbb9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4dd329bbb9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Left: altitude, right: rivers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4dd329bbb9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4dd329bbb9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Left: altitude, right: rivers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4dd329bbb9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4dd329bbb9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strong patterns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4dd329bbb9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4dd329bbb9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strong patterns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4dd329bbb9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4dd329bbb9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4dd329bbb9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4dd329bbb9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4dd329bbb9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4dd329bbb9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4dd329bbb9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4dd329bbb9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can only survive in the optimal environment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4dd329bbb9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4dd329bbb9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can only survive in the optimal environment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4dd329bbb9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4dd329bbb9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can survive in suboptimal environment, but persist only because of other patches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dd329bbb9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dd329bbb9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=  break even.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4dd329bbb9_0_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4dd329bbb9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=  break even.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4dd329bbb9_0_6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4dd329bbb9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=  break even.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4dd329bbb9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4dd329bbb9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4dd329bbb9_0_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4dd329bbb9_0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4dd329bbb9_0_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4dd329bbb9_0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might this happen?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4dd329bbb9_0_7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4dd329bbb9_0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4dd329bbb9_0_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4dd329bbb9_0_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4dd329bbb9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4dd329bbb9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pretty good compared to other species sorting studies (~40% vs 26%)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4dd329bbb9_0_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4dd329bbb9_0_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No distance decay for active dispersers. No unimodal </a:t>
            </a:r>
            <a:r>
              <a:rPr lang="en"/>
              <a:t>relationship</a:t>
            </a:r>
            <a:r>
              <a:rPr lang="en"/>
              <a:t> for active dispersers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4dd329bbb9_0_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4dd329bbb9_0_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4dd329bbb9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4dd329bbb9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4dd329bbb9_0_7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4dd329bbb9_0_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4dd329bbb9_0_7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4dd329bbb9_0_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4dd329bbb9_0_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4dd329bbb9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d8981be03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2d8981be03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1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Metacommunities 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89575"/>
            <a:ext cx="8520600" cy="24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Quiz</a:t>
            </a:r>
            <a:endParaRPr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Metacommunities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Patchy Environments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Patches</a:t>
            </a:r>
            <a:r>
              <a:rPr lang="en"/>
              <a:t>: suitable habitat, surrounded by unsuitable habitat.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Metapopulation:</a:t>
            </a:r>
            <a:r>
              <a:rPr lang="en"/>
              <a:t> collection of connected populations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Multiple patches connected by dispersal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Patchy Environments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Patches</a:t>
            </a:r>
            <a:r>
              <a:rPr lang="en"/>
              <a:t>: suitable habitat, surrounded by unsuitable habitat.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Metapopulation:</a:t>
            </a:r>
            <a:r>
              <a:rPr lang="en"/>
              <a:t> collection of connected populations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Multiple patches connected by dispersal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Metacommunity:</a:t>
            </a:r>
            <a:r>
              <a:rPr lang="en"/>
              <a:t> collection of connected communities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Multiple patches connected by dispersal of one or more species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Metacommunities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Main perspectives: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Patch dynamics - extension of metapopulation stuff to more species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Species sorting - community assembly-ish, species differ in abiotic niches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Mass effects - species sorting-ish, w/ </a:t>
            </a:r>
            <a:r>
              <a:rPr lang="en"/>
              <a:t>source</a:t>
            </a:r>
            <a:r>
              <a:rPr lang="en"/>
              <a:t>-sink and rescue effects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Neutral theory - assumes species are identical, environment irrelevant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Metacommunities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Main perspectives: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Patch dynamics - extension of metapopulation stuff to more species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Species sorting - community assembly-ish, species differ in abiotic niches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Mass effects - species sorting-ish, w/ source-sink and rescue effects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Neutral theory - assumes species are identical, environment irrelevant</a:t>
            </a:r>
            <a:endParaRPr/>
          </a:p>
        </p:txBody>
      </p:sp>
      <p:sp>
        <p:nvSpPr>
          <p:cNvPr id="80" name="Google Shape;80;p17"/>
          <p:cNvSpPr/>
          <p:nvPr/>
        </p:nvSpPr>
        <p:spPr>
          <a:xfrm>
            <a:off x="229925" y="1589625"/>
            <a:ext cx="8186100" cy="426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Patch Dynamics Perspective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This is what we covered last week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Metacommunity studies focus on multiple species, and hence coexistence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Various trade-offs and coexistence mechanisms</a:t>
            </a:r>
            <a:endParaRPr/>
          </a:p>
        </p:txBody>
      </p:sp>
      <p:grpSp>
        <p:nvGrpSpPr>
          <p:cNvPr id="87" name="Google Shape;87;p18"/>
          <p:cNvGrpSpPr/>
          <p:nvPr/>
        </p:nvGrpSpPr>
        <p:grpSpPr>
          <a:xfrm>
            <a:off x="846600" y="2254550"/>
            <a:ext cx="3344400" cy="2144400"/>
            <a:chOff x="1002925" y="1440975"/>
            <a:chExt cx="3344400" cy="2144400"/>
          </a:xfrm>
        </p:grpSpPr>
        <p:cxnSp>
          <p:nvCxnSpPr>
            <p:cNvPr id="88" name="Google Shape;88;p18"/>
            <p:cNvCxnSpPr/>
            <p:nvPr/>
          </p:nvCxnSpPr>
          <p:spPr>
            <a:xfrm>
              <a:off x="1002925" y="1440975"/>
              <a:ext cx="9900" cy="2140800"/>
            </a:xfrm>
            <a:prstGeom prst="straightConnector1">
              <a:avLst/>
            </a:prstGeom>
            <a:noFill/>
            <a:ln cap="flat" cmpd="sng" w="38100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" name="Google Shape;89;p18"/>
            <p:cNvCxnSpPr/>
            <p:nvPr/>
          </p:nvCxnSpPr>
          <p:spPr>
            <a:xfrm flipH="1" rot="10800000">
              <a:off x="1002925" y="3581775"/>
              <a:ext cx="3344400" cy="3600"/>
            </a:xfrm>
            <a:prstGeom prst="straightConnector1">
              <a:avLst/>
            </a:prstGeom>
            <a:noFill/>
            <a:ln cap="flat" cmpd="sng" w="38100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0" name="Google Shape;90;p18"/>
          <p:cNvSpPr txBox="1"/>
          <p:nvPr/>
        </p:nvSpPr>
        <p:spPr>
          <a:xfrm>
            <a:off x="1438500" y="4535300"/>
            <a:ext cx="216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Competitive Ability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91" name="Google Shape;91;p18"/>
          <p:cNvSpPr txBox="1"/>
          <p:nvPr/>
        </p:nvSpPr>
        <p:spPr>
          <a:xfrm rot="-5400000">
            <a:off x="-565950" y="3095900"/>
            <a:ext cx="216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Dispersal Ability</a:t>
            </a:r>
            <a:endParaRPr sz="1800">
              <a:solidFill>
                <a:srgbClr val="595959"/>
              </a:solidFill>
            </a:endParaRPr>
          </a:p>
        </p:txBody>
      </p:sp>
      <p:cxnSp>
        <p:nvCxnSpPr>
          <p:cNvPr id="92" name="Google Shape;92;p18"/>
          <p:cNvCxnSpPr/>
          <p:nvPr/>
        </p:nvCxnSpPr>
        <p:spPr>
          <a:xfrm>
            <a:off x="1015225" y="2305050"/>
            <a:ext cx="2985300" cy="20328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8"/>
          <p:cNvSpPr/>
          <p:nvPr/>
        </p:nvSpPr>
        <p:spPr>
          <a:xfrm>
            <a:off x="3209575" y="3736600"/>
            <a:ext cx="521100" cy="4617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94" name="Google Shape;94;p18"/>
          <p:cNvSpPr/>
          <p:nvPr/>
        </p:nvSpPr>
        <p:spPr>
          <a:xfrm>
            <a:off x="2142775" y="3050800"/>
            <a:ext cx="521100" cy="4617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95" name="Google Shape;95;p18"/>
          <p:cNvSpPr/>
          <p:nvPr/>
        </p:nvSpPr>
        <p:spPr>
          <a:xfrm>
            <a:off x="1152175" y="2365000"/>
            <a:ext cx="521100" cy="4617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96" name="Google Shape;96;p18"/>
          <p:cNvSpPr txBox="1"/>
          <p:nvPr/>
        </p:nvSpPr>
        <p:spPr>
          <a:xfrm>
            <a:off x="4631475" y="2365450"/>
            <a:ext cx="4284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rabicParenR"/>
            </a:pPr>
            <a:r>
              <a:rPr lang="en" sz="1800">
                <a:solidFill>
                  <a:srgbClr val="595959"/>
                </a:solidFill>
              </a:rPr>
              <a:t>A arrives first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rabicParenR"/>
            </a:pPr>
            <a:r>
              <a:rPr lang="en" sz="1800">
                <a:solidFill>
                  <a:srgbClr val="595959"/>
                </a:solidFill>
              </a:rPr>
              <a:t>B arrives next, displaces A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rabicParenR"/>
            </a:pPr>
            <a:r>
              <a:rPr lang="en" sz="1800">
                <a:solidFill>
                  <a:srgbClr val="595959"/>
                </a:solidFill>
              </a:rPr>
              <a:t>C arrives last, displaces B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rabicParenR"/>
            </a:pPr>
            <a:r>
              <a:rPr lang="en" sz="1800">
                <a:solidFill>
                  <a:srgbClr val="595959"/>
                </a:solidFill>
              </a:rPr>
              <a:t>Patch extinction occurs (go to 1)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Metacommunities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Main perspectives: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Patch dynamics - extension of metapopulation stuff to more species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Species sorting - community assembly-ish, species differ in abiotic niches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Mass effects - species sorting-ish, w/ source-sink and rescue effects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Neutral theory - assumes species are identical, environment irrelevant</a:t>
            </a:r>
            <a:endParaRPr/>
          </a:p>
        </p:txBody>
      </p:sp>
      <p:sp>
        <p:nvSpPr>
          <p:cNvPr id="103" name="Google Shape;103;p19"/>
          <p:cNvSpPr/>
          <p:nvPr/>
        </p:nvSpPr>
        <p:spPr>
          <a:xfrm>
            <a:off x="229925" y="1589625"/>
            <a:ext cx="8186100" cy="426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Metacommunities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Main perspectives: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Patch dynamics - extension of metapopulation stuff to more species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Species sorting - community assembly-ish, species differ in abiotic niches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Mass effects - species sorting-ish, w/ source-sink and rescue effects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Neutral theory - assumes species are identical, environment irrelevant</a:t>
            </a:r>
            <a:endParaRPr/>
          </a:p>
        </p:txBody>
      </p:sp>
      <p:sp>
        <p:nvSpPr>
          <p:cNvPr id="110" name="Google Shape;110;p20"/>
          <p:cNvSpPr/>
          <p:nvPr/>
        </p:nvSpPr>
        <p:spPr>
          <a:xfrm>
            <a:off x="229925" y="1970625"/>
            <a:ext cx="8186100" cy="426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sorting perspective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sorting perspective</a:t>
            </a:r>
            <a:endParaRPr/>
          </a:p>
        </p:txBody>
      </p:sp>
      <p:sp>
        <p:nvSpPr>
          <p:cNvPr id="121" name="Google Shape;121;p22"/>
          <p:cNvSpPr/>
          <p:nvPr/>
        </p:nvSpPr>
        <p:spPr>
          <a:xfrm>
            <a:off x="329025" y="1411250"/>
            <a:ext cx="1476600" cy="32208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2"/>
          <p:cNvSpPr/>
          <p:nvPr/>
        </p:nvSpPr>
        <p:spPr>
          <a:xfrm>
            <a:off x="3054325" y="1514100"/>
            <a:ext cx="1476600" cy="927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29025" y="1017725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</a:rPr>
              <a:t>Species pool</a:t>
            </a:r>
            <a:endParaRPr sz="1700"/>
          </a:p>
        </p:txBody>
      </p:sp>
      <p:sp>
        <p:nvSpPr>
          <p:cNvPr id="124" name="Google Shape;124;p22"/>
          <p:cNvSpPr txBox="1"/>
          <p:nvPr/>
        </p:nvSpPr>
        <p:spPr>
          <a:xfrm>
            <a:off x="1691675" y="10050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</a:rPr>
              <a:t>Dispersal</a:t>
            </a:r>
            <a:endParaRPr sz="1700"/>
          </a:p>
        </p:txBody>
      </p:sp>
      <p:sp>
        <p:nvSpPr>
          <p:cNvPr id="125" name="Google Shape;125;p22"/>
          <p:cNvSpPr/>
          <p:nvPr/>
        </p:nvSpPr>
        <p:spPr>
          <a:xfrm>
            <a:off x="3054325" y="2504700"/>
            <a:ext cx="1476600" cy="927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2"/>
          <p:cNvSpPr/>
          <p:nvPr/>
        </p:nvSpPr>
        <p:spPr>
          <a:xfrm>
            <a:off x="3054325" y="3495300"/>
            <a:ext cx="1476600" cy="927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987075" y="10050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</a:rPr>
              <a:t>Communities</a:t>
            </a:r>
            <a:endParaRPr sz="1700"/>
          </a:p>
        </p:txBody>
      </p:sp>
      <p:sp>
        <p:nvSpPr>
          <p:cNvPr id="128" name="Google Shape;128;p22"/>
          <p:cNvSpPr txBox="1"/>
          <p:nvPr/>
        </p:nvSpPr>
        <p:spPr>
          <a:xfrm>
            <a:off x="4633250" y="776400"/>
            <a:ext cx="921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</a:rPr>
              <a:t>Abiotic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</a:rPr>
              <a:t>Filter</a:t>
            </a:r>
            <a:endParaRPr sz="1700"/>
          </a:p>
        </p:txBody>
      </p:sp>
      <p:sp>
        <p:nvSpPr>
          <p:cNvPr id="129" name="Google Shape;129;p22"/>
          <p:cNvSpPr txBox="1"/>
          <p:nvPr/>
        </p:nvSpPr>
        <p:spPr>
          <a:xfrm>
            <a:off x="5402725" y="776400"/>
            <a:ext cx="921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</a:rPr>
              <a:t>Biotic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</a:rPr>
              <a:t>Filter</a:t>
            </a:r>
            <a:endParaRPr sz="1700"/>
          </a:p>
        </p:txBody>
      </p:sp>
      <p:sp>
        <p:nvSpPr>
          <p:cNvPr id="130" name="Google Shape;130;p22"/>
          <p:cNvSpPr/>
          <p:nvPr/>
        </p:nvSpPr>
        <p:spPr>
          <a:xfrm>
            <a:off x="6254725" y="1514100"/>
            <a:ext cx="1476600" cy="927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2"/>
          <p:cNvSpPr/>
          <p:nvPr/>
        </p:nvSpPr>
        <p:spPr>
          <a:xfrm>
            <a:off x="6254725" y="2504700"/>
            <a:ext cx="1476600" cy="927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2"/>
          <p:cNvSpPr/>
          <p:nvPr/>
        </p:nvSpPr>
        <p:spPr>
          <a:xfrm>
            <a:off x="6254725" y="3495300"/>
            <a:ext cx="1476600" cy="927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2"/>
          <p:cNvSpPr txBox="1"/>
          <p:nvPr/>
        </p:nvSpPr>
        <p:spPr>
          <a:xfrm>
            <a:off x="6254725" y="8526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</a:rPr>
              <a:t>Communities</a:t>
            </a:r>
            <a:endParaRPr sz="1700"/>
          </a:p>
        </p:txBody>
      </p:sp>
      <p:sp>
        <p:nvSpPr>
          <p:cNvPr id="134" name="Google Shape;134;p22"/>
          <p:cNvSpPr/>
          <p:nvPr/>
        </p:nvSpPr>
        <p:spPr>
          <a:xfrm>
            <a:off x="7831200" y="1514100"/>
            <a:ext cx="535200" cy="2909100"/>
          </a:xfrm>
          <a:prstGeom prst="rightBrace">
            <a:avLst>
              <a:gd fmla="val 50000" name="adj1"/>
              <a:gd fmla="val 48928" name="adj2"/>
            </a:avLst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2"/>
          <p:cNvSpPr txBox="1"/>
          <p:nvPr/>
        </p:nvSpPr>
        <p:spPr>
          <a:xfrm rot="5400000">
            <a:off x="7550125" y="2681400"/>
            <a:ext cx="2055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</a:rPr>
              <a:t>Metacommunity</a:t>
            </a:r>
            <a:endParaRPr sz="1700"/>
          </a:p>
        </p:txBody>
      </p:sp>
      <p:sp>
        <p:nvSpPr>
          <p:cNvPr id="136" name="Google Shape;136;p22"/>
          <p:cNvSpPr/>
          <p:nvPr/>
        </p:nvSpPr>
        <p:spPr>
          <a:xfrm>
            <a:off x="1102025" y="4473550"/>
            <a:ext cx="6848296" cy="605950"/>
          </a:xfrm>
          <a:custGeom>
            <a:rect b="b" l="l" r="r" t="t"/>
            <a:pathLst>
              <a:path extrusionOk="0" h="24238" w="237850">
                <a:moveTo>
                  <a:pt x="237850" y="0"/>
                </a:moveTo>
                <a:cubicBezTo>
                  <a:pt x="233423" y="3634"/>
                  <a:pt x="246373" y="18103"/>
                  <a:pt x="211290" y="21803"/>
                </a:cubicBezTo>
                <a:cubicBezTo>
                  <a:pt x="176207" y="25503"/>
                  <a:pt x="62568" y="24446"/>
                  <a:pt x="27353" y="22200"/>
                </a:cubicBezTo>
                <a:cubicBezTo>
                  <a:pt x="-7862" y="19954"/>
                  <a:pt x="4559" y="10638"/>
                  <a:pt x="0" y="8325"/>
                </a:cubicBezTo>
              </a:path>
            </a:pathLst>
          </a:custGeom>
          <a:noFill/>
          <a:ln cap="flat" cmpd="sng" w="3810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37" name="Google Shape;137;p22"/>
          <p:cNvSpPr txBox="1"/>
          <p:nvPr/>
        </p:nvSpPr>
        <p:spPr>
          <a:xfrm>
            <a:off x="2736625" y="4632050"/>
            <a:ext cx="351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Speciation, Extinction, Dispersal</a:t>
            </a:r>
            <a:endParaRPr sz="1800">
              <a:solidFill>
                <a:srgbClr val="595959"/>
              </a:solidFill>
            </a:endParaRPr>
          </a:p>
        </p:txBody>
      </p:sp>
      <p:cxnSp>
        <p:nvCxnSpPr>
          <p:cNvPr id="138" name="Google Shape;138;p22"/>
          <p:cNvCxnSpPr>
            <a:stCxn id="128" idx="2"/>
          </p:cNvCxnSpPr>
          <p:nvPr/>
        </p:nvCxnSpPr>
        <p:spPr>
          <a:xfrm>
            <a:off x="5094050" y="1484400"/>
            <a:ext cx="1800" cy="2999100"/>
          </a:xfrm>
          <a:prstGeom prst="straightConnector1">
            <a:avLst/>
          </a:prstGeom>
          <a:noFill/>
          <a:ln cap="flat" cmpd="sng" w="76200">
            <a:solidFill>
              <a:srgbClr val="59595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22"/>
          <p:cNvCxnSpPr/>
          <p:nvPr/>
        </p:nvCxnSpPr>
        <p:spPr>
          <a:xfrm>
            <a:off x="5856050" y="1484400"/>
            <a:ext cx="1800" cy="2999100"/>
          </a:xfrm>
          <a:prstGeom prst="straightConnector1">
            <a:avLst/>
          </a:prstGeom>
          <a:noFill/>
          <a:ln cap="flat" cmpd="sng" w="76200">
            <a:solidFill>
              <a:srgbClr val="595959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140" name="Google Shape;140;p22"/>
          <p:cNvSpPr/>
          <p:nvPr/>
        </p:nvSpPr>
        <p:spPr>
          <a:xfrm>
            <a:off x="606525" y="1718475"/>
            <a:ext cx="297300" cy="2973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2"/>
          <p:cNvSpPr/>
          <p:nvPr/>
        </p:nvSpPr>
        <p:spPr>
          <a:xfrm>
            <a:off x="1292325" y="21756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2"/>
          <p:cNvSpPr/>
          <p:nvPr/>
        </p:nvSpPr>
        <p:spPr>
          <a:xfrm>
            <a:off x="691975" y="27491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1307725" y="29094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2"/>
          <p:cNvSpPr/>
          <p:nvPr/>
        </p:nvSpPr>
        <p:spPr>
          <a:xfrm>
            <a:off x="725450" y="3621250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2"/>
          <p:cNvSpPr/>
          <p:nvPr/>
        </p:nvSpPr>
        <p:spPr>
          <a:xfrm>
            <a:off x="4139525" y="2042250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2"/>
          <p:cNvSpPr/>
          <p:nvPr/>
        </p:nvSpPr>
        <p:spPr>
          <a:xfrm>
            <a:off x="3881525" y="26121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2"/>
          <p:cNvSpPr/>
          <p:nvPr/>
        </p:nvSpPr>
        <p:spPr>
          <a:xfrm>
            <a:off x="3836975" y="3026675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/>
          <p:nvPr/>
        </p:nvSpPr>
        <p:spPr>
          <a:xfrm>
            <a:off x="3968575" y="3542863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2"/>
          <p:cNvSpPr/>
          <p:nvPr/>
        </p:nvSpPr>
        <p:spPr>
          <a:xfrm>
            <a:off x="3968575" y="1579800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2"/>
          <p:cNvSpPr/>
          <p:nvPr/>
        </p:nvSpPr>
        <p:spPr>
          <a:xfrm>
            <a:off x="665975" y="22201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2"/>
          <p:cNvSpPr/>
          <p:nvPr/>
        </p:nvSpPr>
        <p:spPr>
          <a:xfrm>
            <a:off x="1182650" y="3773650"/>
            <a:ext cx="297300" cy="2973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/>
          <p:nvPr/>
        </p:nvSpPr>
        <p:spPr>
          <a:xfrm>
            <a:off x="3163850" y="3011650"/>
            <a:ext cx="297300" cy="2973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2"/>
          <p:cNvSpPr/>
          <p:nvPr/>
        </p:nvSpPr>
        <p:spPr>
          <a:xfrm>
            <a:off x="844375" y="31301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2"/>
          <p:cNvSpPr/>
          <p:nvPr/>
        </p:nvSpPr>
        <p:spPr>
          <a:xfrm>
            <a:off x="4094975" y="40489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2"/>
          <p:cNvSpPr/>
          <p:nvPr/>
        </p:nvSpPr>
        <p:spPr>
          <a:xfrm>
            <a:off x="7310525" y="26883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2"/>
          <p:cNvSpPr/>
          <p:nvPr/>
        </p:nvSpPr>
        <p:spPr>
          <a:xfrm>
            <a:off x="6580175" y="3026675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2"/>
          <p:cNvSpPr/>
          <p:nvPr/>
        </p:nvSpPr>
        <p:spPr>
          <a:xfrm>
            <a:off x="7321375" y="2042250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2"/>
          <p:cNvSpPr/>
          <p:nvPr/>
        </p:nvSpPr>
        <p:spPr>
          <a:xfrm>
            <a:off x="3282775" y="36635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2"/>
          <p:cNvSpPr/>
          <p:nvPr/>
        </p:nvSpPr>
        <p:spPr>
          <a:xfrm>
            <a:off x="3358975" y="20633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2"/>
          <p:cNvSpPr/>
          <p:nvPr/>
        </p:nvSpPr>
        <p:spPr>
          <a:xfrm>
            <a:off x="3349725" y="40806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2"/>
          <p:cNvSpPr/>
          <p:nvPr/>
        </p:nvSpPr>
        <p:spPr>
          <a:xfrm>
            <a:off x="3365125" y="16140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2"/>
          <p:cNvSpPr/>
          <p:nvPr/>
        </p:nvSpPr>
        <p:spPr>
          <a:xfrm>
            <a:off x="3637775" y="19153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2"/>
          <p:cNvSpPr/>
          <p:nvPr/>
        </p:nvSpPr>
        <p:spPr>
          <a:xfrm>
            <a:off x="7251325" y="16902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2"/>
          <p:cNvSpPr/>
          <p:nvPr/>
        </p:nvSpPr>
        <p:spPr>
          <a:xfrm>
            <a:off x="6483175" y="19109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2"/>
          <p:cNvSpPr/>
          <p:nvPr/>
        </p:nvSpPr>
        <p:spPr>
          <a:xfrm>
            <a:off x="6940375" y="35873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2"/>
          <p:cNvSpPr/>
          <p:nvPr/>
        </p:nvSpPr>
        <p:spPr>
          <a:xfrm>
            <a:off x="7007325" y="40044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7" name="Google Shape;167;p22"/>
          <p:cNvCxnSpPr>
            <a:stCxn id="121" idx="3"/>
            <a:endCxn id="122" idx="1"/>
          </p:cNvCxnSpPr>
          <p:nvPr/>
        </p:nvCxnSpPr>
        <p:spPr>
          <a:xfrm flipH="1" rot="10800000">
            <a:off x="1805625" y="1977950"/>
            <a:ext cx="1248600" cy="1043700"/>
          </a:xfrm>
          <a:prstGeom prst="straightConnector1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22"/>
          <p:cNvCxnSpPr>
            <a:stCxn id="121" idx="3"/>
            <a:endCxn id="125" idx="1"/>
          </p:cNvCxnSpPr>
          <p:nvPr/>
        </p:nvCxnSpPr>
        <p:spPr>
          <a:xfrm flipH="1" rot="10800000">
            <a:off x="1805625" y="2968550"/>
            <a:ext cx="1248600" cy="53100"/>
          </a:xfrm>
          <a:prstGeom prst="straightConnector1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22"/>
          <p:cNvCxnSpPr>
            <a:stCxn id="121" idx="3"/>
            <a:endCxn id="126" idx="1"/>
          </p:cNvCxnSpPr>
          <p:nvPr/>
        </p:nvCxnSpPr>
        <p:spPr>
          <a:xfrm>
            <a:off x="1805625" y="3021650"/>
            <a:ext cx="1248600" cy="937500"/>
          </a:xfrm>
          <a:prstGeom prst="straightConnector1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Species sorting perspective</a:t>
            </a:r>
            <a:endParaRPr/>
          </a:p>
        </p:txBody>
      </p:sp>
      <p:sp>
        <p:nvSpPr>
          <p:cNvPr id="175" name="Google Shape;17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Species</a:t>
            </a:r>
            <a:r>
              <a:rPr lang="en"/>
              <a:t> performance varies with environment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Dispersal is high enough for </a:t>
            </a:r>
            <a:r>
              <a:rPr lang="en"/>
              <a:t>species</a:t>
            </a:r>
            <a:r>
              <a:rPr lang="en"/>
              <a:t> to reach all patches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Dispersal low enough that it doesn’t override performance differences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Sorting perspective</a:t>
            </a:r>
            <a:endParaRPr/>
          </a:p>
        </p:txBody>
      </p:sp>
      <p:sp>
        <p:nvSpPr>
          <p:cNvPr id="181" name="Google Shape;181;p24"/>
          <p:cNvSpPr/>
          <p:nvPr/>
        </p:nvSpPr>
        <p:spPr>
          <a:xfrm>
            <a:off x="2664225" y="1017725"/>
            <a:ext cx="645600" cy="635100"/>
          </a:xfrm>
          <a:prstGeom prst="rect">
            <a:avLst/>
          </a:prstGeom>
          <a:noFill/>
          <a:ln cap="flat" cmpd="sng" w="381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4"/>
          <p:cNvSpPr/>
          <p:nvPr/>
        </p:nvSpPr>
        <p:spPr>
          <a:xfrm>
            <a:off x="1500875" y="2254200"/>
            <a:ext cx="645600" cy="63510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4"/>
          <p:cNvSpPr/>
          <p:nvPr/>
        </p:nvSpPr>
        <p:spPr>
          <a:xfrm>
            <a:off x="2720325" y="2254200"/>
            <a:ext cx="645600" cy="635100"/>
          </a:xfrm>
          <a:prstGeom prst="rect">
            <a:avLst/>
          </a:prstGeom>
          <a:noFill/>
          <a:ln cap="flat" cmpd="sng" w="381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4"/>
          <p:cNvSpPr/>
          <p:nvPr/>
        </p:nvSpPr>
        <p:spPr>
          <a:xfrm>
            <a:off x="3926400" y="1188275"/>
            <a:ext cx="645600" cy="635100"/>
          </a:xfrm>
          <a:prstGeom prst="rect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4"/>
          <p:cNvSpPr/>
          <p:nvPr/>
        </p:nvSpPr>
        <p:spPr>
          <a:xfrm>
            <a:off x="3939775" y="2160925"/>
            <a:ext cx="645600" cy="635100"/>
          </a:xfrm>
          <a:prstGeom prst="rect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4"/>
          <p:cNvSpPr/>
          <p:nvPr/>
        </p:nvSpPr>
        <p:spPr>
          <a:xfrm>
            <a:off x="3926400" y="3133575"/>
            <a:ext cx="645600" cy="6351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4"/>
          <p:cNvSpPr/>
          <p:nvPr/>
        </p:nvSpPr>
        <p:spPr>
          <a:xfrm>
            <a:off x="2720325" y="3204025"/>
            <a:ext cx="645600" cy="635100"/>
          </a:xfrm>
          <a:prstGeom prst="rect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4"/>
          <p:cNvSpPr/>
          <p:nvPr/>
        </p:nvSpPr>
        <p:spPr>
          <a:xfrm>
            <a:off x="1672775" y="3133575"/>
            <a:ext cx="645600" cy="635100"/>
          </a:xfrm>
          <a:prstGeom prst="rect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4"/>
          <p:cNvSpPr/>
          <p:nvPr/>
        </p:nvSpPr>
        <p:spPr>
          <a:xfrm>
            <a:off x="1597425" y="1188275"/>
            <a:ext cx="645600" cy="63510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</p:txBody>
      </p:sp>
      <p:cxnSp>
        <p:nvCxnSpPr>
          <p:cNvPr id="190" name="Google Shape;190;p24"/>
          <p:cNvCxnSpPr>
            <a:stCxn id="183" idx="0"/>
            <a:endCxn id="181" idx="2"/>
          </p:cNvCxnSpPr>
          <p:nvPr/>
        </p:nvCxnSpPr>
        <p:spPr>
          <a:xfrm rot="10800000">
            <a:off x="2987025" y="1652700"/>
            <a:ext cx="56100" cy="6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1" name="Google Shape;191;p24"/>
          <p:cNvCxnSpPr>
            <a:stCxn id="183" idx="1"/>
            <a:endCxn id="182" idx="3"/>
          </p:cNvCxnSpPr>
          <p:nvPr/>
        </p:nvCxnSpPr>
        <p:spPr>
          <a:xfrm rot="10800000">
            <a:off x="2146425" y="2571750"/>
            <a:ext cx="57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2" name="Google Shape;192;p24"/>
          <p:cNvCxnSpPr>
            <a:endCxn id="185" idx="1"/>
          </p:cNvCxnSpPr>
          <p:nvPr/>
        </p:nvCxnSpPr>
        <p:spPr>
          <a:xfrm flipH="1" rot="10800000">
            <a:off x="3365875" y="2478475"/>
            <a:ext cx="573900" cy="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3" name="Google Shape;193;p24"/>
          <p:cNvCxnSpPr>
            <a:stCxn id="183" idx="0"/>
            <a:endCxn id="184" idx="1"/>
          </p:cNvCxnSpPr>
          <p:nvPr/>
        </p:nvCxnSpPr>
        <p:spPr>
          <a:xfrm flipH="1" rot="10800000">
            <a:off x="3043125" y="1505700"/>
            <a:ext cx="883200" cy="74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4" name="Google Shape;194;p24"/>
          <p:cNvCxnSpPr>
            <a:stCxn id="183" idx="0"/>
            <a:endCxn id="189" idx="3"/>
          </p:cNvCxnSpPr>
          <p:nvPr/>
        </p:nvCxnSpPr>
        <p:spPr>
          <a:xfrm rot="10800000">
            <a:off x="2243025" y="1505700"/>
            <a:ext cx="800100" cy="74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5" name="Google Shape;195;p24"/>
          <p:cNvCxnSpPr>
            <a:stCxn id="183" idx="2"/>
            <a:endCxn id="188" idx="0"/>
          </p:cNvCxnSpPr>
          <p:nvPr/>
        </p:nvCxnSpPr>
        <p:spPr>
          <a:xfrm flipH="1">
            <a:off x="1995525" y="2889300"/>
            <a:ext cx="1047600" cy="24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6" name="Google Shape;196;p24"/>
          <p:cNvCxnSpPr>
            <a:stCxn id="183" idx="2"/>
            <a:endCxn id="187" idx="0"/>
          </p:cNvCxnSpPr>
          <p:nvPr/>
        </p:nvCxnSpPr>
        <p:spPr>
          <a:xfrm>
            <a:off x="3043125" y="2889300"/>
            <a:ext cx="0" cy="3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7" name="Google Shape;197;p24"/>
          <p:cNvCxnSpPr>
            <a:stCxn id="183" idx="2"/>
            <a:endCxn id="186" idx="0"/>
          </p:cNvCxnSpPr>
          <p:nvPr/>
        </p:nvCxnSpPr>
        <p:spPr>
          <a:xfrm>
            <a:off x="3043125" y="2889300"/>
            <a:ext cx="1206000" cy="24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8" name="Google Shape;198;p24"/>
          <p:cNvCxnSpPr>
            <a:stCxn id="186" idx="0"/>
            <a:endCxn id="185" idx="2"/>
          </p:cNvCxnSpPr>
          <p:nvPr/>
        </p:nvCxnSpPr>
        <p:spPr>
          <a:xfrm flipH="1" rot="10800000">
            <a:off x="4249200" y="2796075"/>
            <a:ext cx="13500" cy="33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9" name="Google Shape;199;p24"/>
          <p:cNvCxnSpPr>
            <a:stCxn id="185" idx="0"/>
            <a:endCxn id="184" idx="2"/>
          </p:cNvCxnSpPr>
          <p:nvPr/>
        </p:nvCxnSpPr>
        <p:spPr>
          <a:xfrm rot="10800000">
            <a:off x="4249075" y="1823425"/>
            <a:ext cx="13500" cy="33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0" name="Google Shape;200;p24"/>
          <p:cNvCxnSpPr>
            <a:endCxn id="184" idx="1"/>
          </p:cNvCxnSpPr>
          <p:nvPr/>
        </p:nvCxnSpPr>
        <p:spPr>
          <a:xfrm>
            <a:off x="3309900" y="1335125"/>
            <a:ext cx="616500" cy="17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1" name="Google Shape;201;p24"/>
          <p:cNvCxnSpPr>
            <a:stCxn id="181" idx="1"/>
            <a:endCxn id="189" idx="3"/>
          </p:cNvCxnSpPr>
          <p:nvPr/>
        </p:nvCxnSpPr>
        <p:spPr>
          <a:xfrm flipH="1">
            <a:off x="2243025" y="1335275"/>
            <a:ext cx="421200" cy="17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2" name="Google Shape;202;p24"/>
          <p:cNvCxnSpPr>
            <a:stCxn id="189" idx="2"/>
            <a:endCxn id="182" idx="0"/>
          </p:cNvCxnSpPr>
          <p:nvPr/>
        </p:nvCxnSpPr>
        <p:spPr>
          <a:xfrm flipH="1">
            <a:off x="1823625" y="1823375"/>
            <a:ext cx="96600" cy="43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3" name="Google Shape;203;p24"/>
          <p:cNvCxnSpPr>
            <a:stCxn id="182" idx="2"/>
            <a:endCxn id="188" idx="0"/>
          </p:cNvCxnSpPr>
          <p:nvPr/>
        </p:nvCxnSpPr>
        <p:spPr>
          <a:xfrm>
            <a:off x="1823675" y="2889300"/>
            <a:ext cx="171900" cy="24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4" name="Google Shape;204;p24"/>
          <p:cNvCxnSpPr>
            <a:stCxn id="188" idx="3"/>
            <a:endCxn id="187" idx="1"/>
          </p:cNvCxnSpPr>
          <p:nvPr/>
        </p:nvCxnSpPr>
        <p:spPr>
          <a:xfrm>
            <a:off x="2318375" y="3451125"/>
            <a:ext cx="4020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5" name="Google Shape;205;p24"/>
          <p:cNvCxnSpPr>
            <a:stCxn id="187" idx="3"/>
            <a:endCxn id="186" idx="1"/>
          </p:cNvCxnSpPr>
          <p:nvPr/>
        </p:nvCxnSpPr>
        <p:spPr>
          <a:xfrm flipH="1" rot="10800000">
            <a:off x="3365925" y="3451075"/>
            <a:ext cx="5604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6" name="Google Shape;206;p24"/>
          <p:cNvSpPr/>
          <p:nvPr/>
        </p:nvSpPr>
        <p:spPr>
          <a:xfrm rot="2534397">
            <a:off x="3989638" y="12670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98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4"/>
          <p:cNvSpPr/>
          <p:nvPr/>
        </p:nvSpPr>
        <p:spPr>
          <a:xfrm rot="2534397">
            <a:off x="4142038" y="23338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98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4"/>
          <p:cNvSpPr/>
          <p:nvPr/>
        </p:nvSpPr>
        <p:spPr>
          <a:xfrm rot="2534397">
            <a:off x="2770438" y="32482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6AA84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4"/>
          <p:cNvSpPr/>
          <p:nvPr/>
        </p:nvSpPr>
        <p:spPr>
          <a:xfrm rot="2534397">
            <a:off x="4065838" y="33244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FF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4"/>
          <p:cNvSpPr/>
          <p:nvPr/>
        </p:nvSpPr>
        <p:spPr>
          <a:xfrm rot="2534397">
            <a:off x="2846638" y="11908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A64D7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4"/>
          <p:cNvSpPr/>
          <p:nvPr/>
        </p:nvSpPr>
        <p:spPr>
          <a:xfrm rot="2534397">
            <a:off x="2846638" y="24100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A64D7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4"/>
          <p:cNvSpPr/>
          <p:nvPr/>
        </p:nvSpPr>
        <p:spPr>
          <a:xfrm rot="2534397">
            <a:off x="1627438" y="24100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0000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4"/>
          <p:cNvSpPr/>
          <p:nvPr/>
        </p:nvSpPr>
        <p:spPr>
          <a:xfrm rot="2534397">
            <a:off x="1703638" y="13432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0000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4"/>
          <p:cNvSpPr/>
          <p:nvPr/>
        </p:nvSpPr>
        <p:spPr>
          <a:xfrm rot="2534397">
            <a:off x="1856038" y="32482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6AA84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5" name="Google Shape;215;p24"/>
          <p:cNvGrpSpPr/>
          <p:nvPr/>
        </p:nvGrpSpPr>
        <p:grpSpPr>
          <a:xfrm>
            <a:off x="5687000" y="701775"/>
            <a:ext cx="3137700" cy="2346675"/>
            <a:chOff x="5687000" y="701775"/>
            <a:chExt cx="3137700" cy="2346675"/>
          </a:xfrm>
        </p:grpSpPr>
        <p:cxnSp>
          <p:nvCxnSpPr>
            <p:cNvPr id="216" name="Google Shape;216;p24"/>
            <p:cNvCxnSpPr/>
            <p:nvPr/>
          </p:nvCxnSpPr>
          <p:spPr>
            <a:xfrm>
              <a:off x="5687000" y="701775"/>
              <a:ext cx="0" cy="23427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" name="Google Shape;217;p24"/>
            <p:cNvCxnSpPr/>
            <p:nvPr/>
          </p:nvCxnSpPr>
          <p:spPr>
            <a:xfrm rot="10800000">
              <a:off x="5687000" y="3044850"/>
              <a:ext cx="3137700" cy="3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8" name="Google Shape;218;p24"/>
          <p:cNvSpPr txBox="1"/>
          <p:nvPr/>
        </p:nvSpPr>
        <p:spPr>
          <a:xfrm>
            <a:off x="6574725" y="3220275"/>
            <a:ext cx="146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Environment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9" name="Google Shape;219;p24"/>
          <p:cNvSpPr txBox="1"/>
          <p:nvPr/>
        </p:nvSpPr>
        <p:spPr>
          <a:xfrm rot="-5400000">
            <a:off x="4856425" y="1555450"/>
            <a:ext cx="9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Fitness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0" name="Google Shape;220;p24"/>
          <p:cNvSpPr/>
          <p:nvPr/>
        </p:nvSpPr>
        <p:spPr>
          <a:xfrm>
            <a:off x="5706150" y="1253318"/>
            <a:ext cx="2846425" cy="910850"/>
          </a:xfrm>
          <a:custGeom>
            <a:rect b="b" l="l" r="r" t="t"/>
            <a:pathLst>
              <a:path extrusionOk="0" h="36434" w="113857">
                <a:moveTo>
                  <a:pt x="0" y="36434"/>
                </a:moveTo>
                <a:cubicBezTo>
                  <a:pt x="3766" y="34514"/>
                  <a:pt x="15506" y="30601"/>
                  <a:pt x="22594" y="24915"/>
                </a:cubicBezTo>
                <a:cubicBezTo>
                  <a:pt x="29682" y="19230"/>
                  <a:pt x="35959" y="5865"/>
                  <a:pt x="42530" y="2321"/>
                </a:cubicBezTo>
                <a:cubicBezTo>
                  <a:pt x="49102" y="-1223"/>
                  <a:pt x="55525" y="-411"/>
                  <a:pt x="62023" y="3650"/>
                </a:cubicBezTo>
                <a:cubicBezTo>
                  <a:pt x="68521" y="7711"/>
                  <a:pt x="72877" y="21666"/>
                  <a:pt x="81516" y="26687"/>
                </a:cubicBezTo>
                <a:cubicBezTo>
                  <a:pt x="90155" y="31708"/>
                  <a:pt x="108467" y="32595"/>
                  <a:pt x="113857" y="33776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221" name="Google Shape;221;p24"/>
          <p:cNvCxnSpPr/>
          <p:nvPr/>
        </p:nvCxnSpPr>
        <p:spPr>
          <a:xfrm>
            <a:off x="5710375" y="1786300"/>
            <a:ext cx="3083100" cy="1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2" name="Google Shape;222;p24"/>
          <p:cNvSpPr txBox="1"/>
          <p:nvPr/>
        </p:nvSpPr>
        <p:spPr>
          <a:xfrm>
            <a:off x="5141275" y="3914100"/>
            <a:ext cx="402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Outside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sorting perspective</a:t>
            </a:r>
            <a:endParaRPr/>
          </a:p>
        </p:txBody>
      </p:sp>
      <p:sp>
        <p:nvSpPr>
          <p:cNvPr id="228" name="Google Shape;22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Repeated dispersal and filtering allows tracking of changes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E.g., shifts due to changing climate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Allows abiotic filters to shift overtime, or even interact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sorting perspective</a:t>
            </a:r>
            <a:endParaRPr/>
          </a:p>
        </p:txBody>
      </p:sp>
      <p:sp>
        <p:nvSpPr>
          <p:cNvPr id="234" name="Google Shape;23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Allows us to partition variation in community membership/abundance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much beta diversity is due to environment?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much is due to dispersal?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sorting perspective</a:t>
            </a:r>
            <a:endParaRPr/>
          </a:p>
        </p:txBody>
      </p:sp>
      <p:sp>
        <p:nvSpPr>
          <p:cNvPr id="240" name="Google Shape;24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Diatoms in Finland</a:t>
            </a:r>
            <a:endParaRPr/>
          </a:p>
        </p:txBody>
      </p:sp>
      <p:pic>
        <p:nvPicPr>
          <p:cNvPr id="241" name="Google Shape;241;p27"/>
          <p:cNvPicPr preferRelativeResize="0"/>
          <p:nvPr/>
        </p:nvPicPr>
        <p:blipFill rotWithShape="1">
          <a:blip r:embed="rId3">
            <a:alphaModFix/>
          </a:blip>
          <a:srcRect b="0" l="0" r="0" t="60285"/>
          <a:stretch/>
        </p:blipFill>
        <p:spPr>
          <a:xfrm>
            <a:off x="0" y="1711725"/>
            <a:ext cx="4899450" cy="3072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7"/>
          <p:cNvPicPr preferRelativeResize="0"/>
          <p:nvPr/>
        </p:nvPicPr>
        <p:blipFill rotWithShape="1">
          <a:blip r:embed="rId4">
            <a:alphaModFix/>
          </a:blip>
          <a:srcRect b="38305" l="22197" r="22308" t="23320"/>
          <a:stretch/>
        </p:blipFill>
        <p:spPr>
          <a:xfrm>
            <a:off x="5780700" y="0"/>
            <a:ext cx="3363302" cy="13083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3" name="Google Shape;243;p27"/>
          <p:cNvPicPr preferRelativeResize="0"/>
          <p:nvPr/>
        </p:nvPicPr>
        <p:blipFill rotWithShape="1">
          <a:blip r:embed="rId5">
            <a:alphaModFix/>
          </a:blip>
          <a:srcRect b="32405" l="14338" r="39317" t="25532"/>
          <a:stretch/>
        </p:blipFill>
        <p:spPr>
          <a:xfrm>
            <a:off x="4899450" y="1790463"/>
            <a:ext cx="4192301" cy="2140436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7"/>
          <p:cNvSpPr txBox="1"/>
          <p:nvPr/>
        </p:nvSpPr>
        <p:spPr>
          <a:xfrm>
            <a:off x="5158150" y="4107175"/>
            <a:ext cx="393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488 species of diatom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sorting perspective</a:t>
            </a:r>
            <a:endParaRPr/>
          </a:p>
        </p:txBody>
      </p:sp>
      <p:pic>
        <p:nvPicPr>
          <p:cNvPr id="250" name="Google Shape;250;p28"/>
          <p:cNvPicPr preferRelativeResize="0"/>
          <p:nvPr/>
        </p:nvPicPr>
        <p:blipFill rotWithShape="1">
          <a:blip r:embed="rId3">
            <a:alphaModFix/>
          </a:blip>
          <a:srcRect b="38305" l="22197" r="22308" t="23320"/>
          <a:stretch/>
        </p:blipFill>
        <p:spPr>
          <a:xfrm>
            <a:off x="5780700" y="0"/>
            <a:ext cx="3363302" cy="13083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1" name="Google Shape;25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100" y="1117099"/>
            <a:ext cx="5193700" cy="370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sorting perspective</a:t>
            </a:r>
            <a:endParaRPr/>
          </a:p>
        </p:txBody>
      </p:sp>
      <p:sp>
        <p:nvSpPr>
          <p:cNvPr id="257" name="Google Shape;25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Meta-analysis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Only 26% of variation attributable to environment</a:t>
            </a:r>
            <a:endParaRPr/>
          </a:p>
        </p:txBody>
      </p:sp>
      <p:pic>
        <p:nvPicPr>
          <p:cNvPr id="258" name="Google Shape;258;p29"/>
          <p:cNvPicPr preferRelativeResize="0"/>
          <p:nvPr/>
        </p:nvPicPr>
        <p:blipFill rotWithShape="1">
          <a:blip r:embed="rId3">
            <a:alphaModFix/>
          </a:blip>
          <a:srcRect b="37686" l="0" r="0" t="0"/>
          <a:stretch/>
        </p:blipFill>
        <p:spPr>
          <a:xfrm>
            <a:off x="418225" y="2223900"/>
            <a:ext cx="6033577" cy="273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9"/>
          <p:cNvPicPr preferRelativeResize="0"/>
          <p:nvPr/>
        </p:nvPicPr>
        <p:blipFill rotWithShape="1">
          <a:blip r:embed="rId4">
            <a:alphaModFix/>
          </a:blip>
          <a:srcRect b="53947" l="24367" r="28379" t="21197"/>
          <a:stretch/>
        </p:blipFill>
        <p:spPr>
          <a:xfrm>
            <a:off x="4823050" y="0"/>
            <a:ext cx="4320950" cy="12784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0" name="Google Shape;260;p29"/>
          <p:cNvSpPr/>
          <p:nvPr/>
        </p:nvSpPr>
        <p:spPr>
          <a:xfrm>
            <a:off x="626325" y="4565825"/>
            <a:ext cx="6312900" cy="57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sorting perspective</a:t>
            </a:r>
            <a:endParaRPr/>
          </a:p>
        </p:txBody>
      </p:sp>
      <p:sp>
        <p:nvSpPr>
          <p:cNvPr id="266" name="Google Shape;26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relative importance of environment is still an open question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More mechanistic, trait-based perspective may help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sp>
        <p:nvSpPr>
          <p:cNvPr id="267" name="Google Shape;267;p30"/>
          <p:cNvSpPr/>
          <p:nvPr/>
        </p:nvSpPr>
        <p:spPr>
          <a:xfrm>
            <a:off x="626325" y="4565825"/>
            <a:ext cx="6312900" cy="57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Metacommunities</a:t>
            </a:r>
            <a:endParaRPr/>
          </a:p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Main perspectives: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Patch dynamics - extension of metapopulation stuff to more species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Species sorting - community assembly-ish, species differ in abiotic niches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Mass effects - species sorting-ish, w/ source-sink and rescue effects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Neutral theory - assumes species are identical, environment irrelevant</a:t>
            </a:r>
            <a:endParaRPr/>
          </a:p>
        </p:txBody>
      </p:sp>
      <p:sp>
        <p:nvSpPr>
          <p:cNvPr id="274" name="Google Shape;274;p31"/>
          <p:cNvSpPr/>
          <p:nvPr/>
        </p:nvSpPr>
        <p:spPr>
          <a:xfrm>
            <a:off x="229925" y="1970625"/>
            <a:ext cx="8186100" cy="426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Metacommunities</a:t>
            </a:r>
            <a:endParaRPr/>
          </a:p>
        </p:txBody>
      </p:sp>
      <p:sp>
        <p:nvSpPr>
          <p:cNvPr id="280" name="Google Shape;28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Main perspectives: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Patch dynamics - extension of metapopulation stuff to more species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Species sorting - community assembly-ish, species differ in abiotic niches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Mass effects - species sorting-ish, w/ source-sink and rescue effects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Neutral theory - assumes species are identical, environment irrelevant</a:t>
            </a:r>
            <a:endParaRPr/>
          </a:p>
        </p:txBody>
      </p:sp>
      <p:sp>
        <p:nvSpPr>
          <p:cNvPr id="281" name="Google Shape;281;p32"/>
          <p:cNvSpPr/>
          <p:nvPr/>
        </p:nvSpPr>
        <p:spPr>
          <a:xfrm>
            <a:off x="229925" y="2275425"/>
            <a:ext cx="8186100" cy="426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Mass-effects</a:t>
            </a:r>
            <a:endParaRPr/>
          </a:p>
        </p:txBody>
      </p:sp>
      <p:sp>
        <p:nvSpPr>
          <p:cNvPr id="287" name="Google Shape;28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Similar to species sorting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Species have different niches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Assumes patches will differ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Species do well/poorly in different patches based on niches and environment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High-quality patches can serve as “sources”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Low-quality patches can serve as “sinks”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Sorting perspective</a:t>
            </a:r>
            <a:endParaRPr/>
          </a:p>
        </p:txBody>
      </p:sp>
      <p:sp>
        <p:nvSpPr>
          <p:cNvPr id="293" name="Google Shape;293;p34"/>
          <p:cNvSpPr/>
          <p:nvPr/>
        </p:nvSpPr>
        <p:spPr>
          <a:xfrm>
            <a:off x="2664225" y="1017725"/>
            <a:ext cx="645600" cy="635100"/>
          </a:xfrm>
          <a:prstGeom prst="rect">
            <a:avLst/>
          </a:prstGeom>
          <a:noFill/>
          <a:ln cap="flat" cmpd="sng" w="381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4"/>
          <p:cNvSpPr/>
          <p:nvPr/>
        </p:nvSpPr>
        <p:spPr>
          <a:xfrm>
            <a:off x="1500875" y="2254200"/>
            <a:ext cx="645600" cy="63510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4"/>
          <p:cNvSpPr/>
          <p:nvPr/>
        </p:nvSpPr>
        <p:spPr>
          <a:xfrm>
            <a:off x="2720325" y="2254200"/>
            <a:ext cx="645600" cy="635100"/>
          </a:xfrm>
          <a:prstGeom prst="rect">
            <a:avLst/>
          </a:prstGeom>
          <a:noFill/>
          <a:ln cap="flat" cmpd="sng" w="381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4"/>
          <p:cNvSpPr/>
          <p:nvPr/>
        </p:nvSpPr>
        <p:spPr>
          <a:xfrm>
            <a:off x="3926400" y="1188275"/>
            <a:ext cx="645600" cy="635100"/>
          </a:xfrm>
          <a:prstGeom prst="rect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4"/>
          <p:cNvSpPr/>
          <p:nvPr/>
        </p:nvSpPr>
        <p:spPr>
          <a:xfrm>
            <a:off x="3939775" y="2160925"/>
            <a:ext cx="645600" cy="635100"/>
          </a:xfrm>
          <a:prstGeom prst="rect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4"/>
          <p:cNvSpPr/>
          <p:nvPr/>
        </p:nvSpPr>
        <p:spPr>
          <a:xfrm>
            <a:off x="3926400" y="3133575"/>
            <a:ext cx="645600" cy="6351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4"/>
          <p:cNvSpPr/>
          <p:nvPr/>
        </p:nvSpPr>
        <p:spPr>
          <a:xfrm>
            <a:off x="2720325" y="3204025"/>
            <a:ext cx="645600" cy="635100"/>
          </a:xfrm>
          <a:prstGeom prst="rect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4"/>
          <p:cNvSpPr/>
          <p:nvPr/>
        </p:nvSpPr>
        <p:spPr>
          <a:xfrm>
            <a:off x="1672775" y="3133575"/>
            <a:ext cx="645600" cy="635100"/>
          </a:xfrm>
          <a:prstGeom prst="rect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4"/>
          <p:cNvSpPr/>
          <p:nvPr/>
        </p:nvSpPr>
        <p:spPr>
          <a:xfrm>
            <a:off x="1597425" y="1188275"/>
            <a:ext cx="645600" cy="63510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</p:txBody>
      </p:sp>
      <p:cxnSp>
        <p:nvCxnSpPr>
          <p:cNvPr id="302" name="Google Shape;302;p34"/>
          <p:cNvCxnSpPr>
            <a:stCxn id="295" idx="0"/>
            <a:endCxn id="293" idx="2"/>
          </p:cNvCxnSpPr>
          <p:nvPr/>
        </p:nvCxnSpPr>
        <p:spPr>
          <a:xfrm rot="10800000">
            <a:off x="2987025" y="1652700"/>
            <a:ext cx="56100" cy="6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3" name="Google Shape;303;p34"/>
          <p:cNvCxnSpPr>
            <a:stCxn id="295" idx="1"/>
            <a:endCxn id="294" idx="3"/>
          </p:cNvCxnSpPr>
          <p:nvPr/>
        </p:nvCxnSpPr>
        <p:spPr>
          <a:xfrm rot="10800000">
            <a:off x="2146425" y="2571750"/>
            <a:ext cx="57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4" name="Google Shape;304;p34"/>
          <p:cNvCxnSpPr>
            <a:endCxn id="297" idx="1"/>
          </p:cNvCxnSpPr>
          <p:nvPr/>
        </p:nvCxnSpPr>
        <p:spPr>
          <a:xfrm flipH="1" rot="10800000">
            <a:off x="3365875" y="2478475"/>
            <a:ext cx="573900" cy="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5" name="Google Shape;305;p34"/>
          <p:cNvCxnSpPr>
            <a:stCxn id="295" idx="0"/>
            <a:endCxn id="296" idx="1"/>
          </p:cNvCxnSpPr>
          <p:nvPr/>
        </p:nvCxnSpPr>
        <p:spPr>
          <a:xfrm flipH="1" rot="10800000">
            <a:off x="3043125" y="1505700"/>
            <a:ext cx="883200" cy="74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6" name="Google Shape;306;p34"/>
          <p:cNvCxnSpPr>
            <a:stCxn id="295" idx="0"/>
            <a:endCxn id="301" idx="3"/>
          </p:cNvCxnSpPr>
          <p:nvPr/>
        </p:nvCxnSpPr>
        <p:spPr>
          <a:xfrm rot="10800000">
            <a:off x="2243025" y="1505700"/>
            <a:ext cx="800100" cy="74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7" name="Google Shape;307;p34"/>
          <p:cNvCxnSpPr>
            <a:stCxn id="295" idx="2"/>
            <a:endCxn id="300" idx="0"/>
          </p:cNvCxnSpPr>
          <p:nvPr/>
        </p:nvCxnSpPr>
        <p:spPr>
          <a:xfrm flipH="1">
            <a:off x="1995525" y="2889300"/>
            <a:ext cx="1047600" cy="24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8" name="Google Shape;308;p34"/>
          <p:cNvCxnSpPr>
            <a:stCxn id="295" idx="2"/>
            <a:endCxn id="299" idx="0"/>
          </p:cNvCxnSpPr>
          <p:nvPr/>
        </p:nvCxnSpPr>
        <p:spPr>
          <a:xfrm>
            <a:off x="3043125" y="2889300"/>
            <a:ext cx="0" cy="3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9" name="Google Shape;309;p34"/>
          <p:cNvCxnSpPr>
            <a:stCxn id="295" idx="2"/>
            <a:endCxn id="298" idx="0"/>
          </p:cNvCxnSpPr>
          <p:nvPr/>
        </p:nvCxnSpPr>
        <p:spPr>
          <a:xfrm>
            <a:off x="3043125" y="2889300"/>
            <a:ext cx="1206000" cy="24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0" name="Google Shape;310;p34"/>
          <p:cNvCxnSpPr>
            <a:stCxn id="298" idx="0"/>
            <a:endCxn id="297" idx="2"/>
          </p:cNvCxnSpPr>
          <p:nvPr/>
        </p:nvCxnSpPr>
        <p:spPr>
          <a:xfrm flipH="1" rot="10800000">
            <a:off x="4249200" y="2796075"/>
            <a:ext cx="13500" cy="33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1" name="Google Shape;311;p34"/>
          <p:cNvCxnSpPr>
            <a:stCxn id="297" idx="0"/>
            <a:endCxn id="296" idx="2"/>
          </p:cNvCxnSpPr>
          <p:nvPr/>
        </p:nvCxnSpPr>
        <p:spPr>
          <a:xfrm rot="10800000">
            <a:off x="4249075" y="1823425"/>
            <a:ext cx="13500" cy="33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2" name="Google Shape;312;p34"/>
          <p:cNvCxnSpPr>
            <a:endCxn id="296" idx="1"/>
          </p:cNvCxnSpPr>
          <p:nvPr/>
        </p:nvCxnSpPr>
        <p:spPr>
          <a:xfrm>
            <a:off x="3309900" y="1335125"/>
            <a:ext cx="616500" cy="17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3" name="Google Shape;313;p34"/>
          <p:cNvCxnSpPr>
            <a:stCxn id="293" idx="1"/>
            <a:endCxn id="301" idx="3"/>
          </p:cNvCxnSpPr>
          <p:nvPr/>
        </p:nvCxnSpPr>
        <p:spPr>
          <a:xfrm flipH="1">
            <a:off x="2243025" y="1335275"/>
            <a:ext cx="421200" cy="17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4" name="Google Shape;314;p34"/>
          <p:cNvCxnSpPr>
            <a:stCxn id="301" idx="2"/>
            <a:endCxn id="294" idx="0"/>
          </p:cNvCxnSpPr>
          <p:nvPr/>
        </p:nvCxnSpPr>
        <p:spPr>
          <a:xfrm flipH="1">
            <a:off x="1823625" y="1823375"/>
            <a:ext cx="96600" cy="43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5" name="Google Shape;315;p34"/>
          <p:cNvCxnSpPr>
            <a:stCxn id="294" idx="2"/>
            <a:endCxn id="300" idx="0"/>
          </p:cNvCxnSpPr>
          <p:nvPr/>
        </p:nvCxnSpPr>
        <p:spPr>
          <a:xfrm>
            <a:off x="1823675" y="2889300"/>
            <a:ext cx="171900" cy="24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6" name="Google Shape;316;p34"/>
          <p:cNvCxnSpPr>
            <a:stCxn id="300" idx="3"/>
            <a:endCxn id="299" idx="1"/>
          </p:cNvCxnSpPr>
          <p:nvPr/>
        </p:nvCxnSpPr>
        <p:spPr>
          <a:xfrm>
            <a:off x="2318375" y="3451125"/>
            <a:ext cx="4020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7" name="Google Shape;317;p34"/>
          <p:cNvCxnSpPr>
            <a:stCxn id="299" idx="3"/>
            <a:endCxn id="298" idx="1"/>
          </p:cNvCxnSpPr>
          <p:nvPr/>
        </p:nvCxnSpPr>
        <p:spPr>
          <a:xfrm flipH="1" rot="10800000">
            <a:off x="3365925" y="3451075"/>
            <a:ext cx="5604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8" name="Google Shape;318;p34"/>
          <p:cNvSpPr/>
          <p:nvPr/>
        </p:nvSpPr>
        <p:spPr>
          <a:xfrm rot="2534397">
            <a:off x="3989638" y="12670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98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4"/>
          <p:cNvSpPr/>
          <p:nvPr/>
        </p:nvSpPr>
        <p:spPr>
          <a:xfrm rot="2534397">
            <a:off x="4142038" y="23338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98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4"/>
          <p:cNvSpPr/>
          <p:nvPr/>
        </p:nvSpPr>
        <p:spPr>
          <a:xfrm rot="2534397">
            <a:off x="2770438" y="32482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6AA84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4"/>
          <p:cNvSpPr/>
          <p:nvPr/>
        </p:nvSpPr>
        <p:spPr>
          <a:xfrm rot="2534397">
            <a:off x="4065838" y="33244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FF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4"/>
          <p:cNvSpPr/>
          <p:nvPr/>
        </p:nvSpPr>
        <p:spPr>
          <a:xfrm rot="2534397">
            <a:off x="2846638" y="11908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A64D7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4"/>
          <p:cNvSpPr/>
          <p:nvPr/>
        </p:nvSpPr>
        <p:spPr>
          <a:xfrm rot="2534397">
            <a:off x="2846638" y="24100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A64D7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4"/>
          <p:cNvSpPr/>
          <p:nvPr/>
        </p:nvSpPr>
        <p:spPr>
          <a:xfrm rot="2534397">
            <a:off x="1627438" y="24100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0000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4"/>
          <p:cNvSpPr/>
          <p:nvPr/>
        </p:nvSpPr>
        <p:spPr>
          <a:xfrm rot="2534397">
            <a:off x="1703638" y="13432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0000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4"/>
          <p:cNvSpPr/>
          <p:nvPr/>
        </p:nvSpPr>
        <p:spPr>
          <a:xfrm rot="2534397">
            <a:off x="1856038" y="32482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6AA84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" name="Google Shape;327;p34"/>
          <p:cNvGrpSpPr/>
          <p:nvPr/>
        </p:nvGrpSpPr>
        <p:grpSpPr>
          <a:xfrm>
            <a:off x="5687000" y="701775"/>
            <a:ext cx="3137700" cy="2346675"/>
            <a:chOff x="5687000" y="701775"/>
            <a:chExt cx="3137700" cy="2346675"/>
          </a:xfrm>
        </p:grpSpPr>
        <p:cxnSp>
          <p:nvCxnSpPr>
            <p:cNvPr id="328" name="Google Shape;328;p34"/>
            <p:cNvCxnSpPr/>
            <p:nvPr/>
          </p:nvCxnSpPr>
          <p:spPr>
            <a:xfrm>
              <a:off x="5687000" y="701775"/>
              <a:ext cx="0" cy="23427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" name="Google Shape;329;p34"/>
            <p:cNvCxnSpPr/>
            <p:nvPr/>
          </p:nvCxnSpPr>
          <p:spPr>
            <a:xfrm rot="10800000">
              <a:off x="5687000" y="3044850"/>
              <a:ext cx="3137700" cy="3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0" name="Google Shape;330;p34"/>
          <p:cNvSpPr txBox="1"/>
          <p:nvPr/>
        </p:nvSpPr>
        <p:spPr>
          <a:xfrm>
            <a:off x="6574725" y="3220275"/>
            <a:ext cx="146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Environment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1" name="Google Shape;331;p34"/>
          <p:cNvSpPr txBox="1"/>
          <p:nvPr/>
        </p:nvSpPr>
        <p:spPr>
          <a:xfrm rot="-5400000">
            <a:off x="4473025" y="1633000"/>
            <a:ext cx="186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Relative Fitness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2" name="Google Shape;332;p34"/>
          <p:cNvSpPr/>
          <p:nvPr/>
        </p:nvSpPr>
        <p:spPr>
          <a:xfrm>
            <a:off x="5706150" y="1253318"/>
            <a:ext cx="2846425" cy="910850"/>
          </a:xfrm>
          <a:custGeom>
            <a:rect b="b" l="l" r="r" t="t"/>
            <a:pathLst>
              <a:path extrusionOk="0" h="36434" w="113857">
                <a:moveTo>
                  <a:pt x="0" y="36434"/>
                </a:moveTo>
                <a:cubicBezTo>
                  <a:pt x="3766" y="34514"/>
                  <a:pt x="15506" y="30601"/>
                  <a:pt x="22594" y="24915"/>
                </a:cubicBezTo>
                <a:cubicBezTo>
                  <a:pt x="29682" y="19230"/>
                  <a:pt x="35959" y="5865"/>
                  <a:pt x="42530" y="2321"/>
                </a:cubicBezTo>
                <a:cubicBezTo>
                  <a:pt x="49102" y="-1223"/>
                  <a:pt x="55525" y="-411"/>
                  <a:pt x="62023" y="3650"/>
                </a:cubicBezTo>
                <a:cubicBezTo>
                  <a:pt x="68521" y="7711"/>
                  <a:pt x="72877" y="21666"/>
                  <a:pt x="81516" y="26687"/>
                </a:cubicBezTo>
                <a:cubicBezTo>
                  <a:pt x="90155" y="31708"/>
                  <a:pt x="108467" y="32595"/>
                  <a:pt x="113857" y="33776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333" name="Google Shape;333;p34"/>
          <p:cNvCxnSpPr/>
          <p:nvPr/>
        </p:nvCxnSpPr>
        <p:spPr>
          <a:xfrm>
            <a:off x="5710375" y="1786300"/>
            <a:ext cx="3083100" cy="1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Mass effect</a:t>
            </a:r>
            <a:endParaRPr/>
          </a:p>
        </p:txBody>
      </p:sp>
      <p:sp>
        <p:nvSpPr>
          <p:cNvPr id="339" name="Google Shape;339;p35"/>
          <p:cNvSpPr/>
          <p:nvPr/>
        </p:nvSpPr>
        <p:spPr>
          <a:xfrm>
            <a:off x="2664225" y="1017725"/>
            <a:ext cx="645600" cy="635100"/>
          </a:xfrm>
          <a:prstGeom prst="rect">
            <a:avLst/>
          </a:prstGeom>
          <a:noFill/>
          <a:ln cap="flat" cmpd="sng" w="381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5"/>
          <p:cNvSpPr/>
          <p:nvPr/>
        </p:nvSpPr>
        <p:spPr>
          <a:xfrm>
            <a:off x="1500875" y="2254200"/>
            <a:ext cx="645600" cy="63510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5"/>
          <p:cNvSpPr/>
          <p:nvPr/>
        </p:nvSpPr>
        <p:spPr>
          <a:xfrm>
            <a:off x="2720325" y="2254200"/>
            <a:ext cx="645600" cy="635100"/>
          </a:xfrm>
          <a:prstGeom prst="rect">
            <a:avLst/>
          </a:prstGeom>
          <a:noFill/>
          <a:ln cap="flat" cmpd="sng" w="381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5"/>
          <p:cNvSpPr/>
          <p:nvPr/>
        </p:nvSpPr>
        <p:spPr>
          <a:xfrm>
            <a:off x="3926400" y="1188275"/>
            <a:ext cx="645600" cy="635100"/>
          </a:xfrm>
          <a:prstGeom prst="rect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5"/>
          <p:cNvSpPr/>
          <p:nvPr/>
        </p:nvSpPr>
        <p:spPr>
          <a:xfrm>
            <a:off x="3939775" y="2160925"/>
            <a:ext cx="645600" cy="635100"/>
          </a:xfrm>
          <a:prstGeom prst="rect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5"/>
          <p:cNvSpPr/>
          <p:nvPr/>
        </p:nvSpPr>
        <p:spPr>
          <a:xfrm>
            <a:off x="3926400" y="3133575"/>
            <a:ext cx="645600" cy="6351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5"/>
          <p:cNvSpPr/>
          <p:nvPr/>
        </p:nvSpPr>
        <p:spPr>
          <a:xfrm>
            <a:off x="2720325" y="3204025"/>
            <a:ext cx="645600" cy="635100"/>
          </a:xfrm>
          <a:prstGeom prst="rect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5"/>
          <p:cNvSpPr/>
          <p:nvPr/>
        </p:nvSpPr>
        <p:spPr>
          <a:xfrm>
            <a:off x="1672775" y="3133575"/>
            <a:ext cx="645600" cy="635100"/>
          </a:xfrm>
          <a:prstGeom prst="rect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5"/>
          <p:cNvSpPr/>
          <p:nvPr/>
        </p:nvSpPr>
        <p:spPr>
          <a:xfrm>
            <a:off x="1597425" y="1188275"/>
            <a:ext cx="645600" cy="63510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</p:txBody>
      </p:sp>
      <p:cxnSp>
        <p:nvCxnSpPr>
          <p:cNvPr id="348" name="Google Shape;348;p35"/>
          <p:cNvCxnSpPr>
            <a:stCxn id="341" idx="0"/>
            <a:endCxn id="339" idx="2"/>
          </p:cNvCxnSpPr>
          <p:nvPr/>
        </p:nvCxnSpPr>
        <p:spPr>
          <a:xfrm rot="10800000">
            <a:off x="2987025" y="1652700"/>
            <a:ext cx="56100" cy="6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9" name="Google Shape;349;p35"/>
          <p:cNvCxnSpPr>
            <a:stCxn id="341" idx="1"/>
            <a:endCxn id="340" idx="3"/>
          </p:cNvCxnSpPr>
          <p:nvPr/>
        </p:nvCxnSpPr>
        <p:spPr>
          <a:xfrm rot="10800000">
            <a:off x="2146425" y="2571750"/>
            <a:ext cx="57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0" name="Google Shape;350;p35"/>
          <p:cNvCxnSpPr>
            <a:endCxn id="343" idx="1"/>
          </p:cNvCxnSpPr>
          <p:nvPr/>
        </p:nvCxnSpPr>
        <p:spPr>
          <a:xfrm flipH="1" rot="10800000">
            <a:off x="3365875" y="2478475"/>
            <a:ext cx="573900" cy="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1" name="Google Shape;351;p35"/>
          <p:cNvCxnSpPr>
            <a:stCxn id="341" idx="0"/>
            <a:endCxn id="342" idx="1"/>
          </p:cNvCxnSpPr>
          <p:nvPr/>
        </p:nvCxnSpPr>
        <p:spPr>
          <a:xfrm flipH="1" rot="10800000">
            <a:off x="3043125" y="1505700"/>
            <a:ext cx="883200" cy="74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2" name="Google Shape;352;p35"/>
          <p:cNvCxnSpPr>
            <a:stCxn id="341" idx="0"/>
            <a:endCxn id="347" idx="3"/>
          </p:cNvCxnSpPr>
          <p:nvPr/>
        </p:nvCxnSpPr>
        <p:spPr>
          <a:xfrm rot="10800000">
            <a:off x="2243025" y="1505700"/>
            <a:ext cx="800100" cy="74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3" name="Google Shape;353;p35"/>
          <p:cNvCxnSpPr>
            <a:stCxn id="341" idx="2"/>
            <a:endCxn id="346" idx="0"/>
          </p:cNvCxnSpPr>
          <p:nvPr/>
        </p:nvCxnSpPr>
        <p:spPr>
          <a:xfrm flipH="1">
            <a:off x="1995525" y="2889300"/>
            <a:ext cx="1047600" cy="24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4" name="Google Shape;354;p35"/>
          <p:cNvCxnSpPr>
            <a:stCxn id="341" idx="2"/>
            <a:endCxn id="345" idx="0"/>
          </p:cNvCxnSpPr>
          <p:nvPr/>
        </p:nvCxnSpPr>
        <p:spPr>
          <a:xfrm>
            <a:off x="3043125" y="2889300"/>
            <a:ext cx="0" cy="3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5" name="Google Shape;355;p35"/>
          <p:cNvCxnSpPr>
            <a:stCxn id="341" idx="2"/>
            <a:endCxn id="344" idx="0"/>
          </p:cNvCxnSpPr>
          <p:nvPr/>
        </p:nvCxnSpPr>
        <p:spPr>
          <a:xfrm>
            <a:off x="3043125" y="2889300"/>
            <a:ext cx="1206000" cy="24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6" name="Google Shape;356;p35"/>
          <p:cNvCxnSpPr>
            <a:stCxn id="344" idx="0"/>
            <a:endCxn id="343" idx="2"/>
          </p:cNvCxnSpPr>
          <p:nvPr/>
        </p:nvCxnSpPr>
        <p:spPr>
          <a:xfrm flipH="1" rot="10800000">
            <a:off x="4249200" y="2796075"/>
            <a:ext cx="13500" cy="33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7" name="Google Shape;357;p35"/>
          <p:cNvCxnSpPr>
            <a:stCxn id="343" idx="0"/>
            <a:endCxn id="342" idx="2"/>
          </p:cNvCxnSpPr>
          <p:nvPr/>
        </p:nvCxnSpPr>
        <p:spPr>
          <a:xfrm rot="10800000">
            <a:off x="4249075" y="1823425"/>
            <a:ext cx="13500" cy="33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8" name="Google Shape;358;p35"/>
          <p:cNvCxnSpPr>
            <a:endCxn id="342" idx="1"/>
          </p:cNvCxnSpPr>
          <p:nvPr/>
        </p:nvCxnSpPr>
        <p:spPr>
          <a:xfrm>
            <a:off x="3309900" y="1335125"/>
            <a:ext cx="616500" cy="17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9" name="Google Shape;359;p35"/>
          <p:cNvCxnSpPr>
            <a:stCxn id="339" idx="1"/>
            <a:endCxn id="347" idx="3"/>
          </p:cNvCxnSpPr>
          <p:nvPr/>
        </p:nvCxnSpPr>
        <p:spPr>
          <a:xfrm flipH="1">
            <a:off x="2243025" y="1335275"/>
            <a:ext cx="421200" cy="17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0" name="Google Shape;360;p35"/>
          <p:cNvCxnSpPr>
            <a:stCxn id="347" idx="2"/>
            <a:endCxn id="340" idx="0"/>
          </p:cNvCxnSpPr>
          <p:nvPr/>
        </p:nvCxnSpPr>
        <p:spPr>
          <a:xfrm flipH="1">
            <a:off x="1823625" y="1823375"/>
            <a:ext cx="96600" cy="43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1" name="Google Shape;361;p35"/>
          <p:cNvCxnSpPr>
            <a:stCxn id="340" idx="2"/>
            <a:endCxn id="346" idx="0"/>
          </p:cNvCxnSpPr>
          <p:nvPr/>
        </p:nvCxnSpPr>
        <p:spPr>
          <a:xfrm>
            <a:off x="1823675" y="2889300"/>
            <a:ext cx="171900" cy="24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2" name="Google Shape;362;p35"/>
          <p:cNvCxnSpPr>
            <a:stCxn id="346" idx="3"/>
            <a:endCxn id="345" idx="1"/>
          </p:cNvCxnSpPr>
          <p:nvPr/>
        </p:nvCxnSpPr>
        <p:spPr>
          <a:xfrm>
            <a:off x="2318375" y="3451125"/>
            <a:ext cx="4020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3" name="Google Shape;363;p35"/>
          <p:cNvCxnSpPr>
            <a:stCxn id="345" idx="3"/>
            <a:endCxn id="344" idx="1"/>
          </p:cNvCxnSpPr>
          <p:nvPr/>
        </p:nvCxnSpPr>
        <p:spPr>
          <a:xfrm flipH="1" rot="10800000">
            <a:off x="3365925" y="3451075"/>
            <a:ext cx="5604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64" name="Google Shape;364;p35"/>
          <p:cNvSpPr/>
          <p:nvPr/>
        </p:nvSpPr>
        <p:spPr>
          <a:xfrm rot="2534397">
            <a:off x="3989638" y="12670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98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5"/>
          <p:cNvSpPr/>
          <p:nvPr/>
        </p:nvSpPr>
        <p:spPr>
          <a:xfrm rot="2534397">
            <a:off x="4142038" y="23338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98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5"/>
          <p:cNvSpPr/>
          <p:nvPr/>
        </p:nvSpPr>
        <p:spPr>
          <a:xfrm rot="2534397">
            <a:off x="2770438" y="32482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6AA84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5"/>
          <p:cNvSpPr/>
          <p:nvPr/>
        </p:nvSpPr>
        <p:spPr>
          <a:xfrm rot="2534397">
            <a:off x="4065838" y="33244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FF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5"/>
          <p:cNvSpPr/>
          <p:nvPr/>
        </p:nvSpPr>
        <p:spPr>
          <a:xfrm rot="2534397">
            <a:off x="2846638" y="11908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A64D7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5"/>
          <p:cNvSpPr/>
          <p:nvPr/>
        </p:nvSpPr>
        <p:spPr>
          <a:xfrm rot="2534397">
            <a:off x="2846638" y="24100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A64D7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5"/>
          <p:cNvSpPr/>
          <p:nvPr/>
        </p:nvSpPr>
        <p:spPr>
          <a:xfrm rot="2534397">
            <a:off x="1627438" y="24100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0000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5"/>
          <p:cNvSpPr/>
          <p:nvPr/>
        </p:nvSpPr>
        <p:spPr>
          <a:xfrm rot="2534397">
            <a:off x="1703638" y="13432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0000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5"/>
          <p:cNvSpPr/>
          <p:nvPr/>
        </p:nvSpPr>
        <p:spPr>
          <a:xfrm rot="2534397">
            <a:off x="1856038" y="32482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6AA84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3" name="Google Shape;373;p35"/>
          <p:cNvGrpSpPr/>
          <p:nvPr/>
        </p:nvGrpSpPr>
        <p:grpSpPr>
          <a:xfrm>
            <a:off x="5687000" y="701775"/>
            <a:ext cx="3137700" cy="2346675"/>
            <a:chOff x="5687000" y="701775"/>
            <a:chExt cx="3137700" cy="2346675"/>
          </a:xfrm>
        </p:grpSpPr>
        <p:cxnSp>
          <p:nvCxnSpPr>
            <p:cNvPr id="374" name="Google Shape;374;p35"/>
            <p:cNvCxnSpPr/>
            <p:nvPr/>
          </p:nvCxnSpPr>
          <p:spPr>
            <a:xfrm>
              <a:off x="5687000" y="701775"/>
              <a:ext cx="0" cy="23427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35"/>
            <p:cNvCxnSpPr/>
            <p:nvPr/>
          </p:nvCxnSpPr>
          <p:spPr>
            <a:xfrm rot="10800000">
              <a:off x="5687000" y="3044850"/>
              <a:ext cx="3137700" cy="3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76" name="Google Shape;376;p35"/>
          <p:cNvSpPr txBox="1"/>
          <p:nvPr/>
        </p:nvSpPr>
        <p:spPr>
          <a:xfrm>
            <a:off x="6574725" y="3220275"/>
            <a:ext cx="146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Environment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77" name="Google Shape;377;p35"/>
          <p:cNvSpPr/>
          <p:nvPr/>
        </p:nvSpPr>
        <p:spPr>
          <a:xfrm>
            <a:off x="5706150" y="1253318"/>
            <a:ext cx="2846425" cy="910850"/>
          </a:xfrm>
          <a:custGeom>
            <a:rect b="b" l="l" r="r" t="t"/>
            <a:pathLst>
              <a:path extrusionOk="0" h="36434" w="113857">
                <a:moveTo>
                  <a:pt x="0" y="36434"/>
                </a:moveTo>
                <a:cubicBezTo>
                  <a:pt x="3766" y="34514"/>
                  <a:pt x="15506" y="30601"/>
                  <a:pt x="22594" y="24915"/>
                </a:cubicBezTo>
                <a:cubicBezTo>
                  <a:pt x="29682" y="19230"/>
                  <a:pt x="35959" y="5865"/>
                  <a:pt x="42530" y="2321"/>
                </a:cubicBezTo>
                <a:cubicBezTo>
                  <a:pt x="49102" y="-1223"/>
                  <a:pt x="55525" y="-411"/>
                  <a:pt x="62023" y="3650"/>
                </a:cubicBezTo>
                <a:cubicBezTo>
                  <a:pt x="68521" y="7711"/>
                  <a:pt x="72877" y="21666"/>
                  <a:pt x="81516" y="26687"/>
                </a:cubicBezTo>
                <a:cubicBezTo>
                  <a:pt x="90155" y="31708"/>
                  <a:pt x="108467" y="32595"/>
                  <a:pt x="113857" y="33776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378" name="Google Shape;378;p35"/>
          <p:cNvCxnSpPr/>
          <p:nvPr/>
        </p:nvCxnSpPr>
        <p:spPr>
          <a:xfrm>
            <a:off x="5710375" y="1786300"/>
            <a:ext cx="3083100" cy="1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35"/>
          <p:cNvCxnSpPr/>
          <p:nvPr/>
        </p:nvCxnSpPr>
        <p:spPr>
          <a:xfrm flipH="1" rot="10800000">
            <a:off x="5894425" y="901650"/>
            <a:ext cx="642300" cy="1041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80" name="Google Shape;380;p35"/>
          <p:cNvCxnSpPr/>
          <p:nvPr/>
        </p:nvCxnSpPr>
        <p:spPr>
          <a:xfrm rot="10800000">
            <a:off x="7422975" y="945900"/>
            <a:ext cx="897000" cy="930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81" name="Google Shape;381;p35"/>
          <p:cNvSpPr txBox="1"/>
          <p:nvPr/>
        </p:nvSpPr>
        <p:spPr>
          <a:xfrm>
            <a:off x="5803875" y="162750"/>
            <a:ext cx="301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Species can survive, but aren’t self-sustaining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82" name="Google Shape;382;p35"/>
          <p:cNvSpPr txBox="1"/>
          <p:nvPr/>
        </p:nvSpPr>
        <p:spPr>
          <a:xfrm rot="-5400000">
            <a:off x="4473025" y="1633000"/>
            <a:ext cx="186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Relative Fitness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Mass effect</a:t>
            </a:r>
            <a:endParaRPr/>
          </a:p>
        </p:txBody>
      </p:sp>
      <p:sp>
        <p:nvSpPr>
          <p:cNvPr id="388" name="Google Shape;388;p36"/>
          <p:cNvSpPr/>
          <p:nvPr/>
        </p:nvSpPr>
        <p:spPr>
          <a:xfrm>
            <a:off x="2664225" y="1017725"/>
            <a:ext cx="645600" cy="635100"/>
          </a:xfrm>
          <a:prstGeom prst="rect">
            <a:avLst/>
          </a:prstGeom>
          <a:noFill/>
          <a:ln cap="flat" cmpd="sng" w="381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6"/>
          <p:cNvSpPr/>
          <p:nvPr/>
        </p:nvSpPr>
        <p:spPr>
          <a:xfrm>
            <a:off x="1500875" y="2254200"/>
            <a:ext cx="645600" cy="63510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6"/>
          <p:cNvSpPr/>
          <p:nvPr/>
        </p:nvSpPr>
        <p:spPr>
          <a:xfrm>
            <a:off x="2720325" y="2254200"/>
            <a:ext cx="645600" cy="635100"/>
          </a:xfrm>
          <a:prstGeom prst="rect">
            <a:avLst/>
          </a:prstGeom>
          <a:noFill/>
          <a:ln cap="flat" cmpd="sng" w="381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6"/>
          <p:cNvSpPr/>
          <p:nvPr/>
        </p:nvSpPr>
        <p:spPr>
          <a:xfrm>
            <a:off x="3926400" y="1188275"/>
            <a:ext cx="645600" cy="635100"/>
          </a:xfrm>
          <a:prstGeom prst="rect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6"/>
          <p:cNvSpPr/>
          <p:nvPr/>
        </p:nvSpPr>
        <p:spPr>
          <a:xfrm>
            <a:off x="3939775" y="2160925"/>
            <a:ext cx="645600" cy="635100"/>
          </a:xfrm>
          <a:prstGeom prst="rect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6"/>
          <p:cNvSpPr/>
          <p:nvPr/>
        </p:nvSpPr>
        <p:spPr>
          <a:xfrm>
            <a:off x="3926400" y="3133575"/>
            <a:ext cx="645600" cy="6351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6"/>
          <p:cNvSpPr/>
          <p:nvPr/>
        </p:nvSpPr>
        <p:spPr>
          <a:xfrm>
            <a:off x="2720325" y="3204025"/>
            <a:ext cx="645600" cy="635100"/>
          </a:xfrm>
          <a:prstGeom prst="rect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6"/>
          <p:cNvSpPr/>
          <p:nvPr/>
        </p:nvSpPr>
        <p:spPr>
          <a:xfrm>
            <a:off x="1672775" y="3133575"/>
            <a:ext cx="645600" cy="635100"/>
          </a:xfrm>
          <a:prstGeom prst="rect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6"/>
          <p:cNvSpPr/>
          <p:nvPr/>
        </p:nvSpPr>
        <p:spPr>
          <a:xfrm>
            <a:off x="1597425" y="1188275"/>
            <a:ext cx="645600" cy="63510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</p:txBody>
      </p:sp>
      <p:cxnSp>
        <p:nvCxnSpPr>
          <p:cNvPr id="397" name="Google Shape;397;p36"/>
          <p:cNvCxnSpPr>
            <a:stCxn id="390" idx="0"/>
            <a:endCxn id="388" idx="2"/>
          </p:cNvCxnSpPr>
          <p:nvPr/>
        </p:nvCxnSpPr>
        <p:spPr>
          <a:xfrm rot="10800000">
            <a:off x="2987025" y="1652700"/>
            <a:ext cx="56100" cy="6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98" name="Google Shape;398;p36"/>
          <p:cNvCxnSpPr>
            <a:stCxn id="390" idx="1"/>
            <a:endCxn id="389" idx="3"/>
          </p:cNvCxnSpPr>
          <p:nvPr/>
        </p:nvCxnSpPr>
        <p:spPr>
          <a:xfrm rot="10800000">
            <a:off x="2146425" y="2571750"/>
            <a:ext cx="57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99" name="Google Shape;399;p36"/>
          <p:cNvCxnSpPr>
            <a:endCxn id="392" idx="1"/>
          </p:cNvCxnSpPr>
          <p:nvPr/>
        </p:nvCxnSpPr>
        <p:spPr>
          <a:xfrm flipH="1" rot="10800000">
            <a:off x="3365875" y="2478475"/>
            <a:ext cx="573900" cy="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00" name="Google Shape;400;p36"/>
          <p:cNvCxnSpPr>
            <a:stCxn id="390" idx="0"/>
            <a:endCxn id="391" idx="1"/>
          </p:cNvCxnSpPr>
          <p:nvPr/>
        </p:nvCxnSpPr>
        <p:spPr>
          <a:xfrm flipH="1" rot="10800000">
            <a:off x="3043125" y="1505700"/>
            <a:ext cx="883200" cy="74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01" name="Google Shape;401;p36"/>
          <p:cNvCxnSpPr>
            <a:stCxn id="390" idx="0"/>
            <a:endCxn id="396" idx="3"/>
          </p:cNvCxnSpPr>
          <p:nvPr/>
        </p:nvCxnSpPr>
        <p:spPr>
          <a:xfrm rot="10800000">
            <a:off x="2243025" y="1505700"/>
            <a:ext cx="800100" cy="74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02" name="Google Shape;402;p36"/>
          <p:cNvCxnSpPr>
            <a:stCxn id="390" idx="2"/>
            <a:endCxn id="395" idx="0"/>
          </p:cNvCxnSpPr>
          <p:nvPr/>
        </p:nvCxnSpPr>
        <p:spPr>
          <a:xfrm flipH="1">
            <a:off x="1995525" y="2889300"/>
            <a:ext cx="1047600" cy="24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03" name="Google Shape;403;p36"/>
          <p:cNvCxnSpPr>
            <a:stCxn id="390" idx="2"/>
            <a:endCxn id="394" idx="0"/>
          </p:cNvCxnSpPr>
          <p:nvPr/>
        </p:nvCxnSpPr>
        <p:spPr>
          <a:xfrm>
            <a:off x="3043125" y="2889300"/>
            <a:ext cx="0" cy="3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04" name="Google Shape;404;p36"/>
          <p:cNvCxnSpPr>
            <a:stCxn id="390" idx="2"/>
            <a:endCxn id="393" idx="0"/>
          </p:cNvCxnSpPr>
          <p:nvPr/>
        </p:nvCxnSpPr>
        <p:spPr>
          <a:xfrm>
            <a:off x="3043125" y="2889300"/>
            <a:ext cx="1206000" cy="24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05" name="Google Shape;405;p36"/>
          <p:cNvCxnSpPr>
            <a:stCxn id="393" idx="0"/>
            <a:endCxn id="392" idx="2"/>
          </p:cNvCxnSpPr>
          <p:nvPr/>
        </p:nvCxnSpPr>
        <p:spPr>
          <a:xfrm flipH="1" rot="10800000">
            <a:off x="4249200" y="2796075"/>
            <a:ext cx="13500" cy="33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06" name="Google Shape;406;p36"/>
          <p:cNvCxnSpPr>
            <a:stCxn id="392" idx="0"/>
            <a:endCxn id="391" idx="2"/>
          </p:cNvCxnSpPr>
          <p:nvPr/>
        </p:nvCxnSpPr>
        <p:spPr>
          <a:xfrm rot="10800000">
            <a:off x="4249075" y="1823425"/>
            <a:ext cx="13500" cy="33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07" name="Google Shape;407;p36"/>
          <p:cNvCxnSpPr>
            <a:endCxn id="391" idx="1"/>
          </p:cNvCxnSpPr>
          <p:nvPr/>
        </p:nvCxnSpPr>
        <p:spPr>
          <a:xfrm>
            <a:off x="3309900" y="1335125"/>
            <a:ext cx="616500" cy="17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08" name="Google Shape;408;p36"/>
          <p:cNvCxnSpPr>
            <a:stCxn id="388" idx="1"/>
            <a:endCxn id="396" idx="3"/>
          </p:cNvCxnSpPr>
          <p:nvPr/>
        </p:nvCxnSpPr>
        <p:spPr>
          <a:xfrm flipH="1">
            <a:off x="2243025" y="1335275"/>
            <a:ext cx="421200" cy="17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09" name="Google Shape;409;p36"/>
          <p:cNvCxnSpPr>
            <a:stCxn id="396" idx="2"/>
            <a:endCxn id="389" idx="0"/>
          </p:cNvCxnSpPr>
          <p:nvPr/>
        </p:nvCxnSpPr>
        <p:spPr>
          <a:xfrm flipH="1">
            <a:off x="1823625" y="1823375"/>
            <a:ext cx="96600" cy="43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10" name="Google Shape;410;p36"/>
          <p:cNvCxnSpPr>
            <a:stCxn id="389" idx="2"/>
            <a:endCxn id="395" idx="0"/>
          </p:cNvCxnSpPr>
          <p:nvPr/>
        </p:nvCxnSpPr>
        <p:spPr>
          <a:xfrm>
            <a:off x="1823675" y="2889300"/>
            <a:ext cx="171900" cy="24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11" name="Google Shape;411;p36"/>
          <p:cNvCxnSpPr>
            <a:stCxn id="395" idx="3"/>
            <a:endCxn id="394" idx="1"/>
          </p:cNvCxnSpPr>
          <p:nvPr/>
        </p:nvCxnSpPr>
        <p:spPr>
          <a:xfrm>
            <a:off x="2318375" y="3451125"/>
            <a:ext cx="4020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12" name="Google Shape;412;p36"/>
          <p:cNvCxnSpPr>
            <a:stCxn id="394" idx="3"/>
            <a:endCxn id="393" idx="1"/>
          </p:cNvCxnSpPr>
          <p:nvPr/>
        </p:nvCxnSpPr>
        <p:spPr>
          <a:xfrm flipH="1" rot="10800000">
            <a:off x="3365925" y="3451075"/>
            <a:ext cx="5604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13" name="Google Shape;413;p36"/>
          <p:cNvSpPr/>
          <p:nvPr/>
        </p:nvSpPr>
        <p:spPr>
          <a:xfrm rot="2534397">
            <a:off x="3989638" y="12670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98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6"/>
          <p:cNvSpPr/>
          <p:nvPr/>
        </p:nvSpPr>
        <p:spPr>
          <a:xfrm rot="2534397">
            <a:off x="4142038" y="23338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98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6"/>
          <p:cNvSpPr/>
          <p:nvPr/>
        </p:nvSpPr>
        <p:spPr>
          <a:xfrm rot="2534397">
            <a:off x="2770438" y="32482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6AA84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6"/>
          <p:cNvSpPr/>
          <p:nvPr/>
        </p:nvSpPr>
        <p:spPr>
          <a:xfrm rot="2534397">
            <a:off x="4065838" y="33244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FF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6"/>
          <p:cNvSpPr/>
          <p:nvPr/>
        </p:nvSpPr>
        <p:spPr>
          <a:xfrm rot="2534397">
            <a:off x="2846638" y="11908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A64D7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6"/>
          <p:cNvSpPr/>
          <p:nvPr/>
        </p:nvSpPr>
        <p:spPr>
          <a:xfrm rot="2534397">
            <a:off x="2846638" y="24100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A64D7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6"/>
          <p:cNvSpPr/>
          <p:nvPr/>
        </p:nvSpPr>
        <p:spPr>
          <a:xfrm rot="2534397">
            <a:off x="1627438" y="24100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0000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6"/>
          <p:cNvSpPr/>
          <p:nvPr/>
        </p:nvSpPr>
        <p:spPr>
          <a:xfrm rot="2534397">
            <a:off x="1703638" y="13432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0000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/>
          <p:nvPr/>
        </p:nvSpPr>
        <p:spPr>
          <a:xfrm rot="2534397">
            <a:off x="1856038" y="3248225"/>
            <a:ext cx="308373" cy="30710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6AA84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2" name="Google Shape;422;p36"/>
          <p:cNvGrpSpPr/>
          <p:nvPr/>
        </p:nvGrpSpPr>
        <p:grpSpPr>
          <a:xfrm>
            <a:off x="5687000" y="701775"/>
            <a:ext cx="3137700" cy="2346675"/>
            <a:chOff x="5687000" y="701775"/>
            <a:chExt cx="3137700" cy="2346675"/>
          </a:xfrm>
        </p:grpSpPr>
        <p:cxnSp>
          <p:nvCxnSpPr>
            <p:cNvPr id="423" name="Google Shape;423;p36"/>
            <p:cNvCxnSpPr/>
            <p:nvPr/>
          </p:nvCxnSpPr>
          <p:spPr>
            <a:xfrm>
              <a:off x="5687000" y="701775"/>
              <a:ext cx="0" cy="23427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4" name="Google Shape;424;p36"/>
            <p:cNvCxnSpPr/>
            <p:nvPr/>
          </p:nvCxnSpPr>
          <p:spPr>
            <a:xfrm rot="10800000">
              <a:off x="5687000" y="3044850"/>
              <a:ext cx="3137700" cy="3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25" name="Google Shape;425;p36"/>
          <p:cNvSpPr txBox="1"/>
          <p:nvPr/>
        </p:nvSpPr>
        <p:spPr>
          <a:xfrm>
            <a:off x="6574725" y="3220275"/>
            <a:ext cx="146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Environment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26" name="Google Shape;426;p36"/>
          <p:cNvSpPr/>
          <p:nvPr/>
        </p:nvSpPr>
        <p:spPr>
          <a:xfrm>
            <a:off x="5706150" y="1253318"/>
            <a:ext cx="2846425" cy="910850"/>
          </a:xfrm>
          <a:custGeom>
            <a:rect b="b" l="l" r="r" t="t"/>
            <a:pathLst>
              <a:path extrusionOk="0" h="36434" w="113857">
                <a:moveTo>
                  <a:pt x="0" y="36434"/>
                </a:moveTo>
                <a:cubicBezTo>
                  <a:pt x="3766" y="34514"/>
                  <a:pt x="15506" y="30601"/>
                  <a:pt x="22594" y="24915"/>
                </a:cubicBezTo>
                <a:cubicBezTo>
                  <a:pt x="29682" y="19230"/>
                  <a:pt x="35959" y="5865"/>
                  <a:pt x="42530" y="2321"/>
                </a:cubicBezTo>
                <a:cubicBezTo>
                  <a:pt x="49102" y="-1223"/>
                  <a:pt x="55525" y="-411"/>
                  <a:pt x="62023" y="3650"/>
                </a:cubicBezTo>
                <a:cubicBezTo>
                  <a:pt x="68521" y="7711"/>
                  <a:pt x="72877" y="21666"/>
                  <a:pt x="81516" y="26687"/>
                </a:cubicBezTo>
                <a:cubicBezTo>
                  <a:pt x="90155" y="31708"/>
                  <a:pt x="108467" y="32595"/>
                  <a:pt x="113857" y="33776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427" name="Google Shape;427;p36"/>
          <p:cNvCxnSpPr/>
          <p:nvPr/>
        </p:nvCxnSpPr>
        <p:spPr>
          <a:xfrm>
            <a:off x="5710375" y="1786300"/>
            <a:ext cx="3083100" cy="1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36"/>
          <p:cNvCxnSpPr/>
          <p:nvPr/>
        </p:nvCxnSpPr>
        <p:spPr>
          <a:xfrm flipH="1" rot="10800000">
            <a:off x="5894425" y="901650"/>
            <a:ext cx="642300" cy="1041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29" name="Google Shape;429;p36"/>
          <p:cNvCxnSpPr/>
          <p:nvPr/>
        </p:nvCxnSpPr>
        <p:spPr>
          <a:xfrm rot="10800000">
            <a:off x="7422975" y="945900"/>
            <a:ext cx="897000" cy="930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30" name="Google Shape;430;p36"/>
          <p:cNvSpPr txBox="1"/>
          <p:nvPr/>
        </p:nvSpPr>
        <p:spPr>
          <a:xfrm>
            <a:off x="5803875" y="162750"/>
            <a:ext cx="301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Species can survive, but aren’t self-sustaining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31" name="Google Shape;431;p36"/>
          <p:cNvSpPr/>
          <p:nvPr/>
        </p:nvSpPr>
        <p:spPr>
          <a:xfrm rot="2531853">
            <a:off x="3167973" y="1051303"/>
            <a:ext cx="151856" cy="177545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98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6"/>
          <p:cNvSpPr/>
          <p:nvPr/>
        </p:nvSpPr>
        <p:spPr>
          <a:xfrm rot="2530841">
            <a:off x="3235285" y="2289996"/>
            <a:ext cx="211327" cy="181158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98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6"/>
          <p:cNvSpPr/>
          <p:nvPr/>
        </p:nvSpPr>
        <p:spPr>
          <a:xfrm rot="2534961">
            <a:off x="4453412" y="3195877"/>
            <a:ext cx="190077" cy="192196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98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6"/>
          <p:cNvSpPr/>
          <p:nvPr/>
        </p:nvSpPr>
        <p:spPr>
          <a:xfrm rot="2535963">
            <a:off x="2727245" y="2661186"/>
            <a:ext cx="151210" cy="138678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0000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6"/>
          <p:cNvSpPr/>
          <p:nvPr/>
        </p:nvSpPr>
        <p:spPr>
          <a:xfrm rot="2535963">
            <a:off x="2850570" y="3676236"/>
            <a:ext cx="151210" cy="138678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0000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6"/>
          <p:cNvSpPr/>
          <p:nvPr/>
        </p:nvSpPr>
        <p:spPr>
          <a:xfrm rot="2535963">
            <a:off x="1707570" y="3600036"/>
            <a:ext cx="151210" cy="138678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0000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6"/>
          <p:cNvSpPr/>
          <p:nvPr/>
        </p:nvSpPr>
        <p:spPr>
          <a:xfrm rot="2531926">
            <a:off x="3163548" y="3611659"/>
            <a:ext cx="138900" cy="129981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FF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6"/>
          <p:cNvSpPr/>
          <p:nvPr/>
        </p:nvSpPr>
        <p:spPr>
          <a:xfrm rot="2533329">
            <a:off x="1996344" y="1206404"/>
            <a:ext cx="179462" cy="16374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6AA84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6"/>
          <p:cNvSpPr/>
          <p:nvPr/>
        </p:nvSpPr>
        <p:spPr>
          <a:xfrm rot="2533329">
            <a:off x="1920144" y="2349404"/>
            <a:ext cx="179462" cy="16374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6AA84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6"/>
          <p:cNvSpPr/>
          <p:nvPr/>
        </p:nvSpPr>
        <p:spPr>
          <a:xfrm rot="2533329">
            <a:off x="3901344" y="3187604"/>
            <a:ext cx="179462" cy="163742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6AA84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6"/>
          <p:cNvSpPr/>
          <p:nvPr/>
        </p:nvSpPr>
        <p:spPr>
          <a:xfrm rot="2535963">
            <a:off x="2727245" y="1441986"/>
            <a:ext cx="151210" cy="138678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0000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6"/>
          <p:cNvSpPr/>
          <p:nvPr/>
        </p:nvSpPr>
        <p:spPr>
          <a:xfrm rot="2532306">
            <a:off x="4016418" y="2211618"/>
            <a:ext cx="134864" cy="164166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A64D7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6"/>
          <p:cNvSpPr/>
          <p:nvPr/>
        </p:nvSpPr>
        <p:spPr>
          <a:xfrm rot="2532306">
            <a:off x="4397418" y="1602018"/>
            <a:ext cx="134864" cy="164166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A64D7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6"/>
          <p:cNvSpPr/>
          <p:nvPr/>
        </p:nvSpPr>
        <p:spPr>
          <a:xfrm rot="2532306">
            <a:off x="4245018" y="3126018"/>
            <a:ext cx="134864" cy="164166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A64D7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6"/>
          <p:cNvSpPr/>
          <p:nvPr/>
        </p:nvSpPr>
        <p:spPr>
          <a:xfrm rot="2532306">
            <a:off x="3178218" y="3278418"/>
            <a:ext cx="134864" cy="164166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A64D7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6"/>
          <p:cNvSpPr/>
          <p:nvPr/>
        </p:nvSpPr>
        <p:spPr>
          <a:xfrm rot="2532306">
            <a:off x="1730418" y="3126018"/>
            <a:ext cx="134864" cy="164166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A64D7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6"/>
          <p:cNvSpPr/>
          <p:nvPr/>
        </p:nvSpPr>
        <p:spPr>
          <a:xfrm rot="2532306">
            <a:off x="1654218" y="1221018"/>
            <a:ext cx="134864" cy="164166"/>
          </a:xfrm>
          <a:prstGeom prst="pie">
            <a:avLst>
              <a:gd fmla="val 20154693" name="adj1"/>
              <a:gd fmla="val 17740588" name="adj2"/>
            </a:avLst>
          </a:prstGeom>
          <a:solidFill>
            <a:srgbClr val="A64D7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6"/>
          <p:cNvSpPr txBox="1"/>
          <p:nvPr/>
        </p:nvSpPr>
        <p:spPr>
          <a:xfrm rot="-5400000">
            <a:off x="4473025" y="1633000"/>
            <a:ext cx="186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Relative Fitness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Mass effects</a:t>
            </a:r>
            <a:endParaRPr/>
          </a:p>
        </p:txBody>
      </p:sp>
      <p:grpSp>
        <p:nvGrpSpPr>
          <p:cNvPr id="454" name="Google Shape;454;p37"/>
          <p:cNvGrpSpPr/>
          <p:nvPr/>
        </p:nvGrpSpPr>
        <p:grpSpPr>
          <a:xfrm>
            <a:off x="1038566" y="1311357"/>
            <a:ext cx="7092771" cy="2325790"/>
            <a:chOff x="5687000" y="701775"/>
            <a:chExt cx="3137700" cy="2346675"/>
          </a:xfrm>
        </p:grpSpPr>
        <p:cxnSp>
          <p:nvCxnSpPr>
            <p:cNvPr id="455" name="Google Shape;455;p37"/>
            <p:cNvCxnSpPr/>
            <p:nvPr/>
          </p:nvCxnSpPr>
          <p:spPr>
            <a:xfrm>
              <a:off x="5687000" y="701775"/>
              <a:ext cx="0" cy="23427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" name="Google Shape;456;p37"/>
            <p:cNvCxnSpPr/>
            <p:nvPr/>
          </p:nvCxnSpPr>
          <p:spPr>
            <a:xfrm rot="10800000">
              <a:off x="5687000" y="3044850"/>
              <a:ext cx="3137700" cy="3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57" name="Google Shape;457;p37"/>
          <p:cNvSpPr txBox="1"/>
          <p:nvPr/>
        </p:nvSpPr>
        <p:spPr>
          <a:xfrm>
            <a:off x="1926525" y="3829875"/>
            <a:ext cx="146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Environment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58" name="Google Shape;458;p37"/>
          <p:cNvSpPr txBox="1"/>
          <p:nvPr/>
        </p:nvSpPr>
        <p:spPr>
          <a:xfrm rot="-5400000">
            <a:off x="-208475" y="2276625"/>
            <a:ext cx="192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Absolute Fitness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459" name="Google Shape;459;p37"/>
          <p:cNvCxnSpPr/>
          <p:nvPr/>
        </p:nvCxnSpPr>
        <p:spPr>
          <a:xfrm>
            <a:off x="1062175" y="2395900"/>
            <a:ext cx="6981000" cy="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60" name="Google Shape;460;p37"/>
          <p:cNvSpPr/>
          <p:nvPr/>
        </p:nvSpPr>
        <p:spPr>
          <a:xfrm>
            <a:off x="1057950" y="1862931"/>
            <a:ext cx="4180260" cy="1774245"/>
          </a:xfrm>
          <a:custGeom>
            <a:rect b="b" l="l" r="r" t="t"/>
            <a:pathLst>
              <a:path extrusionOk="0" h="36434" w="113857">
                <a:moveTo>
                  <a:pt x="0" y="36434"/>
                </a:moveTo>
                <a:cubicBezTo>
                  <a:pt x="3766" y="34514"/>
                  <a:pt x="15506" y="30601"/>
                  <a:pt x="22594" y="24915"/>
                </a:cubicBezTo>
                <a:cubicBezTo>
                  <a:pt x="29682" y="19230"/>
                  <a:pt x="35959" y="5865"/>
                  <a:pt x="42530" y="2321"/>
                </a:cubicBezTo>
                <a:cubicBezTo>
                  <a:pt x="49102" y="-1223"/>
                  <a:pt x="55525" y="-411"/>
                  <a:pt x="62023" y="3650"/>
                </a:cubicBezTo>
                <a:cubicBezTo>
                  <a:pt x="68521" y="7711"/>
                  <a:pt x="72877" y="21666"/>
                  <a:pt x="81516" y="26687"/>
                </a:cubicBezTo>
                <a:cubicBezTo>
                  <a:pt x="90155" y="31708"/>
                  <a:pt x="108467" y="32595"/>
                  <a:pt x="113857" y="33776"/>
                </a:cubicBezTo>
              </a:path>
            </a:pathLst>
          </a:cu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61" name="Google Shape;461;p37"/>
          <p:cNvSpPr/>
          <p:nvPr/>
        </p:nvSpPr>
        <p:spPr>
          <a:xfrm>
            <a:off x="1972350" y="1862931"/>
            <a:ext cx="4180260" cy="1774245"/>
          </a:xfrm>
          <a:custGeom>
            <a:rect b="b" l="l" r="r" t="t"/>
            <a:pathLst>
              <a:path extrusionOk="0" h="36434" w="113857">
                <a:moveTo>
                  <a:pt x="0" y="36434"/>
                </a:moveTo>
                <a:cubicBezTo>
                  <a:pt x="3766" y="34514"/>
                  <a:pt x="15506" y="30601"/>
                  <a:pt x="22594" y="24915"/>
                </a:cubicBezTo>
                <a:cubicBezTo>
                  <a:pt x="29682" y="19230"/>
                  <a:pt x="35959" y="5865"/>
                  <a:pt x="42530" y="2321"/>
                </a:cubicBezTo>
                <a:cubicBezTo>
                  <a:pt x="49102" y="-1223"/>
                  <a:pt x="55525" y="-411"/>
                  <a:pt x="62023" y="3650"/>
                </a:cubicBezTo>
                <a:cubicBezTo>
                  <a:pt x="68521" y="7711"/>
                  <a:pt x="72877" y="21666"/>
                  <a:pt x="81516" y="26687"/>
                </a:cubicBezTo>
                <a:cubicBezTo>
                  <a:pt x="90155" y="31708"/>
                  <a:pt x="108467" y="32595"/>
                  <a:pt x="113857" y="33776"/>
                </a:cubicBezTo>
              </a:path>
            </a:pathLst>
          </a:cu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62" name="Google Shape;462;p37"/>
          <p:cNvSpPr/>
          <p:nvPr/>
        </p:nvSpPr>
        <p:spPr>
          <a:xfrm>
            <a:off x="2886750" y="1862931"/>
            <a:ext cx="4180260" cy="1774245"/>
          </a:xfrm>
          <a:custGeom>
            <a:rect b="b" l="l" r="r" t="t"/>
            <a:pathLst>
              <a:path extrusionOk="0" h="36434" w="113857">
                <a:moveTo>
                  <a:pt x="0" y="36434"/>
                </a:moveTo>
                <a:cubicBezTo>
                  <a:pt x="3766" y="34514"/>
                  <a:pt x="15506" y="30601"/>
                  <a:pt x="22594" y="24915"/>
                </a:cubicBezTo>
                <a:cubicBezTo>
                  <a:pt x="29682" y="19230"/>
                  <a:pt x="35959" y="5865"/>
                  <a:pt x="42530" y="2321"/>
                </a:cubicBezTo>
                <a:cubicBezTo>
                  <a:pt x="49102" y="-1223"/>
                  <a:pt x="55525" y="-411"/>
                  <a:pt x="62023" y="3650"/>
                </a:cubicBezTo>
                <a:cubicBezTo>
                  <a:pt x="68521" y="7711"/>
                  <a:pt x="72877" y="21666"/>
                  <a:pt x="81516" y="26687"/>
                </a:cubicBezTo>
                <a:cubicBezTo>
                  <a:pt x="90155" y="31708"/>
                  <a:pt x="108467" y="32595"/>
                  <a:pt x="113857" y="33776"/>
                </a:cubicBezTo>
              </a:path>
            </a:pathLst>
          </a:cu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63" name="Google Shape;463;p37"/>
          <p:cNvSpPr/>
          <p:nvPr/>
        </p:nvSpPr>
        <p:spPr>
          <a:xfrm>
            <a:off x="3953550" y="1862931"/>
            <a:ext cx="4180260" cy="1774245"/>
          </a:xfrm>
          <a:custGeom>
            <a:rect b="b" l="l" r="r" t="t"/>
            <a:pathLst>
              <a:path extrusionOk="0" h="36434" w="113857">
                <a:moveTo>
                  <a:pt x="0" y="36434"/>
                </a:moveTo>
                <a:cubicBezTo>
                  <a:pt x="3766" y="34514"/>
                  <a:pt x="15506" y="30601"/>
                  <a:pt x="22594" y="24915"/>
                </a:cubicBezTo>
                <a:cubicBezTo>
                  <a:pt x="29682" y="19230"/>
                  <a:pt x="35959" y="5865"/>
                  <a:pt x="42530" y="2321"/>
                </a:cubicBezTo>
                <a:cubicBezTo>
                  <a:pt x="49102" y="-1223"/>
                  <a:pt x="55525" y="-411"/>
                  <a:pt x="62023" y="3650"/>
                </a:cubicBezTo>
                <a:cubicBezTo>
                  <a:pt x="68521" y="7711"/>
                  <a:pt x="72877" y="21666"/>
                  <a:pt x="81516" y="26687"/>
                </a:cubicBezTo>
                <a:cubicBezTo>
                  <a:pt x="90155" y="31708"/>
                  <a:pt x="108467" y="32595"/>
                  <a:pt x="113857" y="33776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Mass effects</a:t>
            </a:r>
            <a:endParaRPr/>
          </a:p>
        </p:txBody>
      </p:sp>
      <p:grpSp>
        <p:nvGrpSpPr>
          <p:cNvPr id="469" name="Google Shape;469;p38"/>
          <p:cNvGrpSpPr/>
          <p:nvPr/>
        </p:nvGrpSpPr>
        <p:grpSpPr>
          <a:xfrm>
            <a:off x="1038566" y="1311357"/>
            <a:ext cx="7092771" cy="2325790"/>
            <a:chOff x="5687000" y="701775"/>
            <a:chExt cx="3137700" cy="2346675"/>
          </a:xfrm>
        </p:grpSpPr>
        <p:cxnSp>
          <p:nvCxnSpPr>
            <p:cNvPr id="470" name="Google Shape;470;p38"/>
            <p:cNvCxnSpPr/>
            <p:nvPr/>
          </p:nvCxnSpPr>
          <p:spPr>
            <a:xfrm>
              <a:off x="5687000" y="701775"/>
              <a:ext cx="0" cy="23427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1" name="Google Shape;471;p38"/>
            <p:cNvCxnSpPr/>
            <p:nvPr/>
          </p:nvCxnSpPr>
          <p:spPr>
            <a:xfrm rot="10800000">
              <a:off x="5687000" y="3044850"/>
              <a:ext cx="3137700" cy="3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72" name="Google Shape;472;p38"/>
          <p:cNvSpPr txBox="1"/>
          <p:nvPr/>
        </p:nvSpPr>
        <p:spPr>
          <a:xfrm>
            <a:off x="1926525" y="3829875"/>
            <a:ext cx="146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Environment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73" name="Google Shape;473;p38"/>
          <p:cNvSpPr txBox="1"/>
          <p:nvPr/>
        </p:nvSpPr>
        <p:spPr>
          <a:xfrm rot="-5400000">
            <a:off x="-208475" y="2276625"/>
            <a:ext cx="192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Absolute Fitness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474" name="Google Shape;474;p38"/>
          <p:cNvCxnSpPr/>
          <p:nvPr/>
        </p:nvCxnSpPr>
        <p:spPr>
          <a:xfrm>
            <a:off x="1062175" y="2395900"/>
            <a:ext cx="6981000" cy="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75" name="Google Shape;475;p38"/>
          <p:cNvSpPr/>
          <p:nvPr/>
        </p:nvSpPr>
        <p:spPr>
          <a:xfrm>
            <a:off x="1057950" y="1862931"/>
            <a:ext cx="4180260" cy="1774245"/>
          </a:xfrm>
          <a:custGeom>
            <a:rect b="b" l="l" r="r" t="t"/>
            <a:pathLst>
              <a:path extrusionOk="0" h="36434" w="113857">
                <a:moveTo>
                  <a:pt x="0" y="36434"/>
                </a:moveTo>
                <a:cubicBezTo>
                  <a:pt x="3766" y="34514"/>
                  <a:pt x="15506" y="30601"/>
                  <a:pt x="22594" y="24915"/>
                </a:cubicBezTo>
                <a:cubicBezTo>
                  <a:pt x="29682" y="19230"/>
                  <a:pt x="35959" y="5865"/>
                  <a:pt x="42530" y="2321"/>
                </a:cubicBezTo>
                <a:cubicBezTo>
                  <a:pt x="49102" y="-1223"/>
                  <a:pt x="55525" y="-411"/>
                  <a:pt x="62023" y="3650"/>
                </a:cubicBezTo>
                <a:cubicBezTo>
                  <a:pt x="68521" y="7711"/>
                  <a:pt x="72877" y="21666"/>
                  <a:pt x="81516" y="26687"/>
                </a:cubicBezTo>
                <a:cubicBezTo>
                  <a:pt x="90155" y="31708"/>
                  <a:pt x="108467" y="32595"/>
                  <a:pt x="113857" y="33776"/>
                </a:cubicBezTo>
              </a:path>
            </a:pathLst>
          </a:cu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76" name="Google Shape;476;p38"/>
          <p:cNvSpPr/>
          <p:nvPr/>
        </p:nvSpPr>
        <p:spPr>
          <a:xfrm>
            <a:off x="1972350" y="1862931"/>
            <a:ext cx="4180260" cy="1774245"/>
          </a:xfrm>
          <a:custGeom>
            <a:rect b="b" l="l" r="r" t="t"/>
            <a:pathLst>
              <a:path extrusionOk="0" h="36434" w="113857">
                <a:moveTo>
                  <a:pt x="0" y="36434"/>
                </a:moveTo>
                <a:cubicBezTo>
                  <a:pt x="3766" y="34514"/>
                  <a:pt x="15506" y="30601"/>
                  <a:pt x="22594" y="24915"/>
                </a:cubicBezTo>
                <a:cubicBezTo>
                  <a:pt x="29682" y="19230"/>
                  <a:pt x="35959" y="5865"/>
                  <a:pt x="42530" y="2321"/>
                </a:cubicBezTo>
                <a:cubicBezTo>
                  <a:pt x="49102" y="-1223"/>
                  <a:pt x="55525" y="-411"/>
                  <a:pt x="62023" y="3650"/>
                </a:cubicBezTo>
                <a:cubicBezTo>
                  <a:pt x="68521" y="7711"/>
                  <a:pt x="72877" y="21666"/>
                  <a:pt x="81516" y="26687"/>
                </a:cubicBezTo>
                <a:cubicBezTo>
                  <a:pt x="90155" y="31708"/>
                  <a:pt x="108467" y="32595"/>
                  <a:pt x="113857" y="33776"/>
                </a:cubicBezTo>
              </a:path>
            </a:pathLst>
          </a:cu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77" name="Google Shape;477;p38"/>
          <p:cNvSpPr/>
          <p:nvPr/>
        </p:nvSpPr>
        <p:spPr>
          <a:xfrm>
            <a:off x="2886750" y="1862931"/>
            <a:ext cx="4180260" cy="1774245"/>
          </a:xfrm>
          <a:custGeom>
            <a:rect b="b" l="l" r="r" t="t"/>
            <a:pathLst>
              <a:path extrusionOk="0" h="36434" w="113857">
                <a:moveTo>
                  <a:pt x="0" y="36434"/>
                </a:moveTo>
                <a:cubicBezTo>
                  <a:pt x="3766" y="34514"/>
                  <a:pt x="15506" y="30601"/>
                  <a:pt x="22594" y="24915"/>
                </a:cubicBezTo>
                <a:cubicBezTo>
                  <a:pt x="29682" y="19230"/>
                  <a:pt x="35959" y="5865"/>
                  <a:pt x="42530" y="2321"/>
                </a:cubicBezTo>
                <a:cubicBezTo>
                  <a:pt x="49102" y="-1223"/>
                  <a:pt x="55525" y="-411"/>
                  <a:pt x="62023" y="3650"/>
                </a:cubicBezTo>
                <a:cubicBezTo>
                  <a:pt x="68521" y="7711"/>
                  <a:pt x="72877" y="21666"/>
                  <a:pt x="81516" y="26687"/>
                </a:cubicBezTo>
                <a:cubicBezTo>
                  <a:pt x="90155" y="31708"/>
                  <a:pt x="108467" y="32595"/>
                  <a:pt x="113857" y="33776"/>
                </a:cubicBezTo>
              </a:path>
            </a:pathLst>
          </a:cu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78" name="Google Shape;478;p38"/>
          <p:cNvSpPr/>
          <p:nvPr/>
        </p:nvSpPr>
        <p:spPr>
          <a:xfrm>
            <a:off x="3953550" y="1862931"/>
            <a:ext cx="4180260" cy="1774245"/>
          </a:xfrm>
          <a:custGeom>
            <a:rect b="b" l="l" r="r" t="t"/>
            <a:pathLst>
              <a:path extrusionOk="0" h="36434" w="113857">
                <a:moveTo>
                  <a:pt x="0" y="36434"/>
                </a:moveTo>
                <a:cubicBezTo>
                  <a:pt x="3766" y="34514"/>
                  <a:pt x="15506" y="30601"/>
                  <a:pt x="22594" y="24915"/>
                </a:cubicBezTo>
                <a:cubicBezTo>
                  <a:pt x="29682" y="19230"/>
                  <a:pt x="35959" y="5865"/>
                  <a:pt x="42530" y="2321"/>
                </a:cubicBezTo>
                <a:cubicBezTo>
                  <a:pt x="49102" y="-1223"/>
                  <a:pt x="55525" y="-411"/>
                  <a:pt x="62023" y="3650"/>
                </a:cubicBezTo>
                <a:cubicBezTo>
                  <a:pt x="68521" y="7711"/>
                  <a:pt x="72877" y="21666"/>
                  <a:pt x="81516" y="26687"/>
                </a:cubicBezTo>
                <a:cubicBezTo>
                  <a:pt x="90155" y="31708"/>
                  <a:pt x="108467" y="32595"/>
                  <a:pt x="113857" y="33776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79" name="Google Shape;479;p38"/>
          <p:cNvSpPr/>
          <p:nvPr/>
        </p:nvSpPr>
        <p:spPr>
          <a:xfrm>
            <a:off x="3391350" y="1765200"/>
            <a:ext cx="886200" cy="5727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0" name="Google Shape;480;p38"/>
          <p:cNvCxnSpPr/>
          <p:nvPr/>
        </p:nvCxnSpPr>
        <p:spPr>
          <a:xfrm flipH="1">
            <a:off x="3834375" y="801875"/>
            <a:ext cx="675600" cy="7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1" name="Google Shape;481;p38"/>
          <p:cNvSpPr txBox="1"/>
          <p:nvPr/>
        </p:nvSpPr>
        <p:spPr>
          <a:xfrm>
            <a:off x="4653950" y="447450"/>
            <a:ext cx="45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Orange </a:t>
            </a:r>
            <a:r>
              <a:rPr lang="en" sz="1800">
                <a:solidFill>
                  <a:schemeClr val="dk2"/>
                </a:solidFill>
              </a:rPr>
              <a:t>species</a:t>
            </a:r>
            <a:r>
              <a:rPr lang="en" sz="1800">
                <a:solidFill>
                  <a:schemeClr val="dk2"/>
                </a:solidFill>
              </a:rPr>
              <a:t> “wins”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Mass effects</a:t>
            </a:r>
            <a:endParaRPr/>
          </a:p>
        </p:txBody>
      </p:sp>
      <p:grpSp>
        <p:nvGrpSpPr>
          <p:cNvPr id="487" name="Google Shape;487;p39"/>
          <p:cNvGrpSpPr/>
          <p:nvPr/>
        </p:nvGrpSpPr>
        <p:grpSpPr>
          <a:xfrm>
            <a:off x="1038566" y="1311357"/>
            <a:ext cx="7092771" cy="2325790"/>
            <a:chOff x="5687000" y="701775"/>
            <a:chExt cx="3137700" cy="2346675"/>
          </a:xfrm>
        </p:grpSpPr>
        <p:cxnSp>
          <p:nvCxnSpPr>
            <p:cNvPr id="488" name="Google Shape;488;p39"/>
            <p:cNvCxnSpPr/>
            <p:nvPr/>
          </p:nvCxnSpPr>
          <p:spPr>
            <a:xfrm>
              <a:off x="5687000" y="701775"/>
              <a:ext cx="0" cy="23427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9" name="Google Shape;489;p39"/>
            <p:cNvCxnSpPr/>
            <p:nvPr/>
          </p:nvCxnSpPr>
          <p:spPr>
            <a:xfrm rot="10800000">
              <a:off x="5687000" y="3044850"/>
              <a:ext cx="3137700" cy="3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90" name="Google Shape;490;p39"/>
          <p:cNvSpPr txBox="1"/>
          <p:nvPr/>
        </p:nvSpPr>
        <p:spPr>
          <a:xfrm>
            <a:off x="1926525" y="3829875"/>
            <a:ext cx="146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Environment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91" name="Google Shape;491;p39"/>
          <p:cNvSpPr txBox="1"/>
          <p:nvPr/>
        </p:nvSpPr>
        <p:spPr>
          <a:xfrm rot="-5400000">
            <a:off x="-208475" y="2276625"/>
            <a:ext cx="192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Absolute Fitness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492" name="Google Shape;492;p39"/>
          <p:cNvCxnSpPr/>
          <p:nvPr/>
        </p:nvCxnSpPr>
        <p:spPr>
          <a:xfrm>
            <a:off x="1062175" y="2395900"/>
            <a:ext cx="6981000" cy="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93" name="Google Shape;493;p39"/>
          <p:cNvSpPr/>
          <p:nvPr/>
        </p:nvSpPr>
        <p:spPr>
          <a:xfrm>
            <a:off x="1057950" y="1862931"/>
            <a:ext cx="4180260" cy="1774245"/>
          </a:xfrm>
          <a:custGeom>
            <a:rect b="b" l="l" r="r" t="t"/>
            <a:pathLst>
              <a:path extrusionOk="0" h="36434" w="113857">
                <a:moveTo>
                  <a:pt x="0" y="36434"/>
                </a:moveTo>
                <a:cubicBezTo>
                  <a:pt x="3766" y="34514"/>
                  <a:pt x="15506" y="30601"/>
                  <a:pt x="22594" y="24915"/>
                </a:cubicBezTo>
                <a:cubicBezTo>
                  <a:pt x="29682" y="19230"/>
                  <a:pt x="35959" y="5865"/>
                  <a:pt x="42530" y="2321"/>
                </a:cubicBezTo>
                <a:cubicBezTo>
                  <a:pt x="49102" y="-1223"/>
                  <a:pt x="55525" y="-411"/>
                  <a:pt x="62023" y="3650"/>
                </a:cubicBezTo>
                <a:cubicBezTo>
                  <a:pt x="68521" y="7711"/>
                  <a:pt x="72877" y="21666"/>
                  <a:pt x="81516" y="26687"/>
                </a:cubicBezTo>
                <a:cubicBezTo>
                  <a:pt x="90155" y="31708"/>
                  <a:pt x="108467" y="32595"/>
                  <a:pt x="113857" y="33776"/>
                </a:cubicBezTo>
              </a:path>
            </a:pathLst>
          </a:cu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94" name="Google Shape;494;p39"/>
          <p:cNvSpPr/>
          <p:nvPr/>
        </p:nvSpPr>
        <p:spPr>
          <a:xfrm>
            <a:off x="1972350" y="1862931"/>
            <a:ext cx="4180260" cy="1774245"/>
          </a:xfrm>
          <a:custGeom>
            <a:rect b="b" l="l" r="r" t="t"/>
            <a:pathLst>
              <a:path extrusionOk="0" h="36434" w="113857">
                <a:moveTo>
                  <a:pt x="0" y="36434"/>
                </a:moveTo>
                <a:cubicBezTo>
                  <a:pt x="3766" y="34514"/>
                  <a:pt x="15506" y="30601"/>
                  <a:pt x="22594" y="24915"/>
                </a:cubicBezTo>
                <a:cubicBezTo>
                  <a:pt x="29682" y="19230"/>
                  <a:pt x="35959" y="5865"/>
                  <a:pt x="42530" y="2321"/>
                </a:cubicBezTo>
                <a:cubicBezTo>
                  <a:pt x="49102" y="-1223"/>
                  <a:pt x="55525" y="-411"/>
                  <a:pt x="62023" y="3650"/>
                </a:cubicBezTo>
                <a:cubicBezTo>
                  <a:pt x="68521" y="7711"/>
                  <a:pt x="72877" y="21666"/>
                  <a:pt x="81516" y="26687"/>
                </a:cubicBezTo>
                <a:cubicBezTo>
                  <a:pt x="90155" y="31708"/>
                  <a:pt x="108467" y="32595"/>
                  <a:pt x="113857" y="33776"/>
                </a:cubicBezTo>
              </a:path>
            </a:pathLst>
          </a:cu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95" name="Google Shape;495;p39"/>
          <p:cNvSpPr/>
          <p:nvPr/>
        </p:nvSpPr>
        <p:spPr>
          <a:xfrm>
            <a:off x="2886750" y="1862931"/>
            <a:ext cx="4180260" cy="1774245"/>
          </a:xfrm>
          <a:custGeom>
            <a:rect b="b" l="l" r="r" t="t"/>
            <a:pathLst>
              <a:path extrusionOk="0" h="36434" w="113857">
                <a:moveTo>
                  <a:pt x="0" y="36434"/>
                </a:moveTo>
                <a:cubicBezTo>
                  <a:pt x="3766" y="34514"/>
                  <a:pt x="15506" y="30601"/>
                  <a:pt x="22594" y="24915"/>
                </a:cubicBezTo>
                <a:cubicBezTo>
                  <a:pt x="29682" y="19230"/>
                  <a:pt x="35959" y="5865"/>
                  <a:pt x="42530" y="2321"/>
                </a:cubicBezTo>
                <a:cubicBezTo>
                  <a:pt x="49102" y="-1223"/>
                  <a:pt x="55525" y="-411"/>
                  <a:pt x="62023" y="3650"/>
                </a:cubicBezTo>
                <a:cubicBezTo>
                  <a:pt x="68521" y="7711"/>
                  <a:pt x="72877" y="21666"/>
                  <a:pt x="81516" y="26687"/>
                </a:cubicBezTo>
                <a:cubicBezTo>
                  <a:pt x="90155" y="31708"/>
                  <a:pt x="108467" y="32595"/>
                  <a:pt x="113857" y="33776"/>
                </a:cubicBezTo>
              </a:path>
            </a:pathLst>
          </a:cu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96" name="Google Shape;496;p39"/>
          <p:cNvSpPr/>
          <p:nvPr/>
        </p:nvSpPr>
        <p:spPr>
          <a:xfrm>
            <a:off x="3953550" y="1862931"/>
            <a:ext cx="4180260" cy="1774245"/>
          </a:xfrm>
          <a:custGeom>
            <a:rect b="b" l="l" r="r" t="t"/>
            <a:pathLst>
              <a:path extrusionOk="0" h="36434" w="113857">
                <a:moveTo>
                  <a:pt x="0" y="36434"/>
                </a:moveTo>
                <a:cubicBezTo>
                  <a:pt x="3766" y="34514"/>
                  <a:pt x="15506" y="30601"/>
                  <a:pt x="22594" y="24915"/>
                </a:cubicBezTo>
                <a:cubicBezTo>
                  <a:pt x="29682" y="19230"/>
                  <a:pt x="35959" y="5865"/>
                  <a:pt x="42530" y="2321"/>
                </a:cubicBezTo>
                <a:cubicBezTo>
                  <a:pt x="49102" y="-1223"/>
                  <a:pt x="55525" y="-411"/>
                  <a:pt x="62023" y="3650"/>
                </a:cubicBezTo>
                <a:cubicBezTo>
                  <a:pt x="68521" y="7711"/>
                  <a:pt x="72877" y="21666"/>
                  <a:pt x="81516" y="26687"/>
                </a:cubicBezTo>
                <a:cubicBezTo>
                  <a:pt x="90155" y="31708"/>
                  <a:pt x="108467" y="32595"/>
                  <a:pt x="113857" y="33776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497" name="Google Shape;497;p39"/>
          <p:cNvCxnSpPr/>
          <p:nvPr/>
        </p:nvCxnSpPr>
        <p:spPr>
          <a:xfrm flipH="1">
            <a:off x="3395025" y="1058450"/>
            <a:ext cx="675600" cy="7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8" name="Google Shape;498;p39"/>
          <p:cNvSpPr txBox="1"/>
          <p:nvPr/>
        </p:nvSpPr>
        <p:spPr>
          <a:xfrm>
            <a:off x="3968150" y="295050"/>
            <a:ext cx="451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Orange species “loses”, but can persist due if immigration occurs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99" name="Google Shape;499;p39"/>
          <p:cNvSpPr/>
          <p:nvPr/>
        </p:nvSpPr>
        <p:spPr>
          <a:xfrm>
            <a:off x="4288450" y="1852475"/>
            <a:ext cx="221400" cy="5727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9"/>
          <p:cNvSpPr/>
          <p:nvPr/>
        </p:nvSpPr>
        <p:spPr>
          <a:xfrm>
            <a:off x="3221650" y="1852475"/>
            <a:ext cx="221400" cy="5727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1" name="Google Shape;501;p39"/>
          <p:cNvCxnSpPr/>
          <p:nvPr/>
        </p:nvCxnSpPr>
        <p:spPr>
          <a:xfrm flipH="1">
            <a:off x="4538025" y="1058450"/>
            <a:ext cx="675600" cy="7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Mass effect simulation</a:t>
            </a:r>
            <a:endParaRPr/>
          </a:p>
        </p:txBody>
      </p:sp>
      <p:sp>
        <p:nvSpPr>
          <p:cNvPr id="507" name="Google Shape;507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Species differ in niches, but have identical dispersal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Varied dispersal and studied diversity effects</a:t>
            </a:r>
            <a:endParaRPr/>
          </a:p>
        </p:txBody>
      </p:sp>
      <p:pic>
        <p:nvPicPr>
          <p:cNvPr id="508" name="Google Shape;50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" y="1846100"/>
            <a:ext cx="4638350" cy="329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40"/>
          <p:cNvPicPr preferRelativeResize="0"/>
          <p:nvPr/>
        </p:nvPicPr>
        <p:blipFill rotWithShape="1">
          <a:blip r:embed="rId4">
            <a:alphaModFix/>
          </a:blip>
          <a:srcRect b="48710" l="21707" r="27033" t="26869"/>
          <a:stretch/>
        </p:blipFill>
        <p:spPr>
          <a:xfrm>
            <a:off x="4843201" y="0"/>
            <a:ext cx="4300800" cy="11524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Mass effect simulation</a:t>
            </a:r>
            <a:endParaRPr/>
          </a:p>
        </p:txBody>
      </p:sp>
      <p:sp>
        <p:nvSpPr>
          <p:cNvPr id="515" name="Google Shape;515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Species differ in niches, but have identical dispersal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Varied dispersal and studied diversity effects</a:t>
            </a:r>
            <a:endParaRPr/>
          </a:p>
        </p:txBody>
      </p:sp>
      <p:pic>
        <p:nvPicPr>
          <p:cNvPr id="516" name="Google Shape;51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" y="1846100"/>
            <a:ext cx="4638350" cy="32974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41"/>
          <p:cNvSpPr txBox="1"/>
          <p:nvPr/>
        </p:nvSpPr>
        <p:spPr>
          <a:xfrm>
            <a:off x="5163425" y="2153100"/>
            <a:ext cx="4007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No dispersal: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one species dominates each patch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Lots of dispersal: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One species dominates all patches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18" name="Google Shape;518;p41"/>
          <p:cNvPicPr preferRelativeResize="0"/>
          <p:nvPr/>
        </p:nvPicPr>
        <p:blipFill rotWithShape="1">
          <a:blip r:embed="rId4">
            <a:alphaModFix/>
          </a:blip>
          <a:srcRect b="48710" l="21707" r="27033" t="26869"/>
          <a:stretch/>
        </p:blipFill>
        <p:spPr>
          <a:xfrm>
            <a:off x="4843201" y="0"/>
            <a:ext cx="4300800" cy="11524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Mass effect simulation</a:t>
            </a:r>
            <a:endParaRPr/>
          </a:p>
        </p:txBody>
      </p:sp>
      <p:pic>
        <p:nvPicPr>
          <p:cNvPr id="524" name="Google Shape;524;p42"/>
          <p:cNvPicPr preferRelativeResize="0"/>
          <p:nvPr/>
        </p:nvPicPr>
        <p:blipFill rotWithShape="1">
          <a:blip r:embed="rId3">
            <a:alphaModFix/>
          </a:blip>
          <a:srcRect b="63317" l="0" r="0" t="0"/>
          <a:stretch/>
        </p:blipFill>
        <p:spPr>
          <a:xfrm>
            <a:off x="267525" y="1567850"/>
            <a:ext cx="4229276" cy="29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42"/>
          <p:cNvPicPr preferRelativeResize="0"/>
          <p:nvPr/>
        </p:nvPicPr>
        <p:blipFill rotWithShape="1">
          <a:blip r:embed="rId4">
            <a:alphaModFix/>
          </a:blip>
          <a:srcRect b="48710" l="21707" r="27033" t="26869"/>
          <a:stretch/>
        </p:blipFill>
        <p:spPr>
          <a:xfrm>
            <a:off x="4843201" y="0"/>
            <a:ext cx="4300800" cy="11524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Empirical mass effect work</a:t>
            </a:r>
            <a:endParaRPr/>
          </a:p>
        </p:txBody>
      </p:sp>
      <p:sp>
        <p:nvSpPr>
          <p:cNvPr id="531" name="Google Shape;531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Some field research that examines this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E.g., different connectivity due to dispersal mode or patch connectivity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Some cool experiments that manipulate dispersal between patches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E.g., mesocosms that are connected for varying lengths of time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Mass effect in the field</a:t>
            </a:r>
            <a:endParaRPr/>
          </a:p>
        </p:txBody>
      </p:sp>
      <p:pic>
        <p:nvPicPr>
          <p:cNvPr id="537" name="Google Shape;53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405504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44"/>
          <p:cNvSpPr txBox="1"/>
          <p:nvPr/>
        </p:nvSpPr>
        <p:spPr>
          <a:xfrm>
            <a:off x="3874900" y="1375375"/>
            <a:ext cx="5147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Sampled invertebrates in temporary pools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Categorized as active vs passive dispersers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39" name="Google Shape;539;p44"/>
          <p:cNvPicPr preferRelativeResize="0"/>
          <p:nvPr/>
        </p:nvPicPr>
        <p:blipFill rotWithShape="1">
          <a:blip r:embed="rId4">
            <a:alphaModFix/>
          </a:blip>
          <a:srcRect b="39741" l="24098" r="22737" t="21838"/>
          <a:stretch/>
        </p:blipFill>
        <p:spPr>
          <a:xfrm>
            <a:off x="5992374" y="0"/>
            <a:ext cx="3151627" cy="12811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Mass effect in the field</a:t>
            </a:r>
            <a:endParaRPr/>
          </a:p>
        </p:txBody>
      </p:sp>
      <p:pic>
        <p:nvPicPr>
          <p:cNvPr id="545" name="Google Shape;54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412211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45"/>
          <p:cNvPicPr preferRelativeResize="0"/>
          <p:nvPr/>
        </p:nvPicPr>
        <p:blipFill rotWithShape="1">
          <a:blip r:embed="rId4">
            <a:alphaModFix/>
          </a:blip>
          <a:srcRect b="39741" l="24098" r="22737" t="21838"/>
          <a:stretch/>
        </p:blipFill>
        <p:spPr>
          <a:xfrm>
            <a:off x="5992374" y="0"/>
            <a:ext cx="3151627" cy="12811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Mass effect in the field</a:t>
            </a:r>
            <a:endParaRPr/>
          </a:p>
        </p:txBody>
      </p:sp>
      <p:pic>
        <p:nvPicPr>
          <p:cNvPr id="552" name="Google Shape;55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50" y="1236429"/>
            <a:ext cx="8795450" cy="32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46"/>
          <p:cNvPicPr preferRelativeResize="0"/>
          <p:nvPr/>
        </p:nvPicPr>
        <p:blipFill rotWithShape="1">
          <a:blip r:embed="rId4">
            <a:alphaModFix/>
          </a:blip>
          <a:srcRect b="39741" l="24098" r="22737" t="21838"/>
          <a:stretch/>
        </p:blipFill>
        <p:spPr>
          <a:xfrm>
            <a:off x="5992374" y="0"/>
            <a:ext cx="3151627" cy="12811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Mass effect experiments</a:t>
            </a:r>
            <a:endParaRPr/>
          </a:p>
        </p:txBody>
      </p:sp>
      <p:sp>
        <p:nvSpPr>
          <p:cNvPr id="559" name="Google Shape;559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Focused on communities in pitcher plants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Manipulated: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resources (dead ants)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Predation (mosquito larvae)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dispersal</a:t>
            </a:r>
            <a:endParaRPr/>
          </a:p>
        </p:txBody>
      </p:sp>
      <p:pic>
        <p:nvPicPr>
          <p:cNvPr id="560" name="Google Shape;560;p47"/>
          <p:cNvPicPr preferRelativeResize="0"/>
          <p:nvPr/>
        </p:nvPicPr>
        <p:blipFill rotWithShape="1">
          <a:blip r:embed="rId3">
            <a:alphaModFix/>
          </a:blip>
          <a:srcRect b="39273" l="36306" r="16418" t="26336"/>
          <a:stretch/>
        </p:blipFill>
        <p:spPr>
          <a:xfrm>
            <a:off x="5957825" y="0"/>
            <a:ext cx="3186173" cy="1303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Mass effect experiments</a:t>
            </a:r>
            <a:endParaRPr/>
          </a:p>
        </p:txBody>
      </p:sp>
      <p:sp>
        <p:nvSpPr>
          <p:cNvPr id="566" name="Google Shape;56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Focused on communities in pitcher plants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Manipulated: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resources (dead ants)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Predation (mosquito larvae)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dispersal</a:t>
            </a:r>
            <a:endParaRPr/>
          </a:p>
        </p:txBody>
      </p:sp>
      <p:pic>
        <p:nvPicPr>
          <p:cNvPr id="567" name="Google Shape;567;p48"/>
          <p:cNvPicPr preferRelativeResize="0"/>
          <p:nvPr/>
        </p:nvPicPr>
        <p:blipFill rotWithShape="1">
          <a:blip r:embed="rId3">
            <a:alphaModFix/>
          </a:blip>
          <a:srcRect b="39273" l="36306" r="16418" t="26336"/>
          <a:stretch/>
        </p:blipFill>
        <p:spPr>
          <a:xfrm>
            <a:off x="5957825" y="0"/>
            <a:ext cx="3186173" cy="1303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68" name="Google Shape;56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4425" y="1542825"/>
            <a:ext cx="3687299" cy="334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Mass effect experiments</a:t>
            </a:r>
            <a:endParaRPr/>
          </a:p>
        </p:txBody>
      </p:sp>
      <p:sp>
        <p:nvSpPr>
          <p:cNvPr id="574" name="Google Shape;574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Focused on communities in pitcher plants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Manipulated: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resources (dead ants)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Predation (mosquito larvae)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dispersal</a:t>
            </a:r>
            <a:endParaRPr/>
          </a:p>
        </p:txBody>
      </p:sp>
      <p:pic>
        <p:nvPicPr>
          <p:cNvPr id="575" name="Google Shape;575;p49"/>
          <p:cNvPicPr preferRelativeResize="0"/>
          <p:nvPr/>
        </p:nvPicPr>
        <p:blipFill rotWithShape="1">
          <a:blip r:embed="rId3">
            <a:alphaModFix/>
          </a:blip>
          <a:srcRect b="39273" l="36306" r="16418" t="26336"/>
          <a:stretch/>
        </p:blipFill>
        <p:spPr>
          <a:xfrm>
            <a:off x="5957825" y="0"/>
            <a:ext cx="3186173" cy="1303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76" name="Google Shape;576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592" y="1100150"/>
            <a:ext cx="5456456" cy="39910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Metacommunities</a:t>
            </a:r>
            <a:endParaRPr/>
          </a:p>
        </p:txBody>
      </p:sp>
      <p:sp>
        <p:nvSpPr>
          <p:cNvPr id="582" name="Google Shape;582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Main perspectives: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Patch dynamics - extension of metapopulation stuff to more species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Species sorting - community assembly-ish, species differ in abiotic niches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Mass effects - species sorting-ish, w/ source-sink and rescue effects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Neutral theory - assumes species are identical, environment irrelevant</a:t>
            </a:r>
            <a:endParaRPr/>
          </a:p>
        </p:txBody>
      </p:sp>
      <p:sp>
        <p:nvSpPr>
          <p:cNvPr id="583" name="Google Shape;583;p50"/>
          <p:cNvSpPr/>
          <p:nvPr/>
        </p:nvSpPr>
        <p:spPr>
          <a:xfrm>
            <a:off x="229925" y="2275425"/>
            <a:ext cx="8186100" cy="426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Metacommunities</a:t>
            </a:r>
            <a:endParaRPr/>
          </a:p>
        </p:txBody>
      </p:sp>
      <p:sp>
        <p:nvSpPr>
          <p:cNvPr id="589" name="Google Shape;589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Main perspectives: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Patch dynamics - extension of metapopulation stuff to more species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Species sorting - community assembly-ish, species differ in abiotic niches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Mass effects - species sorting-ish, w/ source-sink and rescue effects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Neutral theory - assumes species are identical, environment irrelevant</a:t>
            </a:r>
            <a:endParaRPr/>
          </a:p>
        </p:txBody>
      </p:sp>
      <p:sp>
        <p:nvSpPr>
          <p:cNvPr id="590" name="Google Shape;590;p51"/>
          <p:cNvSpPr/>
          <p:nvPr/>
        </p:nvSpPr>
        <p:spPr>
          <a:xfrm>
            <a:off x="229925" y="2656425"/>
            <a:ext cx="8186100" cy="426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51"/>
          <p:cNvSpPr txBox="1"/>
          <p:nvPr/>
        </p:nvSpPr>
        <p:spPr>
          <a:xfrm>
            <a:off x="1894525" y="3332700"/>
            <a:ext cx="59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Next time!</a:t>
            </a:r>
            <a:endParaRPr sz="18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class: More metacommunities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