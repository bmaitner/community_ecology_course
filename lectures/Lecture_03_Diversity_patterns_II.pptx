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074ae7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074ae7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7cda066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7cda06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size matters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8074ae7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8074ae7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size matters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7cda0666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7cda0666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7cda066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7cda066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Stress why it is a decelerating function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7cda0666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7cda0666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Can either use similar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7cda0666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d7cda0666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in a plot, diversity across region, rates of accumulation of diversity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8074ae7d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d8074ae7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8074ae7d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8074ae7d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8074ae7d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8074ae7d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7cda0666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7cda0666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b and c have both spatial and non-spatial versions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7cda0666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7cda0666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8074ae7d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8074ae7d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8074ae7d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d8074ae7d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8074ae7d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8074ae7d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8074ae7d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8074ae7d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8074ae7d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d8074ae7d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these are bad examples as the curves are poorly fit by a linear equation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8074ae7d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d8074ae7d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8074ae7d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d8074ae7d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8074ae7d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d8074ae7d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d8074ae7d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d8074ae7d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8074ae7d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8074ae7d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8074ae7d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8074ae7d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8074ae7d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8074ae7d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8074ae7d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d8074ae7d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 same thing works at smaller scales!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8074ae7d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d8074ae7d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why larger populations reduce risk.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8074ae7dc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d8074ae7d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= winter, s= summer, r= residents, v = vagrants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8074ae7d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d8074ae7d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d8074ae7dc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d8074ae7dc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Simberloff forgot to account for the area effect on immigration, which is </a:t>
            </a:r>
            <a:r>
              <a:rPr lang="en"/>
              <a:t>analogous</a:t>
            </a:r>
            <a:r>
              <a:rPr lang="en"/>
              <a:t> to the distance effect (see demo)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d7e8e50d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d7e8e50d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8074ae7dc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d8074ae7dc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8074ae7d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d8074ae7d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8074ae7d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d8074ae7d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d8074ae7d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d8074ae7d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8074ae7dc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8074ae7dc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8074ae7dc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d8074ae7dc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d8074ae7dc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d8074ae7dc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d8074ae7dc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d8074ae7dc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8074ae7d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d8074ae7d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d8074ae7dc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d8074ae7dc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8074ae7d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d8074ae7d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d8074ae7dc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d8074ae7dc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netlogoweb.org/launch#https://raw.githubusercontent.com/bmaitner/Community_ecology_course/refs/heads/main/NetLogo_demos/island_biogeo.nlogo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etlogoweb.org/launch#https://raw.githubusercontent.com/bmaitner/Community_ecology_course/refs/heads/main/NetLogo_demos/SAR_SAD.nlogo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Patterns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995950"/>
            <a:ext cx="85206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Species-Area Relationship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Island Biogeography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Species-Abundance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we measure diversity?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Richness = 4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961075" y="2043725"/>
            <a:ext cx="3662100" cy="2330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18595" r="25209" t="0"/>
          <a:stretch/>
        </p:blipFill>
        <p:spPr>
          <a:xfrm>
            <a:off x="3093083" y="2111200"/>
            <a:ext cx="912840" cy="10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23100" l="32985" r="11575" t="34326"/>
          <a:stretch/>
        </p:blipFill>
        <p:spPr>
          <a:xfrm>
            <a:off x="4320475" y="2282475"/>
            <a:ext cx="1535075" cy="74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b="7446" l="23438" r="24068" t="23152"/>
          <a:stretch/>
        </p:blipFill>
        <p:spPr>
          <a:xfrm>
            <a:off x="3671800" y="3194125"/>
            <a:ext cx="1027824" cy="10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6">
            <a:alphaModFix/>
          </a:blip>
          <a:srcRect b="0" l="16017" r="18580" t="0"/>
          <a:stretch/>
        </p:blipFill>
        <p:spPr>
          <a:xfrm>
            <a:off x="4975362" y="2953400"/>
            <a:ext cx="1139138" cy="13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we measure diversity?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Richness = 4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2961075" y="2043725"/>
            <a:ext cx="3662100" cy="2330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18595" r="25209" t="0"/>
          <a:stretch/>
        </p:blipFill>
        <p:spPr>
          <a:xfrm>
            <a:off x="3093083" y="2111200"/>
            <a:ext cx="912840" cy="10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23100" l="32985" r="11575" t="34326"/>
          <a:stretch/>
        </p:blipFill>
        <p:spPr>
          <a:xfrm>
            <a:off x="4320475" y="2282475"/>
            <a:ext cx="1535075" cy="74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5">
            <a:alphaModFix/>
          </a:blip>
          <a:srcRect b="7446" l="23438" r="24068" t="23152"/>
          <a:stretch/>
        </p:blipFill>
        <p:spPr>
          <a:xfrm>
            <a:off x="3671800" y="3194125"/>
            <a:ext cx="1027824" cy="10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6">
            <a:alphaModFix/>
          </a:blip>
          <a:srcRect b="0" l="16017" r="18580" t="0"/>
          <a:stretch/>
        </p:blipFill>
        <p:spPr>
          <a:xfrm>
            <a:off x="4975362" y="2953400"/>
            <a:ext cx="1139138" cy="132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 flipH="1" rot="10800000">
            <a:off x="5494925" y="1243150"/>
            <a:ext cx="1683000" cy="813900"/>
          </a:xfrm>
          <a:prstGeom prst="straightConnector1">
            <a:avLst/>
          </a:prstGeom>
          <a:noFill/>
          <a:ln cap="flat" cmpd="sng" w="76200">
            <a:solidFill>
              <a:srgbClr val="0B5394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Species-Area Relationship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217875" y="976925"/>
            <a:ext cx="1485600" cy="15807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18595" r="25209" t="0"/>
          <a:stretch/>
        </p:blipFill>
        <p:spPr>
          <a:xfrm>
            <a:off x="308763" y="1024684"/>
            <a:ext cx="628488" cy="76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4">
            <a:alphaModFix/>
          </a:blip>
          <a:srcRect b="7446" l="23438" r="24068" t="23152"/>
          <a:stretch/>
        </p:blipFill>
        <p:spPr>
          <a:xfrm>
            <a:off x="707209" y="1791179"/>
            <a:ext cx="707654" cy="76649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1513275" y="2958125"/>
            <a:ext cx="2521200" cy="1649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0" l="18595" r="25209" t="0"/>
          <a:stretch/>
        </p:blipFill>
        <p:spPr>
          <a:xfrm>
            <a:off x="1604163" y="3005884"/>
            <a:ext cx="628488" cy="76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b="23100" l="32985" r="11575" t="34326"/>
          <a:stretch/>
        </p:blipFill>
        <p:spPr>
          <a:xfrm>
            <a:off x="2449222" y="3127112"/>
            <a:ext cx="1056900" cy="52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4">
            <a:alphaModFix/>
          </a:blip>
          <a:srcRect b="7446" l="23438" r="24068" t="23152"/>
          <a:stretch/>
        </p:blipFill>
        <p:spPr>
          <a:xfrm>
            <a:off x="2002609" y="3772379"/>
            <a:ext cx="707654" cy="766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 rotWithShape="1">
          <a:blip r:embed="rId6">
            <a:alphaModFix/>
          </a:blip>
          <a:srcRect b="0" l="16017" r="18580" t="0"/>
          <a:stretch/>
        </p:blipFill>
        <p:spPr>
          <a:xfrm>
            <a:off x="2900112" y="3601993"/>
            <a:ext cx="784296" cy="93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Species-Area Relationship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650" y="310075"/>
            <a:ext cx="3224826" cy="43857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217875" y="976925"/>
            <a:ext cx="1485600" cy="15807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18595" r="25209" t="0"/>
          <a:stretch/>
        </p:blipFill>
        <p:spPr>
          <a:xfrm>
            <a:off x="308763" y="1024684"/>
            <a:ext cx="628488" cy="76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5">
            <a:alphaModFix/>
          </a:blip>
          <a:srcRect b="7446" l="23438" r="24068" t="23152"/>
          <a:stretch/>
        </p:blipFill>
        <p:spPr>
          <a:xfrm>
            <a:off x="707209" y="1791179"/>
            <a:ext cx="707654" cy="766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513275" y="2958125"/>
            <a:ext cx="2521200" cy="1649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4">
            <a:alphaModFix/>
          </a:blip>
          <a:srcRect b="0" l="18595" r="25209" t="0"/>
          <a:stretch/>
        </p:blipFill>
        <p:spPr>
          <a:xfrm>
            <a:off x="1604163" y="3005884"/>
            <a:ext cx="628488" cy="76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6">
            <a:alphaModFix/>
          </a:blip>
          <a:srcRect b="23100" l="32985" r="11575" t="34326"/>
          <a:stretch/>
        </p:blipFill>
        <p:spPr>
          <a:xfrm>
            <a:off x="2449222" y="3127112"/>
            <a:ext cx="1056900" cy="52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 rotWithShape="1">
          <a:blip r:embed="rId5">
            <a:alphaModFix/>
          </a:blip>
          <a:srcRect b="7446" l="23438" r="24068" t="23152"/>
          <a:stretch/>
        </p:blipFill>
        <p:spPr>
          <a:xfrm>
            <a:off x="2002609" y="3772379"/>
            <a:ext cx="707654" cy="766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7">
            <a:alphaModFix/>
          </a:blip>
          <a:srcRect b="0" l="16017" r="18580" t="0"/>
          <a:stretch/>
        </p:blipFill>
        <p:spPr>
          <a:xfrm>
            <a:off x="2900112" y="3601993"/>
            <a:ext cx="784296" cy="93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Species-Area Relationship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528950" y="1118950"/>
            <a:ext cx="5326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 general pattern in ecology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Can be used to standardize measurements (or can use similar-sized plots)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Why might you NEED to use different sized plots?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200" y="378875"/>
            <a:ext cx="3224826" cy="438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 - What can they tell us?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0" y="1287763"/>
            <a:ext cx="8759300" cy="25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 - What can they tell us?</a:t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0" y="1287763"/>
            <a:ext cx="8759300" cy="256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368675" y="4077150"/>
            <a:ext cx="69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Why does the curve level out as sample size increases?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 - What can they tell us?</a:t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0" y="1287763"/>
            <a:ext cx="8759300" cy="256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368675" y="4077150"/>
            <a:ext cx="69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</a:t>
            </a:r>
            <a:r>
              <a:rPr lang="en" sz="1800">
                <a:solidFill>
                  <a:schemeClr val="dk2"/>
                </a:solidFill>
              </a:rPr>
              <a:t>How does this relate to alpha and gamma diversity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 - What can they tell us?</a:t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0" y="1287763"/>
            <a:ext cx="8759300" cy="256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368675" y="4077150"/>
            <a:ext cx="69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How does this relate to beta diversity?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types of SAR</a:t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0" y="4835700"/>
            <a:ext cx="532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C1D1E"/>
                </a:solidFill>
                <a:highlight>
                  <a:srgbClr val="FFFFFF"/>
                </a:highlight>
              </a:rPr>
              <a:t>Scheiner, S.M. (2003), Six types of species-area curves. Global Ecology and Biogeography, 12: 441-447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25" y="1017725"/>
            <a:ext cx="3860631" cy="351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types of SAR</a:t>
            </a:r>
            <a:endParaRPr/>
          </a:p>
        </p:txBody>
      </p:sp>
      <p:sp>
        <p:nvSpPr>
          <p:cNvPr id="152" name="Google Shape;152;p24"/>
          <p:cNvSpPr txBox="1"/>
          <p:nvPr/>
        </p:nvSpPr>
        <p:spPr>
          <a:xfrm>
            <a:off x="0" y="4835700"/>
            <a:ext cx="532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C1D1E"/>
                </a:solidFill>
                <a:highlight>
                  <a:srgbClr val="FFFFFF"/>
                </a:highlight>
              </a:rPr>
              <a:t>Scheiner, S.M. (2003), Six types of species-area curves. Global Ecology and Biogeography, 12: 441-447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25" y="1017725"/>
            <a:ext cx="3860631" cy="351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281" y="1123900"/>
            <a:ext cx="4323908" cy="35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the SAR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fit using the equation: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600"/>
              <a:t>S</a:t>
            </a:r>
            <a:r>
              <a:rPr b="1" lang="en" sz="2600"/>
              <a:t> = </a:t>
            </a:r>
            <a:r>
              <a:rPr b="1" i="1" lang="en" sz="2600"/>
              <a:t>cA</a:t>
            </a:r>
            <a:r>
              <a:rPr b="1" baseline="30000" i="1" lang="en" sz="2600"/>
              <a:t>z</a:t>
            </a:r>
            <a:endParaRPr b="1" sz="26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S</a:t>
            </a:r>
            <a:r>
              <a:rPr lang="en"/>
              <a:t> = # Species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A</a:t>
            </a:r>
            <a:r>
              <a:rPr lang="en"/>
              <a:t> = Area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c</a:t>
            </a:r>
            <a:r>
              <a:rPr lang="en"/>
              <a:t> = fitted parameter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z</a:t>
            </a:r>
            <a:r>
              <a:rPr lang="en"/>
              <a:t> = fitted parameter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the SAR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fit using the equation: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600"/>
              <a:t>S</a:t>
            </a:r>
            <a:r>
              <a:rPr b="1" lang="en" sz="2600"/>
              <a:t> = </a:t>
            </a:r>
            <a:r>
              <a:rPr b="1" i="1" lang="en" sz="2600"/>
              <a:t>cA</a:t>
            </a:r>
            <a:r>
              <a:rPr b="1" baseline="30000" i="1" lang="en" sz="2600"/>
              <a:t>z</a:t>
            </a:r>
            <a:endParaRPr b="1"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Or, on a log-scale: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/>
              <a:t>	</a:t>
            </a:r>
            <a:r>
              <a:rPr b="1" lang="en" sz="2600"/>
              <a:t>log(S) = z* log(A)</a:t>
            </a:r>
            <a:r>
              <a:rPr b="1" lang="en" sz="2600"/>
              <a:t> + </a:t>
            </a:r>
            <a:r>
              <a:rPr b="1" lang="en" sz="2600"/>
              <a:t>log(c) </a:t>
            </a:r>
            <a:endParaRPr b="1"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the SAR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fit using the equation: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600"/>
              <a:t>S</a:t>
            </a:r>
            <a:r>
              <a:rPr b="1" lang="en" sz="2600"/>
              <a:t> = </a:t>
            </a:r>
            <a:r>
              <a:rPr b="1" i="1" lang="en" sz="2600"/>
              <a:t>cA</a:t>
            </a:r>
            <a:r>
              <a:rPr b="1" baseline="30000" i="1" lang="en" sz="2600"/>
              <a:t>z</a:t>
            </a:r>
            <a:endParaRPr b="1"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Or, on a log-scale: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	</a:t>
            </a:r>
            <a:r>
              <a:rPr b="1" lang="en" sz="2600"/>
              <a:t>log(S) = z* log(A) + log(c)</a:t>
            </a:r>
            <a:endParaRPr b="1" sz="26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 = mx +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So, on a log scale, z = slope, c = intercept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the SAR</a:t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0" y="1287763"/>
            <a:ext cx="8759300" cy="25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the SAR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2301"/>
            <a:ext cx="7932950" cy="347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</a:t>
            </a:r>
            <a:r>
              <a:rPr lang="en"/>
              <a:t> the SAR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Or, on a log-scale: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	</a:t>
            </a:r>
            <a:r>
              <a:rPr b="1" lang="en" sz="2600"/>
              <a:t>log(S) = z* log(A) + log(c)</a:t>
            </a:r>
            <a:endParaRPr b="1" sz="26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mx +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on a log scale, z = slope, c = intercept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related to beta diversity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 = related to alpha diversity</a:t>
            </a:r>
            <a:endParaRPr/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400" y="301300"/>
            <a:ext cx="3600475" cy="34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might larger areas (or larger samples) contain more species?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might larger areas (or larger samples) contain more species?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More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Lower likelihood of extinction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Higher colonization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By chance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habitat diversity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152475"/>
            <a:ext cx="390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Nearby areas tend to have similar habitats (= spatial autocorrelation)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larger area increases the variation within the sample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habitat diversity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152475"/>
            <a:ext cx="38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Nearby areas tend to have similar habitats (= spatial autocorrelation)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larger area increases the variation within the sample</a:t>
            </a:r>
            <a:endParaRPr/>
          </a:p>
        </p:txBody>
      </p:sp>
      <p:pic>
        <p:nvPicPr>
          <p:cNvPr id="216" name="Google Shape;216;p34"/>
          <p:cNvPicPr preferRelativeResize="0"/>
          <p:nvPr/>
        </p:nvPicPr>
        <p:blipFill rotWithShape="1">
          <a:blip r:embed="rId3">
            <a:alphaModFix/>
          </a:blip>
          <a:srcRect b="4541" l="20285" r="21837" t="6052"/>
          <a:stretch/>
        </p:blipFill>
        <p:spPr>
          <a:xfrm>
            <a:off x="4194076" y="1005900"/>
            <a:ext cx="4638226" cy="403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habitat diversity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152475"/>
            <a:ext cx="38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Nearby areas tend to have similar habitats (= spatial autocorrelation)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larger area increases the variation within the sample</a:t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4541" l="20285" r="21837" t="6052"/>
          <a:stretch/>
        </p:blipFill>
        <p:spPr>
          <a:xfrm>
            <a:off x="4194076" y="1005900"/>
            <a:ext cx="4638226" cy="403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/>
          <p:nvPr/>
        </p:nvSpPr>
        <p:spPr>
          <a:xfrm>
            <a:off x="7147400" y="2699575"/>
            <a:ext cx="148800" cy="15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habitat diversity</a:t>
            </a:r>
            <a:endParaRPr/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11700" y="1152475"/>
            <a:ext cx="38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Nearby areas tend to have similar habitats (= spatial autocorrelation)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larger area increases the variation within the sample</a:t>
            </a:r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 rotWithShape="1">
          <a:blip r:embed="rId3">
            <a:alphaModFix/>
          </a:blip>
          <a:srcRect b="4541" l="20285" r="21837" t="6052"/>
          <a:stretch/>
        </p:blipFill>
        <p:spPr>
          <a:xfrm>
            <a:off x="4194076" y="1005900"/>
            <a:ext cx="4638226" cy="403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/>
          <p:nvPr/>
        </p:nvSpPr>
        <p:spPr>
          <a:xfrm>
            <a:off x="7147400" y="2481575"/>
            <a:ext cx="426000" cy="376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habitat diversity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152475"/>
            <a:ext cx="38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Nearby areas tend to have similar habitats (= spatial autocorrelation)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larger area increases the variation within the sample</a:t>
            </a:r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 rotWithShape="1">
          <a:blip r:embed="rId3">
            <a:alphaModFix/>
          </a:blip>
          <a:srcRect b="4541" l="20285" r="21837" t="6052"/>
          <a:stretch/>
        </p:blipFill>
        <p:spPr>
          <a:xfrm>
            <a:off x="4194076" y="1005900"/>
            <a:ext cx="4638226" cy="403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7"/>
          <p:cNvSpPr/>
          <p:nvPr/>
        </p:nvSpPr>
        <p:spPr>
          <a:xfrm>
            <a:off x="6780700" y="2154525"/>
            <a:ext cx="1466700" cy="1248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Extinctions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Larger areas = larger population sizes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Population size = major predictor of extinction risk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00" y="1936500"/>
            <a:ext cx="5604727" cy="29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8"/>
          <p:cNvPicPr preferRelativeResize="0"/>
          <p:nvPr/>
        </p:nvPicPr>
        <p:blipFill rotWithShape="1">
          <a:blip r:embed="rId4">
            <a:alphaModFix/>
          </a:blip>
          <a:srcRect b="42190" l="15911" r="31849" t="27944"/>
          <a:stretch/>
        </p:blipFill>
        <p:spPr>
          <a:xfrm>
            <a:off x="6431751" y="4087050"/>
            <a:ext cx="2588702" cy="832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Colonization</a:t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Larger areas = bigger targets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9"/>
          <p:cNvPicPr preferRelativeResize="0"/>
          <p:nvPr/>
        </p:nvPicPr>
        <p:blipFill rotWithShape="1">
          <a:blip r:embed="rId3">
            <a:alphaModFix/>
          </a:blip>
          <a:srcRect b="0" l="0" r="43776" t="0"/>
          <a:stretch/>
        </p:blipFill>
        <p:spPr>
          <a:xfrm>
            <a:off x="6980625" y="96125"/>
            <a:ext cx="1782125" cy="495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9"/>
          <p:cNvPicPr preferRelativeResize="0"/>
          <p:nvPr/>
        </p:nvPicPr>
        <p:blipFill rotWithShape="1">
          <a:blip r:embed="rId4">
            <a:alphaModFix/>
          </a:blip>
          <a:srcRect b="38145" l="7242" r="43120" t="37577"/>
          <a:stretch/>
        </p:blipFill>
        <p:spPr>
          <a:xfrm>
            <a:off x="1121825" y="2926575"/>
            <a:ext cx="4538976" cy="12486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the SAR: Chance</a:t>
            </a:r>
            <a:endParaRPr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 are not uniformly distributed in suitable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</a:t>
            </a:r>
            <a:r>
              <a:rPr lang="en"/>
              <a:t>particular</a:t>
            </a:r>
            <a:r>
              <a:rPr lang="en"/>
              <a:t> species may be missed due to chance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We’ll see an example of this later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of Island Biogeography</a:t>
            </a:r>
            <a:endParaRPr/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548102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1"/>
          <p:cNvPicPr preferRelativeResize="0"/>
          <p:nvPr/>
        </p:nvPicPr>
        <p:blipFill rotWithShape="1">
          <a:blip r:embed="rId4">
            <a:alphaModFix/>
          </a:blip>
          <a:srcRect b="46893" l="1739" r="60028" t="37074"/>
          <a:stretch/>
        </p:blipFill>
        <p:spPr>
          <a:xfrm>
            <a:off x="6197800" y="761113"/>
            <a:ext cx="2773099" cy="654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0" name="Google Shape;27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825" y="1754127"/>
            <a:ext cx="1645450" cy="25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Island Biogeography Demo</a:t>
            </a:r>
            <a:endParaRPr/>
          </a:p>
        </p:txBody>
      </p:sp>
      <p:sp>
        <p:nvSpPr>
          <p:cNvPr id="276" name="Google Shape;27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https://www.netlogoweb.org/launch#https://raw.githubusercontent.com/bmaitner/Community_ecology_course/refs/heads/main/NetLogo_demos/island_biogeo.nlogo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 in SARs</a:t>
            </a:r>
            <a:endParaRPr/>
          </a:p>
        </p:txBody>
      </p:sp>
      <p:pic>
        <p:nvPicPr>
          <p:cNvPr id="282" name="Google Shape;2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400" y="301300"/>
            <a:ext cx="3600475" cy="34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Or, on a log-scale: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	</a:t>
            </a:r>
            <a:r>
              <a:rPr b="1" lang="en" sz="2600"/>
              <a:t>log(S) = z* log(A) + log(c)</a:t>
            </a:r>
            <a:endParaRPr b="1" sz="26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mx +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on a log scale, z = slope, c = intercept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related to beta diversity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 = related to alpha diversity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 in SARs</a:t>
            </a:r>
            <a:endParaRPr/>
          </a:p>
        </p:txBody>
      </p:sp>
      <p:pic>
        <p:nvPicPr>
          <p:cNvPr id="289" name="Google Shape;28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400" y="301300"/>
            <a:ext cx="3600475" cy="34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Or, on a log-scale: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	</a:t>
            </a:r>
            <a:r>
              <a:rPr b="1" lang="en" sz="2600"/>
              <a:t>log(S) = z* log(A) + log(c)</a:t>
            </a:r>
            <a:endParaRPr b="1" sz="2600"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mx +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on a log scale, z = slope, c = intercept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related to beta diversity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 = related to alpha diversity</a:t>
            </a:r>
            <a:endParaRPr/>
          </a:p>
        </p:txBody>
      </p:sp>
      <p:sp>
        <p:nvSpPr>
          <p:cNvPr id="291" name="Google Shape;291;p44"/>
          <p:cNvSpPr/>
          <p:nvPr/>
        </p:nvSpPr>
        <p:spPr>
          <a:xfrm>
            <a:off x="388475" y="3175275"/>
            <a:ext cx="3924600" cy="4560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 in SARs</a:t>
            </a:r>
            <a:endParaRPr/>
          </a:p>
        </p:txBody>
      </p:sp>
      <p:pic>
        <p:nvPicPr>
          <p:cNvPr id="297" name="Google Shape;297;p45"/>
          <p:cNvPicPr preferRelativeResize="0"/>
          <p:nvPr/>
        </p:nvPicPr>
        <p:blipFill rotWithShape="1">
          <a:blip r:embed="rId3">
            <a:alphaModFix/>
          </a:blip>
          <a:srcRect b="8873" l="55268" r="25326" t="30432"/>
          <a:stretch/>
        </p:blipFill>
        <p:spPr>
          <a:xfrm>
            <a:off x="6384275" y="132775"/>
            <a:ext cx="2527176" cy="444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/>
          <p:cNvPicPr preferRelativeResize="0"/>
          <p:nvPr/>
        </p:nvPicPr>
        <p:blipFill rotWithShape="1">
          <a:blip r:embed="rId4">
            <a:alphaModFix/>
          </a:blip>
          <a:srcRect b="34974" l="33175" r="4685" t="32418"/>
          <a:stretch/>
        </p:blipFill>
        <p:spPr>
          <a:xfrm>
            <a:off x="2624613" y="3819475"/>
            <a:ext cx="3894773" cy="11496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9" name="Google Shape;299;p45"/>
          <p:cNvSpPr txBox="1"/>
          <p:nvPr/>
        </p:nvSpPr>
        <p:spPr>
          <a:xfrm>
            <a:off x="348850" y="1262575"/>
            <a:ext cx="570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Closer to the equator, species accumulate relatively faster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Larger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accumulate relatively faster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Small species have flat SARs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Tied to species </a:t>
            </a:r>
            <a:r>
              <a:rPr lang="en" sz="1800">
                <a:solidFill>
                  <a:schemeClr val="dk2"/>
                </a:solidFill>
              </a:rPr>
              <a:t>abundance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distributions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Abundance Distribution</a:t>
            </a:r>
            <a:endParaRPr/>
          </a:p>
        </p:txBody>
      </p:sp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general pattern in ecology </a:t>
            </a:r>
            <a:endParaRPr/>
          </a:p>
        </p:txBody>
      </p:sp>
      <p:pic>
        <p:nvPicPr>
          <p:cNvPr id="306" name="Google Shape;306;p46"/>
          <p:cNvPicPr preferRelativeResize="0"/>
          <p:nvPr/>
        </p:nvPicPr>
        <p:blipFill rotWithShape="1">
          <a:blip r:embed="rId3">
            <a:alphaModFix/>
          </a:blip>
          <a:srcRect b="63121" l="27776" r="0" t="8651"/>
          <a:stretch/>
        </p:blipFill>
        <p:spPr>
          <a:xfrm>
            <a:off x="190275" y="1628025"/>
            <a:ext cx="6352051" cy="321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6"/>
          <p:cNvPicPr preferRelativeResize="0"/>
          <p:nvPr/>
        </p:nvPicPr>
        <p:blipFill rotWithShape="1">
          <a:blip r:embed="rId4">
            <a:alphaModFix/>
          </a:blip>
          <a:srcRect b="72636" l="28682" r="3492" t="6554"/>
          <a:stretch/>
        </p:blipFill>
        <p:spPr>
          <a:xfrm>
            <a:off x="6136175" y="3660925"/>
            <a:ext cx="2696126" cy="10703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Abundance Distribution</a:t>
            </a:r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Holds at large taxonomic/spatial scales as well</a:t>
            </a:r>
            <a:endParaRPr/>
          </a:p>
        </p:txBody>
      </p:sp>
      <p:pic>
        <p:nvPicPr>
          <p:cNvPr id="314" name="Google Shape;3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89" y="1574675"/>
            <a:ext cx="632666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7"/>
          <p:cNvPicPr preferRelativeResize="0"/>
          <p:nvPr/>
        </p:nvPicPr>
        <p:blipFill rotWithShape="1">
          <a:blip r:embed="rId4">
            <a:alphaModFix/>
          </a:blip>
          <a:srcRect b="54011" l="30070" r="40232" t="19581"/>
          <a:stretch/>
        </p:blipFill>
        <p:spPr>
          <a:xfrm>
            <a:off x="6561675" y="3576700"/>
            <a:ext cx="2518224" cy="12595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 in brief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species are rare, rare species are common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SADs</a:t>
            </a:r>
            <a:endParaRPr/>
          </a:p>
        </p:txBody>
      </p:sp>
      <p:pic>
        <p:nvPicPr>
          <p:cNvPr id="327" name="Google Shape;327;p49"/>
          <p:cNvPicPr preferRelativeResize="0"/>
          <p:nvPr/>
        </p:nvPicPr>
        <p:blipFill rotWithShape="1">
          <a:blip r:embed="rId3">
            <a:alphaModFix/>
          </a:blip>
          <a:srcRect b="72962" l="27776" r="47320" t="10142"/>
          <a:stretch/>
        </p:blipFill>
        <p:spPr>
          <a:xfrm>
            <a:off x="4154450" y="1213050"/>
            <a:ext cx="3522375" cy="309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SADs</a:t>
            </a:r>
            <a:endParaRPr/>
          </a:p>
        </p:txBody>
      </p:sp>
      <p:pic>
        <p:nvPicPr>
          <p:cNvPr id="333" name="Google Shape;333;p50"/>
          <p:cNvPicPr preferRelativeResize="0"/>
          <p:nvPr/>
        </p:nvPicPr>
        <p:blipFill rotWithShape="1">
          <a:blip r:embed="rId3">
            <a:alphaModFix/>
          </a:blip>
          <a:srcRect b="72962" l="27776" r="47320" t="10142"/>
          <a:stretch/>
        </p:blipFill>
        <p:spPr>
          <a:xfrm>
            <a:off x="4154450" y="1213050"/>
            <a:ext cx="3522375" cy="30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0"/>
          <p:cNvSpPr/>
          <p:nvPr/>
        </p:nvSpPr>
        <p:spPr>
          <a:xfrm>
            <a:off x="4778800" y="1460800"/>
            <a:ext cx="138900" cy="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0"/>
          <p:cNvSpPr/>
          <p:nvPr/>
        </p:nvSpPr>
        <p:spPr>
          <a:xfrm>
            <a:off x="6760875" y="3353675"/>
            <a:ext cx="1011000" cy="82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0"/>
          <p:cNvSpPr txBox="1"/>
          <p:nvPr/>
        </p:nvSpPr>
        <p:spPr>
          <a:xfrm>
            <a:off x="6691500" y="4305100"/>
            <a:ext cx="201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Present in many plots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SADs</a:t>
            </a:r>
            <a:endParaRPr/>
          </a:p>
        </p:txBody>
      </p:sp>
      <p:pic>
        <p:nvPicPr>
          <p:cNvPr id="342" name="Google Shape;342;p51"/>
          <p:cNvPicPr preferRelativeResize="0"/>
          <p:nvPr/>
        </p:nvPicPr>
        <p:blipFill rotWithShape="1">
          <a:blip r:embed="rId3">
            <a:alphaModFix/>
          </a:blip>
          <a:srcRect b="72962" l="27776" r="47320" t="10142"/>
          <a:stretch/>
        </p:blipFill>
        <p:spPr>
          <a:xfrm>
            <a:off x="4154450" y="1213050"/>
            <a:ext cx="3522375" cy="30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1"/>
          <p:cNvSpPr/>
          <p:nvPr/>
        </p:nvSpPr>
        <p:spPr>
          <a:xfrm>
            <a:off x="4778800" y="1460800"/>
            <a:ext cx="138900" cy="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1"/>
          <p:cNvSpPr/>
          <p:nvPr/>
        </p:nvSpPr>
        <p:spPr>
          <a:xfrm>
            <a:off x="6760875" y="3353675"/>
            <a:ext cx="1011000" cy="82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6691500" y="4305100"/>
            <a:ext cx="201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Present in many plots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6" name="Google Shape;346;p51"/>
          <p:cNvSpPr/>
          <p:nvPr/>
        </p:nvSpPr>
        <p:spPr>
          <a:xfrm>
            <a:off x="4703475" y="2382450"/>
            <a:ext cx="1011000" cy="179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1"/>
          <p:cNvSpPr txBox="1"/>
          <p:nvPr/>
        </p:nvSpPr>
        <p:spPr>
          <a:xfrm>
            <a:off x="4263450" y="4305100"/>
            <a:ext cx="216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Present in one/few plots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SADs</a:t>
            </a:r>
            <a:endParaRPr/>
          </a:p>
        </p:txBody>
      </p:sp>
      <p:pic>
        <p:nvPicPr>
          <p:cNvPr id="353" name="Google Shape;353;p52"/>
          <p:cNvPicPr preferRelativeResize="0"/>
          <p:nvPr/>
        </p:nvPicPr>
        <p:blipFill rotWithShape="1">
          <a:blip r:embed="rId3">
            <a:alphaModFix/>
          </a:blip>
          <a:srcRect b="72962" l="27776" r="47320" t="10142"/>
          <a:stretch/>
        </p:blipFill>
        <p:spPr>
          <a:xfrm>
            <a:off x="4154450" y="1213050"/>
            <a:ext cx="3522375" cy="30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2"/>
          <p:cNvSpPr/>
          <p:nvPr/>
        </p:nvSpPr>
        <p:spPr>
          <a:xfrm>
            <a:off x="4778800" y="1460800"/>
            <a:ext cx="138900" cy="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2"/>
          <p:cNvSpPr/>
          <p:nvPr/>
        </p:nvSpPr>
        <p:spPr>
          <a:xfrm>
            <a:off x="6760875" y="3353675"/>
            <a:ext cx="1011000" cy="82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2"/>
          <p:cNvSpPr txBox="1"/>
          <p:nvPr/>
        </p:nvSpPr>
        <p:spPr>
          <a:xfrm>
            <a:off x="6691500" y="4305100"/>
            <a:ext cx="201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Present in many plots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7" name="Google Shape;357;p52"/>
          <p:cNvSpPr/>
          <p:nvPr/>
        </p:nvSpPr>
        <p:spPr>
          <a:xfrm>
            <a:off x="4703475" y="2382450"/>
            <a:ext cx="1011000" cy="179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4263450" y="4305100"/>
            <a:ext cx="216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Present in one/few plots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9" name="Google Shape;359;p52"/>
          <p:cNvSpPr txBox="1"/>
          <p:nvPr/>
        </p:nvSpPr>
        <p:spPr>
          <a:xfrm>
            <a:off x="319125" y="1421150"/>
            <a:ext cx="394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Variation in </a:t>
            </a:r>
            <a:r>
              <a:rPr lang="en" sz="1800">
                <a:solidFill>
                  <a:schemeClr val="dk2"/>
                </a:solidFill>
              </a:rPr>
              <a:t>abundance</a:t>
            </a:r>
            <a:r>
              <a:rPr lang="en" sz="1800">
                <a:solidFill>
                  <a:schemeClr val="dk2"/>
                </a:solidFill>
              </a:rPr>
              <a:t> (evenness) will correspond to rate of encountering species and hence the shape of the SAR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 and SAR demo</a:t>
            </a:r>
            <a:endParaRPr/>
          </a:p>
        </p:txBody>
      </p:sp>
      <p:sp>
        <p:nvSpPr>
          <p:cNvPr id="365" name="Google Shape;36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https://www.netlogoweb.org/launch#https://raw.githubusercontent.com/bmaitner/Community_ecology_course/refs/heads/main/NetLogo_demos/SAR_SAD.nlogo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Drivers of Diversity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