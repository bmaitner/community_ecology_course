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69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6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71.xml"/>
  <Override ContentType="application/vnd.openxmlformats-officedocument.presentationml.slide+xml" PartName="/ppt/slides/slide41.xml"/>
  <Override ContentType="application/vnd.openxmlformats-officedocument.presentationml.slide+xml" PartName="/ppt/slides/slide67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6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7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72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64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  <p:sldId id="321" r:id="rId71"/>
    <p:sldId id="322" r:id="rId72"/>
    <p:sldId id="323" r:id="rId73"/>
    <p:sldId id="324" r:id="rId74"/>
    <p:sldId id="325" r:id="rId75"/>
    <p:sldId id="326" r:id="rId76"/>
    <p:sldId id="327" r:id="rId77"/>
    <p:sldId id="328" r:id="rId7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73" Type="http://schemas.openxmlformats.org/officeDocument/2006/relationships/slide" Target="slides/slide68.xml"/><Relationship Id="rId72" Type="http://schemas.openxmlformats.org/officeDocument/2006/relationships/slide" Target="slides/slide67.xml"/><Relationship Id="rId31" Type="http://schemas.openxmlformats.org/officeDocument/2006/relationships/slide" Target="slides/slide26.xml"/><Relationship Id="rId75" Type="http://schemas.openxmlformats.org/officeDocument/2006/relationships/slide" Target="slides/slide70.xml"/><Relationship Id="rId30" Type="http://schemas.openxmlformats.org/officeDocument/2006/relationships/slide" Target="slides/slide25.xml"/><Relationship Id="rId74" Type="http://schemas.openxmlformats.org/officeDocument/2006/relationships/slide" Target="slides/slide69.xml"/><Relationship Id="rId33" Type="http://schemas.openxmlformats.org/officeDocument/2006/relationships/slide" Target="slides/slide28.xml"/><Relationship Id="rId77" Type="http://schemas.openxmlformats.org/officeDocument/2006/relationships/slide" Target="slides/slide72.xml"/><Relationship Id="rId32" Type="http://schemas.openxmlformats.org/officeDocument/2006/relationships/slide" Target="slides/slide27.xml"/><Relationship Id="rId76" Type="http://schemas.openxmlformats.org/officeDocument/2006/relationships/slide" Target="slides/slide71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78" Type="http://schemas.openxmlformats.org/officeDocument/2006/relationships/slide" Target="slides/slide73.xml"/><Relationship Id="rId71" Type="http://schemas.openxmlformats.org/officeDocument/2006/relationships/slide" Target="slides/slide66.xml"/><Relationship Id="rId70" Type="http://schemas.openxmlformats.org/officeDocument/2006/relationships/slide" Target="slides/slide65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62" Type="http://schemas.openxmlformats.org/officeDocument/2006/relationships/slide" Target="slides/slide57.xml"/><Relationship Id="rId61" Type="http://schemas.openxmlformats.org/officeDocument/2006/relationships/slide" Target="slides/slide56.xml"/><Relationship Id="rId20" Type="http://schemas.openxmlformats.org/officeDocument/2006/relationships/slide" Target="slides/slide15.xml"/><Relationship Id="rId64" Type="http://schemas.openxmlformats.org/officeDocument/2006/relationships/slide" Target="slides/slide59.xml"/><Relationship Id="rId63" Type="http://schemas.openxmlformats.org/officeDocument/2006/relationships/slide" Target="slides/slide58.xml"/><Relationship Id="rId22" Type="http://schemas.openxmlformats.org/officeDocument/2006/relationships/slide" Target="slides/slide17.xml"/><Relationship Id="rId66" Type="http://schemas.openxmlformats.org/officeDocument/2006/relationships/slide" Target="slides/slide61.xml"/><Relationship Id="rId21" Type="http://schemas.openxmlformats.org/officeDocument/2006/relationships/slide" Target="slides/slide16.xml"/><Relationship Id="rId65" Type="http://schemas.openxmlformats.org/officeDocument/2006/relationships/slide" Target="slides/slide60.xml"/><Relationship Id="rId24" Type="http://schemas.openxmlformats.org/officeDocument/2006/relationships/slide" Target="slides/slide19.xml"/><Relationship Id="rId68" Type="http://schemas.openxmlformats.org/officeDocument/2006/relationships/slide" Target="slides/slide63.xml"/><Relationship Id="rId23" Type="http://schemas.openxmlformats.org/officeDocument/2006/relationships/slide" Target="slides/slide18.xml"/><Relationship Id="rId67" Type="http://schemas.openxmlformats.org/officeDocument/2006/relationships/slide" Target="slides/slide62.xml"/><Relationship Id="rId60" Type="http://schemas.openxmlformats.org/officeDocument/2006/relationships/slide" Target="slides/slide55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69" Type="http://schemas.openxmlformats.org/officeDocument/2006/relationships/slide" Target="slides/slide64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55" Type="http://schemas.openxmlformats.org/officeDocument/2006/relationships/slide" Target="slides/slide50.xml"/><Relationship Id="rId10" Type="http://schemas.openxmlformats.org/officeDocument/2006/relationships/slide" Target="slides/slide5.xml"/><Relationship Id="rId54" Type="http://schemas.openxmlformats.org/officeDocument/2006/relationships/slide" Target="slides/slide49.xml"/><Relationship Id="rId13" Type="http://schemas.openxmlformats.org/officeDocument/2006/relationships/slide" Target="slides/slide8.xml"/><Relationship Id="rId57" Type="http://schemas.openxmlformats.org/officeDocument/2006/relationships/slide" Target="slides/slide52.xml"/><Relationship Id="rId12" Type="http://schemas.openxmlformats.org/officeDocument/2006/relationships/slide" Target="slides/slide7.xml"/><Relationship Id="rId56" Type="http://schemas.openxmlformats.org/officeDocument/2006/relationships/slide" Target="slides/slide51.xml"/><Relationship Id="rId15" Type="http://schemas.openxmlformats.org/officeDocument/2006/relationships/slide" Target="slides/slide10.xml"/><Relationship Id="rId59" Type="http://schemas.openxmlformats.org/officeDocument/2006/relationships/slide" Target="slides/slide54.xml"/><Relationship Id="rId14" Type="http://schemas.openxmlformats.org/officeDocument/2006/relationships/slide" Target="slides/slide9.xml"/><Relationship Id="rId58" Type="http://schemas.openxmlformats.org/officeDocument/2006/relationships/slide" Target="slides/slide5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2d8981be037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2d8981be037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3ecb89f54c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3ecb89f54c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3ecb89f54c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3ecb89f54c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3ecb89f54c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3ecb89f54c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3ecb89f54c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3ecb89f54c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2e3ea4d8a39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2e3ea4d8a39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2e3ea4d8a39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2e3ea4d8a39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species exist?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2e3ea4d8a39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2e3ea4d8a39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species can get there?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2e3ea4d8a39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2e3ea4d8a39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</a:t>
            </a:r>
            <a:r>
              <a:rPr lang="en"/>
              <a:t>species</a:t>
            </a:r>
            <a:r>
              <a:rPr lang="en"/>
              <a:t> can </a:t>
            </a:r>
            <a:r>
              <a:rPr lang="en"/>
              <a:t>tolerate</a:t>
            </a:r>
            <a:r>
              <a:rPr lang="en"/>
              <a:t> the environment?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2e3ea4d8a39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2e3ea4d8a39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species can find prey and mutualists and survive predators?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2e3ea4d8a39_0_2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2e3ea4d8a39_0_2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3ecb89f54c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3ecb89f54c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2e3ea4d8a39_0_2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2e3ea4d8a39_0_2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Abiotic excludes round stuff, biotic excludes anything that isn’t blue or green</a:t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2e3ea4d8a39_0_3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2e3ea4d8a39_0_3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Abiotic excludes round stuff, biotic excludes anything that isn’t blue or green</a:t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2e3ea4d8a39_0_3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" name="Google Shape;236;g2e3ea4d8a39_0_3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Abiotic excludes round stuff, biotic excludes anything that isn’t blue or green</a:t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2e3ea4d8a39_0_5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9" name="Google Shape;279;g2e3ea4d8a39_0_5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Abiotic excludes round stuff, biotic excludes anything that isn’t blue or green</a:t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2e3ea4d8a39_0_6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2e3ea4d8a39_0_6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Abiotic excludes round stuff, biotic excludes anything that isn’t blue or green</a:t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g2e3ea4d8a39_0_5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4" name="Google Shape;384;g2e3ea4d8a39_0_5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Abiotic excludes round stuff, biotic excludes anything that isn’t blue or green</a:t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g2e3ea4d8a39_0_7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5" name="Google Shape;435;g2e3ea4d8a39_0_7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Abiotic excludes round stuff, biotic excludes anything that isn’t blue or green</a:t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g2e3ea4d8a39_0_7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8" name="Google Shape;488;g2e3ea4d8a39_0_7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Abiotic excludes round stuff, biotic excludes anything that isn’t blue or green</a:t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g33ecb89f54c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5" name="Google Shape;545;g33ecb89f54c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species can find prey and mutualists and survive predators?</a:t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g33ecb89f54c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1" name="Google Shape;551;g33ecb89f54c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species can find prey and mutualists and survive predators?</a:t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6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g2e3ea4d8a39_0_8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8" name="Google Shape;558;g2e3ea4d8a39_0_8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2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g2e3ea4d8a39_0_8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4" name="Google Shape;564;g2e3ea4d8a39_0_8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9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g2e3ea4d8a39_0_8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1" name="Google Shape;571;g2e3ea4d8a39_0_8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6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g2e3ea4d8a39_0_8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8" name="Google Shape;578;g2e3ea4d8a39_0_8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3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g2e3ea4d8a39_0_9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5" name="Google Shape;585;g2e3ea4d8a39_0_9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species can find prey and mutualists and survive predators?</a:t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0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g2e3ea4d8a39_0_9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2" name="Google Shape;592;g2e3ea4d8a39_0_9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species can find prey and mutualists and survive predators?</a:t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7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g2e3ea4d8a39_0_8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9" name="Google Shape;599;g2e3ea4d8a39_0_8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3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g2e3ea4d8a39_0_8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5" name="Google Shape;605;g2e3ea4d8a39_0_8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9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g2e3ea4d8a39_0_8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1" name="Google Shape;611;g2e3ea4d8a39_0_8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6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g2e3ea4d8a39_0_8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8" name="Google Shape;618;g2e3ea4d8a39_0_8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Note to self: this would be a good place to add a netlogo demo in the future.</a:t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5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Google Shape;626;g2e3ea4d8a39_0_8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7" name="Google Shape;627;g2e3ea4d8a39_0_8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Note to self: this would be a good place to add a netlogo demo in the future.</a:t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2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g2e3ea4d8a39_0_8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4" name="Google Shape;634;g2e3ea4d8a39_0_8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Google Shape;639;g2e3ea4d8a39_0_8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0" name="Google Shape;640;g2e3ea4d8a39_0_8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9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Google Shape;650;g2e3ea4d8a39_0_8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1" name="Google Shape;651;g2e3ea4d8a39_0_8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6" name="Shape 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Google Shape;667;g2e3ea4d8a39_0_9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8" name="Google Shape;668;g2e3ea4d8a39_0_9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6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g2e3ea4d8a39_0_8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8" name="Google Shape;678;g2e3ea4d8a39_0_8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2" name="Shape 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" name="Google Shape;683;g2e3ea4d8a39_0_9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4" name="Google Shape;684;g2e3ea4d8a39_0_9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species can find prey and mutualists and survive predators?</a:t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9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Google Shape;690;g2e3ea4d8a39_0_9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1" name="Google Shape;691;g2e3ea4d8a39_0_9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species can find prey and mutualists and survive predators?</a:t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6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" name="Google Shape;697;g2e3ea4d8a39_0_9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8" name="Google Shape;698;g2e3ea4d8a39_0_9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2" name="Shape 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" name="Google Shape;703;g2e3ea4d8a39_0_10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4" name="Google Shape;704;g2e3ea4d8a39_0_10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0" name="Shape 7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1" name="Google Shape;711;g2e3ea4d8a39_0_10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2" name="Google Shape;712;g2e3ea4d8a39_0_10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0" name="Shape 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1" name="Google Shape;721;g2e3ea4d8a39_0_10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2" name="Google Shape;722;g2e3ea4d8a39_0_10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g2e3ea4d8a39_0_10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3" name="Google Shape;733;g2e3ea4d8a39_0_10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4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g2e3ea4d8a39_0_10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6" name="Google Shape;746;g2e3ea4d8a39_0_10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8" name="Shape 7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9" name="Google Shape;759;g2e3ea4d8a39_0_10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0" name="Google Shape;760;g2e3ea4d8a39_0_10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4" name="Shape 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5" name="Google Shape;765;g33ecb89f54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6" name="Google Shape;766;g33ecb89f54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0" name="Shape 7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1" name="Google Shape;771;g33ecb89f54c_0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2" name="Google Shape;772;g33ecb89f54c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8" name="Shape 8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9" name="Google Shape;809;g33ecb89f54c_0_1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0" name="Google Shape;810;g33ecb89f54c_0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1" name="Shape 8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2" name="Google Shape;852;g33ecb89f54c_0_1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3" name="Google Shape;853;g33ecb89f54c_0_1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1" name="Shape 8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2" name="Google Shape;872;g33ecb89f54c_0_1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3" name="Google Shape;873;g33ecb89f54c_0_1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6" name="Shape 8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7" name="Google Shape;897;g33ecb89f54c_0_2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8" name="Google Shape;898;g33ecb89f54c_0_2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3" name="Shape 9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4" name="Google Shape;904;g33ecb89f54c_0_2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5" name="Google Shape;905;g33ecb89f54c_0_2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1" name="Shape 9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2" name="Google Shape;912;g33ecb89f54c_0_2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3" name="Google Shape;913;g33ecb89f54c_0_2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1" name="Shape 9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" name="Google Shape;922;g33ecb89f54c_0_2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3" name="Google Shape;923;g33ecb89f54c_0_2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9" name="Shape 9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0" name="Google Shape;930;g33ecb89f54c_0_2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1" name="Google Shape;931;g33ecb89f54c_0_2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9" name="Shape 9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0" name="Google Shape;940;g33ecb89f54c_0_2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1" name="Google Shape;941;g33ecb89f54c_0_2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6" name="Shape 9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7" name="Google Shape;947;g33ecb89f54c_0_3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8" name="Google Shape;948;g33ecb89f54c_0_3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4" name="Shape 9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5" name="Google Shape;955;g33ecb89f54c_0_2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6" name="Google Shape;956;g33ecb89f54c_0_2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0" name="Shape 9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1" name="Google Shape;961;g33ecb89f54c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2" name="Google Shape;962;g33ecb89f54c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species can find prey and mutualists and survive predators?</a:t>
            </a:r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7" name="Shape 9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8" name="Google Shape;968;g2e3ea4d8a39_0_9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9" name="Google Shape;969;g2e3ea4d8a39_0_9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species can find prey and mutualists and survive predators?</a:t>
            </a:r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4" name="Shape 9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5" name="Google Shape;975;g2e3ea4d8a39_0_9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6" name="Google Shape;976;g2e3ea4d8a39_0_9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0" name="Shape 9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1" name="Google Shape;981;g33ecb89f54c_0_2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2" name="Google Shape;982;g33ecb89f54c_0_2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6" name="Shape 9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7" name="Google Shape;987;g33ecb89f54c_0_3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8" name="Google Shape;988;g33ecb89f54c_0_3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3" name="Shape 9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4" name="Google Shape;994;g33ecb89f54c_0_3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5" name="Google Shape;995;g33ecb89f54c_0_3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7" name="Shape 10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Google Shape;1028;g33ecb89f54c_0_4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9" name="Google Shape;1029;g33ecb89f54c_0_4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2" name="Shape 10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3" name="Google Shape;1073;g33ecb89f54c_0_4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4" name="Google Shape;1074;g33ecb89f54c_0_4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8" name="Shape 10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9" name="Google Shape;1079;g33ecb89f54c_0_5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0" name="Google Shape;1080;g33ecb89f54c_0_5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species can find prey and mutualists and survive predators?</a:t>
            </a:r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5" name="Shape 10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6" name="Google Shape;1086;g33ecb89f54c_0_5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7" name="Google Shape;1087;g33ecb89f54c_0_5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species can find prey and mutualists and survive predators?</a:t>
            </a:r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1" name="Shape 10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2" name="Google Shape;1092;g33ecb89f54c_0_2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3" name="Google Shape;1093;g33ecb89f54c_0_2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9" name="Shape 1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0" name="Google Shape;1150;g33ecb89f54c_0_5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1" name="Google Shape;1151;g33ecb89f54c_0_5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5" name="Shape 1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6" name="Google Shape;1156;g2d8981be037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7" name="Google Shape;1157;g2d8981be037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4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4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4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4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6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7.png"/><Relationship Id="rId4" Type="http://schemas.openxmlformats.org/officeDocument/2006/relationships/image" Target="../media/image3.png"/><Relationship Id="rId5" Type="http://schemas.openxmlformats.org/officeDocument/2006/relationships/image" Target="../media/image6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7.png"/><Relationship Id="rId4" Type="http://schemas.openxmlformats.org/officeDocument/2006/relationships/image" Target="../media/image3.png"/><Relationship Id="rId5" Type="http://schemas.openxmlformats.org/officeDocument/2006/relationships/image" Target="../media/image6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2.pn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2.pn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5.pn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5.pn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5.png"/><Relationship Id="rId4" Type="http://schemas.openxmlformats.org/officeDocument/2006/relationships/image" Target="../media/image8.png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8.png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8.png"/><Relationship Id="rId4" Type="http://schemas.openxmlformats.org/officeDocument/2006/relationships/image" Target="../media/image11.png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9.png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12.png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10.png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7.xml"/><Relationship Id="rId3" Type="http://schemas.openxmlformats.org/officeDocument/2006/relationships/image" Target="../media/image2.png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0" y="744575"/>
            <a:ext cx="8520600" cy="115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Community Assembly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389575"/>
            <a:ext cx="8520600" cy="243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Today’s Agenda:</a:t>
            </a:r>
            <a:endParaRPr b="1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-406400" lvl="0" marL="457200" rtl="0" algn="ctr"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n"/>
              <a:t>Network</a:t>
            </a:r>
            <a:r>
              <a:rPr lang="en"/>
              <a:t> assignment reminder</a:t>
            </a:r>
            <a:endParaRPr/>
          </a:p>
          <a:p>
            <a:pPr indent="-406400" lvl="0" marL="457200" rtl="0" algn="ctr"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n"/>
              <a:t>Paper presentation 2</a:t>
            </a:r>
            <a:endParaRPr/>
          </a:p>
          <a:p>
            <a:pPr indent="-406400" lvl="0" marL="457200" rtl="0" algn="ctr"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n"/>
              <a:t>Quiz</a:t>
            </a:r>
            <a:endParaRPr/>
          </a:p>
          <a:p>
            <a:pPr indent="-406400" lvl="0" marL="457200" rtl="0" algn="ctr"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n"/>
              <a:t>Community Assembly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Network assignment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Reminder: Network assignment is due Friday (14 March) by midnight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Paper presentation 2: Community Assembly (26 March)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Step 1: Find a paper on community assembly in your system (or one you pick)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Step 2: Make 2 slides explaining the paper</a:t>
            </a:r>
            <a:endParaRPr>
              <a:solidFill>
                <a:schemeClr val="dk1"/>
              </a:solidFill>
            </a:endParaRPr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Slide 1) graphics made by you that explain what was done in the study</a:t>
            </a:r>
            <a:endParaRPr>
              <a:solidFill>
                <a:schemeClr val="dk1"/>
              </a:solidFill>
            </a:endParaRPr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Slide 2) what they found (should include results figure(s) from paper)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Step 3: Present the paper using those two slides (5 minute max)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Paper presentation 2: Community Assembly (26 March)</a:t>
            </a:r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2000">
                <a:solidFill>
                  <a:schemeClr val="dk1"/>
                </a:solidFill>
              </a:rPr>
              <a:t>Grade Breakdown: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Graphics made by student help convey key information 		20%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Minimal text 												20%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Overall slide quality											10%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Understanding and explanation of the chosen paper  		20%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Focus on key findings										20%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Overall presentation quality									10%</a:t>
            </a:r>
            <a:endParaRPr sz="26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Questions on assignments?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Community assembly</a:t>
            </a:r>
            <a:endParaRPr/>
          </a:p>
        </p:txBody>
      </p:sp>
      <p:sp>
        <p:nvSpPr>
          <p:cNvPr id="84" name="Google Shape;84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do these particular species occur in this community?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Essentially the core question of community assembly theory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Community assembly</a:t>
            </a:r>
            <a:endParaRPr/>
          </a:p>
        </p:txBody>
      </p:sp>
      <p:sp>
        <p:nvSpPr>
          <p:cNvPr id="90" name="Google Shape;90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Community assembly focuses on a few key concepts: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AutoNum type="arabicParenR"/>
            </a:pPr>
            <a:r>
              <a:rPr lang="en"/>
              <a:t>Regional species pool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Community assembly</a:t>
            </a:r>
            <a:endParaRPr/>
          </a:p>
        </p:txBody>
      </p:sp>
      <p:sp>
        <p:nvSpPr>
          <p:cNvPr id="96" name="Google Shape;96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Community assembly focuses on a few key concepts: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AutoNum type="arabicParenR"/>
            </a:pPr>
            <a:r>
              <a:rPr lang="en"/>
              <a:t>Regional species pool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"/>
              <a:t>Dispersal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Community assembly</a:t>
            </a:r>
            <a:endParaRPr/>
          </a:p>
        </p:txBody>
      </p:sp>
      <p:sp>
        <p:nvSpPr>
          <p:cNvPr id="102" name="Google Shape;102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Community assembly focuses on a few key concepts: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AutoNum type="arabicParenR"/>
            </a:pPr>
            <a:r>
              <a:rPr lang="en"/>
              <a:t>Regional species pool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"/>
              <a:t>Dispersal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"/>
              <a:t>Environmental filtering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Community assembly</a:t>
            </a:r>
            <a:endParaRPr/>
          </a:p>
        </p:txBody>
      </p:sp>
      <p:sp>
        <p:nvSpPr>
          <p:cNvPr id="108" name="Google Shape;108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Community assembly focuses on a few key concepts: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AutoNum type="arabicParenR"/>
            </a:pPr>
            <a:r>
              <a:rPr lang="en"/>
              <a:t>Regional species pool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"/>
              <a:t>Dispersal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"/>
              <a:t>Environmental filtering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"/>
              <a:t>Biotic filtering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3"/>
          <p:cNvSpPr/>
          <p:nvPr/>
        </p:nvSpPr>
        <p:spPr>
          <a:xfrm>
            <a:off x="329025" y="1411250"/>
            <a:ext cx="1476600" cy="32208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23"/>
          <p:cNvSpPr txBox="1"/>
          <p:nvPr/>
        </p:nvSpPr>
        <p:spPr>
          <a:xfrm>
            <a:off x="329025" y="1017725"/>
            <a:ext cx="14766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</a:rPr>
              <a:t>Species pool</a:t>
            </a:r>
            <a:endParaRPr sz="1700"/>
          </a:p>
        </p:txBody>
      </p:sp>
      <p:sp>
        <p:nvSpPr>
          <p:cNvPr id="115" name="Google Shape;115;p23"/>
          <p:cNvSpPr/>
          <p:nvPr/>
        </p:nvSpPr>
        <p:spPr>
          <a:xfrm>
            <a:off x="606525" y="1718475"/>
            <a:ext cx="297300" cy="297300"/>
          </a:xfrm>
          <a:prstGeom prst="rect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23"/>
          <p:cNvSpPr/>
          <p:nvPr/>
        </p:nvSpPr>
        <p:spPr>
          <a:xfrm>
            <a:off x="1292325" y="2175675"/>
            <a:ext cx="297300" cy="297300"/>
          </a:xfrm>
          <a:prstGeom prst="rect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23"/>
          <p:cNvSpPr/>
          <p:nvPr/>
        </p:nvSpPr>
        <p:spPr>
          <a:xfrm>
            <a:off x="691975" y="2749150"/>
            <a:ext cx="386400" cy="297300"/>
          </a:xfrm>
          <a:prstGeom prst="triangle">
            <a:avLst>
              <a:gd fmla="val 50000" name="adj"/>
            </a:avLst>
          </a:prstGeom>
          <a:solidFill>
            <a:srgbClr val="00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23"/>
          <p:cNvSpPr/>
          <p:nvPr/>
        </p:nvSpPr>
        <p:spPr>
          <a:xfrm>
            <a:off x="1307725" y="2909475"/>
            <a:ext cx="297300" cy="247800"/>
          </a:xfrm>
          <a:prstGeom prst="trapezoid">
            <a:avLst>
              <a:gd fmla="val 25000" name="adj"/>
            </a:avLst>
          </a:prstGeom>
          <a:solidFill>
            <a:srgbClr val="9FC5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23"/>
          <p:cNvSpPr/>
          <p:nvPr/>
        </p:nvSpPr>
        <p:spPr>
          <a:xfrm>
            <a:off x="725450" y="3621250"/>
            <a:ext cx="297300" cy="297300"/>
          </a:xfrm>
          <a:prstGeom prst="ellipse">
            <a:avLst/>
          </a:prstGeom>
          <a:solidFill>
            <a:srgbClr val="93C47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23"/>
          <p:cNvSpPr/>
          <p:nvPr/>
        </p:nvSpPr>
        <p:spPr>
          <a:xfrm>
            <a:off x="665975" y="2220150"/>
            <a:ext cx="386400" cy="247800"/>
          </a:xfrm>
          <a:prstGeom prst="parallelogram">
            <a:avLst>
              <a:gd fmla="val 25000" name="adj"/>
            </a:avLst>
          </a:prstGeom>
          <a:solidFill>
            <a:srgbClr val="FF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23"/>
          <p:cNvSpPr/>
          <p:nvPr/>
        </p:nvSpPr>
        <p:spPr>
          <a:xfrm>
            <a:off x="1182650" y="3773650"/>
            <a:ext cx="297300" cy="297300"/>
          </a:xfrm>
          <a:prstGeom prst="ellipse">
            <a:avLst/>
          </a:prstGeom>
          <a:solidFill>
            <a:srgbClr val="D5A6B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23"/>
          <p:cNvSpPr/>
          <p:nvPr/>
        </p:nvSpPr>
        <p:spPr>
          <a:xfrm>
            <a:off x="844375" y="3130150"/>
            <a:ext cx="386400" cy="297300"/>
          </a:xfrm>
          <a:prstGeom prst="triangle">
            <a:avLst>
              <a:gd fmla="val 50000" name="adj"/>
            </a:avLst>
          </a:prstGeom>
          <a:solidFill>
            <a:srgbClr val="38761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4"/>
          <p:cNvSpPr/>
          <p:nvPr/>
        </p:nvSpPr>
        <p:spPr>
          <a:xfrm>
            <a:off x="329025" y="1411250"/>
            <a:ext cx="1476600" cy="32208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24"/>
          <p:cNvSpPr/>
          <p:nvPr/>
        </p:nvSpPr>
        <p:spPr>
          <a:xfrm>
            <a:off x="3054325" y="1514100"/>
            <a:ext cx="1476600" cy="9279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24"/>
          <p:cNvSpPr txBox="1"/>
          <p:nvPr/>
        </p:nvSpPr>
        <p:spPr>
          <a:xfrm>
            <a:off x="329025" y="1017725"/>
            <a:ext cx="14766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</a:rPr>
              <a:t>Species pool</a:t>
            </a:r>
            <a:endParaRPr sz="1700"/>
          </a:p>
        </p:txBody>
      </p:sp>
      <p:sp>
        <p:nvSpPr>
          <p:cNvPr id="130" name="Google Shape;130;p24"/>
          <p:cNvSpPr txBox="1"/>
          <p:nvPr/>
        </p:nvSpPr>
        <p:spPr>
          <a:xfrm>
            <a:off x="1691675" y="1005000"/>
            <a:ext cx="14766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</a:rPr>
              <a:t>Dispersal</a:t>
            </a:r>
            <a:endParaRPr sz="1700"/>
          </a:p>
        </p:txBody>
      </p:sp>
      <p:sp>
        <p:nvSpPr>
          <p:cNvPr id="131" name="Google Shape;131;p24"/>
          <p:cNvSpPr/>
          <p:nvPr/>
        </p:nvSpPr>
        <p:spPr>
          <a:xfrm>
            <a:off x="3054325" y="2504700"/>
            <a:ext cx="1476600" cy="9279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24"/>
          <p:cNvSpPr/>
          <p:nvPr/>
        </p:nvSpPr>
        <p:spPr>
          <a:xfrm>
            <a:off x="3054325" y="3495300"/>
            <a:ext cx="1476600" cy="9279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24"/>
          <p:cNvSpPr txBox="1"/>
          <p:nvPr/>
        </p:nvSpPr>
        <p:spPr>
          <a:xfrm>
            <a:off x="2987075" y="1005000"/>
            <a:ext cx="14766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</a:rPr>
              <a:t>Communities</a:t>
            </a:r>
            <a:endParaRPr sz="1700"/>
          </a:p>
        </p:txBody>
      </p:sp>
      <p:sp>
        <p:nvSpPr>
          <p:cNvPr id="134" name="Google Shape;134;p24"/>
          <p:cNvSpPr/>
          <p:nvPr/>
        </p:nvSpPr>
        <p:spPr>
          <a:xfrm>
            <a:off x="606525" y="1718475"/>
            <a:ext cx="297300" cy="297300"/>
          </a:xfrm>
          <a:prstGeom prst="rect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24"/>
          <p:cNvSpPr/>
          <p:nvPr/>
        </p:nvSpPr>
        <p:spPr>
          <a:xfrm>
            <a:off x="1292325" y="2175675"/>
            <a:ext cx="297300" cy="297300"/>
          </a:xfrm>
          <a:prstGeom prst="rect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24"/>
          <p:cNvSpPr/>
          <p:nvPr/>
        </p:nvSpPr>
        <p:spPr>
          <a:xfrm>
            <a:off x="691975" y="2749150"/>
            <a:ext cx="386400" cy="297300"/>
          </a:xfrm>
          <a:prstGeom prst="triangle">
            <a:avLst>
              <a:gd fmla="val 50000" name="adj"/>
            </a:avLst>
          </a:prstGeom>
          <a:solidFill>
            <a:srgbClr val="00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24"/>
          <p:cNvSpPr/>
          <p:nvPr/>
        </p:nvSpPr>
        <p:spPr>
          <a:xfrm>
            <a:off x="1307725" y="2909475"/>
            <a:ext cx="297300" cy="247800"/>
          </a:xfrm>
          <a:prstGeom prst="trapezoid">
            <a:avLst>
              <a:gd fmla="val 25000" name="adj"/>
            </a:avLst>
          </a:prstGeom>
          <a:solidFill>
            <a:srgbClr val="9FC5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24"/>
          <p:cNvSpPr/>
          <p:nvPr/>
        </p:nvSpPr>
        <p:spPr>
          <a:xfrm>
            <a:off x="725450" y="3621250"/>
            <a:ext cx="297300" cy="297300"/>
          </a:xfrm>
          <a:prstGeom prst="ellipse">
            <a:avLst/>
          </a:prstGeom>
          <a:solidFill>
            <a:srgbClr val="93C47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24"/>
          <p:cNvSpPr/>
          <p:nvPr/>
        </p:nvSpPr>
        <p:spPr>
          <a:xfrm>
            <a:off x="4139525" y="2042250"/>
            <a:ext cx="297300" cy="297300"/>
          </a:xfrm>
          <a:prstGeom prst="rect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24"/>
          <p:cNvSpPr/>
          <p:nvPr/>
        </p:nvSpPr>
        <p:spPr>
          <a:xfrm>
            <a:off x="3881525" y="2612175"/>
            <a:ext cx="297300" cy="297300"/>
          </a:xfrm>
          <a:prstGeom prst="rect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24"/>
          <p:cNvSpPr/>
          <p:nvPr/>
        </p:nvSpPr>
        <p:spPr>
          <a:xfrm>
            <a:off x="3836975" y="3026675"/>
            <a:ext cx="386400" cy="297300"/>
          </a:xfrm>
          <a:prstGeom prst="triangle">
            <a:avLst>
              <a:gd fmla="val 50000" name="adj"/>
            </a:avLst>
          </a:prstGeom>
          <a:solidFill>
            <a:srgbClr val="00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24"/>
          <p:cNvSpPr/>
          <p:nvPr/>
        </p:nvSpPr>
        <p:spPr>
          <a:xfrm>
            <a:off x="3968575" y="3542863"/>
            <a:ext cx="297300" cy="297300"/>
          </a:xfrm>
          <a:prstGeom prst="ellipse">
            <a:avLst/>
          </a:prstGeom>
          <a:solidFill>
            <a:srgbClr val="93C47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24"/>
          <p:cNvSpPr/>
          <p:nvPr/>
        </p:nvSpPr>
        <p:spPr>
          <a:xfrm>
            <a:off x="3968575" y="1579800"/>
            <a:ext cx="297300" cy="297300"/>
          </a:xfrm>
          <a:prstGeom prst="ellipse">
            <a:avLst/>
          </a:prstGeom>
          <a:solidFill>
            <a:srgbClr val="93C47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24"/>
          <p:cNvSpPr/>
          <p:nvPr/>
        </p:nvSpPr>
        <p:spPr>
          <a:xfrm>
            <a:off x="665975" y="2220150"/>
            <a:ext cx="386400" cy="247800"/>
          </a:xfrm>
          <a:prstGeom prst="parallelogram">
            <a:avLst>
              <a:gd fmla="val 25000" name="adj"/>
            </a:avLst>
          </a:prstGeom>
          <a:solidFill>
            <a:srgbClr val="FF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24"/>
          <p:cNvSpPr/>
          <p:nvPr/>
        </p:nvSpPr>
        <p:spPr>
          <a:xfrm>
            <a:off x="1182650" y="3773650"/>
            <a:ext cx="297300" cy="297300"/>
          </a:xfrm>
          <a:prstGeom prst="ellipse">
            <a:avLst/>
          </a:prstGeom>
          <a:solidFill>
            <a:srgbClr val="D5A6B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24"/>
          <p:cNvSpPr/>
          <p:nvPr/>
        </p:nvSpPr>
        <p:spPr>
          <a:xfrm>
            <a:off x="3163850" y="3011650"/>
            <a:ext cx="297300" cy="297300"/>
          </a:xfrm>
          <a:prstGeom prst="ellipse">
            <a:avLst/>
          </a:prstGeom>
          <a:solidFill>
            <a:srgbClr val="D5A6B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24"/>
          <p:cNvSpPr/>
          <p:nvPr/>
        </p:nvSpPr>
        <p:spPr>
          <a:xfrm>
            <a:off x="844375" y="3130150"/>
            <a:ext cx="386400" cy="297300"/>
          </a:xfrm>
          <a:prstGeom prst="triangle">
            <a:avLst>
              <a:gd fmla="val 50000" name="adj"/>
            </a:avLst>
          </a:prstGeom>
          <a:solidFill>
            <a:srgbClr val="38761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24"/>
          <p:cNvSpPr/>
          <p:nvPr/>
        </p:nvSpPr>
        <p:spPr>
          <a:xfrm>
            <a:off x="4094975" y="4048950"/>
            <a:ext cx="386400" cy="247800"/>
          </a:xfrm>
          <a:prstGeom prst="parallelogram">
            <a:avLst>
              <a:gd fmla="val 25000" name="adj"/>
            </a:avLst>
          </a:prstGeom>
          <a:solidFill>
            <a:srgbClr val="FF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24"/>
          <p:cNvSpPr/>
          <p:nvPr/>
        </p:nvSpPr>
        <p:spPr>
          <a:xfrm>
            <a:off x="3282775" y="3663550"/>
            <a:ext cx="386400" cy="297300"/>
          </a:xfrm>
          <a:prstGeom prst="triangle">
            <a:avLst>
              <a:gd fmla="val 50000" name="adj"/>
            </a:avLst>
          </a:prstGeom>
          <a:solidFill>
            <a:srgbClr val="38761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24"/>
          <p:cNvSpPr/>
          <p:nvPr/>
        </p:nvSpPr>
        <p:spPr>
          <a:xfrm>
            <a:off x="3358975" y="2063350"/>
            <a:ext cx="386400" cy="297300"/>
          </a:xfrm>
          <a:prstGeom prst="triangle">
            <a:avLst>
              <a:gd fmla="val 50000" name="adj"/>
            </a:avLst>
          </a:prstGeom>
          <a:solidFill>
            <a:srgbClr val="38761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24"/>
          <p:cNvSpPr/>
          <p:nvPr/>
        </p:nvSpPr>
        <p:spPr>
          <a:xfrm>
            <a:off x="3349725" y="4080675"/>
            <a:ext cx="297300" cy="297300"/>
          </a:xfrm>
          <a:prstGeom prst="rect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24"/>
          <p:cNvSpPr/>
          <p:nvPr/>
        </p:nvSpPr>
        <p:spPr>
          <a:xfrm>
            <a:off x="3365125" y="1614075"/>
            <a:ext cx="297300" cy="247800"/>
          </a:xfrm>
          <a:prstGeom prst="trapezoid">
            <a:avLst>
              <a:gd fmla="val 25000" name="adj"/>
            </a:avLst>
          </a:prstGeom>
          <a:solidFill>
            <a:srgbClr val="9FC5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24"/>
          <p:cNvSpPr/>
          <p:nvPr/>
        </p:nvSpPr>
        <p:spPr>
          <a:xfrm>
            <a:off x="3637775" y="1915350"/>
            <a:ext cx="386400" cy="247800"/>
          </a:xfrm>
          <a:prstGeom prst="parallelogram">
            <a:avLst>
              <a:gd fmla="val 25000" name="adj"/>
            </a:avLst>
          </a:prstGeom>
          <a:solidFill>
            <a:srgbClr val="FF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54" name="Google Shape;154;p24"/>
          <p:cNvCxnSpPr>
            <a:stCxn id="127" idx="3"/>
            <a:endCxn id="128" idx="1"/>
          </p:cNvCxnSpPr>
          <p:nvPr/>
        </p:nvCxnSpPr>
        <p:spPr>
          <a:xfrm flipH="1" rot="10800000">
            <a:off x="1805625" y="1977950"/>
            <a:ext cx="1248600" cy="10437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5" name="Google Shape;155;p24"/>
          <p:cNvCxnSpPr>
            <a:stCxn id="127" idx="3"/>
            <a:endCxn id="131" idx="1"/>
          </p:cNvCxnSpPr>
          <p:nvPr/>
        </p:nvCxnSpPr>
        <p:spPr>
          <a:xfrm flipH="1" rot="10800000">
            <a:off x="1805625" y="2968550"/>
            <a:ext cx="1248600" cy="531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6" name="Google Shape;156;p24"/>
          <p:cNvCxnSpPr>
            <a:stCxn id="127" idx="3"/>
            <a:endCxn id="132" idx="1"/>
          </p:cNvCxnSpPr>
          <p:nvPr/>
        </p:nvCxnSpPr>
        <p:spPr>
          <a:xfrm>
            <a:off x="1805625" y="3021650"/>
            <a:ext cx="1248600" cy="9375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5"/>
          <p:cNvSpPr/>
          <p:nvPr/>
        </p:nvSpPr>
        <p:spPr>
          <a:xfrm>
            <a:off x="329025" y="1411250"/>
            <a:ext cx="1476600" cy="32208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25"/>
          <p:cNvSpPr/>
          <p:nvPr/>
        </p:nvSpPr>
        <p:spPr>
          <a:xfrm>
            <a:off x="3054325" y="1514100"/>
            <a:ext cx="1476600" cy="9279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25"/>
          <p:cNvSpPr txBox="1"/>
          <p:nvPr/>
        </p:nvSpPr>
        <p:spPr>
          <a:xfrm>
            <a:off x="329025" y="1017725"/>
            <a:ext cx="14766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</a:rPr>
              <a:t>Species pool</a:t>
            </a:r>
            <a:endParaRPr sz="1700"/>
          </a:p>
        </p:txBody>
      </p:sp>
      <p:sp>
        <p:nvSpPr>
          <p:cNvPr id="164" name="Google Shape;164;p25"/>
          <p:cNvSpPr txBox="1"/>
          <p:nvPr/>
        </p:nvSpPr>
        <p:spPr>
          <a:xfrm>
            <a:off x="1691675" y="1005000"/>
            <a:ext cx="14766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</a:rPr>
              <a:t>Dispersal</a:t>
            </a:r>
            <a:endParaRPr sz="1700"/>
          </a:p>
        </p:txBody>
      </p:sp>
      <p:sp>
        <p:nvSpPr>
          <p:cNvPr id="165" name="Google Shape;165;p25"/>
          <p:cNvSpPr/>
          <p:nvPr/>
        </p:nvSpPr>
        <p:spPr>
          <a:xfrm>
            <a:off x="3054325" y="2504700"/>
            <a:ext cx="1476600" cy="9279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25"/>
          <p:cNvSpPr/>
          <p:nvPr/>
        </p:nvSpPr>
        <p:spPr>
          <a:xfrm>
            <a:off x="3054325" y="3495300"/>
            <a:ext cx="1476600" cy="9279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25"/>
          <p:cNvSpPr txBox="1"/>
          <p:nvPr/>
        </p:nvSpPr>
        <p:spPr>
          <a:xfrm>
            <a:off x="2987075" y="1005000"/>
            <a:ext cx="14766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</a:rPr>
              <a:t>Communities</a:t>
            </a:r>
            <a:endParaRPr sz="1700"/>
          </a:p>
        </p:txBody>
      </p:sp>
      <p:sp>
        <p:nvSpPr>
          <p:cNvPr id="168" name="Google Shape;168;p25"/>
          <p:cNvSpPr txBox="1"/>
          <p:nvPr/>
        </p:nvSpPr>
        <p:spPr>
          <a:xfrm>
            <a:off x="4633250" y="776400"/>
            <a:ext cx="9216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</a:rPr>
              <a:t>Abiotic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</a:rPr>
              <a:t>Filter</a:t>
            </a:r>
            <a:endParaRPr sz="1700"/>
          </a:p>
        </p:txBody>
      </p:sp>
      <p:cxnSp>
        <p:nvCxnSpPr>
          <p:cNvPr id="169" name="Google Shape;169;p25"/>
          <p:cNvCxnSpPr>
            <a:stCxn id="168" idx="2"/>
          </p:cNvCxnSpPr>
          <p:nvPr/>
        </p:nvCxnSpPr>
        <p:spPr>
          <a:xfrm>
            <a:off x="5094050" y="1484400"/>
            <a:ext cx="1800" cy="29991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70" name="Google Shape;170;p25"/>
          <p:cNvSpPr/>
          <p:nvPr/>
        </p:nvSpPr>
        <p:spPr>
          <a:xfrm>
            <a:off x="606525" y="1718475"/>
            <a:ext cx="297300" cy="297300"/>
          </a:xfrm>
          <a:prstGeom prst="rect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25"/>
          <p:cNvSpPr/>
          <p:nvPr/>
        </p:nvSpPr>
        <p:spPr>
          <a:xfrm>
            <a:off x="1292325" y="2175675"/>
            <a:ext cx="297300" cy="297300"/>
          </a:xfrm>
          <a:prstGeom prst="rect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25"/>
          <p:cNvSpPr/>
          <p:nvPr/>
        </p:nvSpPr>
        <p:spPr>
          <a:xfrm>
            <a:off x="691975" y="2749150"/>
            <a:ext cx="386400" cy="297300"/>
          </a:xfrm>
          <a:prstGeom prst="triangle">
            <a:avLst>
              <a:gd fmla="val 50000" name="adj"/>
            </a:avLst>
          </a:prstGeom>
          <a:solidFill>
            <a:srgbClr val="00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25"/>
          <p:cNvSpPr/>
          <p:nvPr/>
        </p:nvSpPr>
        <p:spPr>
          <a:xfrm>
            <a:off x="1307725" y="2909475"/>
            <a:ext cx="297300" cy="247800"/>
          </a:xfrm>
          <a:prstGeom prst="trapezoid">
            <a:avLst>
              <a:gd fmla="val 25000" name="adj"/>
            </a:avLst>
          </a:prstGeom>
          <a:solidFill>
            <a:srgbClr val="9FC5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25"/>
          <p:cNvSpPr/>
          <p:nvPr/>
        </p:nvSpPr>
        <p:spPr>
          <a:xfrm>
            <a:off x="725450" y="3621250"/>
            <a:ext cx="297300" cy="297300"/>
          </a:xfrm>
          <a:prstGeom prst="ellipse">
            <a:avLst/>
          </a:prstGeom>
          <a:solidFill>
            <a:srgbClr val="93C47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25"/>
          <p:cNvSpPr/>
          <p:nvPr/>
        </p:nvSpPr>
        <p:spPr>
          <a:xfrm>
            <a:off x="4139525" y="2042250"/>
            <a:ext cx="297300" cy="297300"/>
          </a:xfrm>
          <a:prstGeom prst="rect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25"/>
          <p:cNvSpPr/>
          <p:nvPr/>
        </p:nvSpPr>
        <p:spPr>
          <a:xfrm>
            <a:off x="3881525" y="2612175"/>
            <a:ext cx="297300" cy="297300"/>
          </a:xfrm>
          <a:prstGeom prst="rect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25"/>
          <p:cNvSpPr/>
          <p:nvPr/>
        </p:nvSpPr>
        <p:spPr>
          <a:xfrm>
            <a:off x="3836975" y="3026675"/>
            <a:ext cx="386400" cy="297300"/>
          </a:xfrm>
          <a:prstGeom prst="triangle">
            <a:avLst>
              <a:gd fmla="val 50000" name="adj"/>
            </a:avLst>
          </a:prstGeom>
          <a:solidFill>
            <a:srgbClr val="00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25"/>
          <p:cNvSpPr/>
          <p:nvPr/>
        </p:nvSpPr>
        <p:spPr>
          <a:xfrm>
            <a:off x="3968575" y="3542863"/>
            <a:ext cx="297300" cy="297300"/>
          </a:xfrm>
          <a:prstGeom prst="ellipse">
            <a:avLst/>
          </a:prstGeom>
          <a:solidFill>
            <a:srgbClr val="93C47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25"/>
          <p:cNvSpPr/>
          <p:nvPr/>
        </p:nvSpPr>
        <p:spPr>
          <a:xfrm>
            <a:off x="3968575" y="1579800"/>
            <a:ext cx="297300" cy="297300"/>
          </a:xfrm>
          <a:prstGeom prst="ellipse">
            <a:avLst/>
          </a:prstGeom>
          <a:solidFill>
            <a:srgbClr val="93C47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25"/>
          <p:cNvSpPr/>
          <p:nvPr/>
        </p:nvSpPr>
        <p:spPr>
          <a:xfrm>
            <a:off x="665975" y="2220150"/>
            <a:ext cx="386400" cy="247800"/>
          </a:xfrm>
          <a:prstGeom prst="parallelogram">
            <a:avLst>
              <a:gd fmla="val 25000" name="adj"/>
            </a:avLst>
          </a:prstGeom>
          <a:solidFill>
            <a:srgbClr val="FF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25"/>
          <p:cNvSpPr/>
          <p:nvPr/>
        </p:nvSpPr>
        <p:spPr>
          <a:xfrm>
            <a:off x="1182650" y="3773650"/>
            <a:ext cx="297300" cy="297300"/>
          </a:xfrm>
          <a:prstGeom prst="ellipse">
            <a:avLst/>
          </a:prstGeom>
          <a:solidFill>
            <a:srgbClr val="D5A6B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25"/>
          <p:cNvSpPr/>
          <p:nvPr/>
        </p:nvSpPr>
        <p:spPr>
          <a:xfrm>
            <a:off x="3163850" y="3011650"/>
            <a:ext cx="297300" cy="297300"/>
          </a:xfrm>
          <a:prstGeom prst="ellipse">
            <a:avLst/>
          </a:prstGeom>
          <a:solidFill>
            <a:srgbClr val="D5A6B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25"/>
          <p:cNvSpPr/>
          <p:nvPr/>
        </p:nvSpPr>
        <p:spPr>
          <a:xfrm>
            <a:off x="844375" y="3130150"/>
            <a:ext cx="386400" cy="297300"/>
          </a:xfrm>
          <a:prstGeom prst="triangle">
            <a:avLst>
              <a:gd fmla="val 50000" name="adj"/>
            </a:avLst>
          </a:prstGeom>
          <a:solidFill>
            <a:srgbClr val="38761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25"/>
          <p:cNvSpPr/>
          <p:nvPr/>
        </p:nvSpPr>
        <p:spPr>
          <a:xfrm>
            <a:off x="4094975" y="4048950"/>
            <a:ext cx="386400" cy="247800"/>
          </a:xfrm>
          <a:prstGeom prst="parallelogram">
            <a:avLst>
              <a:gd fmla="val 25000" name="adj"/>
            </a:avLst>
          </a:prstGeom>
          <a:solidFill>
            <a:srgbClr val="FF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25"/>
          <p:cNvSpPr/>
          <p:nvPr/>
        </p:nvSpPr>
        <p:spPr>
          <a:xfrm>
            <a:off x="3282775" y="3663550"/>
            <a:ext cx="386400" cy="297300"/>
          </a:xfrm>
          <a:prstGeom prst="triangle">
            <a:avLst>
              <a:gd fmla="val 50000" name="adj"/>
            </a:avLst>
          </a:prstGeom>
          <a:solidFill>
            <a:srgbClr val="38761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25"/>
          <p:cNvSpPr/>
          <p:nvPr/>
        </p:nvSpPr>
        <p:spPr>
          <a:xfrm>
            <a:off x="3358975" y="2063350"/>
            <a:ext cx="386400" cy="297300"/>
          </a:xfrm>
          <a:prstGeom prst="triangle">
            <a:avLst>
              <a:gd fmla="val 50000" name="adj"/>
            </a:avLst>
          </a:prstGeom>
          <a:solidFill>
            <a:srgbClr val="38761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25"/>
          <p:cNvSpPr/>
          <p:nvPr/>
        </p:nvSpPr>
        <p:spPr>
          <a:xfrm>
            <a:off x="3349725" y="4080675"/>
            <a:ext cx="297300" cy="297300"/>
          </a:xfrm>
          <a:prstGeom prst="rect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25"/>
          <p:cNvSpPr/>
          <p:nvPr/>
        </p:nvSpPr>
        <p:spPr>
          <a:xfrm>
            <a:off x="3365125" y="1614075"/>
            <a:ext cx="297300" cy="247800"/>
          </a:xfrm>
          <a:prstGeom prst="trapezoid">
            <a:avLst>
              <a:gd fmla="val 25000" name="adj"/>
            </a:avLst>
          </a:prstGeom>
          <a:solidFill>
            <a:srgbClr val="9FC5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25"/>
          <p:cNvSpPr/>
          <p:nvPr/>
        </p:nvSpPr>
        <p:spPr>
          <a:xfrm>
            <a:off x="3637775" y="1915350"/>
            <a:ext cx="386400" cy="247800"/>
          </a:xfrm>
          <a:prstGeom prst="parallelogram">
            <a:avLst>
              <a:gd fmla="val 25000" name="adj"/>
            </a:avLst>
          </a:prstGeom>
          <a:solidFill>
            <a:srgbClr val="FF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90" name="Google Shape;190;p25"/>
          <p:cNvCxnSpPr>
            <a:stCxn id="161" idx="3"/>
            <a:endCxn id="162" idx="1"/>
          </p:cNvCxnSpPr>
          <p:nvPr/>
        </p:nvCxnSpPr>
        <p:spPr>
          <a:xfrm flipH="1" rot="10800000">
            <a:off x="1805625" y="1977950"/>
            <a:ext cx="1248600" cy="10437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1" name="Google Shape;191;p25"/>
          <p:cNvCxnSpPr>
            <a:stCxn id="161" idx="3"/>
            <a:endCxn id="165" idx="1"/>
          </p:cNvCxnSpPr>
          <p:nvPr/>
        </p:nvCxnSpPr>
        <p:spPr>
          <a:xfrm flipH="1" rot="10800000">
            <a:off x="1805625" y="2968550"/>
            <a:ext cx="1248600" cy="531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2" name="Google Shape;192;p25"/>
          <p:cNvCxnSpPr>
            <a:stCxn id="161" idx="3"/>
            <a:endCxn id="166" idx="1"/>
          </p:cNvCxnSpPr>
          <p:nvPr/>
        </p:nvCxnSpPr>
        <p:spPr>
          <a:xfrm>
            <a:off x="1805625" y="3021650"/>
            <a:ext cx="1248600" cy="9375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6"/>
          <p:cNvSpPr/>
          <p:nvPr/>
        </p:nvSpPr>
        <p:spPr>
          <a:xfrm>
            <a:off x="329025" y="1411250"/>
            <a:ext cx="1476600" cy="32208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26"/>
          <p:cNvSpPr/>
          <p:nvPr/>
        </p:nvSpPr>
        <p:spPr>
          <a:xfrm>
            <a:off x="3054325" y="1514100"/>
            <a:ext cx="1476600" cy="9279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26"/>
          <p:cNvSpPr txBox="1"/>
          <p:nvPr/>
        </p:nvSpPr>
        <p:spPr>
          <a:xfrm>
            <a:off x="329025" y="1017725"/>
            <a:ext cx="14766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</a:rPr>
              <a:t>Species pool</a:t>
            </a:r>
            <a:endParaRPr sz="1700"/>
          </a:p>
        </p:txBody>
      </p:sp>
      <p:sp>
        <p:nvSpPr>
          <p:cNvPr id="200" name="Google Shape;200;p26"/>
          <p:cNvSpPr txBox="1"/>
          <p:nvPr/>
        </p:nvSpPr>
        <p:spPr>
          <a:xfrm>
            <a:off x="1691675" y="1005000"/>
            <a:ext cx="14766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</a:rPr>
              <a:t>Dispersal</a:t>
            </a:r>
            <a:endParaRPr sz="1700"/>
          </a:p>
        </p:txBody>
      </p:sp>
      <p:sp>
        <p:nvSpPr>
          <p:cNvPr id="201" name="Google Shape;201;p26"/>
          <p:cNvSpPr/>
          <p:nvPr/>
        </p:nvSpPr>
        <p:spPr>
          <a:xfrm>
            <a:off x="3054325" y="2504700"/>
            <a:ext cx="1476600" cy="9279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26"/>
          <p:cNvSpPr/>
          <p:nvPr/>
        </p:nvSpPr>
        <p:spPr>
          <a:xfrm>
            <a:off x="3054325" y="3495300"/>
            <a:ext cx="1476600" cy="9279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26"/>
          <p:cNvSpPr txBox="1"/>
          <p:nvPr/>
        </p:nvSpPr>
        <p:spPr>
          <a:xfrm>
            <a:off x="2987075" y="1005000"/>
            <a:ext cx="14766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</a:rPr>
              <a:t>Communities</a:t>
            </a:r>
            <a:endParaRPr sz="1700"/>
          </a:p>
        </p:txBody>
      </p:sp>
      <p:sp>
        <p:nvSpPr>
          <p:cNvPr id="204" name="Google Shape;204;p26"/>
          <p:cNvSpPr txBox="1"/>
          <p:nvPr/>
        </p:nvSpPr>
        <p:spPr>
          <a:xfrm>
            <a:off x="4633250" y="776400"/>
            <a:ext cx="9216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</a:rPr>
              <a:t>Abiotic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</a:rPr>
              <a:t>Filter</a:t>
            </a:r>
            <a:endParaRPr sz="1700"/>
          </a:p>
        </p:txBody>
      </p:sp>
      <p:cxnSp>
        <p:nvCxnSpPr>
          <p:cNvPr id="205" name="Google Shape;205;p26"/>
          <p:cNvCxnSpPr>
            <a:stCxn id="204" idx="2"/>
          </p:cNvCxnSpPr>
          <p:nvPr/>
        </p:nvCxnSpPr>
        <p:spPr>
          <a:xfrm>
            <a:off x="5094050" y="1484400"/>
            <a:ext cx="1800" cy="29991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206" name="Google Shape;206;p26"/>
          <p:cNvSpPr/>
          <p:nvPr/>
        </p:nvSpPr>
        <p:spPr>
          <a:xfrm>
            <a:off x="606525" y="1718475"/>
            <a:ext cx="297300" cy="297300"/>
          </a:xfrm>
          <a:prstGeom prst="rect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26"/>
          <p:cNvSpPr/>
          <p:nvPr/>
        </p:nvSpPr>
        <p:spPr>
          <a:xfrm>
            <a:off x="1292325" y="2175675"/>
            <a:ext cx="297300" cy="297300"/>
          </a:xfrm>
          <a:prstGeom prst="rect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26"/>
          <p:cNvSpPr/>
          <p:nvPr/>
        </p:nvSpPr>
        <p:spPr>
          <a:xfrm>
            <a:off x="691975" y="2749150"/>
            <a:ext cx="386400" cy="297300"/>
          </a:xfrm>
          <a:prstGeom prst="triangle">
            <a:avLst>
              <a:gd fmla="val 50000" name="adj"/>
            </a:avLst>
          </a:prstGeom>
          <a:solidFill>
            <a:srgbClr val="00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26"/>
          <p:cNvSpPr/>
          <p:nvPr/>
        </p:nvSpPr>
        <p:spPr>
          <a:xfrm>
            <a:off x="1307725" y="2909475"/>
            <a:ext cx="297300" cy="247800"/>
          </a:xfrm>
          <a:prstGeom prst="trapezoid">
            <a:avLst>
              <a:gd fmla="val 25000" name="adj"/>
            </a:avLst>
          </a:prstGeom>
          <a:solidFill>
            <a:srgbClr val="9FC5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26"/>
          <p:cNvSpPr/>
          <p:nvPr/>
        </p:nvSpPr>
        <p:spPr>
          <a:xfrm>
            <a:off x="725450" y="3621250"/>
            <a:ext cx="297300" cy="297300"/>
          </a:xfrm>
          <a:prstGeom prst="ellipse">
            <a:avLst/>
          </a:prstGeom>
          <a:solidFill>
            <a:srgbClr val="93C47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26"/>
          <p:cNvSpPr/>
          <p:nvPr/>
        </p:nvSpPr>
        <p:spPr>
          <a:xfrm>
            <a:off x="4139525" y="2042250"/>
            <a:ext cx="297300" cy="297300"/>
          </a:xfrm>
          <a:prstGeom prst="rect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26"/>
          <p:cNvSpPr/>
          <p:nvPr/>
        </p:nvSpPr>
        <p:spPr>
          <a:xfrm>
            <a:off x="3881525" y="2612175"/>
            <a:ext cx="297300" cy="297300"/>
          </a:xfrm>
          <a:prstGeom prst="rect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26"/>
          <p:cNvSpPr/>
          <p:nvPr/>
        </p:nvSpPr>
        <p:spPr>
          <a:xfrm>
            <a:off x="3836975" y="3026675"/>
            <a:ext cx="386400" cy="297300"/>
          </a:xfrm>
          <a:prstGeom prst="triangle">
            <a:avLst>
              <a:gd fmla="val 50000" name="adj"/>
            </a:avLst>
          </a:prstGeom>
          <a:solidFill>
            <a:srgbClr val="00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26"/>
          <p:cNvSpPr/>
          <p:nvPr/>
        </p:nvSpPr>
        <p:spPr>
          <a:xfrm>
            <a:off x="3968575" y="3542863"/>
            <a:ext cx="297300" cy="297300"/>
          </a:xfrm>
          <a:prstGeom prst="ellipse">
            <a:avLst/>
          </a:prstGeom>
          <a:solidFill>
            <a:srgbClr val="93C47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26"/>
          <p:cNvSpPr/>
          <p:nvPr/>
        </p:nvSpPr>
        <p:spPr>
          <a:xfrm>
            <a:off x="3968575" y="1579800"/>
            <a:ext cx="297300" cy="297300"/>
          </a:xfrm>
          <a:prstGeom prst="ellipse">
            <a:avLst/>
          </a:prstGeom>
          <a:solidFill>
            <a:srgbClr val="93C47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26"/>
          <p:cNvSpPr/>
          <p:nvPr/>
        </p:nvSpPr>
        <p:spPr>
          <a:xfrm>
            <a:off x="665975" y="2220150"/>
            <a:ext cx="386400" cy="247800"/>
          </a:xfrm>
          <a:prstGeom prst="parallelogram">
            <a:avLst>
              <a:gd fmla="val 25000" name="adj"/>
            </a:avLst>
          </a:prstGeom>
          <a:solidFill>
            <a:srgbClr val="FF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26"/>
          <p:cNvSpPr/>
          <p:nvPr/>
        </p:nvSpPr>
        <p:spPr>
          <a:xfrm>
            <a:off x="1182650" y="3773650"/>
            <a:ext cx="297300" cy="297300"/>
          </a:xfrm>
          <a:prstGeom prst="ellipse">
            <a:avLst/>
          </a:prstGeom>
          <a:solidFill>
            <a:srgbClr val="D5A6B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26"/>
          <p:cNvSpPr/>
          <p:nvPr/>
        </p:nvSpPr>
        <p:spPr>
          <a:xfrm>
            <a:off x="3163850" y="3011650"/>
            <a:ext cx="297300" cy="297300"/>
          </a:xfrm>
          <a:prstGeom prst="ellipse">
            <a:avLst/>
          </a:prstGeom>
          <a:solidFill>
            <a:srgbClr val="D5A6B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26"/>
          <p:cNvSpPr/>
          <p:nvPr/>
        </p:nvSpPr>
        <p:spPr>
          <a:xfrm>
            <a:off x="844375" y="3130150"/>
            <a:ext cx="386400" cy="297300"/>
          </a:xfrm>
          <a:prstGeom prst="triangle">
            <a:avLst>
              <a:gd fmla="val 50000" name="adj"/>
            </a:avLst>
          </a:prstGeom>
          <a:solidFill>
            <a:srgbClr val="38761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26"/>
          <p:cNvSpPr/>
          <p:nvPr/>
        </p:nvSpPr>
        <p:spPr>
          <a:xfrm>
            <a:off x="4094975" y="4048950"/>
            <a:ext cx="386400" cy="247800"/>
          </a:xfrm>
          <a:prstGeom prst="parallelogram">
            <a:avLst>
              <a:gd fmla="val 25000" name="adj"/>
            </a:avLst>
          </a:prstGeom>
          <a:solidFill>
            <a:srgbClr val="FF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26"/>
          <p:cNvSpPr/>
          <p:nvPr/>
        </p:nvSpPr>
        <p:spPr>
          <a:xfrm>
            <a:off x="3282775" y="3663550"/>
            <a:ext cx="386400" cy="297300"/>
          </a:xfrm>
          <a:prstGeom prst="triangle">
            <a:avLst>
              <a:gd fmla="val 50000" name="adj"/>
            </a:avLst>
          </a:prstGeom>
          <a:solidFill>
            <a:srgbClr val="38761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26"/>
          <p:cNvSpPr/>
          <p:nvPr/>
        </p:nvSpPr>
        <p:spPr>
          <a:xfrm>
            <a:off x="3358975" y="2063350"/>
            <a:ext cx="386400" cy="297300"/>
          </a:xfrm>
          <a:prstGeom prst="triangle">
            <a:avLst>
              <a:gd fmla="val 50000" name="adj"/>
            </a:avLst>
          </a:prstGeom>
          <a:solidFill>
            <a:srgbClr val="38761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26"/>
          <p:cNvSpPr/>
          <p:nvPr/>
        </p:nvSpPr>
        <p:spPr>
          <a:xfrm>
            <a:off x="3349725" y="4080675"/>
            <a:ext cx="297300" cy="297300"/>
          </a:xfrm>
          <a:prstGeom prst="rect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26"/>
          <p:cNvSpPr/>
          <p:nvPr/>
        </p:nvSpPr>
        <p:spPr>
          <a:xfrm>
            <a:off x="3365125" y="1614075"/>
            <a:ext cx="297300" cy="247800"/>
          </a:xfrm>
          <a:prstGeom prst="trapezoid">
            <a:avLst>
              <a:gd fmla="val 25000" name="adj"/>
            </a:avLst>
          </a:prstGeom>
          <a:solidFill>
            <a:srgbClr val="9FC5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26"/>
          <p:cNvSpPr/>
          <p:nvPr/>
        </p:nvSpPr>
        <p:spPr>
          <a:xfrm>
            <a:off x="3637775" y="1915350"/>
            <a:ext cx="386400" cy="247800"/>
          </a:xfrm>
          <a:prstGeom prst="parallelogram">
            <a:avLst>
              <a:gd fmla="val 25000" name="adj"/>
            </a:avLst>
          </a:prstGeom>
          <a:solidFill>
            <a:srgbClr val="FF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26" name="Google Shape;226;p26"/>
          <p:cNvCxnSpPr>
            <a:stCxn id="197" idx="3"/>
            <a:endCxn id="198" idx="1"/>
          </p:cNvCxnSpPr>
          <p:nvPr/>
        </p:nvCxnSpPr>
        <p:spPr>
          <a:xfrm flipH="1" rot="10800000">
            <a:off x="1805625" y="1977950"/>
            <a:ext cx="1248600" cy="10437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7" name="Google Shape;227;p26"/>
          <p:cNvCxnSpPr>
            <a:stCxn id="197" idx="3"/>
            <a:endCxn id="201" idx="1"/>
          </p:cNvCxnSpPr>
          <p:nvPr/>
        </p:nvCxnSpPr>
        <p:spPr>
          <a:xfrm flipH="1" rot="10800000">
            <a:off x="1805625" y="2968550"/>
            <a:ext cx="1248600" cy="531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8" name="Google Shape;228;p26"/>
          <p:cNvCxnSpPr>
            <a:stCxn id="197" idx="3"/>
            <a:endCxn id="202" idx="1"/>
          </p:cNvCxnSpPr>
          <p:nvPr/>
        </p:nvCxnSpPr>
        <p:spPr>
          <a:xfrm>
            <a:off x="1805625" y="3021650"/>
            <a:ext cx="1248600" cy="9375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9" name="Google Shape;229;p26"/>
          <p:cNvCxnSpPr>
            <a:stCxn id="215" idx="6"/>
          </p:cNvCxnSpPr>
          <p:nvPr/>
        </p:nvCxnSpPr>
        <p:spPr>
          <a:xfrm flipH="1" rot="10800000">
            <a:off x="4265875" y="1649250"/>
            <a:ext cx="770700" cy="79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0" name="Google Shape;230;p26"/>
          <p:cNvCxnSpPr/>
          <p:nvPr/>
        </p:nvCxnSpPr>
        <p:spPr>
          <a:xfrm rot="10800000">
            <a:off x="4025450" y="588575"/>
            <a:ext cx="991200" cy="1050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1" name="Google Shape;231;p26"/>
          <p:cNvCxnSpPr>
            <a:stCxn id="211" idx="3"/>
          </p:cNvCxnSpPr>
          <p:nvPr/>
        </p:nvCxnSpPr>
        <p:spPr>
          <a:xfrm flipH="1" rot="10800000">
            <a:off x="4436825" y="1758000"/>
            <a:ext cx="916800" cy="432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2" name="Google Shape;232;p26"/>
          <p:cNvCxnSpPr>
            <a:stCxn id="213" idx="5"/>
          </p:cNvCxnSpPr>
          <p:nvPr/>
        </p:nvCxnSpPr>
        <p:spPr>
          <a:xfrm flipH="1" rot="10800000">
            <a:off x="4126775" y="2927525"/>
            <a:ext cx="1187100" cy="247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3" name="Google Shape;233;p26"/>
          <p:cNvCxnSpPr>
            <a:stCxn id="220" idx="2"/>
          </p:cNvCxnSpPr>
          <p:nvPr/>
        </p:nvCxnSpPr>
        <p:spPr>
          <a:xfrm flipH="1" rot="10800000">
            <a:off x="4450400" y="4017750"/>
            <a:ext cx="863700" cy="155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27"/>
          <p:cNvSpPr/>
          <p:nvPr/>
        </p:nvSpPr>
        <p:spPr>
          <a:xfrm>
            <a:off x="329025" y="1411250"/>
            <a:ext cx="1476600" cy="32208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27"/>
          <p:cNvSpPr/>
          <p:nvPr/>
        </p:nvSpPr>
        <p:spPr>
          <a:xfrm>
            <a:off x="3054325" y="1514100"/>
            <a:ext cx="1476600" cy="9279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27"/>
          <p:cNvSpPr txBox="1"/>
          <p:nvPr/>
        </p:nvSpPr>
        <p:spPr>
          <a:xfrm>
            <a:off x="329025" y="1017725"/>
            <a:ext cx="14766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</a:rPr>
              <a:t>Species pool</a:t>
            </a:r>
            <a:endParaRPr sz="1700"/>
          </a:p>
        </p:txBody>
      </p:sp>
      <p:sp>
        <p:nvSpPr>
          <p:cNvPr id="241" name="Google Shape;241;p27"/>
          <p:cNvSpPr txBox="1"/>
          <p:nvPr/>
        </p:nvSpPr>
        <p:spPr>
          <a:xfrm>
            <a:off x="1691675" y="1005000"/>
            <a:ext cx="14766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</a:rPr>
              <a:t>Dispersal</a:t>
            </a:r>
            <a:endParaRPr sz="1700"/>
          </a:p>
        </p:txBody>
      </p:sp>
      <p:sp>
        <p:nvSpPr>
          <p:cNvPr id="242" name="Google Shape;242;p27"/>
          <p:cNvSpPr/>
          <p:nvPr/>
        </p:nvSpPr>
        <p:spPr>
          <a:xfrm>
            <a:off x="3054325" y="2504700"/>
            <a:ext cx="1476600" cy="9279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27"/>
          <p:cNvSpPr/>
          <p:nvPr/>
        </p:nvSpPr>
        <p:spPr>
          <a:xfrm>
            <a:off x="3054325" y="3495300"/>
            <a:ext cx="1476600" cy="9279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27"/>
          <p:cNvSpPr txBox="1"/>
          <p:nvPr/>
        </p:nvSpPr>
        <p:spPr>
          <a:xfrm>
            <a:off x="2987075" y="1005000"/>
            <a:ext cx="14766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</a:rPr>
              <a:t>Communities</a:t>
            </a:r>
            <a:endParaRPr sz="1700"/>
          </a:p>
        </p:txBody>
      </p:sp>
      <p:sp>
        <p:nvSpPr>
          <p:cNvPr id="245" name="Google Shape;245;p27"/>
          <p:cNvSpPr txBox="1"/>
          <p:nvPr/>
        </p:nvSpPr>
        <p:spPr>
          <a:xfrm>
            <a:off x="4633250" y="776400"/>
            <a:ext cx="9216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</a:rPr>
              <a:t>Abiotic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</a:rPr>
              <a:t>Filter</a:t>
            </a:r>
            <a:endParaRPr sz="1700"/>
          </a:p>
        </p:txBody>
      </p:sp>
      <p:sp>
        <p:nvSpPr>
          <p:cNvPr id="246" name="Google Shape;246;p27"/>
          <p:cNvSpPr txBox="1"/>
          <p:nvPr/>
        </p:nvSpPr>
        <p:spPr>
          <a:xfrm>
            <a:off x="5402725" y="776400"/>
            <a:ext cx="9216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</a:rPr>
              <a:t>Biotic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</a:rPr>
              <a:t>Filter</a:t>
            </a:r>
            <a:endParaRPr sz="1700"/>
          </a:p>
        </p:txBody>
      </p:sp>
      <p:cxnSp>
        <p:nvCxnSpPr>
          <p:cNvPr id="247" name="Google Shape;247;p27"/>
          <p:cNvCxnSpPr>
            <a:stCxn id="245" idx="2"/>
          </p:cNvCxnSpPr>
          <p:nvPr/>
        </p:nvCxnSpPr>
        <p:spPr>
          <a:xfrm>
            <a:off x="5094050" y="1484400"/>
            <a:ext cx="1800" cy="29991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48" name="Google Shape;248;p27"/>
          <p:cNvCxnSpPr/>
          <p:nvPr/>
        </p:nvCxnSpPr>
        <p:spPr>
          <a:xfrm>
            <a:off x="5856050" y="1484400"/>
            <a:ext cx="1800" cy="29991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lgDash"/>
            <a:round/>
            <a:headEnd len="med" w="med" type="none"/>
            <a:tailEnd len="med" w="med" type="none"/>
          </a:ln>
        </p:spPr>
      </p:cxnSp>
      <p:sp>
        <p:nvSpPr>
          <p:cNvPr id="249" name="Google Shape;249;p27"/>
          <p:cNvSpPr/>
          <p:nvPr/>
        </p:nvSpPr>
        <p:spPr>
          <a:xfrm>
            <a:off x="606525" y="1718475"/>
            <a:ext cx="297300" cy="297300"/>
          </a:xfrm>
          <a:prstGeom prst="rect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27"/>
          <p:cNvSpPr/>
          <p:nvPr/>
        </p:nvSpPr>
        <p:spPr>
          <a:xfrm>
            <a:off x="1292325" y="2175675"/>
            <a:ext cx="297300" cy="297300"/>
          </a:xfrm>
          <a:prstGeom prst="rect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27"/>
          <p:cNvSpPr/>
          <p:nvPr/>
        </p:nvSpPr>
        <p:spPr>
          <a:xfrm>
            <a:off x="691975" y="2749150"/>
            <a:ext cx="386400" cy="297300"/>
          </a:xfrm>
          <a:prstGeom prst="triangle">
            <a:avLst>
              <a:gd fmla="val 50000" name="adj"/>
            </a:avLst>
          </a:prstGeom>
          <a:solidFill>
            <a:srgbClr val="00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27"/>
          <p:cNvSpPr/>
          <p:nvPr/>
        </p:nvSpPr>
        <p:spPr>
          <a:xfrm>
            <a:off x="1307725" y="2909475"/>
            <a:ext cx="297300" cy="247800"/>
          </a:xfrm>
          <a:prstGeom prst="trapezoid">
            <a:avLst>
              <a:gd fmla="val 25000" name="adj"/>
            </a:avLst>
          </a:prstGeom>
          <a:solidFill>
            <a:srgbClr val="9FC5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27"/>
          <p:cNvSpPr/>
          <p:nvPr/>
        </p:nvSpPr>
        <p:spPr>
          <a:xfrm>
            <a:off x="725450" y="3621250"/>
            <a:ext cx="297300" cy="297300"/>
          </a:xfrm>
          <a:prstGeom prst="ellipse">
            <a:avLst/>
          </a:prstGeom>
          <a:solidFill>
            <a:srgbClr val="93C47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27"/>
          <p:cNvSpPr/>
          <p:nvPr/>
        </p:nvSpPr>
        <p:spPr>
          <a:xfrm>
            <a:off x="4139525" y="2042250"/>
            <a:ext cx="297300" cy="297300"/>
          </a:xfrm>
          <a:prstGeom prst="rect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27"/>
          <p:cNvSpPr/>
          <p:nvPr/>
        </p:nvSpPr>
        <p:spPr>
          <a:xfrm>
            <a:off x="3881525" y="2612175"/>
            <a:ext cx="297300" cy="297300"/>
          </a:xfrm>
          <a:prstGeom prst="rect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27"/>
          <p:cNvSpPr/>
          <p:nvPr/>
        </p:nvSpPr>
        <p:spPr>
          <a:xfrm>
            <a:off x="3836975" y="3026675"/>
            <a:ext cx="386400" cy="297300"/>
          </a:xfrm>
          <a:prstGeom prst="triangle">
            <a:avLst>
              <a:gd fmla="val 50000" name="adj"/>
            </a:avLst>
          </a:prstGeom>
          <a:solidFill>
            <a:srgbClr val="00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27"/>
          <p:cNvSpPr/>
          <p:nvPr/>
        </p:nvSpPr>
        <p:spPr>
          <a:xfrm>
            <a:off x="3968575" y="3542863"/>
            <a:ext cx="297300" cy="297300"/>
          </a:xfrm>
          <a:prstGeom prst="ellipse">
            <a:avLst/>
          </a:prstGeom>
          <a:solidFill>
            <a:srgbClr val="93C47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27"/>
          <p:cNvSpPr/>
          <p:nvPr/>
        </p:nvSpPr>
        <p:spPr>
          <a:xfrm>
            <a:off x="3968575" y="1579800"/>
            <a:ext cx="297300" cy="297300"/>
          </a:xfrm>
          <a:prstGeom prst="ellipse">
            <a:avLst/>
          </a:prstGeom>
          <a:solidFill>
            <a:srgbClr val="93C47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27"/>
          <p:cNvSpPr/>
          <p:nvPr/>
        </p:nvSpPr>
        <p:spPr>
          <a:xfrm>
            <a:off x="665975" y="2220150"/>
            <a:ext cx="386400" cy="247800"/>
          </a:xfrm>
          <a:prstGeom prst="parallelogram">
            <a:avLst>
              <a:gd fmla="val 25000" name="adj"/>
            </a:avLst>
          </a:prstGeom>
          <a:solidFill>
            <a:srgbClr val="FF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27"/>
          <p:cNvSpPr/>
          <p:nvPr/>
        </p:nvSpPr>
        <p:spPr>
          <a:xfrm>
            <a:off x="1182650" y="3773650"/>
            <a:ext cx="297300" cy="297300"/>
          </a:xfrm>
          <a:prstGeom prst="ellipse">
            <a:avLst/>
          </a:prstGeom>
          <a:solidFill>
            <a:srgbClr val="D5A6B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27"/>
          <p:cNvSpPr/>
          <p:nvPr/>
        </p:nvSpPr>
        <p:spPr>
          <a:xfrm>
            <a:off x="3163850" y="3011650"/>
            <a:ext cx="297300" cy="297300"/>
          </a:xfrm>
          <a:prstGeom prst="ellipse">
            <a:avLst/>
          </a:prstGeom>
          <a:solidFill>
            <a:srgbClr val="D5A6B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27"/>
          <p:cNvSpPr/>
          <p:nvPr/>
        </p:nvSpPr>
        <p:spPr>
          <a:xfrm>
            <a:off x="844375" y="3130150"/>
            <a:ext cx="386400" cy="297300"/>
          </a:xfrm>
          <a:prstGeom prst="triangle">
            <a:avLst>
              <a:gd fmla="val 50000" name="adj"/>
            </a:avLst>
          </a:prstGeom>
          <a:solidFill>
            <a:srgbClr val="38761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27"/>
          <p:cNvSpPr/>
          <p:nvPr/>
        </p:nvSpPr>
        <p:spPr>
          <a:xfrm>
            <a:off x="4094975" y="4048950"/>
            <a:ext cx="386400" cy="247800"/>
          </a:xfrm>
          <a:prstGeom prst="parallelogram">
            <a:avLst>
              <a:gd fmla="val 25000" name="adj"/>
            </a:avLst>
          </a:prstGeom>
          <a:solidFill>
            <a:srgbClr val="FF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27"/>
          <p:cNvSpPr/>
          <p:nvPr/>
        </p:nvSpPr>
        <p:spPr>
          <a:xfrm>
            <a:off x="3282775" y="3663550"/>
            <a:ext cx="386400" cy="297300"/>
          </a:xfrm>
          <a:prstGeom prst="triangle">
            <a:avLst>
              <a:gd fmla="val 50000" name="adj"/>
            </a:avLst>
          </a:prstGeom>
          <a:solidFill>
            <a:srgbClr val="38761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27"/>
          <p:cNvSpPr/>
          <p:nvPr/>
        </p:nvSpPr>
        <p:spPr>
          <a:xfrm>
            <a:off x="3358975" y="2063350"/>
            <a:ext cx="386400" cy="297300"/>
          </a:xfrm>
          <a:prstGeom prst="triangle">
            <a:avLst>
              <a:gd fmla="val 50000" name="adj"/>
            </a:avLst>
          </a:prstGeom>
          <a:solidFill>
            <a:srgbClr val="38761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27"/>
          <p:cNvSpPr/>
          <p:nvPr/>
        </p:nvSpPr>
        <p:spPr>
          <a:xfrm>
            <a:off x="3349725" y="4080675"/>
            <a:ext cx="297300" cy="297300"/>
          </a:xfrm>
          <a:prstGeom prst="rect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27"/>
          <p:cNvSpPr/>
          <p:nvPr/>
        </p:nvSpPr>
        <p:spPr>
          <a:xfrm>
            <a:off x="3365125" y="1614075"/>
            <a:ext cx="297300" cy="247800"/>
          </a:xfrm>
          <a:prstGeom prst="trapezoid">
            <a:avLst>
              <a:gd fmla="val 25000" name="adj"/>
            </a:avLst>
          </a:prstGeom>
          <a:solidFill>
            <a:srgbClr val="9FC5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27"/>
          <p:cNvSpPr/>
          <p:nvPr/>
        </p:nvSpPr>
        <p:spPr>
          <a:xfrm>
            <a:off x="3637775" y="1915350"/>
            <a:ext cx="386400" cy="247800"/>
          </a:xfrm>
          <a:prstGeom prst="parallelogram">
            <a:avLst>
              <a:gd fmla="val 25000" name="adj"/>
            </a:avLst>
          </a:prstGeom>
          <a:solidFill>
            <a:srgbClr val="FF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69" name="Google Shape;269;p27"/>
          <p:cNvCxnSpPr>
            <a:stCxn id="238" idx="3"/>
            <a:endCxn id="239" idx="1"/>
          </p:cNvCxnSpPr>
          <p:nvPr/>
        </p:nvCxnSpPr>
        <p:spPr>
          <a:xfrm flipH="1" rot="10800000">
            <a:off x="1805625" y="1977950"/>
            <a:ext cx="1248600" cy="10437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70" name="Google Shape;270;p27"/>
          <p:cNvCxnSpPr>
            <a:stCxn id="238" idx="3"/>
            <a:endCxn id="242" idx="1"/>
          </p:cNvCxnSpPr>
          <p:nvPr/>
        </p:nvCxnSpPr>
        <p:spPr>
          <a:xfrm flipH="1" rot="10800000">
            <a:off x="1805625" y="2968550"/>
            <a:ext cx="1248600" cy="531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71" name="Google Shape;271;p27"/>
          <p:cNvCxnSpPr>
            <a:stCxn id="238" idx="3"/>
            <a:endCxn id="243" idx="1"/>
          </p:cNvCxnSpPr>
          <p:nvPr/>
        </p:nvCxnSpPr>
        <p:spPr>
          <a:xfrm>
            <a:off x="1805625" y="3021650"/>
            <a:ext cx="1248600" cy="9375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72" name="Google Shape;272;p27"/>
          <p:cNvCxnSpPr/>
          <p:nvPr/>
        </p:nvCxnSpPr>
        <p:spPr>
          <a:xfrm flipH="1" rot="10800000">
            <a:off x="4265875" y="1649250"/>
            <a:ext cx="770700" cy="79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3" name="Google Shape;273;p27"/>
          <p:cNvCxnSpPr/>
          <p:nvPr/>
        </p:nvCxnSpPr>
        <p:spPr>
          <a:xfrm rot="10800000">
            <a:off x="4025450" y="588575"/>
            <a:ext cx="991200" cy="1050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74" name="Google Shape;274;p27"/>
          <p:cNvCxnSpPr/>
          <p:nvPr/>
        </p:nvCxnSpPr>
        <p:spPr>
          <a:xfrm flipH="1" rot="10800000">
            <a:off x="4436825" y="1758000"/>
            <a:ext cx="916800" cy="432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5" name="Google Shape;275;p27"/>
          <p:cNvCxnSpPr/>
          <p:nvPr/>
        </p:nvCxnSpPr>
        <p:spPr>
          <a:xfrm flipH="1" rot="10800000">
            <a:off x="4126775" y="2927525"/>
            <a:ext cx="1187100" cy="247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6" name="Google Shape;276;p27"/>
          <p:cNvCxnSpPr/>
          <p:nvPr/>
        </p:nvCxnSpPr>
        <p:spPr>
          <a:xfrm flipH="1" rot="10800000">
            <a:off x="4450400" y="4017750"/>
            <a:ext cx="863700" cy="155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28"/>
          <p:cNvSpPr/>
          <p:nvPr/>
        </p:nvSpPr>
        <p:spPr>
          <a:xfrm>
            <a:off x="329025" y="1411250"/>
            <a:ext cx="1476600" cy="32208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28"/>
          <p:cNvSpPr/>
          <p:nvPr/>
        </p:nvSpPr>
        <p:spPr>
          <a:xfrm>
            <a:off x="3054325" y="1514100"/>
            <a:ext cx="1476600" cy="9279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28"/>
          <p:cNvSpPr txBox="1"/>
          <p:nvPr/>
        </p:nvSpPr>
        <p:spPr>
          <a:xfrm>
            <a:off x="329025" y="1017725"/>
            <a:ext cx="14766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</a:rPr>
              <a:t>Species pool</a:t>
            </a:r>
            <a:endParaRPr sz="1700"/>
          </a:p>
        </p:txBody>
      </p:sp>
      <p:sp>
        <p:nvSpPr>
          <p:cNvPr id="284" name="Google Shape;284;p28"/>
          <p:cNvSpPr txBox="1"/>
          <p:nvPr/>
        </p:nvSpPr>
        <p:spPr>
          <a:xfrm>
            <a:off x="1691675" y="1005000"/>
            <a:ext cx="14766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</a:rPr>
              <a:t>Dispersal</a:t>
            </a:r>
            <a:endParaRPr sz="1700"/>
          </a:p>
        </p:txBody>
      </p:sp>
      <p:sp>
        <p:nvSpPr>
          <p:cNvPr id="285" name="Google Shape;285;p28"/>
          <p:cNvSpPr/>
          <p:nvPr/>
        </p:nvSpPr>
        <p:spPr>
          <a:xfrm>
            <a:off x="3054325" y="2504700"/>
            <a:ext cx="1476600" cy="9279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28"/>
          <p:cNvSpPr/>
          <p:nvPr/>
        </p:nvSpPr>
        <p:spPr>
          <a:xfrm>
            <a:off x="3054325" y="3495300"/>
            <a:ext cx="1476600" cy="9279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28"/>
          <p:cNvSpPr txBox="1"/>
          <p:nvPr/>
        </p:nvSpPr>
        <p:spPr>
          <a:xfrm>
            <a:off x="2987075" y="1005000"/>
            <a:ext cx="14766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</a:rPr>
              <a:t>Communities</a:t>
            </a:r>
            <a:endParaRPr sz="1700"/>
          </a:p>
        </p:txBody>
      </p:sp>
      <p:sp>
        <p:nvSpPr>
          <p:cNvPr id="288" name="Google Shape;288;p28"/>
          <p:cNvSpPr txBox="1"/>
          <p:nvPr/>
        </p:nvSpPr>
        <p:spPr>
          <a:xfrm>
            <a:off x="4633250" y="776400"/>
            <a:ext cx="9216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</a:rPr>
              <a:t>Abiotic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</a:rPr>
              <a:t>Filter</a:t>
            </a:r>
            <a:endParaRPr sz="1700"/>
          </a:p>
        </p:txBody>
      </p:sp>
      <p:sp>
        <p:nvSpPr>
          <p:cNvPr id="289" name="Google Shape;289;p28"/>
          <p:cNvSpPr txBox="1"/>
          <p:nvPr/>
        </p:nvSpPr>
        <p:spPr>
          <a:xfrm>
            <a:off x="5402725" y="776400"/>
            <a:ext cx="9216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</a:rPr>
              <a:t>Biotic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</a:rPr>
              <a:t>Filter</a:t>
            </a:r>
            <a:endParaRPr sz="1700"/>
          </a:p>
        </p:txBody>
      </p:sp>
      <p:cxnSp>
        <p:nvCxnSpPr>
          <p:cNvPr id="290" name="Google Shape;290;p28"/>
          <p:cNvCxnSpPr>
            <a:stCxn id="288" idx="2"/>
          </p:cNvCxnSpPr>
          <p:nvPr/>
        </p:nvCxnSpPr>
        <p:spPr>
          <a:xfrm>
            <a:off x="5094050" y="1484400"/>
            <a:ext cx="1800" cy="29991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91" name="Google Shape;291;p28"/>
          <p:cNvCxnSpPr/>
          <p:nvPr/>
        </p:nvCxnSpPr>
        <p:spPr>
          <a:xfrm>
            <a:off x="5856050" y="1484400"/>
            <a:ext cx="1800" cy="29991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lgDash"/>
            <a:round/>
            <a:headEnd len="med" w="med" type="none"/>
            <a:tailEnd len="med" w="med" type="none"/>
          </a:ln>
        </p:spPr>
      </p:cxnSp>
      <p:sp>
        <p:nvSpPr>
          <p:cNvPr id="292" name="Google Shape;292;p28"/>
          <p:cNvSpPr/>
          <p:nvPr/>
        </p:nvSpPr>
        <p:spPr>
          <a:xfrm>
            <a:off x="606525" y="1718475"/>
            <a:ext cx="297300" cy="297300"/>
          </a:xfrm>
          <a:prstGeom prst="rect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28"/>
          <p:cNvSpPr/>
          <p:nvPr/>
        </p:nvSpPr>
        <p:spPr>
          <a:xfrm>
            <a:off x="1292325" y="2175675"/>
            <a:ext cx="297300" cy="297300"/>
          </a:xfrm>
          <a:prstGeom prst="rect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28"/>
          <p:cNvSpPr/>
          <p:nvPr/>
        </p:nvSpPr>
        <p:spPr>
          <a:xfrm>
            <a:off x="691975" y="2749150"/>
            <a:ext cx="386400" cy="297300"/>
          </a:xfrm>
          <a:prstGeom prst="triangle">
            <a:avLst>
              <a:gd fmla="val 50000" name="adj"/>
            </a:avLst>
          </a:prstGeom>
          <a:solidFill>
            <a:srgbClr val="00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28"/>
          <p:cNvSpPr/>
          <p:nvPr/>
        </p:nvSpPr>
        <p:spPr>
          <a:xfrm>
            <a:off x="1307725" y="2909475"/>
            <a:ext cx="297300" cy="247800"/>
          </a:xfrm>
          <a:prstGeom prst="trapezoid">
            <a:avLst>
              <a:gd fmla="val 25000" name="adj"/>
            </a:avLst>
          </a:prstGeom>
          <a:solidFill>
            <a:srgbClr val="9FC5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28"/>
          <p:cNvSpPr/>
          <p:nvPr/>
        </p:nvSpPr>
        <p:spPr>
          <a:xfrm>
            <a:off x="725450" y="3621250"/>
            <a:ext cx="297300" cy="297300"/>
          </a:xfrm>
          <a:prstGeom prst="ellipse">
            <a:avLst/>
          </a:prstGeom>
          <a:solidFill>
            <a:srgbClr val="93C47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28"/>
          <p:cNvSpPr/>
          <p:nvPr/>
        </p:nvSpPr>
        <p:spPr>
          <a:xfrm>
            <a:off x="4139525" y="2042250"/>
            <a:ext cx="297300" cy="297300"/>
          </a:xfrm>
          <a:prstGeom prst="rect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28"/>
          <p:cNvSpPr/>
          <p:nvPr/>
        </p:nvSpPr>
        <p:spPr>
          <a:xfrm>
            <a:off x="3881525" y="2612175"/>
            <a:ext cx="297300" cy="297300"/>
          </a:xfrm>
          <a:prstGeom prst="rect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28"/>
          <p:cNvSpPr/>
          <p:nvPr/>
        </p:nvSpPr>
        <p:spPr>
          <a:xfrm>
            <a:off x="3836975" y="3026675"/>
            <a:ext cx="386400" cy="297300"/>
          </a:xfrm>
          <a:prstGeom prst="triangle">
            <a:avLst>
              <a:gd fmla="val 50000" name="adj"/>
            </a:avLst>
          </a:prstGeom>
          <a:solidFill>
            <a:srgbClr val="00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28"/>
          <p:cNvSpPr/>
          <p:nvPr/>
        </p:nvSpPr>
        <p:spPr>
          <a:xfrm>
            <a:off x="3968575" y="3542863"/>
            <a:ext cx="297300" cy="297300"/>
          </a:xfrm>
          <a:prstGeom prst="ellipse">
            <a:avLst/>
          </a:prstGeom>
          <a:solidFill>
            <a:srgbClr val="93C47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28"/>
          <p:cNvSpPr/>
          <p:nvPr/>
        </p:nvSpPr>
        <p:spPr>
          <a:xfrm>
            <a:off x="3968575" y="1579800"/>
            <a:ext cx="297300" cy="297300"/>
          </a:xfrm>
          <a:prstGeom prst="ellipse">
            <a:avLst/>
          </a:prstGeom>
          <a:solidFill>
            <a:srgbClr val="93C47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28"/>
          <p:cNvSpPr/>
          <p:nvPr/>
        </p:nvSpPr>
        <p:spPr>
          <a:xfrm>
            <a:off x="665975" y="2220150"/>
            <a:ext cx="386400" cy="247800"/>
          </a:xfrm>
          <a:prstGeom prst="parallelogram">
            <a:avLst>
              <a:gd fmla="val 25000" name="adj"/>
            </a:avLst>
          </a:prstGeom>
          <a:solidFill>
            <a:srgbClr val="FF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28"/>
          <p:cNvSpPr/>
          <p:nvPr/>
        </p:nvSpPr>
        <p:spPr>
          <a:xfrm>
            <a:off x="1182650" y="3773650"/>
            <a:ext cx="297300" cy="297300"/>
          </a:xfrm>
          <a:prstGeom prst="ellipse">
            <a:avLst/>
          </a:prstGeom>
          <a:solidFill>
            <a:srgbClr val="D5A6B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28"/>
          <p:cNvSpPr/>
          <p:nvPr/>
        </p:nvSpPr>
        <p:spPr>
          <a:xfrm>
            <a:off x="3163850" y="3011650"/>
            <a:ext cx="297300" cy="297300"/>
          </a:xfrm>
          <a:prstGeom prst="ellipse">
            <a:avLst/>
          </a:prstGeom>
          <a:solidFill>
            <a:srgbClr val="D5A6B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28"/>
          <p:cNvSpPr/>
          <p:nvPr/>
        </p:nvSpPr>
        <p:spPr>
          <a:xfrm>
            <a:off x="844375" y="3130150"/>
            <a:ext cx="386400" cy="297300"/>
          </a:xfrm>
          <a:prstGeom prst="triangle">
            <a:avLst>
              <a:gd fmla="val 50000" name="adj"/>
            </a:avLst>
          </a:prstGeom>
          <a:solidFill>
            <a:srgbClr val="38761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28"/>
          <p:cNvSpPr/>
          <p:nvPr/>
        </p:nvSpPr>
        <p:spPr>
          <a:xfrm>
            <a:off x="4094975" y="4048950"/>
            <a:ext cx="386400" cy="247800"/>
          </a:xfrm>
          <a:prstGeom prst="parallelogram">
            <a:avLst>
              <a:gd fmla="val 25000" name="adj"/>
            </a:avLst>
          </a:prstGeom>
          <a:solidFill>
            <a:srgbClr val="FF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28"/>
          <p:cNvSpPr/>
          <p:nvPr/>
        </p:nvSpPr>
        <p:spPr>
          <a:xfrm>
            <a:off x="3282775" y="3663550"/>
            <a:ext cx="386400" cy="297300"/>
          </a:xfrm>
          <a:prstGeom prst="triangle">
            <a:avLst>
              <a:gd fmla="val 50000" name="adj"/>
            </a:avLst>
          </a:prstGeom>
          <a:solidFill>
            <a:srgbClr val="38761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28"/>
          <p:cNvSpPr/>
          <p:nvPr/>
        </p:nvSpPr>
        <p:spPr>
          <a:xfrm>
            <a:off x="3358975" y="2063350"/>
            <a:ext cx="386400" cy="297300"/>
          </a:xfrm>
          <a:prstGeom prst="triangle">
            <a:avLst>
              <a:gd fmla="val 50000" name="adj"/>
            </a:avLst>
          </a:prstGeom>
          <a:solidFill>
            <a:srgbClr val="38761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28"/>
          <p:cNvSpPr/>
          <p:nvPr/>
        </p:nvSpPr>
        <p:spPr>
          <a:xfrm>
            <a:off x="3349725" y="4080675"/>
            <a:ext cx="297300" cy="297300"/>
          </a:xfrm>
          <a:prstGeom prst="rect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28"/>
          <p:cNvSpPr/>
          <p:nvPr/>
        </p:nvSpPr>
        <p:spPr>
          <a:xfrm>
            <a:off x="3365125" y="1614075"/>
            <a:ext cx="297300" cy="247800"/>
          </a:xfrm>
          <a:prstGeom prst="trapezoid">
            <a:avLst>
              <a:gd fmla="val 25000" name="adj"/>
            </a:avLst>
          </a:prstGeom>
          <a:solidFill>
            <a:srgbClr val="9FC5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28"/>
          <p:cNvSpPr/>
          <p:nvPr/>
        </p:nvSpPr>
        <p:spPr>
          <a:xfrm>
            <a:off x="3637775" y="1915350"/>
            <a:ext cx="386400" cy="247800"/>
          </a:xfrm>
          <a:prstGeom prst="parallelogram">
            <a:avLst>
              <a:gd fmla="val 25000" name="adj"/>
            </a:avLst>
          </a:prstGeom>
          <a:solidFill>
            <a:srgbClr val="FF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12" name="Google Shape;312;p28"/>
          <p:cNvCxnSpPr>
            <a:stCxn id="281" idx="3"/>
            <a:endCxn id="282" idx="1"/>
          </p:cNvCxnSpPr>
          <p:nvPr/>
        </p:nvCxnSpPr>
        <p:spPr>
          <a:xfrm flipH="1" rot="10800000">
            <a:off x="1805625" y="1977950"/>
            <a:ext cx="1248600" cy="10437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13" name="Google Shape;313;p28"/>
          <p:cNvCxnSpPr>
            <a:stCxn id="281" idx="3"/>
            <a:endCxn id="285" idx="1"/>
          </p:cNvCxnSpPr>
          <p:nvPr/>
        </p:nvCxnSpPr>
        <p:spPr>
          <a:xfrm flipH="1" rot="10800000">
            <a:off x="1805625" y="2968550"/>
            <a:ext cx="1248600" cy="531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14" name="Google Shape;314;p28"/>
          <p:cNvCxnSpPr>
            <a:stCxn id="281" idx="3"/>
            <a:endCxn id="286" idx="1"/>
          </p:cNvCxnSpPr>
          <p:nvPr/>
        </p:nvCxnSpPr>
        <p:spPr>
          <a:xfrm>
            <a:off x="1805625" y="3021650"/>
            <a:ext cx="1248600" cy="9375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15" name="Google Shape;315;p28"/>
          <p:cNvCxnSpPr/>
          <p:nvPr/>
        </p:nvCxnSpPr>
        <p:spPr>
          <a:xfrm flipH="1" rot="10800000">
            <a:off x="4265875" y="1649250"/>
            <a:ext cx="770700" cy="79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6" name="Google Shape;316;p28"/>
          <p:cNvCxnSpPr/>
          <p:nvPr/>
        </p:nvCxnSpPr>
        <p:spPr>
          <a:xfrm rot="10800000">
            <a:off x="4025450" y="588575"/>
            <a:ext cx="991200" cy="1050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17" name="Google Shape;317;p28"/>
          <p:cNvCxnSpPr/>
          <p:nvPr/>
        </p:nvCxnSpPr>
        <p:spPr>
          <a:xfrm flipH="1" rot="10800000">
            <a:off x="4436825" y="1758000"/>
            <a:ext cx="916800" cy="432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8" name="Google Shape;318;p28"/>
          <p:cNvCxnSpPr/>
          <p:nvPr/>
        </p:nvCxnSpPr>
        <p:spPr>
          <a:xfrm flipH="1" rot="10800000">
            <a:off x="4126775" y="2927525"/>
            <a:ext cx="1187100" cy="247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9" name="Google Shape;319;p28"/>
          <p:cNvCxnSpPr/>
          <p:nvPr/>
        </p:nvCxnSpPr>
        <p:spPr>
          <a:xfrm flipH="1" rot="10800000">
            <a:off x="4450400" y="4017750"/>
            <a:ext cx="863700" cy="155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0" name="Google Shape;320;p28"/>
          <p:cNvCxnSpPr/>
          <p:nvPr/>
        </p:nvCxnSpPr>
        <p:spPr>
          <a:xfrm>
            <a:off x="5361225" y="1779400"/>
            <a:ext cx="669900" cy="513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21" name="Google Shape;321;p28"/>
          <p:cNvCxnSpPr/>
          <p:nvPr/>
        </p:nvCxnSpPr>
        <p:spPr>
          <a:xfrm>
            <a:off x="5319350" y="2941225"/>
            <a:ext cx="1151400" cy="230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22" name="Google Shape;322;p28"/>
          <p:cNvCxnSpPr/>
          <p:nvPr/>
        </p:nvCxnSpPr>
        <p:spPr>
          <a:xfrm>
            <a:off x="5298400" y="4019350"/>
            <a:ext cx="523500" cy="240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3" name="Google Shape;323;p28"/>
          <p:cNvCxnSpPr/>
          <p:nvPr/>
        </p:nvCxnSpPr>
        <p:spPr>
          <a:xfrm flipH="1">
            <a:off x="4995025" y="4260075"/>
            <a:ext cx="805800" cy="648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29"/>
          <p:cNvSpPr/>
          <p:nvPr/>
        </p:nvSpPr>
        <p:spPr>
          <a:xfrm>
            <a:off x="329025" y="1411250"/>
            <a:ext cx="1476600" cy="32208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29"/>
          <p:cNvSpPr/>
          <p:nvPr/>
        </p:nvSpPr>
        <p:spPr>
          <a:xfrm>
            <a:off x="3054325" y="1514100"/>
            <a:ext cx="1476600" cy="9279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29"/>
          <p:cNvSpPr txBox="1"/>
          <p:nvPr/>
        </p:nvSpPr>
        <p:spPr>
          <a:xfrm>
            <a:off x="329025" y="1017725"/>
            <a:ext cx="14766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</a:rPr>
              <a:t>Species pool</a:t>
            </a:r>
            <a:endParaRPr sz="1700"/>
          </a:p>
        </p:txBody>
      </p:sp>
      <p:sp>
        <p:nvSpPr>
          <p:cNvPr id="331" name="Google Shape;331;p29"/>
          <p:cNvSpPr txBox="1"/>
          <p:nvPr/>
        </p:nvSpPr>
        <p:spPr>
          <a:xfrm>
            <a:off x="1691675" y="1005000"/>
            <a:ext cx="14766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</a:rPr>
              <a:t>Dispersal</a:t>
            </a:r>
            <a:endParaRPr sz="1700"/>
          </a:p>
        </p:txBody>
      </p:sp>
      <p:sp>
        <p:nvSpPr>
          <p:cNvPr id="332" name="Google Shape;332;p29"/>
          <p:cNvSpPr/>
          <p:nvPr/>
        </p:nvSpPr>
        <p:spPr>
          <a:xfrm>
            <a:off x="3054325" y="2504700"/>
            <a:ext cx="1476600" cy="9279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29"/>
          <p:cNvSpPr/>
          <p:nvPr/>
        </p:nvSpPr>
        <p:spPr>
          <a:xfrm>
            <a:off x="3054325" y="3495300"/>
            <a:ext cx="1476600" cy="9279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29"/>
          <p:cNvSpPr txBox="1"/>
          <p:nvPr/>
        </p:nvSpPr>
        <p:spPr>
          <a:xfrm>
            <a:off x="2987075" y="1005000"/>
            <a:ext cx="14766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</a:rPr>
              <a:t>Communities</a:t>
            </a:r>
            <a:endParaRPr sz="1700"/>
          </a:p>
        </p:txBody>
      </p:sp>
      <p:sp>
        <p:nvSpPr>
          <p:cNvPr id="335" name="Google Shape;335;p29"/>
          <p:cNvSpPr txBox="1"/>
          <p:nvPr/>
        </p:nvSpPr>
        <p:spPr>
          <a:xfrm>
            <a:off x="4633250" y="776400"/>
            <a:ext cx="9216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</a:rPr>
              <a:t>Abiotic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</a:rPr>
              <a:t>Filter</a:t>
            </a:r>
            <a:endParaRPr sz="1700"/>
          </a:p>
        </p:txBody>
      </p:sp>
      <p:sp>
        <p:nvSpPr>
          <p:cNvPr id="336" name="Google Shape;336;p29"/>
          <p:cNvSpPr txBox="1"/>
          <p:nvPr/>
        </p:nvSpPr>
        <p:spPr>
          <a:xfrm>
            <a:off x="5402725" y="776400"/>
            <a:ext cx="9216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</a:rPr>
              <a:t>Biotic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</a:rPr>
              <a:t>Filter</a:t>
            </a:r>
            <a:endParaRPr sz="1700"/>
          </a:p>
        </p:txBody>
      </p:sp>
      <p:sp>
        <p:nvSpPr>
          <p:cNvPr id="337" name="Google Shape;337;p29"/>
          <p:cNvSpPr/>
          <p:nvPr/>
        </p:nvSpPr>
        <p:spPr>
          <a:xfrm>
            <a:off x="6254725" y="1514100"/>
            <a:ext cx="1476600" cy="9279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29"/>
          <p:cNvSpPr/>
          <p:nvPr/>
        </p:nvSpPr>
        <p:spPr>
          <a:xfrm>
            <a:off x="6254725" y="2504700"/>
            <a:ext cx="1476600" cy="9279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29"/>
          <p:cNvSpPr/>
          <p:nvPr/>
        </p:nvSpPr>
        <p:spPr>
          <a:xfrm>
            <a:off x="6254725" y="3495300"/>
            <a:ext cx="1476600" cy="9279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29"/>
          <p:cNvSpPr txBox="1"/>
          <p:nvPr/>
        </p:nvSpPr>
        <p:spPr>
          <a:xfrm>
            <a:off x="6254725" y="852600"/>
            <a:ext cx="14766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</a:rPr>
              <a:t>Communities</a:t>
            </a:r>
            <a:endParaRPr sz="1700"/>
          </a:p>
        </p:txBody>
      </p:sp>
      <p:cxnSp>
        <p:nvCxnSpPr>
          <p:cNvPr id="341" name="Google Shape;341;p29"/>
          <p:cNvCxnSpPr>
            <a:stCxn id="335" idx="2"/>
          </p:cNvCxnSpPr>
          <p:nvPr/>
        </p:nvCxnSpPr>
        <p:spPr>
          <a:xfrm>
            <a:off x="5094050" y="1484400"/>
            <a:ext cx="1800" cy="29991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42" name="Google Shape;342;p29"/>
          <p:cNvCxnSpPr/>
          <p:nvPr/>
        </p:nvCxnSpPr>
        <p:spPr>
          <a:xfrm>
            <a:off x="5856050" y="1484400"/>
            <a:ext cx="1800" cy="29991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lgDash"/>
            <a:round/>
            <a:headEnd len="med" w="med" type="none"/>
            <a:tailEnd len="med" w="med" type="none"/>
          </a:ln>
        </p:spPr>
      </p:cxnSp>
      <p:sp>
        <p:nvSpPr>
          <p:cNvPr id="343" name="Google Shape;343;p29"/>
          <p:cNvSpPr/>
          <p:nvPr/>
        </p:nvSpPr>
        <p:spPr>
          <a:xfrm>
            <a:off x="606525" y="1718475"/>
            <a:ext cx="297300" cy="297300"/>
          </a:xfrm>
          <a:prstGeom prst="rect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29"/>
          <p:cNvSpPr/>
          <p:nvPr/>
        </p:nvSpPr>
        <p:spPr>
          <a:xfrm>
            <a:off x="1292325" y="2175675"/>
            <a:ext cx="297300" cy="297300"/>
          </a:xfrm>
          <a:prstGeom prst="rect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29"/>
          <p:cNvSpPr/>
          <p:nvPr/>
        </p:nvSpPr>
        <p:spPr>
          <a:xfrm>
            <a:off x="691975" y="2749150"/>
            <a:ext cx="386400" cy="297300"/>
          </a:xfrm>
          <a:prstGeom prst="triangle">
            <a:avLst>
              <a:gd fmla="val 50000" name="adj"/>
            </a:avLst>
          </a:prstGeom>
          <a:solidFill>
            <a:srgbClr val="00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29"/>
          <p:cNvSpPr/>
          <p:nvPr/>
        </p:nvSpPr>
        <p:spPr>
          <a:xfrm>
            <a:off x="1307725" y="2909475"/>
            <a:ext cx="297300" cy="247800"/>
          </a:xfrm>
          <a:prstGeom prst="trapezoid">
            <a:avLst>
              <a:gd fmla="val 25000" name="adj"/>
            </a:avLst>
          </a:prstGeom>
          <a:solidFill>
            <a:srgbClr val="9FC5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29"/>
          <p:cNvSpPr/>
          <p:nvPr/>
        </p:nvSpPr>
        <p:spPr>
          <a:xfrm>
            <a:off x="725450" y="3621250"/>
            <a:ext cx="297300" cy="297300"/>
          </a:xfrm>
          <a:prstGeom prst="ellipse">
            <a:avLst/>
          </a:prstGeom>
          <a:solidFill>
            <a:srgbClr val="93C47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29"/>
          <p:cNvSpPr/>
          <p:nvPr/>
        </p:nvSpPr>
        <p:spPr>
          <a:xfrm>
            <a:off x="4139525" y="2042250"/>
            <a:ext cx="297300" cy="297300"/>
          </a:xfrm>
          <a:prstGeom prst="rect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29"/>
          <p:cNvSpPr/>
          <p:nvPr/>
        </p:nvSpPr>
        <p:spPr>
          <a:xfrm>
            <a:off x="3881525" y="2612175"/>
            <a:ext cx="297300" cy="297300"/>
          </a:xfrm>
          <a:prstGeom prst="rect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29"/>
          <p:cNvSpPr/>
          <p:nvPr/>
        </p:nvSpPr>
        <p:spPr>
          <a:xfrm>
            <a:off x="3836975" y="3026675"/>
            <a:ext cx="386400" cy="297300"/>
          </a:xfrm>
          <a:prstGeom prst="triangle">
            <a:avLst>
              <a:gd fmla="val 50000" name="adj"/>
            </a:avLst>
          </a:prstGeom>
          <a:solidFill>
            <a:srgbClr val="00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29"/>
          <p:cNvSpPr/>
          <p:nvPr/>
        </p:nvSpPr>
        <p:spPr>
          <a:xfrm>
            <a:off x="3968575" y="3542863"/>
            <a:ext cx="297300" cy="297300"/>
          </a:xfrm>
          <a:prstGeom prst="ellipse">
            <a:avLst/>
          </a:prstGeom>
          <a:solidFill>
            <a:srgbClr val="93C47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29"/>
          <p:cNvSpPr/>
          <p:nvPr/>
        </p:nvSpPr>
        <p:spPr>
          <a:xfrm>
            <a:off x="3968575" y="1579800"/>
            <a:ext cx="297300" cy="297300"/>
          </a:xfrm>
          <a:prstGeom prst="ellipse">
            <a:avLst/>
          </a:prstGeom>
          <a:solidFill>
            <a:srgbClr val="93C47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29"/>
          <p:cNvSpPr/>
          <p:nvPr/>
        </p:nvSpPr>
        <p:spPr>
          <a:xfrm>
            <a:off x="665975" y="2220150"/>
            <a:ext cx="386400" cy="247800"/>
          </a:xfrm>
          <a:prstGeom prst="parallelogram">
            <a:avLst>
              <a:gd fmla="val 25000" name="adj"/>
            </a:avLst>
          </a:prstGeom>
          <a:solidFill>
            <a:srgbClr val="FF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29"/>
          <p:cNvSpPr/>
          <p:nvPr/>
        </p:nvSpPr>
        <p:spPr>
          <a:xfrm>
            <a:off x="1182650" y="3773650"/>
            <a:ext cx="297300" cy="297300"/>
          </a:xfrm>
          <a:prstGeom prst="ellipse">
            <a:avLst/>
          </a:prstGeom>
          <a:solidFill>
            <a:srgbClr val="D5A6B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29"/>
          <p:cNvSpPr/>
          <p:nvPr/>
        </p:nvSpPr>
        <p:spPr>
          <a:xfrm>
            <a:off x="3163850" y="3011650"/>
            <a:ext cx="297300" cy="297300"/>
          </a:xfrm>
          <a:prstGeom prst="ellipse">
            <a:avLst/>
          </a:prstGeom>
          <a:solidFill>
            <a:srgbClr val="D5A6B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29"/>
          <p:cNvSpPr/>
          <p:nvPr/>
        </p:nvSpPr>
        <p:spPr>
          <a:xfrm>
            <a:off x="844375" y="3130150"/>
            <a:ext cx="386400" cy="297300"/>
          </a:xfrm>
          <a:prstGeom prst="triangle">
            <a:avLst>
              <a:gd fmla="val 50000" name="adj"/>
            </a:avLst>
          </a:prstGeom>
          <a:solidFill>
            <a:srgbClr val="38761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29"/>
          <p:cNvSpPr/>
          <p:nvPr/>
        </p:nvSpPr>
        <p:spPr>
          <a:xfrm>
            <a:off x="4094975" y="4048950"/>
            <a:ext cx="386400" cy="247800"/>
          </a:xfrm>
          <a:prstGeom prst="parallelogram">
            <a:avLst>
              <a:gd fmla="val 25000" name="adj"/>
            </a:avLst>
          </a:prstGeom>
          <a:solidFill>
            <a:srgbClr val="FF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29"/>
          <p:cNvSpPr/>
          <p:nvPr/>
        </p:nvSpPr>
        <p:spPr>
          <a:xfrm>
            <a:off x="7310525" y="2688375"/>
            <a:ext cx="297300" cy="297300"/>
          </a:xfrm>
          <a:prstGeom prst="rect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29"/>
          <p:cNvSpPr/>
          <p:nvPr/>
        </p:nvSpPr>
        <p:spPr>
          <a:xfrm>
            <a:off x="6580175" y="3026675"/>
            <a:ext cx="386400" cy="297300"/>
          </a:xfrm>
          <a:prstGeom prst="triangle">
            <a:avLst>
              <a:gd fmla="val 50000" name="adj"/>
            </a:avLst>
          </a:prstGeom>
          <a:solidFill>
            <a:srgbClr val="00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29"/>
          <p:cNvSpPr/>
          <p:nvPr/>
        </p:nvSpPr>
        <p:spPr>
          <a:xfrm>
            <a:off x="7321375" y="2042250"/>
            <a:ext cx="297300" cy="297300"/>
          </a:xfrm>
          <a:prstGeom prst="rect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29"/>
          <p:cNvSpPr/>
          <p:nvPr/>
        </p:nvSpPr>
        <p:spPr>
          <a:xfrm>
            <a:off x="3282775" y="3663550"/>
            <a:ext cx="386400" cy="297300"/>
          </a:xfrm>
          <a:prstGeom prst="triangle">
            <a:avLst>
              <a:gd fmla="val 50000" name="adj"/>
            </a:avLst>
          </a:prstGeom>
          <a:solidFill>
            <a:srgbClr val="38761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29"/>
          <p:cNvSpPr/>
          <p:nvPr/>
        </p:nvSpPr>
        <p:spPr>
          <a:xfrm>
            <a:off x="3358975" y="2063350"/>
            <a:ext cx="386400" cy="297300"/>
          </a:xfrm>
          <a:prstGeom prst="triangle">
            <a:avLst>
              <a:gd fmla="val 50000" name="adj"/>
            </a:avLst>
          </a:prstGeom>
          <a:solidFill>
            <a:srgbClr val="38761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29"/>
          <p:cNvSpPr/>
          <p:nvPr/>
        </p:nvSpPr>
        <p:spPr>
          <a:xfrm>
            <a:off x="3349725" y="4080675"/>
            <a:ext cx="297300" cy="297300"/>
          </a:xfrm>
          <a:prstGeom prst="rect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29"/>
          <p:cNvSpPr/>
          <p:nvPr/>
        </p:nvSpPr>
        <p:spPr>
          <a:xfrm>
            <a:off x="3365125" y="1614075"/>
            <a:ext cx="297300" cy="247800"/>
          </a:xfrm>
          <a:prstGeom prst="trapezoid">
            <a:avLst>
              <a:gd fmla="val 25000" name="adj"/>
            </a:avLst>
          </a:prstGeom>
          <a:solidFill>
            <a:srgbClr val="9FC5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29"/>
          <p:cNvSpPr/>
          <p:nvPr/>
        </p:nvSpPr>
        <p:spPr>
          <a:xfrm>
            <a:off x="3637775" y="1915350"/>
            <a:ext cx="386400" cy="247800"/>
          </a:xfrm>
          <a:prstGeom prst="parallelogram">
            <a:avLst>
              <a:gd fmla="val 25000" name="adj"/>
            </a:avLst>
          </a:prstGeom>
          <a:solidFill>
            <a:srgbClr val="FF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29"/>
          <p:cNvSpPr/>
          <p:nvPr/>
        </p:nvSpPr>
        <p:spPr>
          <a:xfrm>
            <a:off x="7251325" y="1690275"/>
            <a:ext cx="297300" cy="247800"/>
          </a:xfrm>
          <a:prstGeom prst="trapezoid">
            <a:avLst>
              <a:gd fmla="val 25000" name="adj"/>
            </a:avLst>
          </a:prstGeom>
          <a:solidFill>
            <a:srgbClr val="9FC5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p29"/>
          <p:cNvSpPr/>
          <p:nvPr/>
        </p:nvSpPr>
        <p:spPr>
          <a:xfrm>
            <a:off x="6483175" y="1910950"/>
            <a:ext cx="386400" cy="297300"/>
          </a:xfrm>
          <a:prstGeom prst="triangle">
            <a:avLst>
              <a:gd fmla="val 50000" name="adj"/>
            </a:avLst>
          </a:prstGeom>
          <a:solidFill>
            <a:srgbClr val="38761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p29"/>
          <p:cNvSpPr/>
          <p:nvPr/>
        </p:nvSpPr>
        <p:spPr>
          <a:xfrm>
            <a:off x="6940375" y="3587350"/>
            <a:ext cx="386400" cy="297300"/>
          </a:xfrm>
          <a:prstGeom prst="triangle">
            <a:avLst>
              <a:gd fmla="val 50000" name="adj"/>
            </a:avLst>
          </a:prstGeom>
          <a:solidFill>
            <a:srgbClr val="38761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29"/>
          <p:cNvSpPr/>
          <p:nvPr/>
        </p:nvSpPr>
        <p:spPr>
          <a:xfrm>
            <a:off x="7007325" y="4004475"/>
            <a:ext cx="297300" cy="297300"/>
          </a:xfrm>
          <a:prstGeom prst="rect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70" name="Google Shape;370;p29"/>
          <p:cNvCxnSpPr>
            <a:stCxn id="328" idx="3"/>
            <a:endCxn id="329" idx="1"/>
          </p:cNvCxnSpPr>
          <p:nvPr/>
        </p:nvCxnSpPr>
        <p:spPr>
          <a:xfrm flipH="1" rot="10800000">
            <a:off x="1805625" y="1977950"/>
            <a:ext cx="1248600" cy="10437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71" name="Google Shape;371;p29"/>
          <p:cNvCxnSpPr>
            <a:stCxn id="328" idx="3"/>
            <a:endCxn id="332" idx="1"/>
          </p:cNvCxnSpPr>
          <p:nvPr/>
        </p:nvCxnSpPr>
        <p:spPr>
          <a:xfrm flipH="1" rot="10800000">
            <a:off x="1805625" y="2968550"/>
            <a:ext cx="1248600" cy="531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72" name="Google Shape;372;p29"/>
          <p:cNvCxnSpPr>
            <a:stCxn id="328" idx="3"/>
            <a:endCxn id="333" idx="1"/>
          </p:cNvCxnSpPr>
          <p:nvPr/>
        </p:nvCxnSpPr>
        <p:spPr>
          <a:xfrm>
            <a:off x="1805625" y="3021650"/>
            <a:ext cx="1248600" cy="9375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73" name="Google Shape;373;p29"/>
          <p:cNvCxnSpPr/>
          <p:nvPr/>
        </p:nvCxnSpPr>
        <p:spPr>
          <a:xfrm flipH="1" rot="10800000">
            <a:off x="4265875" y="1649250"/>
            <a:ext cx="770700" cy="79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4" name="Google Shape;374;p29"/>
          <p:cNvCxnSpPr/>
          <p:nvPr/>
        </p:nvCxnSpPr>
        <p:spPr>
          <a:xfrm rot="10800000">
            <a:off x="4025450" y="588575"/>
            <a:ext cx="991200" cy="1050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75" name="Google Shape;375;p29"/>
          <p:cNvCxnSpPr/>
          <p:nvPr/>
        </p:nvCxnSpPr>
        <p:spPr>
          <a:xfrm flipH="1" rot="10800000">
            <a:off x="4436825" y="1758000"/>
            <a:ext cx="916800" cy="432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6" name="Google Shape;376;p29"/>
          <p:cNvCxnSpPr/>
          <p:nvPr/>
        </p:nvCxnSpPr>
        <p:spPr>
          <a:xfrm flipH="1" rot="10800000">
            <a:off x="4126775" y="2927525"/>
            <a:ext cx="1187100" cy="247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7" name="Google Shape;377;p29"/>
          <p:cNvCxnSpPr/>
          <p:nvPr/>
        </p:nvCxnSpPr>
        <p:spPr>
          <a:xfrm flipH="1" rot="10800000">
            <a:off x="4450400" y="4017750"/>
            <a:ext cx="863700" cy="155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8" name="Google Shape;378;p29"/>
          <p:cNvCxnSpPr/>
          <p:nvPr/>
        </p:nvCxnSpPr>
        <p:spPr>
          <a:xfrm>
            <a:off x="5361225" y="1779400"/>
            <a:ext cx="669900" cy="513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79" name="Google Shape;379;p29"/>
          <p:cNvCxnSpPr/>
          <p:nvPr/>
        </p:nvCxnSpPr>
        <p:spPr>
          <a:xfrm>
            <a:off x="5319350" y="2941225"/>
            <a:ext cx="1151400" cy="230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80" name="Google Shape;380;p29"/>
          <p:cNvCxnSpPr/>
          <p:nvPr/>
        </p:nvCxnSpPr>
        <p:spPr>
          <a:xfrm>
            <a:off x="5298400" y="4019350"/>
            <a:ext cx="523500" cy="240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1" name="Google Shape;381;p29"/>
          <p:cNvCxnSpPr/>
          <p:nvPr/>
        </p:nvCxnSpPr>
        <p:spPr>
          <a:xfrm flipH="1">
            <a:off x="4995025" y="4260075"/>
            <a:ext cx="805800" cy="648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30"/>
          <p:cNvSpPr/>
          <p:nvPr/>
        </p:nvSpPr>
        <p:spPr>
          <a:xfrm>
            <a:off x="329025" y="1411250"/>
            <a:ext cx="1476600" cy="32208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p30"/>
          <p:cNvSpPr/>
          <p:nvPr/>
        </p:nvSpPr>
        <p:spPr>
          <a:xfrm>
            <a:off x="3054325" y="1514100"/>
            <a:ext cx="1476600" cy="9279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p30"/>
          <p:cNvSpPr txBox="1"/>
          <p:nvPr/>
        </p:nvSpPr>
        <p:spPr>
          <a:xfrm>
            <a:off x="329025" y="1017725"/>
            <a:ext cx="14766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</a:rPr>
              <a:t>Species pool</a:t>
            </a:r>
            <a:endParaRPr sz="1700"/>
          </a:p>
        </p:txBody>
      </p:sp>
      <p:sp>
        <p:nvSpPr>
          <p:cNvPr id="389" name="Google Shape;389;p30"/>
          <p:cNvSpPr txBox="1"/>
          <p:nvPr/>
        </p:nvSpPr>
        <p:spPr>
          <a:xfrm>
            <a:off x="1691675" y="1005000"/>
            <a:ext cx="14766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</a:rPr>
              <a:t>Dispersal</a:t>
            </a:r>
            <a:endParaRPr sz="1700"/>
          </a:p>
        </p:txBody>
      </p:sp>
      <p:sp>
        <p:nvSpPr>
          <p:cNvPr id="390" name="Google Shape;390;p30"/>
          <p:cNvSpPr/>
          <p:nvPr/>
        </p:nvSpPr>
        <p:spPr>
          <a:xfrm>
            <a:off x="3054325" y="2504700"/>
            <a:ext cx="1476600" cy="9279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p30"/>
          <p:cNvSpPr/>
          <p:nvPr/>
        </p:nvSpPr>
        <p:spPr>
          <a:xfrm>
            <a:off x="3054325" y="3495300"/>
            <a:ext cx="1476600" cy="9279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p30"/>
          <p:cNvSpPr txBox="1"/>
          <p:nvPr/>
        </p:nvSpPr>
        <p:spPr>
          <a:xfrm>
            <a:off x="2987075" y="1005000"/>
            <a:ext cx="14766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</a:rPr>
              <a:t>Communities</a:t>
            </a:r>
            <a:endParaRPr sz="1700"/>
          </a:p>
        </p:txBody>
      </p:sp>
      <p:sp>
        <p:nvSpPr>
          <p:cNvPr id="393" name="Google Shape;393;p30"/>
          <p:cNvSpPr txBox="1"/>
          <p:nvPr/>
        </p:nvSpPr>
        <p:spPr>
          <a:xfrm>
            <a:off x="4633250" y="776400"/>
            <a:ext cx="9216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</a:rPr>
              <a:t>Abiotic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</a:rPr>
              <a:t>Filter</a:t>
            </a:r>
            <a:endParaRPr sz="1700"/>
          </a:p>
        </p:txBody>
      </p:sp>
      <p:sp>
        <p:nvSpPr>
          <p:cNvPr id="394" name="Google Shape;394;p30"/>
          <p:cNvSpPr txBox="1"/>
          <p:nvPr/>
        </p:nvSpPr>
        <p:spPr>
          <a:xfrm>
            <a:off x="5402725" y="776400"/>
            <a:ext cx="9216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</a:rPr>
              <a:t>Biotic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</a:rPr>
              <a:t>Filter</a:t>
            </a:r>
            <a:endParaRPr sz="1700"/>
          </a:p>
        </p:txBody>
      </p:sp>
      <p:sp>
        <p:nvSpPr>
          <p:cNvPr id="395" name="Google Shape;395;p30"/>
          <p:cNvSpPr/>
          <p:nvPr/>
        </p:nvSpPr>
        <p:spPr>
          <a:xfrm>
            <a:off x="6254725" y="1514100"/>
            <a:ext cx="1476600" cy="9279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30"/>
          <p:cNvSpPr/>
          <p:nvPr/>
        </p:nvSpPr>
        <p:spPr>
          <a:xfrm>
            <a:off x="6254725" y="2504700"/>
            <a:ext cx="1476600" cy="9279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p30"/>
          <p:cNvSpPr/>
          <p:nvPr/>
        </p:nvSpPr>
        <p:spPr>
          <a:xfrm>
            <a:off x="6254725" y="3495300"/>
            <a:ext cx="1476600" cy="9279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30"/>
          <p:cNvSpPr txBox="1"/>
          <p:nvPr/>
        </p:nvSpPr>
        <p:spPr>
          <a:xfrm>
            <a:off x="6254725" y="852600"/>
            <a:ext cx="14766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</a:rPr>
              <a:t>Communities</a:t>
            </a:r>
            <a:endParaRPr sz="1700"/>
          </a:p>
        </p:txBody>
      </p:sp>
      <p:sp>
        <p:nvSpPr>
          <p:cNvPr id="399" name="Google Shape;399;p30"/>
          <p:cNvSpPr/>
          <p:nvPr/>
        </p:nvSpPr>
        <p:spPr>
          <a:xfrm>
            <a:off x="7831200" y="1514100"/>
            <a:ext cx="535200" cy="2909100"/>
          </a:xfrm>
          <a:prstGeom prst="rightBrace">
            <a:avLst>
              <a:gd fmla="val 50000" name="adj1"/>
              <a:gd fmla="val 48928" name="adj2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p30"/>
          <p:cNvSpPr txBox="1"/>
          <p:nvPr/>
        </p:nvSpPr>
        <p:spPr>
          <a:xfrm rot="5400000">
            <a:off x="7550125" y="2681400"/>
            <a:ext cx="20550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</a:rPr>
              <a:t>Metacommunity</a:t>
            </a:r>
            <a:endParaRPr sz="1700"/>
          </a:p>
        </p:txBody>
      </p:sp>
      <p:cxnSp>
        <p:nvCxnSpPr>
          <p:cNvPr id="401" name="Google Shape;401;p30"/>
          <p:cNvCxnSpPr>
            <a:stCxn id="393" idx="2"/>
          </p:cNvCxnSpPr>
          <p:nvPr/>
        </p:nvCxnSpPr>
        <p:spPr>
          <a:xfrm>
            <a:off x="5094050" y="1484400"/>
            <a:ext cx="1800" cy="29991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402" name="Google Shape;402;p30"/>
          <p:cNvCxnSpPr/>
          <p:nvPr/>
        </p:nvCxnSpPr>
        <p:spPr>
          <a:xfrm>
            <a:off x="5856050" y="1484400"/>
            <a:ext cx="1800" cy="29991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lgDash"/>
            <a:round/>
            <a:headEnd len="med" w="med" type="none"/>
            <a:tailEnd len="med" w="med" type="none"/>
          </a:ln>
        </p:spPr>
      </p:cxnSp>
      <p:sp>
        <p:nvSpPr>
          <p:cNvPr id="403" name="Google Shape;403;p30"/>
          <p:cNvSpPr/>
          <p:nvPr/>
        </p:nvSpPr>
        <p:spPr>
          <a:xfrm>
            <a:off x="606525" y="1718475"/>
            <a:ext cx="297300" cy="297300"/>
          </a:xfrm>
          <a:prstGeom prst="rect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30"/>
          <p:cNvSpPr/>
          <p:nvPr/>
        </p:nvSpPr>
        <p:spPr>
          <a:xfrm>
            <a:off x="1292325" y="2175675"/>
            <a:ext cx="297300" cy="297300"/>
          </a:xfrm>
          <a:prstGeom prst="rect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p30"/>
          <p:cNvSpPr/>
          <p:nvPr/>
        </p:nvSpPr>
        <p:spPr>
          <a:xfrm>
            <a:off x="691975" y="2749150"/>
            <a:ext cx="386400" cy="297300"/>
          </a:xfrm>
          <a:prstGeom prst="triangle">
            <a:avLst>
              <a:gd fmla="val 50000" name="adj"/>
            </a:avLst>
          </a:prstGeom>
          <a:solidFill>
            <a:srgbClr val="00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p30"/>
          <p:cNvSpPr/>
          <p:nvPr/>
        </p:nvSpPr>
        <p:spPr>
          <a:xfrm>
            <a:off x="1307725" y="2909475"/>
            <a:ext cx="297300" cy="247800"/>
          </a:xfrm>
          <a:prstGeom prst="trapezoid">
            <a:avLst>
              <a:gd fmla="val 25000" name="adj"/>
            </a:avLst>
          </a:prstGeom>
          <a:solidFill>
            <a:srgbClr val="9FC5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p30"/>
          <p:cNvSpPr/>
          <p:nvPr/>
        </p:nvSpPr>
        <p:spPr>
          <a:xfrm>
            <a:off x="725450" y="3621250"/>
            <a:ext cx="297300" cy="297300"/>
          </a:xfrm>
          <a:prstGeom prst="ellipse">
            <a:avLst/>
          </a:prstGeom>
          <a:solidFill>
            <a:srgbClr val="93C47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p30"/>
          <p:cNvSpPr/>
          <p:nvPr/>
        </p:nvSpPr>
        <p:spPr>
          <a:xfrm>
            <a:off x="4139525" y="2042250"/>
            <a:ext cx="297300" cy="297300"/>
          </a:xfrm>
          <a:prstGeom prst="rect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p30"/>
          <p:cNvSpPr/>
          <p:nvPr/>
        </p:nvSpPr>
        <p:spPr>
          <a:xfrm>
            <a:off x="3881525" y="2612175"/>
            <a:ext cx="297300" cy="297300"/>
          </a:xfrm>
          <a:prstGeom prst="rect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p30"/>
          <p:cNvSpPr/>
          <p:nvPr/>
        </p:nvSpPr>
        <p:spPr>
          <a:xfrm>
            <a:off x="3836975" y="3026675"/>
            <a:ext cx="386400" cy="297300"/>
          </a:xfrm>
          <a:prstGeom prst="triangle">
            <a:avLst>
              <a:gd fmla="val 50000" name="adj"/>
            </a:avLst>
          </a:prstGeom>
          <a:solidFill>
            <a:srgbClr val="00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p30"/>
          <p:cNvSpPr/>
          <p:nvPr/>
        </p:nvSpPr>
        <p:spPr>
          <a:xfrm>
            <a:off x="3968575" y="3542863"/>
            <a:ext cx="297300" cy="297300"/>
          </a:xfrm>
          <a:prstGeom prst="ellipse">
            <a:avLst/>
          </a:prstGeom>
          <a:solidFill>
            <a:srgbClr val="93C47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p30"/>
          <p:cNvSpPr/>
          <p:nvPr/>
        </p:nvSpPr>
        <p:spPr>
          <a:xfrm>
            <a:off x="3968575" y="1579800"/>
            <a:ext cx="297300" cy="297300"/>
          </a:xfrm>
          <a:prstGeom prst="ellipse">
            <a:avLst/>
          </a:prstGeom>
          <a:solidFill>
            <a:srgbClr val="93C47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p30"/>
          <p:cNvSpPr/>
          <p:nvPr/>
        </p:nvSpPr>
        <p:spPr>
          <a:xfrm>
            <a:off x="665975" y="2220150"/>
            <a:ext cx="386400" cy="247800"/>
          </a:xfrm>
          <a:prstGeom prst="parallelogram">
            <a:avLst>
              <a:gd fmla="val 25000" name="adj"/>
            </a:avLst>
          </a:prstGeom>
          <a:solidFill>
            <a:srgbClr val="FF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" name="Google Shape;414;p30"/>
          <p:cNvSpPr/>
          <p:nvPr/>
        </p:nvSpPr>
        <p:spPr>
          <a:xfrm>
            <a:off x="1182650" y="3773650"/>
            <a:ext cx="297300" cy="297300"/>
          </a:xfrm>
          <a:prstGeom prst="ellipse">
            <a:avLst/>
          </a:prstGeom>
          <a:solidFill>
            <a:srgbClr val="D5A6B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p30"/>
          <p:cNvSpPr/>
          <p:nvPr/>
        </p:nvSpPr>
        <p:spPr>
          <a:xfrm>
            <a:off x="3163850" y="3011650"/>
            <a:ext cx="297300" cy="297300"/>
          </a:xfrm>
          <a:prstGeom prst="ellipse">
            <a:avLst/>
          </a:prstGeom>
          <a:solidFill>
            <a:srgbClr val="D5A6B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p30"/>
          <p:cNvSpPr/>
          <p:nvPr/>
        </p:nvSpPr>
        <p:spPr>
          <a:xfrm>
            <a:off x="844375" y="3130150"/>
            <a:ext cx="386400" cy="297300"/>
          </a:xfrm>
          <a:prstGeom prst="triangle">
            <a:avLst>
              <a:gd fmla="val 50000" name="adj"/>
            </a:avLst>
          </a:prstGeom>
          <a:solidFill>
            <a:srgbClr val="38761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p30"/>
          <p:cNvSpPr/>
          <p:nvPr/>
        </p:nvSpPr>
        <p:spPr>
          <a:xfrm>
            <a:off x="4094975" y="4048950"/>
            <a:ext cx="386400" cy="247800"/>
          </a:xfrm>
          <a:prstGeom prst="parallelogram">
            <a:avLst>
              <a:gd fmla="val 25000" name="adj"/>
            </a:avLst>
          </a:prstGeom>
          <a:solidFill>
            <a:srgbClr val="FF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30"/>
          <p:cNvSpPr/>
          <p:nvPr/>
        </p:nvSpPr>
        <p:spPr>
          <a:xfrm>
            <a:off x="7310525" y="2688375"/>
            <a:ext cx="297300" cy="297300"/>
          </a:xfrm>
          <a:prstGeom prst="rect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" name="Google Shape;419;p30"/>
          <p:cNvSpPr/>
          <p:nvPr/>
        </p:nvSpPr>
        <p:spPr>
          <a:xfrm>
            <a:off x="6580175" y="3026675"/>
            <a:ext cx="386400" cy="297300"/>
          </a:xfrm>
          <a:prstGeom prst="triangle">
            <a:avLst>
              <a:gd fmla="val 50000" name="adj"/>
            </a:avLst>
          </a:prstGeom>
          <a:solidFill>
            <a:srgbClr val="00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p30"/>
          <p:cNvSpPr/>
          <p:nvPr/>
        </p:nvSpPr>
        <p:spPr>
          <a:xfrm>
            <a:off x="7321375" y="2042250"/>
            <a:ext cx="297300" cy="297300"/>
          </a:xfrm>
          <a:prstGeom prst="rect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30"/>
          <p:cNvSpPr/>
          <p:nvPr/>
        </p:nvSpPr>
        <p:spPr>
          <a:xfrm>
            <a:off x="3282775" y="3663550"/>
            <a:ext cx="386400" cy="297300"/>
          </a:xfrm>
          <a:prstGeom prst="triangle">
            <a:avLst>
              <a:gd fmla="val 50000" name="adj"/>
            </a:avLst>
          </a:prstGeom>
          <a:solidFill>
            <a:srgbClr val="38761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p30"/>
          <p:cNvSpPr/>
          <p:nvPr/>
        </p:nvSpPr>
        <p:spPr>
          <a:xfrm>
            <a:off x="3358975" y="2063350"/>
            <a:ext cx="386400" cy="297300"/>
          </a:xfrm>
          <a:prstGeom prst="triangle">
            <a:avLst>
              <a:gd fmla="val 50000" name="adj"/>
            </a:avLst>
          </a:prstGeom>
          <a:solidFill>
            <a:srgbClr val="38761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" name="Google Shape;423;p30"/>
          <p:cNvSpPr/>
          <p:nvPr/>
        </p:nvSpPr>
        <p:spPr>
          <a:xfrm>
            <a:off x="3349725" y="4080675"/>
            <a:ext cx="297300" cy="297300"/>
          </a:xfrm>
          <a:prstGeom prst="rect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" name="Google Shape;424;p30"/>
          <p:cNvSpPr/>
          <p:nvPr/>
        </p:nvSpPr>
        <p:spPr>
          <a:xfrm>
            <a:off x="3365125" y="1614075"/>
            <a:ext cx="297300" cy="247800"/>
          </a:xfrm>
          <a:prstGeom prst="trapezoid">
            <a:avLst>
              <a:gd fmla="val 25000" name="adj"/>
            </a:avLst>
          </a:prstGeom>
          <a:solidFill>
            <a:srgbClr val="9FC5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" name="Google Shape;425;p30"/>
          <p:cNvSpPr/>
          <p:nvPr/>
        </p:nvSpPr>
        <p:spPr>
          <a:xfrm>
            <a:off x="3637775" y="1915350"/>
            <a:ext cx="386400" cy="247800"/>
          </a:xfrm>
          <a:prstGeom prst="parallelogram">
            <a:avLst>
              <a:gd fmla="val 25000" name="adj"/>
            </a:avLst>
          </a:prstGeom>
          <a:solidFill>
            <a:srgbClr val="FF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" name="Google Shape;426;p30"/>
          <p:cNvSpPr/>
          <p:nvPr/>
        </p:nvSpPr>
        <p:spPr>
          <a:xfrm>
            <a:off x="7251325" y="1690275"/>
            <a:ext cx="297300" cy="247800"/>
          </a:xfrm>
          <a:prstGeom prst="trapezoid">
            <a:avLst>
              <a:gd fmla="val 25000" name="adj"/>
            </a:avLst>
          </a:prstGeom>
          <a:solidFill>
            <a:srgbClr val="9FC5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p30"/>
          <p:cNvSpPr/>
          <p:nvPr/>
        </p:nvSpPr>
        <p:spPr>
          <a:xfrm>
            <a:off x="6483175" y="1910950"/>
            <a:ext cx="386400" cy="297300"/>
          </a:xfrm>
          <a:prstGeom prst="triangle">
            <a:avLst>
              <a:gd fmla="val 50000" name="adj"/>
            </a:avLst>
          </a:prstGeom>
          <a:solidFill>
            <a:srgbClr val="38761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" name="Google Shape;428;p30"/>
          <p:cNvSpPr/>
          <p:nvPr/>
        </p:nvSpPr>
        <p:spPr>
          <a:xfrm>
            <a:off x="6940375" y="3587350"/>
            <a:ext cx="386400" cy="297300"/>
          </a:xfrm>
          <a:prstGeom prst="triangle">
            <a:avLst>
              <a:gd fmla="val 50000" name="adj"/>
            </a:avLst>
          </a:prstGeom>
          <a:solidFill>
            <a:srgbClr val="38761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9" name="Google Shape;429;p30"/>
          <p:cNvSpPr/>
          <p:nvPr/>
        </p:nvSpPr>
        <p:spPr>
          <a:xfrm>
            <a:off x="7007325" y="4004475"/>
            <a:ext cx="297300" cy="297300"/>
          </a:xfrm>
          <a:prstGeom prst="rect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30" name="Google Shape;430;p30"/>
          <p:cNvCxnSpPr>
            <a:stCxn id="386" idx="3"/>
            <a:endCxn id="387" idx="1"/>
          </p:cNvCxnSpPr>
          <p:nvPr/>
        </p:nvCxnSpPr>
        <p:spPr>
          <a:xfrm flipH="1" rot="10800000">
            <a:off x="1805625" y="1977950"/>
            <a:ext cx="1248600" cy="10437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31" name="Google Shape;431;p30"/>
          <p:cNvCxnSpPr>
            <a:stCxn id="386" idx="3"/>
            <a:endCxn id="390" idx="1"/>
          </p:cNvCxnSpPr>
          <p:nvPr/>
        </p:nvCxnSpPr>
        <p:spPr>
          <a:xfrm flipH="1" rot="10800000">
            <a:off x="1805625" y="2968550"/>
            <a:ext cx="1248600" cy="531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32" name="Google Shape;432;p30"/>
          <p:cNvCxnSpPr>
            <a:stCxn id="386" idx="3"/>
            <a:endCxn id="391" idx="1"/>
          </p:cNvCxnSpPr>
          <p:nvPr/>
        </p:nvCxnSpPr>
        <p:spPr>
          <a:xfrm>
            <a:off x="1805625" y="3021650"/>
            <a:ext cx="1248600" cy="9375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31"/>
          <p:cNvSpPr/>
          <p:nvPr/>
        </p:nvSpPr>
        <p:spPr>
          <a:xfrm>
            <a:off x="329025" y="1411250"/>
            <a:ext cx="1476600" cy="32208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8" name="Google Shape;438;p31"/>
          <p:cNvSpPr/>
          <p:nvPr/>
        </p:nvSpPr>
        <p:spPr>
          <a:xfrm>
            <a:off x="3054325" y="1514100"/>
            <a:ext cx="1476600" cy="9279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" name="Google Shape;439;p31"/>
          <p:cNvSpPr txBox="1"/>
          <p:nvPr/>
        </p:nvSpPr>
        <p:spPr>
          <a:xfrm>
            <a:off x="329025" y="1017725"/>
            <a:ext cx="14766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</a:rPr>
              <a:t>Species pool</a:t>
            </a:r>
            <a:endParaRPr sz="1700"/>
          </a:p>
        </p:txBody>
      </p:sp>
      <p:sp>
        <p:nvSpPr>
          <p:cNvPr id="440" name="Google Shape;440;p31"/>
          <p:cNvSpPr txBox="1"/>
          <p:nvPr/>
        </p:nvSpPr>
        <p:spPr>
          <a:xfrm>
            <a:off x="1691675" y="1005000"/>
            <a:ext cx="14766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</a:rPr>
              <a:t>Dispersal</a:t>
            </a:r>
            <a:endParaRPr sz="1700"/>
          </a:p>
        </p:txBody>
      </p:sp>
      <p:sp>
        <p:nvSpPr>
          <p:cNvPr id="441" name="Google Shape;441;p31"/>
          <p:cNvSpPr/>
          <p:nvPr/>
        </p:nvSpPr>
        <p:spPr>
          <a:xfrm>
            <a:off x="3054325" y="2504700"/>
            <a:ext cx="1476600" cy="9279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2" name="Google Shape;442;p31"/>
          <p:cNvSpPr/>
          <p:nvPr/>
        </p:nvSpPr>
        <p:spPr>
          <a:xfrm>
            <a:off x="3054325" y="3495300"/>
            <a:ext cx="1476600" cy="9279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p31"/>
          <p:cNvSpPr txBox="1"/>
          <p:nvPr/>
        </p:nvSpPr>
        <p:spPr>
          <a:xfrm>
            <a:off x="2987075" y="1005000"/>
            <a:ext cx="14766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</a:rPr>
              <a:t>Communities</a:t>
            </a:r>
            <a:endParaRPr sz="1700"/>
          </a:p>
        </p:txBody>
      </p:sp>
      <p:sp>
        <p:nvSpPr>
          <p:cNvPr id="444" name="Google Shape;444;p31"/>
          <p:cNvSpPr txBox="1"/>
          <p:nvPr/>
        </p:nvSpPr>
        <p:spPr>
          <a:xfrm>
            <a:off x="4633250" y="776400"/>
            <a:ext cx="9216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</a:rPr>
              <a:t>Abiotic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</a:rPr>
              <a:t>Filter</a:t>
            </a:r>
            <a:endParaRPr sz="1700"/>
          </a:p>
        </p:txBody>
      </p:sp>
      <p:sp>
        <p:nvSpPr>
          <p:cNvPr id="445" name="Google Shape;445;p31"/>
          <p:cNvSpPr txBox="1"/>
          <p:nvPr/>
        </p:nvSpPr>
        <p:spPr>
          <a:xfrm>
            <a:off x="5402725" y="776400"/>
            <a:ext cx="9216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</a:rPr>
              <a:t>Biotic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</a:rPr>
              <a:t>Filter</a:t>
            </a:r>
            <a:endParaRPr sz="1700"/>
          </a:p>
        </p:txBody>
      </p:sp>
      <p:sp>
        <p:nvSpPr>
          <p:cNvPr id="446" name="Google Shape;446;p31"/>
          <p:cNvSpPr/>
          <p:nvPr/>
        </p:nvSpPr>
        <p:spPr>
          <a:xfrm>
            <a:off x="6254725" y="1514100"/>
            <a:ext cx="1476600" cy="9279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7" name="Google Shape;447;p31"/>
          <p:cNvSpPr/>
          <p:nvPr/>
        </p:nvSpPr>
        <p:spPr>
          <a:xfrm>
            <a:off x="6254725" y="2504700"/>
            <a:ext cx="1476600" cy="9279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8" name="Google Shape;448;p31"/>
          <p:cNvSpPr/>
          <p:nvPr/>
        </p:nvSpPr>
        <p:spPr>
          <a:xfrm>
            <a:off x="6254725" y="3495300"/>
            <a:ext cx="1476600" cy="9279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9" name="Google Shape;449;p31"/>
          <p:cNvSpPr txBox="1"/>
          <p:nvPr/>
        </p:nvSpPr>
        <p:spPr>
          <a:xfrm>
            <a:off x="6254725" y="852600"/>
            <a:ext cx="14766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</a:rPr>
              <a:t>Communities</a:t>
            </a:r>
            <a:endParaRPr sz="1700"/>
          </a:p>
        </p:txBody>
      </p:sp>
      <p:sp>
        <p:nvSpPr>
          <p:cNvPr id="450" name="Google Shape;450;p31"/>
          <p:cNvSpPr/>
          <p:nvPr/>
        </p:nvSpPr>
        <p:spPr>
          <a:xfrm>
            <a:off x="7831200" y="1514100"/>
            <a:ext cx="535200" cy="2909100"/>
          </a:xfrm>
          <a:prstGeom prst="rightBrace">
            <a:avLst>
              <a:gd fmla="val 50000" name="adj1"/>
              <a:gd fmla="val 48928" name="adj2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1" name="Google Shape;451;p31"/>
          <p:cNvSpPr txBox="1"/>
          <p:nvPr/>
        </p:nvSpPr>
        <p:spPr>
          <a:xfrm rot="5400000">
            <a:off x="7550125" y="2681400"/>
            <a:ext cx="20550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</a:rPr>
              <a:t>Metacommunity</a:t>
            </a:r>
            <a:endParaRPr sz="1700"/>
          </a:p>
        </p:txBody>
      </p:sp>
      <p:sp>
        <p:nvSpPr>
          <p:cNvPr id="452" name="Google Shape;452;p31"/>
          <p:cNvSpPr/>
          <p:nvPr/>
        </p:nvSpPr>
        <p:spPr>
          <a:xfrm>
            <a:off x="1102025" y="4473550"/>
            <a:ext cx="6848296" cy="605950"/>
          </a:xfrm>
          <a:custGeom>
            <a:rect b="b" l="l" r="r" t="t"/>
            <a:pathLst>
              <a:path extrusionOk="0" h="24238" w="237850">
                <a:moveTo>
                  <a:pt x="237850" y="0"/>
                </a:moveTo>
                <a:cubicBezTo>
                  <a:pt x="233423" y="3634"/>
                  <a:pt x="246373" y="18103"/>
                  <a:pt x="211290" y="21803"/>
                </a:cubicBezTo>
                <a:cubicBezTo>
                  <a:pt x="176207" y="25503"/>
                  <a:pt x="62568" y="24446"/>
                  <a:pt x="27353" y="22200"/>
                </a:cubicBezTo>
                <a:cubicBezTo>
                  <a:pt x="-7862" y="19954"/>
                  <a:pt x="4559" y="10638"/>
                  <a:pt x="0" y="8325"/>
                </a:cubicBezTo>
              </a:path>
            </a:pathLst>
          </a:cu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sp>
      <p:sp>
        <p:nvSpPr>
          <p:cNvPr id="453" name="Google Shape;453;p31"/>
          <p:cNvSpPr txBox="1"/>
          <p:nvPr/>
        </p:nvSpPr>
        <p:spPr>
          <a:xfrm>
            <a:off x="2736625" y="4632050"/>
            <a:ext cx="3518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Speciation, Extinction, Dispersal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454" name="Google Shape;454;p31"/>
          <p:cNvCxnSpPr>
            <a:stCxn id="444" idx="2"/>
          </p:cNvCxnSpPr>
          <p:nvPr/>
        </p:nvCxnSpPr>
        <p:spPr>
          <a:xfrm>
            <a:off x="5094050" y="1484400"/>
            <a:ext cx="1800" cy="29991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455" name="Google Shape;455;p31"/>
          <p:cNvCxnSpPr/>
          <p:nvPr/>
        </p:nvCxnSpPr>
        <p:spPr>
          <a:xfrm>
            <a:off x="5856050" y="1484400"/>
            <a:ext cx="1800" cy="29991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lgDash"/>
            <a:round/>
            <a:headEnd len="med" w="med" type="none"/>
            <a:tailEnd len="med" w="med" type="none"/>
          </a:ln>
        </p:spPr>
      </p:cxnSp>
      <p:sp>
        <p:nvSpPr>
          <p:cNvPr id="456" name="Google Shape;456;p31"/>
          <p:cNvSpPr/>
          <p:nvPr/>
        </p:nvSpPr>
        <p:spPr>
          <a:xfrm>
            <a:off x="606525" y="1718475"/>
            <a:ext cx="297300" cy="297300"/>
          </a:xfrm>
          <a:prstGeom prst="rect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7" name="Google Shape;457;p31"/>
          <p:cNvSpPr/>
          <p:nvPr/>
        </p:nvSpPr>
        <p:spPr>
          <a:xfrm>
            <a:off x="1292325" y="2175675"/>
            <a:ext cx="297300" cy="297300"/>
          </a:xfrm>
          <a:prstGeom prst="rect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8" name="Google Shape;458;p31"/>
          <p:cNvSpPr/>
          <p:nvPr/>
        </p:nvSpPr>
        <p:spPr>
          <a:xfrm>
            <a:off x="691975" y="2749150"/>
            <a:ext cx="386400" cy="297300"/>
          </a:xfrm>
          <a:prstGeom prst="triangle">
            <a:avLst>
              <a:gd fmla="val 50000" name="adj"/>
            </a:avLst>
          </a:prstGeom>
          <a:solidFill>
            <a:srgbClr val="00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31"/>
          <p:cNvSpPr/>
          <p:nvPr/>
        </p:nvSpPr>
        <p:spPr>
          <a:xfrm>
            <a:off x="1307725" y="2909475"/>
            <a:ext cx="297300" cy="247800"/>
          </a:xfrm>
          <a:prstGeom prst="trapezoid">
            <a:avLst>
              <a:gd fmla="val 25000" name="adj"/>
            </a:avLst>
          </a:prstGeom>
          <a:solidFill>
            <a:srgbClr val="9FC5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0" name="Google Shape;460;p31"/>
          <p:cNvSpPr/>
          <p:nvPr/>
        </p:nvSpPr>
        <p:spPr>
          <a:xfrm>
            <a:off x="725450" y="3621250"/>
            <a:ext cx="297300" cy="297300"/>
          </a:xfrm>
          <a:prstGeom prst="ellipse">
            <a:avLst/>
          </a:prstGeom>
          <a:solidFill>
            <a:srgbClr val="93C47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1" name="Google Shape;461;p31"/>
          <p:cNvSpPr/>
          <p:nvPr/>
        </p:nvSpPr>
        <p:spPr>
          <a:xfrm>
            <a:off x="4139525" y="2042250"/>
            <a:ext cx="297300" cy="297300"/>
          </a:xfrm>
          <a:prstGeom prst="rect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2" name="Google Shape;462;p31"/>
          <p:cNvSpPr/>
          <p:nvPr/>
        </p:nvSpPr>
        <p:spPr>
          <a:xfrm>
            <a:off x="3881525" y="2612175"/>
            <a:ext cx="297300" cy="297300"/>
          </a:xfrm>
          <a:prstGeom prst="rect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3" name="Google Shape;463;p31"/>
          <p:cNvSpPr/>
          <p:nvPr/>
        </p:nvSpPr>
        <p:spPr>
          <a:xfrm>
            <a:off x="3836975" y="3026675"/>
            <a:ext cx="386400" cy="297300"/>
          </a:xfrm>
          <a:prstGeom prst="triangle">
            <a:avLst>
              <a:gd fmla="val 50000" name="adj"/>
            </a:avLst>
          </a:prstGeom>
          <a:solidFill>
            <a:srgbClr val="00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4" name="Google Shape;464;p31"/>
          <p:cNvSpPr/>
          <p:nvPr/>
        </p:nvSpPr>
        <p:spPr>
          <a:xfrm>
            <a:off x="3968575" y="3542863"/>
            <a:ext cx="297300" cy="297300"/>
          </a:xfrm>
          <a:prstGeom prst="ellipse">
            <a:avLst/>
          </a:prstGeom>
          <a:solidFill>
            <a:srgbClr val="93C47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5" name="Google Shape;465;p31"/>
          <p:cNvSpPr/>
          <p:nvPr/>
        </p:nvSpPr>
        <p:spPr>
          <a:xfrm>
            <a:off x="3968575" y="1579800"/>
            <a:ext cx="297300" cy="297300"/>
          </a:xfrm>
          <a:prstGeom prst="ellipse">
            <a:avLst/>
          </a:prstGeom>
          <a:solidFill>
            <a:srgbClr val="93C47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6" name="Google Shape;466;p31"/>
          <p:cNvSpPr/>
          <p:nvPr/>
        </p:nvSpPr>
        <p:spPr>
          <a:xfrm>
            <a:off x="665975" y="2220150"/>
            <a:ext cx="386400" cy="247800"/>
          </a:xfrm>
          <a:prstGeom prst="parallelogram">
            <a:avLst>
              <a:gd fmla="val 25000" name="adj"/>
            </a:avLst>
          </a:prstGeom>
          <a:solidFill>
            <a:srgbClr val="FF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7" name="Google Shape;467;p31"/>
          <p:cNvSpPr/>
          <p:nvPr/>
        </p:nvSpPr>
        <p:spPr>
          <a:xfrm>
            <a:off x="1182650" y="3773650"/>
            <a:ext cx="297300" cy="297300"/>
          </a:xfrm>
          <a:prstGeom prst="ellipse">
            <a:avLst/>
          </a:prstGeom>
          <a:solidFill>
            <a:srgbClr val="D5A6B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8" name="Google Shape;468;p31"/>
          <p:cNvSpPr/>
          <p:nvPr/>
        </p:nvSpPr>
        <p:spPr>
          <a:xfrm>
            <a:off x="3163850" y="3011650"/>
            <a:ext cx="297300" cy="297300"/>
          </a:xfrm>
          <a:prstGeom prst="ellipse">
            <a:avLst/>
          </a:prstGeom>
          <a:solidFill>
            <a:srgbClr val="D5A6B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9" name="Google Shape;469;p31"/>
          <p:cNvSpPr/>
          <p:nvPr/>
        </p:nvSpPr>
        <p:spPr>
          <a:xfrm>
            <a:off x="844375" y="3130150"/>
            <a:ext cx="386400" cy="297300"/>
          </a:xfrm>
          <a:prstGeom prst="triangle">
            <a:avLst>
              <a:gd fmla="val 50000" name="adj"/>
            </a:avLst>
          </a:prstGeom>
          <a:solidFill>
            <a:srgbClr val="38761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0" name="Google Shape;470;p31"/>
          <p:cNvSpPr/>
          <p:nvPr/>
        </p:nvSpPr>
        <p:spPr>
          <a:xfrm>
            <a:off x="4094975" y="4048950"/>
            <a:ext cx="386400" cy="247800"/>
          </a:xfrm>
          <a:prstGeom prst="parallelogram">
            <a:avLst>
              <a:gd fmla="val 25000" name="adj"/>
            </a:avLst>
          </a:prstGeom>
          <a:solidFill>
            <a:srgbClr val="FF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1" name="Google Shape;471;p31"/>
          <p:cNvSpPr/>
          <p:nvPr/>
        </p:nvSpPr>
        <p:spPr>
          <a:xfrm>
            <a:off x="7310525" y="2688375"/>
            <a:ext cx="297300" cy="297300"/>
          </a:xfrm>
          <a:prstGeom prst="rect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2" name="Google Shape;472;p31"/>
          <p:cNvSpPr/>
          <p:nvPr/>
        </p:nvSpPr>
        <p:spPr>
          <a:xfrm>
            <a:off x="6580175" y="3026675"/>
            <a:ext cx="386400" cy="297300"/>
          </a:xfrm>
          <a:prstGeom prst="triangle">
            <a:avLst>
              <a:gd fmla="val 50000" name="adj"/>
            </a:avLst>
          </a:prstGeom>
          <a:solidFill>
            <a:srgbClr val="00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3" name="Google Shape;473;p31"/>
          <p:cNvSpPr/>
          <p:nvPr/>
        </p:nvSpPr>
        <p:spPr>
          <a:xfrm>
            <a:off x="7321375" y="2042250"/>
            <a:ext cx="297300" cy="297300"/>
          </a:xfrm>
          <a:prstGeom prst="rect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4" name="Google Shape;474;p31"/>
          <p:cNvSpPr/>
          <p:nvPr/>
        </p:nvSpPr>
        <p:spPr>
          <a:xfrm>
            <a:off x="3282775" y="3663550"/>
            <a:ext cx="386400" cy="297300"/>
          </a:xfrm>
          <a:prstGeom prst="triangle">
            <a:avLst>
              <a:gd fmla="val 50000" name="adj"/>
            </a:avLst>
          </a:prstGeom>
          <a:solidFill>
            <a:srgbClr val="38761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5" name="Google Shape;475;p31"/>
          <p:cNvSpPr/>
          <p:nvPr/>
        </p:nvSpPr>
        <p:spPr>
          <a:xfrm>
            <a:off x="3358975" y="2063350"/>
            <a:ext cx="386400" cy="297300"/>
          </a:xfrm>
          <a:prstGeom prst="triangle">
            <a:avLst>
              <a:gd fmla="val 50000" name="adj"/>
            </a:avLst>
          </a:prstGeom>
          <a:solidFill>
            <a:srgbClr val="38761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6" name="Google Shape;476;p31"/>
          <p:cNvSpPr/>
          <p:nvPr/>
        </p:nvSpPr>
        <p:spPr>
          <a:xfrm>
            <a:off x="3349725" y="4080675"/>
            <a:ext cx="297300" cy="297300"/>
          </a:xfrm>
          <a:prstGeom prst="rect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7" name="Google Shape;477;p31"/>
          <p:cNvSpPr/>
          <p:nvPr/>
        </p:nvSpPr>
        <p:spPr>
          <a:xfrm>
            <a:off x="3365125" y="1614075"/>
            <a:ext cx="297300" cy="247800"/>
          </a:xfrm>
          <a:prstGeom prst="trapezoid">
            <a:avLst>
              <a:gd fmla="val 25000" name="adj"/>
            </a:avLst>
          </a:prstGeom>
          <a:solidFill>
            <a:srgbClr val="9FC5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8" name="Google Shape;478;p31"/>
          <p:cNvSpPr/>
          <p:nvPr/>
        </p:nvSpPr>
        <p:spPr>
          <a:xfrm>
            <a:off x="3637775" y="1915350"/>
            <a:ext cx="386400" cy="247800"/>
          </a:xfrm>
          <a:prstGeom prst="parallelogram">
            <a:avLst>
              <a:gd fmla="val 25000" name="adj"/>
            </a:avLst>
          </a:prstGeom>
          <a:solidFill>
            <a:srgbClr val="FF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9" name="Google Shape;479;p31"/>
          <p:cNvSpPr/>
          <p:nvPr/>
        </p:nvSpPr>
        <p:spPr>
          <a:xfrm>
            <a:off x="7251325" y="1690275"/>
            <a:ext cx="297300" cy="247800"/>
          </a:xfrm>
          <a:prstGeom prst="trapezoid">
            <a:avLst>
              <a:gd fmla="val 25000" name="adj"/>
            </a:avLst>
          </a:prstGeom>
          <a:solidFill>
            <a:srgbClr val="9FC5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0" name="Google Shape;480;p31"/>
          <p:cNvSpPr/>
          <p:nvPr/>
        </p:nvSpPr>
        <p:spPr>
          <a:xfrm>
            <a:off x="6483175" y="1910950"/>
            <a:ext cx="386400" cy="297300"/>
          </a:xfrm>
          <a:prstGeom prst="triangle">
            <a:avLst>
              <a:gd fmla="val 50000" name="adj"/>
            </a:avLst>
          </a:prstGeom>
          <a:solidFill>
            <a:srgbClr val="38761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1" name="Google Shape;481;p31"/>
          <p:cNvSpPr/>
          <p:nvPr/>
        </p:nvSpPr>
        <p:spPr>
          <a:xfrm>
            <a:off x="6940375" y="3587350"/>
            <a:ext cx="386400" cy="297300"/>
          </a:xfrm>
          <a:prstGeom prst="triangle">
            <a:avLst>
              <a:gd fmla="val 50000" name="adj"/>
            </a:avLst>
          </a:prstGeom>
          <a:solidFill>
            <a:srgbClr val="38761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p31"/>
          <p:cNvSpPr/>
          <p:nvPr/>
        </p:nvSpPr>
        <p:spPr>
          <a:xfrm>
            <a:off x="7007325" y="4004475"/>
            <a:ext cx="297300" cy="297300"/>
          </a:xfrm>
          <a:prstGeom prst="rect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83" name="Google Shape;483;p31"/>
          <p:cNvCxnSpPr>
            <a:stCxn id="437" idx="3"/>
            <a:endCxn id="438" idx="1"/>
          </p:cNvCxnSpPr>
          <p:nvPr/>
        </p:nvCxnSpPr>
        <p:spPr>
          <a:xfrm flipH="1" rot="10800000">
            <a:off x="1805625" y="1977950"/>
            <a:ext cx="1248600" cy="10437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84" name="Google Shape;484;p31"/>
          <p:cNvCxnSpPr>
            <a:stCxn id="437" idx="3"/>
            <a:endCxn id="441" idx="1"/>
          </p:cNvCxnSpPr>
          <p:nvPr/>
        </p:nvCxnSpPr>
        <p:spPr>
          <a:xfrm flipH="1" rot="10800000">
            <a:off x="1805625" y="2968550"/>
            <a:ext cx="1248600" cy="531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85" name="Google Shape;485;p31"/>
          <p:cNvCxnSpPr>
            <a:stCxn id="437" idx="3"/>
            <a:endCxn id="442" idx="1"/>
          </p:cNvCxnSpPr>
          <p:nvPr/>
        </p:nvCxnSpPr>
        <p:spPr>
          <a:xfrm>
            <a:off x="1805625" y="3021650"/>
            <a:ext cx="1248600" cy="9375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32"/>
          <p:cNvSpPr/>
          <p:nvPr/>
        </p:nvSpPr>
        <p:spPr>
          <a:xfrm>
            <a:off x="329025" y="1411250"/>
            <a:ext cx="1476600" cy="32208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1" name="Google Shape;491;p32"/>
          <p:cNvSpPr/>
          <p:nvPr/>
        </p:nvSpPr>
        <p:spPr>
          <a:xfrm>
            <a:off x="3054325" y="1514100"/>
            <a:ext cx="1476600" cy="9279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2" name="Google Shape;492;p32"/>
          <p:cNvSpPr txBox="1"/>
          <p:nvPr/>
        </p:nvSpPr>
        <p:spPr>
          <a:xfrm>
            <a:off x="329025" y="1017725"/>
            <a:ext cx="14766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</a:rPr>
              <a:t>Species pool</a:t>
            </a:r>
            <a:endParaRPr sz="1700"/>
          </a:p>
        </p:txBody>
      </p:sp>
      <p:sp>
        <p:nvSpPr>
          <p:cNvPr id="493" name="Google Shape;493;p32"/>
          <p:cNvSpPr txBox="1"/>
          <p:nvPr/>
        </p:nvSpPr>
        <p:spPr>
          <a:xfrm>
            <a:off x="1691675" y="1005000"/>
            <a:ext cx="14766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</a:rPr>
              <a:t>Dispersal</a:t>
            </a:r>
            <a:endParaRPr sz="1700"/>
          </a:p>
        </p:txBody>
      </p:sp>
      <p:sp>
        <p:nvSpPr>
          <p:cNvPr id="494" name="Google Shape;494;p32"/>
          <p:cNvSpPr/>
          <p:nvPr/>
        </p:nvSpPr>
        <p:spPr>
          <a:xfrm>
            <a:off x="3054325" y="2504700"/>
            <a:ext cx="1476600" cy="9279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5" name="Google Shape;495;p32"/>
          <p:cNvSpPr/>
          <p:nvPr/>
        </p:nvSpPr>
        <p:spPr>
          <a:xfrm>
            <a:off x="3054325" y="3495300"/>
            <a:ext cx="1476600" cy="9279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6" name="Google Shape;496;p32"/>
          <p:cNvSpPr txBox="1"/>
          <p:nvPr/>
        </p:nvSpPr>
        <p:spPr>
          <a:xfrm>
            <a:off x="2987075" y="1005000"/>
            <a:ext cx="14766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</a:rPr>
              <a:t>Communities</a:t>
            </a:r>
            <a:endParaRPr sz="1700"/>
          </a:p>
        </p:txBody>
      </p:sp>
      <p:sp>
        <p:nvSpPr>
          <p:cNvPr id="497" name="Google Shape;497;p32"/>
          <p:cNvSpPr txBox="1"/>
          <p:nvPr/>
        </p:nvSpPr>
        <p:spPr>
          <a:xfrm>
            <a:off x="4633250" y="776400"/>
            <a:ext cx="9216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</a:rPr>
              <a:t>Abiotic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</a:rPr>
              <a:t>Filter</a:t>
            </a:r>
            <a:endParaRPr sz="1700"/>
          </a:p>
        </p:txBody>
      </p:sp>
      <p:sp>
        <p:nvSpPr>
          <p:cNvPr id="498" name="Google Shape;498;p32"/>
          <p:cNvSpPr txBox="1"/>
          <p:nvPr/>
        </p:nvSpPr>
        <p:spPr>
          <a:xfrm>
            <a:off x="5402725" y="776400"/>
            <a:ext cx="9216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</a:rPr>
              <a:t>Biotic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</a:rPr>
              <a:t>Filter</a:t>
            </a:r>
            <a:endParaRPr sz="1700"/>
          </a:p>
        </p:txBody>
      </p:sp>
      <p:sp>
        <p:nvSpPr>
          <p:cNvPr id="499" name="Google Shape;499;p32"/>
          <p:cNvSpPr/>
          <p:nvPr/>
        </p:nvSpPr>
        <p:spPr>
          <a:xfrm>
            <a:off x="6254725" y="1514100"/>
            <a:ext cx="1476600" cy="9279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0" name="Google Shape;500;p32"/>
          <p:cNvSpPr/>
          <p:nvPr/>
        </p:nvSpPr>
        <p:spPr>
          <a:xfrm>
            <a:off x="6254725" y="2504700"/>
            <a:ext cx="1476600" cy="9279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1" name="Google Shape;501;p32"/>
          <p:cNvSpPr/>
          <p:nvPr/>
        </p:nvSpPr>
        <p:spPr>
          <a:xfrm>
            <a:off x="6254725" y="3495300"/>
            <a:ext cx="1476600" cy="9279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2" name="Google Shape;502;p32"/>
          <p:cNvSpPr txBox="1"/>
          <p:nvPr/>
        </p:nvSpPr>
        <p:spPr>
          <a:xfrm>
            <a:off x="6254725" y="852600"/>
            <a:ext cx="14766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</a:rPr>
              <a:t>Communities</a:t>
            </a:r>
            <a:endParaRPr sz="1700"/>
          </a:p>
        </p:txBody>
      </p:sp>
      <p:sp>
        <p:nvSpPr>
          <p:cNvPr id="503" name="Google Shape;503;p32"/>
          <p:cNvSpPr/>
          <p:nvPr/>
        </p:nvSpPr>
        <p:spPr>
          <a:xfrm>
            <a:off x="7831200" y="1514100"/>
            <a:ext cx="535200" cy="2909100"/>
          </a:xfrm>
          <a:prstGeom prst="rightBrace">
            <a:avLst>
              <a:gd fmla="val 50000" name="adj1"/>
              <a:gd fmla="val 48928" name="adj2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4" name="Google Shape;504;p32"/>
          <p:cNvSpPr txBox="1"/>
          <p:nvPr/>
        </p:nvSpPr>
        <p:spPr>
          <a:xfrm rot="5400000">
            <a:off x="7550125" y="2681400"/>
            <a:ext cx="20550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</a:rPr>
              <a:t>Metacommunity</a:t>
            </a:r>
            <a:endParaRPr sz="1700"/>
          </a:p>
        </p:txBody>
      </p:sp>
      <p:sp>
        <p:nvSpPr>
          <p:cNvPr id="505" name="Google Shape;505;p32"/>
          <p:cNvSpPr/>
          <p:nvPr/>
        </p:nvSpPr>
        <p:spPr>
          <a:xfrm>
            <a:off x="1102025" y="4473550"/>
            <a:ext cx="6848296" cy="605950"/>
          </a:xfrm>
          <a:custGeom>
            <a:rect b="b" l="l" r="r" t="t"/>
            <a:pathLst>
              <a:path extrusionOk="0" h="24238" w="237850">
                <a:moveTo>
                  <a:pt x="237850" y="0"/>
                </a:moveTo>
                <a:cubicBezTo>
                  <a:pt x="233423" y="3634"/>
                  <a:pt x="246373" y="18103"/>
                  <a:pt x="211290" y="21803"/>
                </a:cubicBezTo>
                <a:cubicBezTo>
                  <a:pt x="176207" y="25503"/>
                  <a:pt x="62568" y="24446"/>
                  <a:pt x="27353" y="22200"/>
                </a:cubicBezTo>
                <a:cubicBezTo>
                  <a:pt x="-7862" y="19954"/>
                  <a:pt x="4559" y="10638"/>
                  <a:pt x="0" y="8325"/>
                </a:cubicBezTo>
              </a:path>
            </a:pathLst>
          </a:cu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sp>
      <p:sp>
        <p:nvSpPr>
          <p:cNvPr id="506" name="Google Shape;506;p32"/>
          <p:cNvSpPr txBox="1"/>
          <p:nvPr/>
        </p:nvSpPr>
        <p:spPr>
          <a:xfrm>
            <a:off x="2736625" y="4632050"/>
            <a:ext cx="3518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Speciation, Extinction, Dispersal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507" name="Google Shape;507;p32"/>
          <p:cNvCxnSpPr>
            <a:stCxn id="497" idx="2"/>
          </p:cNvCxnSpPr>
          <p:nvPr/>
        </p:nvCxnSpPr>
        <p:spPr>
          <a:xfrm>
            <a:off x="5094050" y="1484400"/>
            <a:ext cx="1800" cy="29991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508" name="Google Shape;508;p32"/>
          <p:cNvCxnSpPr/>
          <p:nvPr/>
        </p:nvCxnSpPr>
        <p:spPr>
          <a:xfrm>
            <a:off x="5856050" y="1484400"/>
            <a:ext cx="1800" cy="29991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lgDash"/>
            <a:round/>
            <a:headEnd len="med" w="med" type="none"/>
            <a:tailEnd len="med" w="med" type="none"/>
          </a:ln>
        </p:spPr>
      </p:cxnSp>
      <p:sp>
        <p:nvSpPr>
          <p:cNvPr id="509" name="Google Shape;509;p32"/>
          <p:cNvSpPr/>
          <p:nvPr/>
        </p:nvSpPr>
        <p:spPr>
          <a:xfrm>
            <a:off x="606525" y="1718475"/>
            <a:ext cx="297300" cy="297300"/>
          </a:xfrm>
          <a:prstGeom prst="rect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0" name="Google Shape;510;p32"/>
          <p:cNvSpPr/>
          <p:nvPr/>
        </p:nvSpPr>
        <p:spPr>
          <a:xfrm>
            <a:off x="1292325" y="2175675"/>
            <a:ext cx="297300" cy="297300"/>
          </a:xfrm>
          <a:prstGeom prst="rect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1" name="Google Shape;511;p32"/>
          <p:cNvSpPr/>
          <p:nvPr/>
        </p:nvSpPr>
        <p:spPr>
          <a:xfrm>
            <a:off x="691975" y="2749150"/>
            <a:ext cx="386400" cy="297300"/>
          </a:xfrm>
          <a:prstGeom prst="triangle">
            <a:avLst>
              <a:gd fmla="val 50000" name="adj"/>
            </a:avLst>
          </a:prstGeom>
          <a:solidFill>
            <a:srgbClr val="00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2" name="Google Shape;512;p32"/>
          <p:cNvSpPr/>
          <p:nvPr/>
        </p:nvSpPr>
        <p:spPr>
          <a:xfrm>
            <a:off x="1307725" y="2909475"/>
            <a:ext cx="297300" cy="247800"/>
          </a:xfrm>
          <a:prstGeom prst="trapezoid">
            <a:avLst>
              <a:gd fmla="val 25000" name="adj"/>
            </a:avLst>
          </a:prstGeom>
          <a:solidFill>
            <a:srgbClr val="9FC5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3" name="Google Shape;513;p32"/>
          <p:cNvSpPr/>
          <p:nvPr/>
        </p:nvSpPr>
        <p:spPr>
          <a:xfrm>
            <a:off x="725450" y="3621250"/>
            <a:ext cx="297300" cy="297300"/>
          </a:xfrm>
          <a:prstGeom prst="ellipse">
            <a:avLst/>
          </a:prstGeom>
          <a:solidFill>
            <a:srgbClr val="93C47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4" name="Google Shape;514;p32"/>
          <p:cNvSpPr/>
          <p:nvPr/>
        </p:nvSpPr>
        <p:spPr>
          <a:xfrm>
            <a:off x="4139525" y="2042250"/>
            <a:ext cx="297300" cy="297300"/>
          </a:xfrm>
          <a:prstGeom prst="rect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5" name="Google Shape;515;p32"/>
          <p:cNvSpPr/>
          <p:nvPr/>
        </p:nvSpPr>
        <p:spPr>
          <a:xfrm>
            <a:off x="3881525" y="2612175"/>
            <a:ext cx="297300" cy="297300"/>
          </a:xfrm>
          <a:prstGeom prst="rect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6" name="Google Shape;516;p32"/>
          <p:cNvSpPr/>
          <p:nvPr/>
        </p:nvSpPr>
        <p:spPr>
          <a:xfrm>
            <a:off x="3836975" y="3026675"/>
            <a:ext cx="386400" cy="297300"/>
          </a:xfrm>
          <a:prstGeom prst="triangle">
            <a:avLst>
              <a:gd fmla="val 50000" name="adj"/>
            </a:avLst>
          </a:prstGeom>
          <a:solidFill>
            <a:srgbClr val="00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7" name="Google Shape;517;p32"/>
          <p:cNvSpPr/>
          <p:nvPr/>
        </p:nvSpPr>
        <p:spPr>
          <a:xfrm>
            <a:off x="3968575" y="3542863"/>
            <a:ext cx="297300" cy="297300"/>
          </a:xfrm>
          <a:prstGeom prst="ellipse">
            <a:avLst/>
          </a:prstGeom>
          <a:solidFill>
            <a:srgbClr val="93C47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8" name="Google Shape;518;p32"/>
          <p:cNvSpPr/>
          <p:nvPr/>
        </p:nvSpPr>
        <p:spPr>
          <a:xfrm>
            <a:off x="3968575" y="1579800"/>
            <a:ext cx="297300" cy="297300"/>
          </a:xfrm>
          <a:prstGeom prst="ellipse">
            <a:avLst/>
          </a:prstGeom>
          <a:solidFill>
            <a:srgbClr val="93C47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9" name="Google Shape;519;p32"/>
          <p:cNvSpPr/>
          <p:nvPr/>
        </p:nvSpPr>
        <p:spPr>
          <a:xfrm>
            <a:off x="665975" y="2220150"/>
            <a:ext cx="386400" cy="247800"/>
          </a:xfrm>
          <a:prstGeom prst="parallelogram">
            <a:avLst>
              <a:gd fmla="val 25000" name="adj"/>
            </a:avLst>
          </a:prstGeom>
          <a:solidFill>
            <a:srgbClr val="FF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0" name="Google Shape;520;p32"/>
          <p:cNvSpPr/>
          <p:nvPr/>
        </p:nvSpPr>
        <p:spPr>
          <a:xfrm>
            <a:off x="1182650" y="3773650"/>
            <a:ext cx="297300" cy="297300"/>
          </a:xfrm>
          <a:prstGeom prst="ellipse">
            <a:avLst/>
          </a:prstGeom>
          <a:solidFill>
            <a:srgbClr val="D5A6B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1" name="Google Shape;521;p32"/>
          <p:cNvSpPr/>
          <p:nvPr/>
        </p:nvSpPr>
        <p:spPr>
          <a:xfrm>
            <a:off x="3163850" y="3011650"/>
            <a:ext cx="297300" cy="297300"/>
          </a:xfrm>
          <a:prstGeom prst="ellipse">
            <a:avLst/>
          </a:prstGeom>
          <a:solidFill>
            <a:srgbClr val="D5A6B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2" name="Google Shape;522;p32"/>
          <p:cNvSpPr/>
          <p:nvPr/>
        </p:nvSpPr>
        <p:spPr>
          <a:xfrm>
            <a:off x="844375" y="3130150"/>
            <a:ext cx="386400" cy="297300"/>
          </a:xfrm>
          <a:prstGeom prst="triangle">
            <a:avLst>
              <a:gd fmla="val 50000" name="adj"/>
            </a:avLst>
          </a:prstGeom>
          <a:solidFill>
            <a:srgbClr val="38761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3" name="Google Shape;523;p32"/>
          <p:cNvSpPr/>
          <p:nvPr/>
        </p:nvSpPr>
        <p:spPr>
          <a:xfrm>
            <a:off x="4094975" y="4048950"/>
            <a:ext cx="386400" cy="247800"/>
          </a:xfrm>
          <a:prstGeom prst="parallelogram">
            <a:avLst>
              <a:gd fmla="val 25000" name="adj"/>
            </a:avLst>
          </a:prstGeom>
          <a:solidFill>
            <a:srgbClr val="FF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4" name="Google Shape;524;p32"/>
          <p:cNvSpPr/>
          <p:nvPr/>
        </p:nvSpPr>
        <p:spPr>
          <a:xfrm>
            <a:off x="7310525" y="2688375"/>
            <a:ext cx="297300" cy="297300"/>
          </a:xfrm>
          <a:prstGeom prst="rect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5" name="Google Shape;525;p32"/>
          <p:cNvSpPr/>
          <p:nvPr/>
        </p:nvSpPr>
        <p:spPr>
          <a:xfrm>
            <a:off x="6580175" y="3026675"/>
            <a:ext cx="386400" cy="297300"/>
          </a:xfrm>
          <a:prstGeom prst="triangle">
            <a:avLst>
              <a:gd fmla="val 50000" name="adj"/>
            </a:avLst>
          </a:prstGeom>
          <a:solidFill>
            <a:srgbClr val="00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6" name="Google Shape;526;p32"/>
          <p:cNvSpPr/>
          <p:nvPr/>
        </p:nvSpPr>
        <p:spPr>
          <a:xfrm>
            <a:off x="7321375" y="2042250"/>
            <a:ext cx="297300" cy="297300"/>
          </a:xfrm>
          <a:prstGeom prst="rect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7" name="Google Shape;527;p32"/>
          <p:cNvSpPr/>
          <p:nvPr/>
        </p:nvSpPr>
        <p:spPr>
          <a:xfrm>
            <a:off x="3282775" y="3663550"/>
            <a:ext cx="386400" cy="297300"/>
          </a:xfrm>
          <a:prstGeom prst="triangle">
            <a:avLst>
              <a:gd fmla="val 50000" name="adj"/>
            </a:avLst>
          </a:prstGeom>
          <a:solidFill>
            <a:srgbClr val="38761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8" name="Google Shape;528;p32"/>
          <p:cNvSpPr/>
          <p:nvPr/>
        </p:nvSpPr>
        <p:spPr>
          <a:xfrm>
            <a:off x="3358975" y="2063350"/>
            <a:ext cx="386400" cy="297300"/>
          </a:xfrm>
          <a:prstGeom prst="triangle">
            <a:avLst>
              <a:gd fmla="val 50000" name="adj"/>
            </a:avLst>
          </a:prstGeom>
          <a:solidFill>
            <a:srgbClr val="38761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9" name="Google Shape;529;p32"/>
          <p:cNvSpPr/>
          <p:nvPr/>
        </p:nvSpPr>
        <p:spPr>
          <a:xfrm>
            <a:off x="3349725" y="4080675"/>
            <a:ext cx="297300" cy="297300"/>
          </a:xfrm>
          <a:prstGeom prst="rect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0" name="Google Shape;530;p32"/>
          <p:cNvSpPr/>
          <p:nvPr/>
        </p:nvSpPr>
        <p:spPr>
          <a:xfrm>
            <a:off x="3365125" y="1614075"/>
            <a:ext cx="297300" cy="247800"/>
          </a:xfrm>
          <a:prstGeom prst="trapezoid">
            <a:avLst>
              <a:gd fmla="val 25000" name="adj"/>
            </a:avLst>
          </a:prstGeom>
          <a:solidFill>
            <a:srgbClr val="9FC5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1" name="Google Shape;531;p32"/>
          <p:cNvSpPr/>
          <p:nvPr/>
        </p:nvSpPr>
        <p:spPr>
          <a:xfrm>
            <a:off x="3637775" y="1915350"/>
            <a:ext cx="386400" cy="247800"/>
          </a:xfrm>
          <a:prstGeom prst="parallelogram">
            <a:avLst>
              <a:gd fmla="val 25000" name="adj"/>
            </a:avLst>
          </a:prstGeom>
          <a:solidFill>
            <a:srgbClr val="FF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2" name="Google Shape;532;p32"/>
          <p:cNvSpPr/>
          <p:nvPr/>
        </p:nvSpPr>
        <p:spPr>
          <a:xfrm>
            <a:off x="7251325" y="1690275"/>
            <a:ext cx="297300" cy="247800"/>
          </a:xfrm>
          <a:prstGeom prst="trapezoid">
            <a:avLst>
              <a:gd fmla="val 25000" name="adj"/>
            </a:avLst>
          </a:prstGeom>
          <a:solidFill>
            <a:srgbClr val="9FC5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3" name="Google Shape;533;p32"/>
          <p:cNvSpPr/>
          <p:nvPr/>
        </p:nvSpPr>
        <p:spPr>
          <a:xfrm>
            <a:off x="6483175" y="1910950"/>
            <a:ext cx="386400" cy="297300"/>
          </a:xfrm>
          <a:prstGeom prst="triangle">
            <a:avLst>
              <a:gd fmla="val 50000" name="adj"/>
            </a:avLst>
          </a:prstGeom>
          <a:solidFill>
            <a:srgbClr val="38761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4" name="Google Shape;534;p32"/>
          <p:cNvSpPr/>
          <p:nvPr/>
        </p:nvSpPr>
        <p:spPr>
          <a:xfrm>
            <a:off x="6940375" y="3587350"/>
            <a:ext cx="386400" cy="297300"/>
          </a:xfrm>
          <a:prstGeom prst="triangle">
            <a:avLst>
              <a:gd fmla="val 50000" name="adj"/>
            </a:avLst>
          </a:prstGeom>
          <a:solidFill>
            <a:srgbClr val="38761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5" name="Google Shape;535;p32"/>
          <p:cNvSpPr/>
          <p:nvPr/>
        </p:nvSpPr>
        <p:spPr>
          <a:xfrm>
            <a:off x="7007325" y="4004475"/>
            <a:ext cx="297300" cy="297300"/>
          </a:xfrm>
          <a:prstGeom prst="rect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36" name="Google Shape;536;p32"/>
          <p:cNvCxnSpPr>
            <a:stCxn id="490" idx="3"/>
            <a:endCxn id="491" idx="1"/>
          </p:cNvCxnSpPr>
          <p:nvPr/>
        </p:nvCxnSpPr>
        <p:spPr>
          <a:xfrm flipH="1" rot="10800000">
            <a:off x="1805625" y="1977950"/>
            <a:ext cx="1248600" cy="10437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37" name="Google Shape;537;p32"/>
          <p:cNvCxnSpPr>
            <a:stCxn id="490" idx="3"/>
            <a:endCxn id="494" idx="1"/>
          </p:cNvCxnSpPr>
          <p:nvPr/>
        </p:nvCxnSpPr>
        <p:spPr>
          <a:xfrm flipH="1" rot="10800000">
            <a:off x="1805625" y="2968550"/>
            <a:ext cx="1248600" cy="531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38" name="Google Shape;538;p32"/>
          <p:cNvCxnSpPr>
            <a:stCxn id="490" idx="3"/>
            <a:endCxn id="495" idx="1"/>
          </p:cNvCxnSpPr>
          <p:nvPr/>
        </p:nvCxnSpPr>
        <p:spPr>
          <a:xfrm>
            <a:off x="1805625" y="3021650"/>
            <a:ext cx="1248600" cy="9375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39" name="Google Shape;539;p32"/>
          <p:cNvSpPr/>
          <p:nvPr/>
        </p:nvSpPr>
        <p:spPr>
          <a:xfrm>
            <a:off x="452175" y="1984125"/>
            <a:ext cx="778500" cy="708000"/>
          </a:xfrm>
          <a:prstGeom prst="mathMultiply">
            <a:avLst>
              <a:gd fmla="val 5678" name="adj1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0" name="Google Shape;540;p32"/>
          <p:cNvSpPr/>
          <p:nvPr/>
        </p:nvSpPr>
        <p:spPr>
          <a:xfrm>
            <a:off x="985575" y="3584325"/>
            <a:ext cx="778500" cy="708000"/>
          </a:xfrm>
          <a:prstGeom prst="mathMultiply">
            <a:avLst>
              <a:gd fmla="val 5678" name="adj1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1" name="Google Shape;541;p32"/>
          <p:cNvSpPr/>
          <p:nvPr/>
        </p:nvSpPr>
        <p:spPr>
          <a:xfrm>
            <a:off x="528375" y="3431925"/>
            <a:ext cx="778500" cy="708000"/>
          </a:xfrm>
          <a:prstGeom prst="mathMultiply">
            <a:avLst>
              <a:gd fmla="val 5678" name="adj1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2" name="Google Shape;542;p32"/>
          <p:cNvSpPr/>
          <p:nvPr/>
        </p:nvSpPr>
        <p:spPr>
          <a:xfrm>
            <a:off x="375975" y="1526925"/>
            <a:ext cx="778500" cy="708000"/>
          </a:xfrm>
          <a:prstGeom prst="mathMultiply">
            <a:avLst>
              <a:gd fmla="val 5678" name="adj1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6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Community assembly</a:t>
            </a:r>
            <a:endParaRPr/>
          </a:p>
        </p:txBody>
      </p:sp>
      <p:sp>
        <p:nvSpPr>
          <p:cNvPr id="548" name="Google Shape;548;p3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Community assembly focuses on a few key concepts: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AutoNum type="arabicParenR"/>
            </a:pPr>
            <a:r>
              <a:rPr lang="en"/>
              <a:t>Regional species pool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"/>
              <a:t>Dispersal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"/>
              <a:t>Environmental filtering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"/>
              <a:t>Biotic filtering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Community assembly</a:t>
            </a:r>
            <a:endParaRPr/>
          </a:p>
        </p:txBody>
      </p:sp>
      <p:sp>
        <p:nvSpPr>
          <p:cNvPr id="554" name="Google Shape;554;p3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Community assembly focuses on a few key concepts: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AutoNum type="arabicParenR"/>
            </a:pPr>
            <a:r>
              <a:rPr lang="en"/>
              <a:t>Regional species pool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"/>
              <a:t>Dispersal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"/>
              <a:t>Environmental filtering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"/>
              <a:t>Biotic filtering</a:t>
            </a:r>
            <a:endParaRPr/>
          </a:p>
        </p:txBody>
      </p:sp>
      <p:sp>
        <p:nvSpPr>
          <p:cNvPr id="555" name="Google Shape;555;p34"/>
          <p:cNvSpPr/>
          <p:nvPr/>
        </p:nvSpPr>
        <p:spPr>
          <a:xfrm>
            <a:off x="217125" y="1714500"/>
            <a:ext cx="3226200" cy="3072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9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Species Pool</a:t>
            </a:r>
            <a:endParaRPr/>
          </a:p>
        </p:txBody>
      </p:sp>
      <p:sp>
        <p:nvSpPr>
          <p:cNvPr id="561" name="Google Shape;561;p3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species that could potentially get to a region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How might you decide on what is in a species pool?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Species Pool</a:t>
            </a:r>
            <a:endParaRPr/>
          </a:p>
        </p:txBody>
      </p:sp>
      <p:sp>
        <p:nvSpPr>
          <p:cNvPr id="567" name="Google Shape;567;p3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species that could potentially get to a region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How might you decide on what is in a species pool?</a:t>
            </a:r>
            <a:endParaRPr/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Biogeographic regions - e.g., ecoregions, rivers, islands,</a:t>
            </a:r>
            <a:endParaRPr/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Fixed distance - e.g., 100 km of a given plot</a:t>
            </a:r>
            <a:endParaRPr/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Dispersal abilities - e.g., all species that can disperse to the site</a:t>
            </a:r>
            <a:endParaRPr/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Sample/plot data - e.g., all species observed in any plot/sample </a:t>
            </a:r>
            <a:endParaRPr/>
          </a:p>
        </p:txBody>
      </p:sp>
      <p:pic>
        <p:nvPicPr>
          <p:cNvPr id="568" name="Google Shape;568;p36"/>
          <p:cNvPicPr preferRelativeResize="0"/>
          <p:nvPr/>
        </p:nvPicPr>
        <p:blipFill rotWithShape="1">
          <a:blip r:embed="rId3">
            <a:alphaModFix/>
          </a:blip>
          <a:srcRect b="39479" l="25662" r="28090" t="35896"/>
          <a:stretch/>
        </p:blipFill>
        <p:spPr>
          <a:xfrm>
            <a:off x="6261375" y="68225"/>
            <a:ext cx="2805149" cy="840151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2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Species Pool</a:t>
            </a:r>
            <a:endParaRPr/>
          </a:p>
        </p:txBody>
      </p:sp>
      <p:sp>
        <p:nvSpPr>
          <p:cNvPr id="574" name="Google Shape;574;p3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do we care?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575" name="Google Shape;575;p37"/>
          <p:cNvPicPr preferRelativeResize="0"/>
          <p:nvPr/>
        </p:nvPicPr>
        <p:blipFill rotWithShape="1">
          <a:blip r:embed="rId3">
            <a:alphaModFix/>
          </a:blip>
          <a:srcRect b="39479" l="25662" r="28090" t="35896"/>
          <a:stretch/>
        </p:blipFill>
        <p:spPr>
          <a:xfrm>
            <a:off x="6261375" y="68225"/>
            <a:ext cx="2805149" cy="840151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9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Species Pool</a:t>
            </a:r>
            <a:endParaRPr/>
          </a:p>
        </p:txBody>
      </p:sp>
      <p:sp>
        <p:nvSpPr>
          <p:cNvPr id="581" name="Google Shape;581;p3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do we care?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need to know the potential species that can get to a location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To know what is being excluded, we need to know our options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582" name="Google Shape;582;p38"/>
          <p:cNvPicPr preferRelativeResize="0"/>
          <p:nvPr/>
        </p:nvPicPr>
        <p:blipFill rotWithShape="1">
          <a:blip r:embed="rId3">
            <a:alphaModFix/>
          </a:blip>
          <a:srcRect b="39479" l="25662" r="28090" t="35896"/>
          <a:stretch/>
        </p:blipFill>
        <p:spPr>
          <a:xfrm>
            <a:off x="6261375" y="68225"/>
            <a:ext cx="2805149" cy="840151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Community assembly</a:t>
            </a:r>
            <a:endParaRPr/>
          </a:p>
        </p:txBody>
      </p:sp>
      <p:sp>
        <p:nvSpPr>
          <p:cNvPr id="588" name="Google Shape;588;p3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Community assembly focuses on a few key concepts: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AutoNum type="arabicParenR"/>
            </a:pPr>
            <a:r>
              <a:rPr lang="en"/>
              <a:t>Regional species pool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"/>
              <a:t>Dispersal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"/>
              <a:t>Environmental filtering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"/>
              <a:t>Biotic filtering</a:t>
            </a:r>
            <a:endParaRPr/>
          </a:p>
        </p:txBody>
      </p:sp>
      <p:sp>
        <p:nvSpPr>
          <p:cNvPr id="589" name="Google Shape;589;p39"/>
          <p:cNvSpPr/>
          <p:nvPr/>
        </p:nvSpPr>
        <p:spPr>
          <a:xfrm>
            <a:off x="217125" y="1714500"/>
            <a:ext cx="3226200" cy="3072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3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Community assembly</a:t>
            </a:r>
            <a:endParaRPr/>
          </a:p>
        </p:txBody>
      </p:sp>
      <p:sp>
        <p:nvSpPr>
          <p:cNvPr id="595" name="Google Shape;595;p4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Community assembly focuses on a few key concepts: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AutoNum type="arabicParenR"/>
            </a:pPr>
            <a:r>
              <a:rPr lang="en"/>
              <a:t>Regional species pool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"/>
              <a:t>Dispersal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"/>
              <a:t>Environmental filtering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"/>
              <a:t>Biotic filtering</a:t>
            </a:r>
            <a:endParaRPr/>
          </a:p>
        </p:txBody>
      </p:sp>
      <p:sp>
        <p:nvSpPr>
          <p:cNvPr id="596" name="Google Shape;596;p40"/>
          <p:cNvSpPr/>
          <p:nvPr/>
        </p:nvSpPr>
        <p:spPr>
          <a:xfrm>
            <a:off x="217125" y="2019300"/>
            <a:ext cx="3226200" cy="3072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0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Dispersal</a:t>
            </a:r>
            <a:endParaRPr/>
          </a:p>
        </p:txBody>
      </p:sp>
      <p:sp>
        <p:nvSpPr>
          <p:cNvPr id="602" name="Google Shape;602;p4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Really hard to measure empirically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What we really need to know is the dispersal kernel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6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Dispersal</a:t>
            </a:r>
            <a:endParaRPr/>
          </a:p>
        </p:txBody>
      </p:sp>
      <p:sp>
        <p:nvSpPr>
          <p:cNvPr id="608" name="Google Shape;608;p4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Really hard to measure empirically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What we really need to know is the dispersal kernel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Dispersal Kernel: distribution of dispersal distances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2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p4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Dispersal</a:t>
            </a:r>
            <a:endParaRPr/>
          </a:p>
        </p:txBody>
      </p:sp>
      <p:sp>
        <p:nvSpPr>
          <p:cNvPr id="614" name="Google Shape;614;p4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Really hard to measure empirically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What we really need to know is the dispersal kernel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Dispersal Kernel: distribution of dispersal distances</a:t>
            </a:r>
            <a:endParaRPr/>
          </a:p>
        </p:txBody>
      </p:sp>
      <p:pic>
        <p:nvPicPr>
          <p:cNvPr id="615" name="Google Shape;615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2420600"/>
            <a:ext cx="5572649" cy="2590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9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p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Dispersal</a:t>
            </a:r>
            <a:endParaRPr/>
          </a:p>
        </p:txBody>
      </p:sp>
      <p:sp>
        <p:nvSpPr>
          <p:cNvPr id="621" name="Google Shape;621;p4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Really hard to measure empirically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What we really need to know is the dispersal kernel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Dispersal Kernel: distribution of dispersal distances</a:t>
            </a:r>
            <a:endParaRPr/>
          </a:p>
        </p:txBody>
      </p:sp>
      <p:pic>
        <p:nvPicPr>
          <p:cNvPr id="622" name="Google Shape;622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2420600"/>
            <a:ext cx="5572649" cy="25906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23" name="Google Shape;623;p44"/>
          <p:cNvCxnSpPr/>
          <p:nvPr/>
        </p:nvCxnSpPr>
        <p:spPr>
          <a:xfrm flipH="1" rot="10800000">
            <a:off x="5235600" y="3112775"/>
            <a:ext cx="1476000" cy="1465500"/>
          </a:xfrm>
          <a:prstGeom prst="straightConnector1">
            <a:avLst/>
          </a:prstGeom>
          <a:noFill/>
          <a:ln cap="flat" cmpd="sng" w="38100">
            <a:solidFill>
              <a:srgbClr val="980000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624" name="Google Shape;624;p44"/>
          <p:cNvSpPr txBox="1"/>
          <p:nvPr/>
        </p:nvSpPr>
        <p:spPr>
          <a:xfrm>
            <a:off x="6711600" y="2771475"/>
            <a:ext cx="22587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980000"/>
                </a:solidFill>
              </a:rPr>
              <a:t>These rare dispersal events are very hard to sample!</a:t>
            </a:r>
            <a:endParaRPr sz="1800">
              <a:solidFill>
                <a:srgbClr val="980000"/>
              </a:solidFill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8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p4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Dispersal</a:t>
            </a:r>
            <a:endParaRPr/>
          </a:p>
        </p:txBody>
      </p:sp>
      <p:sp>
        <p:nvSpPr>
          <p:cNvPr id="630" name="Google Shape;630;p4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If long-distance dispersal events are so rare, why is it a problem?</a:t>
            </a:r>
            <a:endParaRPr/>
          </a:p>
        </p:txBody>
      </p:sp>
      <p:pic>
        <p:nvPicPr>
          <p:cNvPr id="631" name="Google Shape;631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2420600"/>
            <a:ext cx="5572649" cy="2590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5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Google Shape;636;p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Long Distance Dispersal</a:t>
            </a:r>
            <a:endParaRPr/>
          </a:p>
        </p:txBody>
      </p:sp>
      <p:sp>
        <p:nvSpPr>
          <p:cNvPr id="637" name="Google Shape;637;p4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If long-distance dispersal events are so rare, why is it a problem?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Incorrect species pools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Long distance dispersal can be very important in dynamics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Rescue effects, range expansion, etc.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oogle Shape;642;p4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Long Distance Dispersal</a:t>
            </a:r>
            <a:endParaRPr/>
          </a:p>
        </p:txBody>
      </p:sp>
      <p:grpSp>
        <p:nvGrpSpPr>
          <p:cNvPr id="643" name="Google Shape;643;p47"/>
          <p:cNvGrpSpPr/>
          <p:nvPr/>
        </p:nvGrpSpPr>
        <p:grpSpPr>
          <a:xfrm>
            <a:off x="520850" y="1375375"/>
            <a:ext cx="3632100" cy="3244800"/>
            <a:chOff x="368450" y="1375375"/>
            <a:chExt cx="3632100" cy="3244800"/>
          </a:xfrm>
        </p:grpSpPr>
        <p:cxnSp>
          <p:nvCxnSpPr>
            <p:cNvPr id="644" name="Google Shape;644;p47"/>
            <p:cNvCxnSpPr/>
            <p:nvPr/>
          </p:nvCxnSpPr>
          <p:spPr>
            <a:xfrm>
              <a:off x="368450" y="1375375"/>
              <a:ext cx="0" cy="32448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45" name="Google Shape;645;p47"/>
            <p:cNvCxnSpPr/>
            <p:nvPr/>
          </p:nvCxnSpPr>
          <p:spPr>
            <a:xfrm flipH="1">
              <a:off x="368450" y="4614175"/>
              <a:ext cx="3632100" cy="60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646" name="Google Shape;646;p47"/>
          <p:cNvSpPr txBox="1"/>
          <p:nvPr/>
        </p:nvSpPr>
        <p:spPr>
          <a:xfrm>
            <a:off x="1034425" y="4681800"/>
            <a:ext cx="2183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Dispersal Distance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647" name="Google Shape;647;p47"/>
          <p:cNvSpPr txBox="1"/>
          <p:nvPr/>
        </p:nvSpPr>
        <p:spPr>
          <a:xfrm rot="-5400305">
            <a:off x="-1316169" y="2564800"/>
            <a:ext cx="3379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Likelihood of suitable habitat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648" name="Google Shape;648;p47"/>
          <p:cNvCxnSpPr/>
          <p:nvPr/>
        </p:nvCxnSpPr>
        <p:spPr>
          <a:xfrm>
            <a:off x="657525" y="1642800"/>
            <a:ext cx="3410700" cy="26628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2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Google Shape;653;p4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Long Distance Dispersal</a:t>
            </a:r>
            <a:endParaRPr/>
          </a:p>
        </p:txBody>
      </p:sp>
      <p:grpSp>
        <p:nvGrpSpPr>
          <p:cNvPr id="654" name="Google Shape;654;p48"/>
          <p:cNvGrpSpPr/>
          <p:nvPr/>
        </p:nvGrpSpPr>
        <p:grpSpPr>
          <a:xfrm>
            <a:off x="520850" y="1375375"/>
            <a:ext cx="3632100" cy="3244800"/>
            <a:chOff x="368450" y="1375375"/>
            <a:chExt cx="3632100" cy="3244800"/>
          </a:xfrm>
        </p:grpSpPr>
        <p:cxnSp>
          <p:nvCxnSpPr>
            <p:cNvPr id="655" name="Google Shape;655;p48"/>
            <p:cNvCxnSpPr/>
            <p:nvPr/>
          </p:nvCxnSpPr>
          <p:spPr>
            <a:xfrm>
              <a:off x="368450" y="1375375"/>
              <a:ext cx="0" cy="32448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56" name="Google Shape;656;p48"/>
            <p:cNvCxnSpPr/>
            <p:nvPr/>
          </p:nvCxnSpPr>
          <p:spPr>
            <a:xfrm flipH="1">
              <a:off x="368450" y="4614175"/>
              <a:ext cx="3632100" cy="60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657" name="Google Shape;657;p48"/>
          <p:cNvSpPr txBox="1"/>
          <p:nvPr/>
        </p:nvSpPr>
        <p:spPr>
          <a:xfrm>
            <a:off x="1034425" y="4681800"/>
            <a:ext cx="2183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Dispersal Distance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658" name="Google Shape;658;p48"/>
          <p:cNvSpPr txBox="1"/>
          <p:nvPr/>
        </p:nvSpPr>
        <p:spPr>
          <a:xfrm rot="-5400305">
            <a:off x="-1316169" y="2564800"/>
            <a:ext cx="3379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Likelihood of suitable habitat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659" name="Google Shape;659;p48"/>
          <p:cNvCxnSpPr/>
          <p:nvPr/>
        </p:nvCxnSpPr>
        <p:spPr>
          <a:xfrm>
            <a:off x="657525" y="1642800"/>
            <a:ext cx="3410700" cy="26628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660" name="Google Shape;660;p48"/>
          <p:cNvGrpSpPr/>
          <p:nvPr/>
        </p:nvGrpSpPr>
        <p:grpSpPr>
          <a:xfrm>
            <a:off x="5169050" y="1375375"/>
            <a:ext cx="3632100" cy="3244800"/>
            <a:chOff x="368450" y="1375375"/>
            <a:chExt cx="3632100" cy="3244800"/>
          </a:xfrm>
        </p:grpSpPr>
        <p:cxnSp>
          <p:nvCxnSpPr>
            <p:cNvPr id="661" name="Google Shape;661;p48"/>
            <p:cNvCxnSpPr/>
            <p:nvPr/>
          </p:nvCxnSpPr>
          <p:spPr>
            <a:xfrm>
              <a:off x="368450" y="1375375"/>
              <a:ext cx="0" cy="32448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62" name="Google Shape;662;p48"/>
            <p:cNvCxnSpPr/>
            <p:nvPr/>
          </p:nvCxnSpPr>
          <p:spPr>
            <a:xfrm flipH="1">
              <a:off x="368450" y="4614175"/>
              <a:ext cx="3632100" cy="60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663" name="Google Shape;663;p48"/>
          <p:cNvSpPr txBox="1"/>
          <p:nvPr/>
        </p:nvSpPr>
        <p:spPr>
          <a:xfrm>
            <a:off x="5682625" y="4681800"/>
            <a:ext cx="2183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Population Density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664" name="Google Shape;664;p48"/>
          <p:cNvSpPr txBox="1"/>
          <p:nvPr/>
        </p:nvSpPr>
        <p:spPr>
          <a:xfrm rot="-5400000">
            <a:off x="4517340" y="2683150"/>
            <a:ext cx="1009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Fitness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665" name="Google Shape;665;p48"/>
          <p:cNvCxnSpPr/>
          <p:nvPr/>
        </p:nvCxnSpPr>
        <p:spPr>
          <a:xfrm>
            <a:off x="5305725" y="1719000"/>
            <a:ext cx="3410700" cy="26628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9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p4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Long Distance Dispersal</a:t>
            </a:r>
            <a:endParaRPr/>
          </a:p>
        </p:txBody>
      </p:sp>
      <p:pic>
        <p:nvPicPr>
          <p:cNvPr id="671" name="Google Shape;671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2420600"/>
            <a:ext cx="5572649" cy="25906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72" name="Google Shape;672;p49"/>
          <p:cNvCxnSpPr/>
          <p:nvPr/>
        </p:nvCxnSpPr>
        <p:spPr>
          <a:xfrm flipH="1" rot="10800000">
            <a:off x="954550" y="1939675"/>
            <a:ext cx="420000" cy="1208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673" name="Google Shape;673;p49"/>
          <p:cNvSpPr txBox="1"/>
          <p:nvPr/>
        </p:nvSpPr>
        <p:spPr>
          <a:xfrm>
            <a:off x="1159375" y="1294575"/>
            <a:ext cx="2888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Probably suitable, but lots of intraspecific competition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674" name="Google Shape;674;p49"/>
          <p:cNvCxnSpPr/>
          <p:nvPr/>
        </p:nvCxnSpPr>
        <p:spPr>
          <a:xfrm flipH="1" rot="10800000">
            <a:off x="5440525" y="3117800"/>
            <a:ext cx="880800" cy="1505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675" name="Google Shape;675;p49"/>
          <p:cNvSpPr txBox="1"/>
          <p:nvPr/>
        </p:nvSpPr>
        <p:spPr>
          <a:xfrm>
            <a:off x="5959975" y="2208975"/>
            <a:ext cx="28881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High risk/high reward,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Can accelerate range expansion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9" name="Shape 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" name="Google Shape;680;p5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Dispersal in practice</a:t>
            </a:r>
            <a:endParaRPr/>
          </a:p>
        </p:txBody>
      </p:sp>
      <p:sp>
        <p:nvSpPr>
          <p:cNvPr id="681" name="Google Shape;681;p5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We usually don’t have good dispersal data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Have to make assumptions and do the best we can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Most often </a:t>
            </a:r>
            <a:r>
              <a:rPr lang="en"/>
              <a:t>involves</a:t>
            </a:r>
            <a:r>
              <a:rPr lang="en"/>
              <a:t> assuming that </a:t>
            </a:r>
            <a:r>
              <a:rPr lang="en"/>
              <a:t>anything</a:t>
            </a:r>
            <a:r>
              <a:rPr lang="en"/>
              <a:t> in some spatial area or set of sites could disperse</a:t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5" name="Shape 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" name="Google Shape;686;p5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Community assembly</a:t>
            </a:r>
            <a:endParaRPr/>
          </a:p>
        </p:txBody>
      </p:sp>
      <p:sp>
        <p:nvSpPr>
          <p:cNvPr id="687" name="Google Shape;687;p5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Community assembly focuses on a few key concepts: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AutoNum type="arabicParenR"/>
            </a:pPr>
            <a:r>
              <a:rPr lang="en"/>
              <a:t>Regional species pool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"/>
              <a:t>Dispersal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"/>
              <a:t>Environmental filtering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"/>
              <a:t>Biotic filtering</a:t>
            </a:r>
            <a:endParaRPr/>
          </a:p>
        </p:txBody>
      </p:sp>
      <p:sp>
        <p:nvSpPr>
          <p:cNvPr id="688" name="Google Shape;688;p51"/>
          <p:cNvSpPr/>
          <p:nvPr/>
        </p:nvSpPr>
        <p:spPr>
          <a:xfrm>
            <a:off x="217125" y="2019300"/>
            <a:ext cx="3226200" cy="3072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2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Google Shape;693;p5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Community assembly</a:t>
            </a:r>
            <a:endParaRPr/>
          </a:p>
        </p:txBody>
      </p:sp>
      <p:sp>
        <p:nvSpPr>
          <p:cNvPr id="694" name="Google Shape;694;p5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Community assembly focuses on a few key concepts: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AutoNum type="arabicParenR"/>
            </a:pPr>
            <a:r>
              <a:rPr lang="en"/>
              <a:t>Regional species pool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"/>
              <a:t>Dispersal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"/>
              <a:t>Environmental filtering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"/>
              <a:t>Biotic filtering</a:t>
            </a:r>
            <a:endParaRPr/>
          </a:p>
        </p:txBody>
      </p:sp>
      <p:sp>
        <p:nvSpPr>
          <p:cNvPr id="695" name="Google Shape;695;p52"/>
          <p:cNvSpPr/>
          <p:nvPr/>
        </p:nvSpPr>
        <p:spPr>
          <a:xfrm>
            <a:off x="217125" y="2324100"/>
            <a:ext cx="3226200" cy="3072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9" name="Shape 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Google Shape;700;p5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Environmental Filtering</a:t>
            </a:r>
            <a:endParaRPr/>
          </a:p>
        </p:txBody>
      </p:sp>
      <p:sp>
        <p:nvSpPr>
          <p:cNvPr id="701" name="Google Shape;701;p5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Can a species survive the abiotic conditions?</a:t>
            </a: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5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" name="Google Shape;706;p5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Environmental Filtering</a:t>
            </a:r>
            <a:endParaRPr/>
          </a:p>
        </p:txBody>
      </p:sp>
      <p:sp>
        <p:nvSpPr>
          <p:cNvPr id="707" name="Google Shape;707;p5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Can a species survive the abiotic conditions?</a:t>
            </a:r>
            <a:endParaRPr/>
          </a:p>
        </p:txBody>
      </p:sp>
      <p:sp>
        <p:nvSpPr>
          <p:cNvPr id="708" name="Google Shape;708;p54"/>
          <p:cNvSpPr txBox="1"/>
          <p:nvPr/>
        </p:nvSpPr>
        <p:spPr>
          <a:xfrm>
            <a:off x="0" y="4703625"/>
            <a:ext cx="5708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</a:rPr>
              <a:t>Images: Vladimir Kudinov, Pixabay, Mario Rojas</a:t>
            </a:r>
            <a:endParaRPr sz="800">
              <a:solidFill>
                <a:schemeClr val="dk2"/>
              </a:solidFill>
            </a:endParaRPr>
          </a:p>
        </p:txBody>
      </p:sp>
      <p:pic>
        <p:nvPicPr>
          <p:cNvPr id="709" name="Google Shape;709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43702" y="2088587"/>
            <a:ext cx="2316083" cy="14317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3" name="Shape 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Google Shape;714;p5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Environmental Filtering</a:t>
            </a:r>
            <a:endParaRPr/>
          </a:p>
        </p:txBody>
      </p:sp>
      <p:sp>
        <p:nvSpPr>
          <p:cNvPr id="715" name="Google Shape;715;p5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Can a species survive the abiotic conditions?</a:t>
            </a:r>
            <a:endParaRPr/>
          </a:p>
        </p:txBody>
      </p:sp>
      <p:pic>
        <p:nvPicPr>
          <p:cNvPr id="716" name="Google Shape;716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6230" y="1760801"/>
            <a:ext cx="3131725" cy="2087300"/>
          </a:xfrm>
          <a:prstGeom prst="rect">
            <a:avLst/>
          </a:prstGeom>
          <a:noFill/>
          <a:ln>
            <a:noFill/>
          </a:ln>
        </p:spPr>
      </p:pic>
      <p:sp>
        <p:nvSpPr>
          <p:cNvPr id="717" name="Google Shape;717;p55"/>
          <p:cNvSpPr txBox="1"/>
          <p:nvPr/>
        </p:nvSpPr>
        <p:spPr>
          <a:xfrm>
            <a:off x="0" y="4703625"/>
            <a:ext cx="5708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</a:rPr>
              <a:t>Images: Vladimir Kudinov, Pixabay, Mario Rojas</a:t>
            </a:r>
            <a:endParaRPr sz="800">
              <a:solidFill>
                <a:schemeClr val="dk2"/>
              </a:solidFill>
            </a:endParaRPr>
          </a:p>
        </p:txBody>
      </p:sp>
      <p:pic>
        <p:nvPicPr>
          <p:cNvPr id="718" name="Google Shape;718;p5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43702" y="2088587"/>
            <a:ext cx="2316083" cy="143172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19" name="Google Shape;719;p55"/>
          <p:cNvCxnSpPr>
            <a:stCxn id="718" idx="1"/>
          </p:cNvCxnSpPr>
          <p:nvPr/>
        </p:nvCxnSpPr>
        <p:spPr>
          <a:xfrm flipH="1">
            <a:off x="2869803" y="2804450"/>
            <a:ext cx="873900" cy="36600"/>
          </a:xfrm>
          <a:prstGeom prst="straightConnector1">
            <a:avLst/>
          </a:prstGeom>
          <a:noFill/>
          <a:ln cap="flat" cmpd="sng" w="76200">
            <a:solidFill>
              <a:srgbClr val="9900FF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3" name="Shape 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" name="Google Shape;724;p5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Environmental Filtering</a:t>
            </a:r>
            <a:endParaRPr/>
          </a:p>
        </p:txBody>
      </p:sp>
      <p:sp>
        <p:nvSpPr>
          <p:cNvPr id="725" name="Google Shape;725;p5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Can a species survive the abiotic conditions?</a:t>
            </a:r>
            <a:endParaRPr/>
          </a:p>
        </p:txBody>
      </p:sp>
      <p:pic>
        <p:nvPicPr>
          <p:cNvPr id="726" name="Google Shape;726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6230" y="1760801"/>
            <a:ext cx="3131725" cy="2087300"/>
          </a:xfrm>
          <a:prstGeom prst="rect">
            <a:avLst/>
          </a:prstGeom>
          <a:noFill/>
          <a:ln>
            <a:noFill/>
          </a:ln>
        </p:spPr>
      </p:pic>
      <p:sp>
        <p:nvSpPr>
          <p:cNvPr id="727" name="Google Shape;727;p56"/>
          <p:cNvSpPr txBox="1"/>
          <p:nvPr/>
        </p:nvSpPr>
        <p:spPr>
          <a:xfrm>
            <a:off x="0" y="4703625"/>
            <a:ext cx="5708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</a:rPr>
              <a:t>Images: Vladimir Kudinov, Pixabay, Mario Rojas</a:t>
            </a:r>
            <a:endParaRPr sz="800">
              <a:solidFill>
                <a:schemeClr val="dk2"/>
              </a:solidFill>
            </a:endParaRPr>
          </a:p>
        </p:txBody>
      </p:sp>
      <p:pic>
        <p:nvPicPr>
          <p:cNvPr id="728" name="Google Shape;728;p5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43702" y="2088587"/>
            <a:ext cx="2316083" cy="143172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29" name="Google Shape;729;p56"/>
          <p:cNvCxnSpPr>
            <a:stCxn id="728" idx="1"/>
          </p:cNvCxnSpPr>
          <p:nvPr/>
        </p:nvCxnSpPr>
        <p:spPr>
          <a:xfrm flipH="1">
            <a:off x="2869803" y="2804450"/>
            <a:ext cx="873900" cy="36600"/>
          </a:xfrm>
          <a:prstGeom prst="straightConnector1">
            <a:avLst/>
          </a:prstGeom>
          <a:noFill/>
          <a:ln cap="flat" cmpd="sng" w="76200">
            <a:solidFill>
              <a:srgbClr val="9900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30" name="Google Shape;730;p56"/>
          <p:cNvSpPr/>
          <p:nvPr/>
        </p:nvSpPr>
        <p:spPr>
          <a:xfrm>
            <a:off x="311700" y="1611200"/>
            <a:ext cx="2775600" cy="2386500"/>
          </a:xfrm>
          <a:prstGeom prst="mathMultiply">
            <a:avLst>
              <a:gd fmla="val 8154" name="adj1"/>
            </a:avLst>
          </a:prstGeom>
          <a:solidFill>
            <a:srgbClr val="9900FF"/>
          </a:solidFill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4" name="Shape 7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5" name="Google Shape;735;p5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Environmental Filtering</a:t>
            </a:r>
            <a:endParaRPr/>
          </a:p>
        </p:txBody>
      </p:sp>
      <p:sp>
        <p:nvSpPr>
          <p:cNvPr id="736" name="Google Shape;736;p5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Can a species survive the abiotic conditions?</a:t>
            </a:r>
            <a:endParaRPr/>
          </a:p>
        </p:txBody>
      </p:sp>
      <p:pic>
        <p:nvPicPr>
          <p:cNvPr id="737" name="Google Shape;737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6230" y="1760801"/>
            <a:ext cx="3131725" cy="2087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8" name="Google Shape;738;p5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05674" y="1439324"/>
            <a:ext cx="1898076" cy="3374397"/>
          </a:xfrm>
          <a:prstGeom prst="rect">
            <a:avLst/>
          </a:prstGeom>
          <a:noFill/>
          <a:ln>
            <a:noFill/>
          </a:ln>
        </p:spPr>
      </p:pic>
      <p:sp>
        <p:nvSpPr>
          <p:cNvPr id="739" name="Google Shape;739;p57"/>
          <p:cNvSpPr txBox="1"/>
          <p:nvPr/>
        </p:nvSpPr>
        <p:spPr>
          <a:xfrm>
            <a:off x="0" y="4703625"/>
            <a:ext cx="5708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</a:rPr>
              <a:t>Images: Vladimir Kudinov, Pixabay, Mario Rojas</a:t>
            </a:r>
            <a:endParaRPr sz="800">
              <a:solidFill>
                <a:schemeClr val="dk2"/>
              </a:solidFill>
            </a:endParaRPr>
          </a:p>
        </p:txBody>
      </p:sp>
      <p:pic>
        <p:nvPicPr>
          <p:cNvPr id="740" name="Google Shape;740;p5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743702" y="2088587"/>
            <a:ext cx="2316083" cy="143172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41" name="Google Shape;741;p57"/>
          <p:cNvCxnSpPr>
            <a:stCxn id="740" idx="1"/>
          </p:cNvCxnSpPr>
          <p:nvPr/>
        </p:nvCxnSpPr>
        <p:spPr>
          <a:xfrm flipH="1">
            <a:off x="2869803" y="2804450"/>
            <a:ext cx="873900" cy="36600"/>
          </a:xfrm>
          <a:prstGeom prst="straightConnector1">
            <a:avLst/>
          </a:prstGeom>
          <a:noFill/>
          <a:ln cap="flat" cmpd="sng" w="76200">
            <a:solidFill>
              <a:srgbClr val="99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42" name="Google Shape;742;p57"/>
          <p:cNvCxnSpPr/>
          <p:nvPr/>
        </p:nvCxnSpPr>
        <p:spPr>
          <a:xfrm>
            <a:off x="6059778" y="2842375"/>
            <a:ext cx="702000" cy="254700"/>
          </a:xfrm>
          <a:prstGeom prst="straightConnector1">
            <a:avLst/>
          </a:prstGeom>
          <a:noFill/>
          <a:ln cap="flat" cmpd="sng" w="76200">
            <a:solidFill>
              <a:srgbClr val="9900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43" name="Google Shape;743;p57"/>
          <p:cNvSpPr/>
          <p:nvPr/>
        </p:nvSpPr>
        <p:spPr>
          <a:xfrm>
            <a:off x="311700" y="1611200"/>
            <a:ext cx="2775600" cy="2386500"/>
          </a:xfrm>
          <a:prstGeom prst="mathMultiply">
            <a:avLst>
              <a:gd fmla="val 8154" name="adj1"/>
            </a:avLst>
          </a:prstGeom>
          <a:solidFill>
            <a:srgbClr val="9900FF"/>
          </a:solidFill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7" name="Shape 7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8" name="Google Shape;748;p5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Environmental Filtering</a:t>
            </a:r>
            <a:endParaRPr/>
          </a:p>
        </p:txBody>
      </p:sp>
      <p:sp>
        <p:nvSpPr>
          <p:cNvPr id="749" name="Google Shape;749;p5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Can a species survive the abiotic conditions?</a:t>
            </a:r>
            <a:endParaRPr/>
          </a:p>
        </p:txBody>
      </p:sp>
      <p:pic>
        <p:nvPicPr>
          <p:cNvPr id="750" name="Google Shape;750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6230" y="1760801"/>
            <a:ext cx="3131725" cy="2087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51" name="Google Shape;751;p5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05674" y="1439324"/>
            <a:ext cx="1898076" cy="3374397"/>
          </a:xfrm>
          <a:prstGeom prst="rect">
            <a:avLst/>
          </a:prstGeom>
          <a:noFill/>
          <a:ln>
            <a:noFill/>
          </a:ln>
        </p:spPr>
      </p:pic>
      <p:sp>
        <p:nvSpPr>
          <p:cNvPr id="752" name="Google Shape;752;p58"/>
          <p:cNvSpPr txBox="1"/>
          <p:nvPr/>
        </p:nvSpPr>
        <p:spPr>
          <a:xfrm>
            <a:off x="0" y="4703625"/>
            <a:ext cx="5708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</a:rPr>
              <a:t>Images: Vladimir Kudinov, Pixabay, Mario Rojas</a:t>
            </a:r>
            <a:endParaRPr sz="800">
              <a:solidFill>
                <a:schemeClr val="dk2"/>
              </a:solidFill>
            </a:endParaRPr>
          </a:p>
        </p:txBody>
      </p:sp>
      <p:pic>
        <p:nvPicPr>
          <p:cNvPr id="753" name="Google Shape;753;p5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743702" y="2088587"/>
            <a:ext cx="2316083" cy="143172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54" name="Google Shape;754;p58"/>
          <p:cNvCxnSpPr>
            <a:stCxn id="753" idx="1"/>
          </p:cNvCxnSpPr>
          <p:nvPr/>
        </p:nvCxnSpPr>
        <p:spPr>
          <a:xfrm flipH="1">
            <a:off x="2869803" y="2804450"/>
            <a:ext cx="873900" cy="36600"/>
          </a:xfrm>
          <a:prstGeom prst="straightConnector1">
            <a:avLst/>
          </a:prstGeom>
          <a:noFill/>
          <a:ln cap="flat" cmpd="sng" w="76200">
            <a:solidFill>
              <a:srgbClr val="99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55" name="Google Shape;755;p58"/>
          <p:cNvCxnSpPr/>
          <p:nvPr/>
        </p:nvCxnSpPr>
        <p:spPr>
          <a:xfrm>
            <a:off x="6059778" y="2842375"/>
            <a:ext cx="702000" cy="254700"/>
          </a:xfrm>
          <a:prstGeom prst="straightConnector1">
            <a:avLst/>
          </a:prstGeom>
          <a:noFill/>
          <a:ln cap="flat" cmpd="sng" w="76200">
            <a:solidFill>
              <a:srgbClr val="9900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56" name="Google Shape;756;p58"/>
          <p:cNvSpPr/>
          <p:nvPr/>
        </p:nvSpPr>
        <p:spPr>
          <a:xfrm>
            <a:off x="311700" y="1611200"/>
            <a:ext cx="2775600" cy="2386500"/>
          </a:xfrm>
          <a:prstGeom prst="mathMultiply">
            <a:avLst>
              <a:gd fmla="val 8154" name="adj1"/>
            </a:avLst>
          </a:prstGeom>
          <a:solidFill>
            <a:srgbClr val="9900FF"/>
          </a:solidFill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7" name="Google Shape;757;p58"/>
          <p:cNvSpPr txBox="1"/>
          <p:nvPr/>
        </p:nvSpPr>
        <p:spPr>
          <a:xfrm>
            <a:off x="7714225" y="1439325"/>
            <a:ext cx="9831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400">
                <a:solidFill>
                  <a:srgbClr val="9900FF"/>
                </a:solidFill>
              </a:rPr>
              <a:t>✔</a:t>
            </a:r>
            <a:endParaRPr b="1" sz="5400">
              <a:solidFill>
                <a:srgbClr val="9900FF"/>
              </a:solidFill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1" name="Shape 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p5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Environmental Filtering</a:t>
            </a:r>
            <a:endParaRPr/>
          </a:p>
        </p:txBody>
      </p:sp>
      <p:sp>
        <p:nvSpPr>
          <p:cNvPr id="763" name="Google Shape;763;p5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Seems easy, right?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Not always</a:t>
            </a:r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7" name="Shape 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" name="Google Shape;768;p6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Inferring Environmental Filtering</a:t>
            </a:r>
            <a:endParaRPr/>
          </a:p>
        </p:txBody>
      </p:sp>
      <p:sp>
        <p:nvSpPr>
          <p:cNvPr id="769" name="Google Shape;769;p6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Multiple approaches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Correlative: e.g, are species similar to existing species?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Mechanistic: e.g., can the species survive there?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Experimental: e.g., can the species survive if we increase temperature?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3" name="Shape 7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4" name="Google Shape;774;p6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Inferring Environmental Filtering</a:t>
            </a:r>
            <a:endParaRPr/>
          </a:p>
        </p:txBody>
      </p:sp>
      <p:sp>
        <p:nvSpPr>
          <p:cNvPr id="775" name="Google Shape;775;p6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Correlative approaches: Traits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grpSp>
        <p:nvGrpSpPr>
          <p:cNvPr id="776" name="Google Shape;776;p61"/>
          <p:cNvGrpSpPr/>
          <p:nvPr/>
        </p:nvGrpSpPr>
        <p:grpSpPr>
          <a:xfrm>
            <a:off x="729211" y="1771917"/>
            <a:ext cx="4670119" cy="2796946"/>
            <a:chOff x="527225" y="2233800"/>
            <a:chExt cx="3177600" cy="2319000"/>
          </a:xfrm>
        </p:grpSpPr>
        <p:cxnSp>
          <p:nvCxnSpPr>
            <p:cNvPr id="777" name="Google Shape;777;p61"/>
            <p:cNvCxnSpPr/>
            <p:nvPr/>
          </p:nvCxnSpPr>
          <p:spPr>
            <a:xfrm>
              <a:off x="527225" y="2233800"/>
              <a:ext cx="0" cy="23190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78" name="Google Shape;778;p61"/>
            <p:cNvCxnSpPr/>
            <p:nvPr/>
          </p:nvCxnSpPr>
          <p:spPr>
            <a:xfrm flipH="1">
              <a:off x="527225" y="4549200"/>
              <a:ext cx="3177600" cy="36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779" name="Google Shape;779;p61"/>
          <p:cNvSpPr txBox="1"/>
          <p:nvPr/>
        </p:nvSpPr>
        <p:spPr>
          <a:xfrm>
            <a:off x="1845600" y="4681800"/>
            <a:ext cx="1413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Trait 1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780" name="Google Shape;780;p61"/>
          <p:cNvSpPr txBox="1"/>
          <p:nvPr/>
        </p:nvSpPr>
        <p:spPr>
          <a:xfrm rot="-5400000">
            <a:off x="-211800" y="2700600"/>
            <a:ext cx="1413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Trait 2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781" name="Google Shape;781;p61"/>
          <p:cNvSpPr/>
          <p:nvPr/>
        </p:nvSpPr>
        <p:spPr>
          <a:xfrm>
            <a:off x="1241325" y="2244225"/>
            <a:ext cx="174000" cy="175200"/>
          </a:xfrm>
          <a:prstGeom prst="ellipse">
            <a:avLst/>
          </a:prstGeom>
          <a:solidFill>
            <a:srgbClr val="99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2" name="Google Shape;782;p61"/>
          <p:cNvSpPr/>
          <p:nvPr/>
        </p:nvSpPr>
        <p:spPr>
          <a:xfrm>
            <a:off x="1469925" y="2396625"/>
            <a:ext cx="174000" cy="175200"/>
          </a:xfrm>
          <a:prstGeom prst="ellipse">
            <a:avLst/>
          </a:prstGeom>
          <a:solidFill>
            <a:srgbClr val="99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3" name="Google Shape;783;p61"/>
          <p:cNvSpPr/>
          <p:nvPr/>
        </p:nvSpPr>
        <p:spPr>
          <a:xfrm>
            <a:off x="1241325" y="2625225"/>
            <a:ext cx="174000" cy="175200"/>
          </a:xfrm>
          <a:prstGeom prst="ellipse">
            <a:avLst/>
          </a:prstGeom>
          <a:solidFill>
            <a:srgbClr val="99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4" name="Google Shape;784;p61"/>
          <p:cNvSpPr/>
          <p:nvPr/>
        </p:nvSpPr>
        <p:spPr>
          <a:xfrm>
            <a:off x="1622325" y="2777625"/>
            <a:ext cx="174000" cy="175200"/>
          </a:xfrm>
          <a:prstGeom prst="ellipse">
            <a:avLst/>
          </a:prstGeom>
          <a:solidFill>
            <a:srgbClr val="99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5" name="Google Shape;785;p61"/>
          <p:cNvSpPr/>
          <p:nvPr/>
        </p:nvSpPr>
        <p:spPr>
          <a:xfrm>
            <a:off x="1850925" y="2244225"/>
            <a:ext cx="174000" cy="175200"/>
          </a:xfrm>
          <a:prstGeom prst="ellipse">
            <a:avLst/>
          </a:prstGeom>
          <a:solidFill>
            <a:srgbClr val="99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6" name="Google Shape;786;p61"/>
          <p:cNvSpPr/>
          <p:nvPr/>
        </p:nvSpPr>
        <p:spPr>
          <a:xfrm>
            <a:off x="2079525" y="3006225"/>
            <a:ext cx="174000" cy="175200"/>
          </a:xfrm>
          <a:prstGeom prst="ellipse">
            <a:avLst/>
          </a:prstGeom>
          <a:solidFill>
            <a:srgbClr val="99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7" name="Google Shape;787;p61"/>
          <p:cNvSpPr/>
          <p:nvPr/>
        </p:nvSpPr>
        <p:spPr>
          <a:xfrm>
            <a:off x="1241325" y="3158625"/>
            <a:ext cx="174000" cy="175200"/>
          </a:xfrm>
          <a:prstGeom prst="ellipse">
            <a:avLst/>
          </a:prstGeom>
          <a:solidFill>
            <a:srgbClr val="99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8" name="Google Shape;788;p61"/>
          <p:cNvSpPr/>
          <p:nvPr/>
        </p:nvSpPr>
        <p:spPr>
          <a:xfrm>
            <a:off x="1698525" y="3387225"/>
            <a:ext cx="174000" cy="175200"/>
          </a:xfrm>
          <a:prstGeom prst="ellipse">
            <a:avLst/>
          </a:prstGeom>
          <a:solidFill>
            <a:srgbClr val="99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9" name="Google Shape;789;p61"/>
          <p:cNvSpPr/>
          <p:nvPr/>
        </p:nvSpPr>
        <p:spPr>
          <a:xfrm>
            <a:off x="2460525" y="2168025"/>
            <a:ext cx="174000" cy="175200"/>
          </a:xfrm>
          <a:prstGeom prst="ellipse">
            <a:avLst/>
          </a:prstGeom>
          <a:solidFill>
            <a:srgbClr val="99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0" name="Google Shape;790;p61"/>
          <p:cNvSpPr/>
          <p:nvPr/>
        </p:nvSpPr>
        <p:spPr>
          <a:xfrm>
            <a:off x="2536725" y="2701425"/>
            <a:ext cx="174000" cy="175200"/>
          </a:xfrm>
          <a:prstGeom prst="ellipse">
            <a:avLst/>
          </a:prstGeom>
          <a:solidFill>
            <a:srgbClr val="99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1" name="Google Shape;791;p61"/>
          <p:cNvSpPr/>
          <p:nvPr/>
        </p:nvSpPr>
        <p:spPr>
          <a:xfrm>
            <a:off x="2308125" y="3311025"/>
            <a:ext cx="174000" cy="175200"/>
          </a:xfrm>
          <a:prstGeom prst="ellipse">
            <a:avLst/>
          </a:prstGeom>
          <a:solidFill>
            <a:srgbClr val="99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2" name="Google Shape;792;p61"/>
          <p:cNvSpPr/>
          <p:nvPr/>
        </p:nvSpPr>
        <p:spPr>
          <a:xfrm>
            <a:off x="2612925" y="3006225"/>
            <a:ext cx="174000" cy="175200"/>
          </a:xfrm>
          <a:prstGeom prst="ellipse">
            <a:avLst/>
          </a:prstGeom>
          <a:solidFill>
            <a:srgbClr val="99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3" name="Google Shape;793;p61"/>
          <p:cNvSpPr/>
          <p:nvPr/>
        </p:nvSpPr>
        <p:spPr>
          <a:xfrm>
            <a:off x="3070125" y="4073025"/>
            <a:ext cx="174000" cy="175200"/>
          </a:xfrm>
          <a:prstGeom prst="ellipse">
            <a:avLst/>
          </a:prstGeom>
          <a:solidFill>
            <a:srgbClr val="00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4" name="Google Shape;794;p61"/>
          <p:cNvSpPr/>
          <p:nvPr/>
        </p:nvSpPr>
        <p:spPr>
          <a:xfrm>
            <a:off x="3222525" y="3539625"/>
            <a:ext cx="174000" cy="175200"/>
          </a:xfrm>
          <a:prstGeom prst="ellipse">
            <a:avLst/>
          </a:prstGeom>
          <a:solidFill>
            <a:srgbClr val="00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5" name="Google Shape;795;p61"/>
          <p:cNvSpPr/>
          <p:nvPr/>
        </p:nvSpPr>
        <p:spPr>
          <a:xfrm>
            <a:off x="3374925" y="3006225"/>
            <a:ext cx="174000" cy="175200"/>
          </a:xfrm>
          <a:prstGeom prst="ellipse">
            <a:avLst/>
          </a:prstGeom>
          <a:solidFill>
            <a:srgbClr val="00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6" name="Google Shape;796;p61"/>
          <p:cNvSpPr/>
          <p:nvPr/>
        </p:nvSpPr>
        <p:spPr>
          <a:xfrm>
            <a:off x="2765325" y="3463425"/>
            <a:ext cx="174000" cy="175200"/>
          </a:xfrm>
          <a:prstGeom prst="ellipse">
            <a:avLst/>
          </a:prstGeom>
          <a:solidFill>
            <a:srgbClr val="00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7" name="Google Shape;797;p61"/>
          <p:cNvSpPr/>
          <p:nvPr/>
        </p:nvSpPr>
        <p:spPr>
          <a:xfrm>
            <a:off x="2917725" y="2853825"/>
            <a:ext cx="174000" cy="175200"/>
          </a:xfrm>
          <a:prstGeom prst="ellipse">
            <a:avLst/>
          </a:prstGeom>
          <a:solidFill>
            <a:srgbClr val="00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8" name="Google Shape;798;p61"/>
          <p:cNvSpPr/>
          <p:nvPr/>
        </p:nvSpPr>
        <p:spPr>
          <a:xfrm>
            <a:off x="3527325" y="2472825"/>
            <a:ext cx="174000" cy="175200"/>
          </a:xfrm>
          <a:prstGeom prst="ellipse">
            <a:avLst/>
          </a:prstGeom>
          <a:solidFill>
            <a:srgbClr val="00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9" name="Google Shape;799;p61"/>
          <p:cNvSpPr/>
          <p:nvPr/>
        </p:nvSpPr>
        <p:spPr>
          <a:xfrm>
            <a:off x="3984525" y="2625225"/>
            <a:ext cx="174000" cy="175200"/>
          </a:xfrm>
          <a:prstGeom prst="ellipse">
            <a:avLst/>
          </a:prstGeom>
          <a:solidFill>
            <a:srgbClr val="00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0" name="Google Shape;800;p61"/>
          <p:cNvSpPr/>
          <p:nvPr/>
        </p:nvSpPr>
        <p:spPr>
          <a:xfrm>
            <a:off x="3984525" y="3234825"/>
            <a:ext cx="174000" cy="175200"/>
          </a:xfrm>
          <a:prstGeom prst="ellipse">
            <a:avLst/>
          </a:prstGeom>
          <a:solidFill>
            <a:srgbClr val="00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1" name="Google Shape;801;p61"/>
          <p:cNvSpPr/>
          <p:nvPr/>
        </p:nvSpPr>
        <p:spPr>
          <a:xfrm>
            <a:off x="3755925" y="3615825"/>
            <a:ext cx="174000" cy="175200"/>
          </a:xfrm>
          <a:prstGeom prst="ellipse">
            <a:avLst/>
          </a:prstGeom>
          <a:solidFill>
            <a:srgbClr val="00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2" name="Google Shape;802;p61"/>
          <p:cNvSpPr/>
          <p:nvPr/>
        </p:nvSpPr>
        <p:spPr>
          <a:xfrm>
            <a:off x="3527325" y="3920625"/>
            <a:ext cx="174000" cy="175200"/>
          </a:xfrm>
          <a:prstGeom prst="ellipse">
            <a:avLst/>
          </a:prstGeom>
          <a:solidFill>
            <a:srgbClr val="00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3" name="Google Shape;803;p61"/>
          <p:cNvSpPr/>
          <p:nvPr/>
        </p:nvSpPr>
        <p:spPr>
          <a:xfrm>
            <a:off x="2993925" y="2396625"/>
            <a:ext cx="174000" cy="175200"/>
          </a:xfrm>
          <a:prstGeom prst="ellipse">
            <a:avLst/>
          </a:prstGeom>
          <a:solidFill>
            <a:srgbClr val="00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4" name="Google Shape;804;p61"/>
          <p:cNvSpPr/>
          <p:nvPr/>
        </p:nvSpPr>
        <p:spPr>
          <a:xfrm>
            <a:off x="5508525" y="1710825"/>
            <a:ext cx="174000" cy="175200"/>
          </a:xfrm>
          <a:prstGeom prst="ellipse">
            <a:avLst/>
          </a:prstGeom>
          <a:solidFill>
            <a:srgbClr val="99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5" name="Google Shape;805;p61"/>
          <p:cNvSpPr txBox="1"/>
          <p:nvPr/>
        </p:nvSpPr>
        <p:spPr>
          <a:xfrm>
            <a:off x="5791725" y="1567575"/>
            <a:ext cx="3295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Species in community A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806" name="Google Shape;806;p61"/>
          <p:cNvSpPr txBox="1"/>
          <p:nvPr/>
        </p:nvSpPr>
        <p:spPr>
          <a:xfrm>
            <a:off x="5791725" y="1872375"/>
            <a:ext cx="3295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Species in community B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807" name="Google Shape;807;p61"/>
          <p:cNvSpPr/>
          <p:nvPr/>
        </p:nvSpPr>
        <p:spPr>
          <a:xfrm>
            <a:off x="5508525" y="2015625"/>
            <a:ext cx="174000" cy="175200"/>
          </a:xfrm>
          <a:prstGeom prst="ellipse">
            <a:avLst/>
          </a:prstGeom>
          <a:solidFill>
            <a:srgbClr val="00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1" name="Shape 8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2" name="Google Shape;812;p6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Inferring Environmental Filtering</a:t>
            </a:r>
            <a:endParaRPr/>
          </a:p>
        </p:txBody>
      </p:sp>
      <p:sp>
        <p:nvSpPr>
          <p:cNvPr id="813" name="Google Shape;813;p6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Correlative approaches: Traits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grpSp>
        <p:nvGrpSpPr>
          <p:cNvPr id="814" name="Google Shape;814;p62"/>
          <p:cNvGrpSpPr/>
          <p:nvPr/>
        </p:nvGrpSpPr>
        <p:grpSpPr>
          <a:xfrm>
            <a:off x="729211" y="1771917"/>
            <a:ext cx="4670119" cy="2796946"/>
            <a:chOff x="527225" y="2233800"/>
            <a:chExt cx="3177600" cy="2319000"/>
          </a:xfrm>
        </p:grpSpPr>
        <p:cxnSp>
          <p:nvCxnSpPr>
            <p:cNvPr id="815" name="Google Shape;815;p62"/>
            <p:cNvCxnSpPr/>
            <p:nvPr/>
          </p:nvCxnSpPr>
          <p:spPr>
            <a:xfrm>
              <a:off x="527225" y="2233800"/>
              <a:ext cx="0" cy="23190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16" name="Google Shape;816;p62"/>
            <p:cNvCxnSpPr/>
            <p:nvPr/>
          </p:nvCxnSpPr>
          <p:spPr>
            <a:xfrm flipH="1">
              <a:off x="527225" y="4549200"/>
              <a:ext cx="3177600" cy="36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817" name="Google Shape;817;p62"/>
          <p:cNvSpPr txBox="1"/>
          <p:nvPr/>
        </p:nvSpPr>
        <p:spPr>
          <a:xfrm>
            <a:off x="1845600" y="4681800"/>
            <a:ext cx="1413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Trait 1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818" name="Google Shape;818;p62"/>
          <p:cNvSpPr txBox="1"/>
          <p:nvPr/>
        </p:nvSpPr>
        <p:spPr>
          <a:xfrm rot="-5400000">
            <a:off x="-211800" y="2700600"/>
            <a:ext cx="1413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Trait 2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819" name="Google Shape;819;p62"/>
          <p:cNvSpPr/>
          <p:nvPr/>
        </p:nvSpPr>
        <p:spPr>
          <a:xfrm>
            <a:off x="1241325" y="2244225"/>
            <a:ext cx="174000" cy="175200"/>
          </a:xfrm>
          <a:prstGeom prst="ellipse">
            <a:avLst/>
          </a:prstGeom>
          <a:solidFill>
            <a:srgbClr val="99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0" name="Google Shape;820;p62"/>
          <p:cNvSpPr/>
          <p:nvPr/>
        </p:nvSpPr>
        <p:spPr>
          <a:xfrm>
            <a:off x="1469925" y="2396625"/>
            <a:ext cx="174000" cy="175200"/>
          </a:xfrm>
          <a:prstGeom prst="ellipse">
            <a:avLst/>
          </a:prstGeom>
          <a:solidFill>
            <a:srgbClr val="99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1" name="Google Shape;821;p62"/>
          <p:cNvSpPr/>
          <p:nvPr/>
        </p:nvSpPr>
        <p:spPr>
          <a:xfrm>
            <a:off x="1241325" y="2625225"/>
            <a:ext cx="174000" cy="175200"/>
          </a:xfrm>
          <a:prstGeom prst="ellipse">
            <a:avLst/>
          </a:prstGeom>
          <a:solidFill>
            <a:srgbClr val="99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2" name="Google Shape;822;p62"/>
          <p:cNvSpPr/>
          <p:nvPr/>
        </p:nvSpPr>
        <p:spPr>
          <a:xfrm>
            <a:off x="1622325" y="2777625"/>
            <a:ext cx="174000" cy="175200"/>
          </a:xfrm>
          <a:prstGeom prst="ellipse">
            <a:avLst/>
          </a:prstGeom>
          <a:solidFill>
            <a:srgbClr val="99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3" name="Google Shape;823;p62"/>
          <p:cNvSpPr/>
          <p:nvPr/>
        </p:nvSpPr>
        <p:spPr>
          <a:xfrm>
            <a:off x="1850925" y="2244225"/>
            <a:ext cx="174000" cy="175200"/>
          </a:xfrm>
          <a:prstGeom prst="ellipse">
            <a:avLst/>
          </a:prstGeom>
          <a:solidFill>
            <a:srgbClr val="99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4" name="Google Shape;824;p62"/>
          <p:cNvSpPr/>
          <p:nvPr/>
        </p:nvSpPr>
        <p:spPr>
          <a:xfrm>
            <a:off x="2079525" y="3006225"/>
            <a:ext cx="174000" cy="175200"/>
          </a:xfrm>
          <a:prstGeom prst="ellipse">
            <a:avLst/>
          </a:prstGeom>
          <a:solidFill>
            <a:srgbClr val="99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5" name="Google Shape;825;p62"/>
          <p:cNvSpPr/>
          <p:nvPr/>
        </p:nvSpPr>
        <p:spPr>
          <a:xfrm>
            <a:off x="1241325" y="3158625"/>
            <a:ext cx="174000" cy="175200"/>
          </a:xfrm>
          <a:prstGeom prst="ellipse">
            <a:avLst/>
          </a:prstGeom>
          <a:solidFill>
            <a:srgbClr val="99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6" name="Google Shape;826;p62"/>
          <p:cNvSpPr/>
          <p:nvPr/>
        </p:nvSpPr>
        <p:spPr>
          <a:xfrm>
            <a:off x="1698525" y="3387225"/>
            <a:ext cx="174000" cy="175200"/>
          </a:xfrm>
          <a:prstGeom prst="ellipse">
            <a:avLst/>
          </a:prstGeom>
          <a:solidFill>
            <a:srgbClr val="99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7" name="Google Shape;827;p62"/>
          <p:cNvSpPr/>
          <p:nvPr/>
        </p:nvSpPr>
        <p:spPr>
          <a:xfrm>
            <a:off x="2460525" y="2168025"/>
            <a:ext cx="174000" cy="175200"/>
          </a:xfrm>
          <a:prstGeom prst="ellipse">
            <a:avLst/>
          </a:prstGeom>
          <a:solidFill>
            <a:srgbClr val="99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8" name="Google Shape;828;p62"/>
          <p:cNvSpPr/>
          <p:nvPr/>
        </p:nvSpPr>
        <p:spPr>
          <a:xfrm>
            <a:off x="2536725" y="2701425"/>
            <a:ext cx="174000" cy="175200"/>
          </a:xfrm>
          <a:prstGeom prst="ellipse">
            <a:avLst/>
          </a:prstGeom>
          <a:solidFill>
            <a:srgbClr val="99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9" name="Google Shape;829;p62"/>
          <p:cNvSpPr/>
          <p:nvPr/>
        </p:nvSpPr>
        <p:spPr>
          <a:xfrm>
            <a:off x="2308125" y="3311025"/>
            <a:ext cx="174000" cy="175200"/>
          </a:xfrm>
          <a:prstGeom prst="ellipse">
            <a:avLst/>
          </a:prstGeom>
          <a:solidFill>
            <a:srgbClr val="99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0" name="Google Shape;830;p62"/>
          <p:cNvSpPr/>
          <p:nvPr/>
        </p:nvSpPr>
        <p:spPr>
          <a:xfrm>
            <a:off x="2612925" y="3006225"/>
            <a:ext cx="174000" cy="175200"/>
          </a:xfrm>
          <a:prstGeom prst="ellipse">
            <a:avLst/>
          </a:prstGeom>
          <a:solidFill>
            <a:srgbClr val="99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1" name="Google Shape;831;p62"/>
          <p:cNvSpPr/>
          <p:nvPr/>
        </p:nvSpPr>
        <p:spPr>
          <a:xfrm>
            <a:off x="3070125" y="4073025"/>
            <a:ext cx="174000" cy="175200"/>
          </a:xfrm>
          <a:prstGeom prst="ellipse">
            <a:avLst/>
          </a:prstGeom>
          <a:solidFill>
            <a:srgbClr val="00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2" name="Google Shape;832;p62"/>
          <p:cNvSpPr/>
          <p:nvPr/>
        </p:nvSpPr>
        <p:spPr>
          <a:xfrm>
            <a:off x="3222525" y="3539625"/>
            <a:ext cx="174000" cy="175200"/>
          </a:xfrm>
          <a:prstGeom prst="ellipse">
            <a:avLst/>
          </a:prstGeom>
          <a:solidFill>
            <a:srgbClr val="00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3" name="Google Shape;833;p62"/>
          <p:cNvSpPr/>
          <p:nvPr/>
        </p:nvSpPr>
        <p:spPr>
          <a:xfrm>
            <a:off x="3374925" y="3006225"/>
            <a:ext cx="174000" cy="175200"/>
          </a:xfrm>
          <a:prstGeom prst="ellipse">
            <a:avLst/>
          </a:prstGeom>
          <a:solidFill>
            <a:srgbClr val="00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4" name="Google Shape;834;p62"/>
          <p:cNvSpPr/>
          <p:nvPr/>
        </p:nvSpPr>
        <p:spPr>
          <a:xfrm>
            <a:off x="2765325" y="3463425"/>
            <a:ext cx="174000" cy="175200"/>
          </a:xfrm>
          <a:prstGeom prst="ellipse">
            <a:avLst/>
          </a:prstGeom>
          <a:solidFill>
            <a:srgbClr val="00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5" name="Google Shape;835;p62"/>
          <p:cNvSpPr/>
          <p:nvPr/>
        </p:nvSpPr>
        <p:spPr>
          <a:xfrm>
            <a:off x="2917725" y="2853825"/>
            <a:ext cx="174000" cy="175200"/>
          </a:xfrm>
          <a:prstGeom prst="ellipse">
            <a:avLst/>
          </a:prstGeom>
          <a:solidFill>
            <a:srgbClr val="00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6" name="Google Shape;836;p62"/>
          <p:cNvSpPr/>
          <p:nvPr/>
        </p:nvSpPr>
        <p:spPr>
          <a:xfrm>
            <a:off x="3527325" y="2472825"/>
            <a:ext cx="174000" cy="175200"/>
          </a:xfrm>
          <a:prstGeom prst="ellipse">
            <a:avLst/>
          </a:prstGeom>
          <a:solidFill>
            <a:srgbClr val="00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7" name="Google Shape;837;p62"/>
          <p:cNvSpPr/>
          <p:nvPr/>
        </p:nvSpPr>
        <p:spPr>
          <a:xfrm>
            <a:off x="3984525" y="2625225"/>
            <a:ext cx="174000" cy="175200"/>
          </a:xfrm>
          <a:prstGeom prst="ellipse">
            <a:avLst/>
          </a:prstGeom>
          <a:solidFill>
            <a:srgbClr val="00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8" name="Google Shape;838;p62"/>
          <p:cNvSpPr/>
          <p:nvPr/>
        </p:nvSpPr>
        <p:spPr>
          <a:xfrm>
            <a:off x="3984525" y="3234825"/>
            <a:ext cx="174000" cy="175200"/>
          </a:xfrm>
          <a:prstGeom prst="ellipse">
            <a:avLst/>
          </a:prstGeom>
          <a:solidFill>
            <a:srgbClr val="00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9" name="Google Shape;839;p62"/>
          <p:cNvSpPr/>
          <p:nvPr/>
        </p:nvSpPr>
        <p:spPr>
          <a:xfrm>
            <a:off x="3755925" y="3615825"/>
            <a:ext cx="174000" cy="175200"/>
          </a:xfrm>
          <a:prstGeom prst="ellipse">
            <a:avLst/>
          </a:prstGeom>
          <a:solidFill>
            <a:srgbClr val="00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0" name="Google Shape;840;p62"/>
          <p:cNvSpPr/>
          <p:nvPr/>
        </p:nvSpPr>
        <p:spPr>
          <a:xfrm>
            <a:off x="3527325" y="3920625"/>
            <a:ext cx="174000" cy="175200"/>
          </a:xfrm>
          <a:prstGeom prst="ellipse">
            <a:avLst/>
          </a:prstGeom>
          <a:solidFill>
            <a:srgbClr val="00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1" name="Google Shape;841;p62"/>
          <p:cNvSpPr/>
          <p:nvPr/>
        </p:nvSpPr>
        <p:spPr>
          <a:xfrm>
            <a:off x="2993925" y="2396625"/>
            <a:ext cx="174000" cy="175200"/>
          </a:xfrm>
          <a:prstGeom prst="ellipse">
            <a:avLst/>
          </a:prstGeom>
          <a:solidFill>
            <a:srgbClr val="00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2" name="Google Shape;842;p62"/>
          <p:cNvSpPr/>
          <p:nvPr/>
        </p:nvSpPr>
        <p:spPr>
          <a:xfrm>
            <a:off x="5508525" y="1710825"/>
            <a:ext cx="174000" cy="175200"/>
          </a:xfrm>
          <a:prstGeom prst="ellipse">
            <a:avLst/>
          </a:prstGeom>
          <a:solidFill>
            <a:srgbClr val="99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3" name="Google Shape;843;p62"/>
          <p:cNvSpPr txBox="1"/>
          <p:nvPr/>
        </p:nvSpPr>
        <p:spPr>
          <a:xfrm>
            <a:off x="5791725" y="1567575"/>
            <a:ext cx="3295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Species in community A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844" name="Google Shape;844;p62"/>
          <p:cNvSpPr txBox="1"/>
          <p:nvPr/>
        </p:nvSpPr>
        <p:spPr>
          <a:xfrm>
            <a:off x="5791725" y="1872375"/>
            <a:ext cx="3295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2"/>
                </a:solidFill>
              </a:rPr>
              <a:t>Species in community B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845" name="Google Shape;845;p62"/>
          <p:cNvSpPr/>
          <p:nvPr/>
        </p:nvSpPr>
        <p:spPr>
          <a:xfrm>
            <a:off x="5508525" y="2015625"/>
            <a:ext cx="174000" cy="175200"/>
          </a:xfrm>
          <a:prstGeom prst="ellipse">
            <a:avLst/>
          </a:prstGeom>
          <a:solidFill>
            <a:srgbClr val="00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6" name="Google Shape;846;p62"/>
          <p:cNvSpPr/>
          <p:nvPr/>
        </p:nvSpPr>
        <p:spPr>
          <a:xfrm>
            <a:off x="2079525" y="2549025"/>
            <a:ext cx="174000" cy="175200"/>
          </a:xfrm>
          <a:prstGeom prst="ellipse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47" name="Google Shape;847;p62"/>
          <p:cNvCxnSpPr>
            <a:stCxn id="846" idx="6"/>
          </p:cNvCxnSpPr>
          <p:nvPr/>
        </p:nvCxnSpPr>
        <p:spPr>
          <a:xfrm flipH="1" rot="10800000">
            <a:off x="2253525" y="2181525"/>
            <a:ext cx="821100" cy="455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848" name="Google Shape;848;p62"/>
          <p:cNvSpPr txBox="1"/>
          <p:nvPr/>
        </p:nvSpPr>
        <p:spPr>
          <a:xfrm>
            <a:off x="3034900" y="1859525"/>
            <a:ext cx="361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</a:rPr>
              <a:t>?</a:t>
            </a:r>
            <a:endParaRPr b="1" sz="1800">
              <a:solidFill>
                <a:schemeClr val="dk2"/>
              </a:solidFill>
            </a:endParaRPr>
          </a:p>
        </p:txBody>
      </p:sp>
      <p:sp>
        <p:nvSpPr>
          <p:cNvPr id="849" name="Google Shape;849;p62"/>
          <p:cNvSpPr/>
          <p:nvPr/>
        </p:nvSpPr>
        <p:spPr>
          <a:xfrm>
            <a:off x="5508525" y="2320425"/>
            <a:ext cx="174000" cy="175200"/>
          </a:xfrm>
          <a:prstGeom prst="ellipse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0" name="Google Shape;850;p62"/>
          <p:cNvSpPr txBox="1"/>
          <p:nvPr/>
        </p:nvSpPr>
        <p:spPr>
          <a:xfrm>
            <a:off x="5791200" y="2209800"/>
            <a:ext cx="3000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In </a:t>
            </a:r>
            <a:r>
              <a:rPr lang="en" sz="1800">
                <a:solidFill>
                  <a:schemeClr val="dk2"/>
                </a:solidFill>
              </a:rPr>
              <a:t>species</a:t>
            </a:r>
            <a:r>
              <a:rPr lang="en" sz="1800">
                <a:solidFill>
                  <a:schemeClr val="dk2"/>
                </a:solidFill>
              </a:rPr>
              <a:t> pool, but missing in A and B</a:t>
            </a:r>
            <a:endParaRPr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4" name="Shape 8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5" name="Google Shape;855;p6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/>
              <a:t>Inferring Environmental Filtering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6" name="Google Shape;856;p63"/>
          <p:cNvSpPr txBox="1"/>
          <p:nvPr>
            <p:ph idx="1" type="body"/>
          </p:nvPr>
        </p:nvSpPr>
        <p:spPr>
          <a:xfrm>
            <a:off x="311700" y="10000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Correlative approaches: Phylogeny </a:t>
            </a:r>
            <a:endParaRPr/>
          </a:p>
        </p:txBody>
      </p:sp>
      <p:pic>
        <p:nvPicPr>
          <p:cNvPr id="857" name="Google Shape;857;p6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6075" y="1538850"/>
            <a:ext cx="1790700" cy="33771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58" name="Google Shape;858;p63"/>
          <p:cNvCxnSpPr/>
          <p:nvPr/>
        </p:nvCxnSpPr>
        <p:spPr>
          <a:xfrm flipH="1" rot="10800000">
            <a:off x="132975" y="5059725"/>
            <a:ext cx="1836900" cy="9900"/>
          </a:xfrm>
          <a:prstGeom prst="straightConnector1">
            <a:avLst/>
          </a:prstGeom>
          <a:noFill/>
          <a:ln cap="flat" cmpd="sng" w="28575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59" name="Google Shape;859;p63"/>
          <p:cNvSpPr txBox="1"/>
          <p:nvPr/>
        </p:nvSpPr>
        <p:spPr>
          <a:xfrm>
            <a:off x="132975" y="4691625"/>
            <a:ext cx="575400" cy="37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Time</a:t>
            </a:r>
            <a:endParaRPr/>
          </a:p>
        </p:txBody>
      </p:sp>
      <p:sp>
        <p:nvSpPr>
          <p:cNvPr id="860" name="Google Shape;860;p63"/>
          <p:cNvSpPr/>
          <p:nvPr/>
        </p:nvSpPr>
        <p:spPr>
          <a:xfrm>
            <a:off x="5508525" y="1406025"/>
            <a:ext cx="174000" cy="175200"/>
          </a:xfrm>
          <a:prstGeom prst="ellipse">
            <a:avLst/>
          </a:prstGeom>
          <a:solidFill>
            <a:srgbClr val="99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1" name="Google Shape;861;p63"/>
          <p:cNvSpPr txBox="1"/>
          <p:nvPr/>
        </p:nvSpPr>
        <p:spPr>
          <a:xfrm>
            <a:off x="5791725" y="1262775"/>
            <a:ext cx="3295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Species in community A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862" name="Google Shape;862;p63"/>
          <p:cNvSpPr txBox="1"/>
          <p:nvPr/>
        </p:nvSpPr>
        <p:spPr>
          <a:xfrm>
            <a:off x="5791725" y="1567575"/>
            <a:ext cx="3295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Species in community B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863" name="Google Shape;863;p63"/>
          <p:cNvSpPr/>
          <p:nvPr/>
        </p:nvSpPr>
        <p:spPr>
          <a:xfrm>
            <a:off x="5508525" y="1710825"/>
            <a:ext cx="174000" cy="175200"/>
          </a:xfrm>
          <a:prstGeom prst="ellipse">
            <a:avLst/>
          </a:prstGeom>
          <a:solidFill>
            <a:srgbClr val="00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4" name="Google Shape;864;p63"/>
          <p:cNvSpPr/>
          <p:nvPr/>
        </p:nvSpPr>
        <p:spPr>
          <a:xfrm>
            <a:off x="2003325" y="1482225"/>
            <a:ext cx="174000" cy="175200"/>
          </a:xfrm>
          <a:prstGeom prst="ellipse">
            <a:avLst/>
          </a:prstGeom>
          <a:solidFill>
            <a:srgbClr val="99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5" name="Google Shape;865;p63"/>
          <p:cNvSpPr/>
          <p:nvPr/>
        </p:nvSpPr>
        <p:spPr>
          <a:xfrm>
            <a:off x="2003325" y="2777625"/>
            <a:ext cx="174000" cy="175200"/>
          </a:xfrm>
          <a:prstGeom prst="ellipse">
            <a:avLst/>
          </a:prstGeom>
          <a:solidFill>
            <a:srgbClr val="99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6" name="Google Shape;866;p63"/>
          <p:cNvSpPr/>
          <p:nvPr/>
        </p:nvSpPr>
        <p:spPr>
          <a:xfrm>
            <a:off x="2003325" y="2244225"/>
            <a:ext cx="174000" cy="175200"/>
          </a:xfrm>
          <a:prstGeom prst="ellipse">
            <a:avLst/>
          </a:prstGeom>
          <a:solidFill>
            <a:srgbClr val="99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7" name="Google Shape;867;p63"/>
          <p:cNvSpPr/>
          <p:nvPr/>
        </p:nvSpPr>
        <p:spPr>
          <a:xfrm>
            <a:off x="2003325" y="3234825"/>
            <a:ext cx="174000" cy="175200"/>
          </a:xfrm>
          <a:prstGeom prst="ellipse">
            <a:avLst/>
          </a:prstGeom>
          <a:solidFill>
            <a:srgbClr val="99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8" name="Google Shape;868;p63"/>
          <p:cNvSpPr/>
          <p:nvPr/>
        </p:nvSpPr>
        <p:spPr>
          <a:xfrm>
            <a:off x="2003325" y="3768225"/>
            <a:ext cx="174000" cy="175200"/>
          </a:xfrm>
          <a:prstGeom prst="ellipse">
            <a:avLst/>
          </a:prstGeom>
          <a:solidFill>
            <a:srgbClr val="00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9" name="Google Shape;869;p63"/>
          <p:cNvSpPr/>
          <p:nvPr/>
        </p:nvSpPr>
        <p:spPr>
          <a:xfrm>
            <a:off x="2003325" y="4758825"/>
            <a:ext cx="174000" cy="175200"/>
          </a:xfrm>
          <a:prstGeom prst="ellipse">
            <a:avLst/>
          </a:prstGeom>
          <a:solidFill>
            <a:srgbClr val="00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0" name="Google Shape;870;p63"/>
          <p:cNvSpPr/>
          <p:nvPr/>
        </p:nvSpPr>
        <p:spPr>
          <a:xfrm>
            <a:off x="2003325" y="1863225"/>
            <a:ext cx="174000" cy="175200"/>
          </a:xfrm>
          <a:prstGeom prst="ellipse">
            <a:avLst/>
          </a:prstGeom>
          <a:solidFill>
            <a:srgbClr val="00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4" name="Shape 8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5" name="Google Shape;875;p6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Inferring Environmental Filtering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6" name="Google Shape;876;p64"/>
          <p:cNvSpPr txBox="1"/>
          <p:nvPr>
            <p:ph idx="1" type="body"/>
          </p:nvPr>
        </p:nvSpPr>
        <p:spPr>
          <a:xfrm>
            <a:off x="311700" y="10000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Correlative approaches: Phylogeny </a:t>
            </a:r>
            <a:endParaRPr/>
          </a:p>
        </p:txBody>
      </p:sp>
      <p:pic>
        <p:nvPicPr>
          <p:cNvPr id="877" name="Google Shape;877;p6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6075" y="1538850"/>
            <a:ext cx="1790700" cy="33771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78" name="Google Shape;878;p64"/>
          <p:cNvCxnSpPr/>
          <p:nvPr/>
        </p:nvCxnSpPr>
        <p:spPr>
          <a:xfrm flipH="1" rot="10800000">
            <a:off x="132975" y="5059725"/>
            <a:ext cx="1836900" cy="9900"/>
          </a:xfrm>
          <a:prstGeom prst="straightConnector1">
            <a:avLst/>
          </a:prstGeom>
          <a:noFill/>
          <a:ln cap="flat" cmpd="sng" w="28575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79" name="Google Shape;879;p64"/>
          <p:cNvSpPr txBox="1"/>
          <p:nvPr/>
        </p:nvSpPr>
        <p:spPr>
          <a:xfrm>
            <a:off x="132975" y="4691625"/>
            <a:ext cx="575400" cy="37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Time</a:t>
            </a:r>
            <a:endParaRPr/>
          </a:p>
        </p:txBody>
      </p:sp>
      <p:sp>
        <p:nvSpPr>
          <p:cNvPr id="880" name="Google Shape;880;p64"/>
          <p:cNvSpPr/>
          <p:nvPr/>
        </p:nvSpPr>
        <p:spPr>
          <a:xfrm>
            <a:off x="5508525" y="1406025"/>
            <a:ext cx="174000" cy="175200"/>
          </a:xfrm>
          <a:prstGeom prst="ellipse">
            <a:avLst/>
          </a:prstGeom>
          <a:solidFill>
            <a:srgbClr val="99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1" name="Google Shape;881;p64"/>
          <p:cNvSpPr txBox="1"/>
          <p:nvPr/>
        </p:nvSpPr>
        <p:spPr>
          <a:xfrm>
            <a:off x="5791725" y="1262775"/>
            <a:ext cx="3295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Species in community A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882" name="Google Shape;882;p64"/>
          <p:cNvSpPr txBox="1"/>
          <p:nvPr/>
        </p:nvSpPr>
        <p:spPr>
          <a:xfrm>
            <a:off x="5791725" y="1567575"/>
            <a:ext cx="3295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Species in community B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883" name="Google Shape;883;p64"/>
          <p:cNvSpPr/>
          <p:nvPr/>
        </p:nvSpPr>
        <p:spPr>
          <a:xfrm>
            <a:off x="5508525" y="1710825"/>
            <a:ext cx="174000" cy="175200"/>
          </a:xfrm>
          <a:prstGeom prst="ellipse">
            <a:avLst/>
          </a:prstGeom>
          <a:solidFill>
            <a:srgbClr val="00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4" name="Google Shape;884;p64"/>
          <p:cNvSpPr/>
          <p:nvPr/>
        </p:nvSpPr>
        <p:spPr>
          <a:xfrm>
            <a:off x="5508525" y="2015625"/>
            <a:ext cx="174000" cy="175200"/>
          </a:xfrm>
          <a:prstGeom prst="ellipse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5" name="Google Shape;885;p64"/>
          <p:cNvSpPr txBox="1"/>
          <p:nvPr/>
        </p:nvSpPr>
        <p:spPr>
          <a:xfrm>
            <a:off x="5791200" y="1905000"/>
            <a:ext cx="3000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In species pool, but missing in A and B</a:t>
            </a:r>
            <a:endParaRPr/>
          </a:p>
        </p:txBody>
      </p:sp>
      <p:sp>
        <p:nvSpPr>
          <p:cNvPr id="886" name="Google Shape;886;p64"/>
          <p:cNvSpPr/>
          <p:nvPr/>
        </p:nvSpPr>
        <p:spPr>
          <a:xfrm>
            <a:off x="2003325" y="1482225"/>
            <a:ext cx="174000" cy="175200"/>
          </a:xfrm>
          <a:prstGeom prst="ellipse">
            <a:avLst/>
          </a:prstGeom>
          <a:solidFill>
            <a:srgbClr val="99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7" name="Google Shape;887;p64"/>
          <p:cNvSpPr/>
          <p:nvPr/>
        </p:nvSpPr>
        <p:spPr>
          <a:xfrm>
            <a:off x="2003325" y="2777625"/>
            <a:ext cx="174000" cy="175200"/>
          </a:xfrm>
          <a:prstGeom prst="ellipse">
            <a:avLst/>
          </a:prstGeom>
          <a:solidFill>
            <a:srgbClr val="99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8" name="Google Shape;888;p64"/>
          <p:cNvSpPr/>
          <p:nvPr/>
        </p:nvSpPr>
        <p:spPr>
          <a:xfrm>
            <a:off x="2003325" y="2244225"/>
            <a:ext cx="174000" cy="175200"/>
          </a:xfrm>
          <a:prstGeom prst="ellipse">
            <a:avLst/>
          </a:prstGeom>
          <a:solidFill>
            <a:srgbClr val="99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9" name="Google Shape;889;p64"/>
          <p:cNvSpPr/>
          <p:nvPr/>
        </p:nvSpPr>
        <p:spPr>
          <a:xfrm>
            <a:off x="2003325" y="3234825"/>
            <a:ext cx="174000" cy="175200"/>
          </a:xfrm>
          <a:prstGeom prst="ellipse">
            <a:avLst/>
          </a:prstGeom>
          <a:solidFill>
            <a:srgbClr val="99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0" name="Google Shape;890;p64"/>
          <p:cNvSpPr/>
          <p:nvPr/>
        </p:nvSpPr>
        <p:spPr>
          <a:xfrm>
            <a:off x="2003325" y="3768225"/>
            <a:ext cx="174000" cy="175200"/>
          </a:xfrm>
          <a:prstGeom prst="ellipse">
            <a:avLst/>
          </a:prstGeom>
          <a:solidFill>
            <a:srgbClr val="00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1" name="Google Shape;891;p64"/>
          <p:cNvSpPr/>
          <p:nvPr/>
        </p:nvSpPr>
        <p:spPr>
          <a:xfrm>
            <a:off x="2003325" y="4758825"/>
            <a:ext cx="174000" cy="175200"/>
          </a:xfrm>
          <a:prstGeom prst="ellipse">
            <a:avLst/>
          </a:prstGeom>
          <a:solidFill>
            <a:srgbClr val="00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2" name="Google Shape;892;p64"/>
          <p:cNvSpPr/>
          <p:nvPr/>
        </p:nvSpPr>
        <p:spPr>
          <a:xfrm>
            <a:off x="2003325" y="1863225"/>
            <a:ext cx="174000" cy="175200"/>
          </a:xfrm>
          <a:prstGeom prst="ellipse">
            <a:avLst/>
          </a:prstGeom>
          <a:solidFill>
            <a:srgbClr val="00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3" name="Google Shape;893;p64"/>
          <p:cNvSpPr/>
          <p:nvPr/>
        </p:nvSpPr>
        <p:spPr>
          <a:xfrm>
            <a:off x="2003325" y="4149225"/>
            <a:ext cx="174000" cy="175200"/>
          </a:xfrm>
          <a:prstGeom prst="ellipse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94" name="Google Shape;894;p64"/>
          <p:cNvCxnSpPr/>
          <p:nvPr/>
        </p:nvCxnSpPr>
        <p:spPr>
          <a:xfrm flipH="1" rot="10800000">
            <a:off x="2253525" y="3705525"/>
            <a:ext cx="821100" cy="455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895" name="Google Shape;895;p64"/>
          <p:cNvSpPr txBox="1"/>
          <p:nvPr/>
        </p:nvSpPr>
        <p:spPr>
          <a:xfrm>
            <a:off x="3034900" y="3383525"/>
            <a:ext cx="361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</a:rPr>
              <a:t>?</a:t>
            </a:r>
            <a:endParaRPr b="1"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9" name="Shape 8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Google Shape;900;p6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Inferring Environmental Filtering</a:t>
            </a:r>
            <a:endParaRPr/>
          </a:p>
        </p:txBody>
      </p:sp>
      <p:sp>
        <p:nvSpPr>
          <p:cNvPr id="901" name="Google Shape;901;p65"/>
          <p:cNvSpPr txBox="1"/>
          <p:nvPr>
            <p:ph idx="1" type="body"/>
          </p:nvPr>
        </p:nvSpPr>
        <p:spPr>
          <a:xfrm>
            <a:off x="311700" y="10000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Correlative approaches: Environmental data </a:t>
            </a:r>
            <a:endParaRPr/>
          </a:p>
        </p:txBody>
      </p:sp>
      <p:pic>
        <p:nvPicPr>
          <p:cNvPr id="902" name="Google Shape;902;p6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9025" y="1724225"/>
            <a:ext cx="4032400" cy="2618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6" name="Shape 9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7" name="Google Shape;907;p6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Inferring Environmental Filtering</a:t>
            </a:r>
            <a:endParaRPr/>
          </a:p>
        </p:txBody>
      </p:sp>
      <p:sp>
        <p:nvSpPr>
          <p:cNvPr id="908" name="Google Shape;908;p66"/>
          <p:cNvSpPr txBox="1"/>
          <p:nvPr>
            <p:ph idx="1" type="body"/>
          </p:nvPr>
        </p:nvSpPr>
        <p:spPr>
          <a:xfrm>
            <a:off x="311700" y="10000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Correlative approaches: Environmental data </a:t>
            </a:r>
            <a:endParaRPr/>
          </a:p>
        </p:txBody>
      </p:sp>
      <p:pic>
        <p:nvPicPr>
          <p:cNvPr id="909" name="Google Shape;909;p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9025" y="1724225"/>
            <a:ext cx="4032400" cy="2618875"/>
          </a:xfrm>
          <a:prstGeom prst="rect">
            <a:avLst/>
          </a:prstGeom>
          <a:noFill/>
          <a:ln>
            <a:noFill/>
          </a:ln>
        </p:spPr>
      </p:pic>
      <p:sp>
        <p:nvSpPr>
          <p:cNvPr id="910" name="Google Shape;910;p66"/>
          <p:cNvSpPr/>
          <p:nvPr/>
        </p:nvSpPr>
        <p:spPr>
          <a:xfrm>
            <a:off x="3867500" y="2587475"/>
            <a:ext cx="845700" cy="7041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6F9428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SDM</a:t>
            </a:r>
            <a:endParaRPr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4" name="Shape 9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5" name="Google Shape;915;p6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Inferring Environmental Filtering</a:t>
            </a:r>
            <a:endParaRPr/>
          </a:p>
        </p:txBody>
      </p:sp>
      <p:sp>
        <p:nvSpPr>
          <p:cNvPr id="916" name="Google Shape;916;p67"/>
          <p:cNvSpPr txBox="1"/>
          <p:nvPr>
            <p:ph idx="1" type="body"/>
          </p:nvPr>
        </p:nvSpPr>
        <p:spPr>
          <a:xfrm>
            <a:off x="311700" y="10000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Correlative approaches: Environmental data </a:t>
            </a:r>
            <a:endParaRPr/>
          </a:p>
        </p:txBody>
      </p:sp>
      <p:pic>
        <p:nvPicPr>
          <p:cNvPr id="917" name="Google Shape;917;p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9025" y="1724225"/>
            <a:ext cx="4032400" cy="2618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18" name="Google Shape;918;p6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61475" y="1724225"/>
            <a:ext cx="4032400" cy="2618863"/>
          </a:xfrm>
          <a:prstGeom prst="rect">
            <a:avLst/>
          </a:prstGeom>
          <a:noFill/>
          <a:ln>
            <a:noFill/>
          </a:ln>
        </p:spPr>
      </p:pic>
      <p:sp>
        <p:nvSpPr>
          <p:cNvPr id="919" name="Google Shape;919;p67"/>
          <p:cNvSpPr txBox="1"/>
          <p:nvPr/>
        </p:nvSpPr>
        <p:spPr>
          <a:xfrm rot="-5399129">
            <a:off x="3675450" y="2675100"/>
            <a:ext cx="2368500" cy="400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Relative Occurrence Rate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20" name="Google Shape;920;p67"/>
          <p:cNvSpPr/>
          <p:nvPr/>
        </p:nvSpPr>
        <p:spPr>
          <a:xfrm>
            <a:off x="3867500" y="2587475"/>
            <a:ext cx="845700" cy="7041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6F9428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SDM</a:t>
            </a:r>
            <a:endParaRPr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4" name="Shape 9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5" name="Google Shape;925;p6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Inferring Environmental Filtering</a:t>
            </a:r>
            <a:endParaRPr/>
          </a:p>
        </p:txBody>
      </p:sp>
      <p:sp>
        <p:nvSpPr>
          <p:cNvPr id="926" name="Google Shape;926;p68"/>
          <p:cNvSpPr txBox="1"/>
          <p:nvPr>
            <p:ph idx="1" type="body"/>
          </p:nvPr>
        </p:nvSpPr>
        <p:spPr>
          <a:xfrm>
            <a:off x="311700" y="10000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Correlative approaches: Environmental data </a:t>
            </a:r>
            <a:endParaRPr/>
          </a:p>
        </p:txBody>
      </p:sp>
      <p:pic>
        <p:nvPicPr>
          <p:cNvPr id="927" name="Google Shape;927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3275" y="1724225"/>
            <a:ext cx="4032400" cy="2618863"/>
          </a:xfrm>
          <a:prstGeom prst="rect">
            <a:avLst/>
          </a:prstGeom>
          <a:noFill/>
          <a:ln>
            <a:noFill/>
          </a:ln>
        </p:spPr>
      </p:pic>
      <p:sp>
        <p:nvSpPr>
          <p:cNvPr id="928" name="Google Shape;928;p68"/>
          <p:cNvSpPr txBox="1"/>
          <p:nvPr/>
        </p:nvSpPr>
        <p:spPr>
          <a:xfrm rot="-5399129">
            <a:off x="-972750" y="2675100"/>
            <a:ext cx="2368500" cy="400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Relative Occurrence Rate</a:t>
            </a:r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2" name="Shape 9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3" name="Google Shape;933;p6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Inferring Environmental Filtering</a:t>
            </a:r>
            <a:endParaRPr/>
          </a:p>
        </p:txBody>
      </p:sp>
      <p:sp>
        <p:nvSpPr>
          <p:cNvPr id="934" name="Google Shape;934;p69"/>
          <p:cNvSpPr txBox="1"/>
          <p:nvPr>
            <p:ph idx="1" type="body"/>
          </p:nvPr>
        </p:nvSpPr>
        <p:spPr>
          <a:xfrm>
            <a:off x="311700" y="10000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Correlative approaches: Environmental data </a:t>
            </a:r>
            <a:endParaRPr/>
          </a:p>
        </p:txBody>
      </p:sp>
      <p:pic>
        <p:nvPicPr>
          <p:cNvPr id="935" name="Google Shape;935;p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3275" y="1724225"/>
            <a:ext cx="4032400" cy="2618863"/>
          </a:xfrm>
          <a:prstGeom prst="rect">
            <a:avLst/>
          </a:prstGeom>
          <a:noFill/>
          <a:ln>
            <a:noFill/>
          </a:ln>
        </p:spPr>
      </p:pic>
      <p:sp>
        <p:nvSpPr>
          <p:cNvPr id="936" name="Google Shape;936;p69"/>
          <p:cNvSpPr txBox="1"/>
          <p:nvPr/>
        </p:nvSpPr>
        <p:spPr>
          <a:xfrm rot="-5399129">
            <a:off x="-972750" y="2675100"/>
            <a:ext cx="2368500" cy="400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Relative Occurrence Rate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37" name="Google Shape;937;p69"/>
          <p:cNvSpPr/>
          <p:nvPr/>
        </p:nvSpPr>
        <p:spPr>
          <a:xfrm>
            <a:off x="4282525" y="2659725"/>
            <a:ext cx="1211400" cy="6213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6F9428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38" name="Google Shape;938;p69"/>
          <p:cNvPicPr preferRelativeResize="0"/>
          <p:nvPr/>
        </p:nvPicPr>
        <p:blipFill rotWithShape="1">
          <a:blip r:embed="rId4">
            <a:alphaModFix/>
          </a:blip>
          <a:srcRect b="0" l="11063" r="12214" t="0"/>
          <a:stretch/>
        </p:blipFill>
        <p:spPr>
          <a:xfrm>
            <a:off x="5712825" y="1674950"/>
            <a:ext cx="2924824" cy="2382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2" name="Shape 9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3" name="Google Shape;943;p7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Inferring Environmental Filtering</a:t>
            </a:r>
            <a:endParaRPr/>
          </a:p>
        </p:txBody>
      </p:sp>
      <p:sp>
        <p:nvSpPr>
          <p:cNvPr id="944" name="Google Shape;944;p70"/>
          <p:cNvSpPr txBox="1"/>
          <p:nvPr>
            <p:ph idx="1" type="body"/>
          </p:nvPr>
        </p:nvSpPr>
        <p:spPr>
          <a:xfrm>
            <a:off x="311700" y="10000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Mechanistic approaches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Measure important </a:t>
            </a:r>
            <a:r>
              <a:rPr lang="en"/>
              <a:t>variables in a controlled setting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E.g., hatching success vs temperature, salinity vs growth rate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Build a complicated model that is appropriate for a particular species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For reptiles, this might involve behavioral changes as well as physiology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For plants, this might involve photosynthesis temperature-response curves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Much more data-intensive, but may not give better predictions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45" name="Google Shape;945;p70"/>
          <p:cNvPicPr preferRelativeResize="0"/>
          <p:nvPr/>
        </p:nvPicPr>
        <p:blipFill rotWithShape="1">
          <a:blip r:embed="rId3">
            <a:alphaModFix/>
          </a:blip>
          <a:srcRect b="45626" l="21967" r="22627" t="18321"/>
          <a:stretch/>
        </p:blipFill>
        <p:spPr>
          <a:xfrm>
            <a:off x="4511200" y="3401625"/>
            <a:ext cx="4022798" cy="1472326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9" name="Shape 9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0" name="Google Shape;950;p7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Inferring Environmental Filtering</a:t>
            </a:r>
            <a:endParaRPr/>
          </a:p>
        </p:txBody>
      </p:sp>
      <p:sp>
        <p:nvSpPr>
          <p:cNvPr id="951" name="Google Shape;951;p71"/>
          <p:cNvSpPr txBox="1"/>
          <p:nvPr>
            <p:ph idx="1" type="body"/>
          </p:nvPr>
        </p:nvSpPr>
        <p:spPr>
          <a:xfrm>
            <a:off x="311700" y="10000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Experimental approaches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Manipulate environmental conditions and see how species respond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E.g., warming experiments, drought experiments</a:t>
            </a:r>
            <a:endParaRPr/>
          </a:p>
        </p:txBody>
      </p:sp>
      <p:pic>
        <p:nvPicPr>
          <p:cNvPr id="952" name="Google Shape;952;p7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2213850"/>
            <a:ext cx="3687900" cy="2634551"/>
          </a:xfrm>
          <a:prstGeom prst="rect">
            <a:avLst/>
          </a:prstGeom>
          <a:noFill/>
          <a:ln>
            <a:noFill/>
          </a:ln>
        </p:spPr>
      </p:pic>
      <p:sp>
        <p:nvSpPr>
          <p:cNvPr id="953" name="Google Shape;953;p71"/>
          <p:cNvSpPr txBox="1"/>
          <p:nvPr/>
        </p:nvSpPr>
        <p:spPr>
          <a:xfrm>
            <a:off x="0" y="4835700"/>
            <a:ext cx="3260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</a:rPr>
              <a:t>https://doi.org/10.1139/as-2022-0030</a:t>
            </a:r>
            <a:endParaRPr sz="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7" name="Shape 9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8" name="Google Shape;958;p7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Inferring Environmental Filtering</a:t>
            </a:r>
            <a:endParaRPr/>
          </a:p>
        </p:txBody>
      </p:sp>
      <p:sp>
        <p:nvSpPr>
          <p:cNvPr id="959" name="Google Shape;959;p7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Challenges: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Species absence from an environment may not be due to a lack of suitability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Mechanistic models require a lot of data we don’t have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	Experiments are hard and expensive</a:t>
            </a:r>
            <a:endParaRPr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3" name="Shape 9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4" name="Google Shape;964;p7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Community assembly</a:t>
            </a:r>
            <a:endParaRPr/>
          </a:p>
        </p:txBody>
      </p:sp>
      <p:sp>
        <p:nvSpPr>
          <p:cNvPr id="965" name="Google Shape;965;p7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Community assembly focuses on a few key concepts: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AutoNum type="arabicParenR"/>
            </a:pPr>
            <a:r>
              <a:rPr lang="en"/>
              <a:t>Regional species pool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"/>
              <a:t>Dispersal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"/>
              <a:t>Environmental filtering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"/>
              <a:t>Biotic filtering</a:t>
            </a:r>
            <a:endParaRPr/>
          </a:p>
        </p:txBody>
      </p:sp>
      <p:sp>
        <p:nvSpPr>
          <p:cNvPr id="966" name="Google Shape;966;p73"/>
          <p:cNvSpPr/>
          <p:nvPr/>
        </p:nvSpPr>
        <p:spPr>
          <a:xfrm>
            <a:off x="217125" y="2324100"/>
            <a:ext cx="3226200" cy="3072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0" name="Shape 9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1" name="Google Shape;971;p7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Community assembly</a:t>
            </a:r>
            <a:endParaRPr/>
          </a:p>
        </p:txBody>
      </p:sp>
      <p:sp>
        <p:nvSpPr>
          <p:cNvPr id="972" name="Google Shape;972;p7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Community assembly focuses on a few key concepts: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AutoNum type="arabicParenR"/>
            </a:pPr>
            <a:r>
              <a:rPr lang="en"/>
              <a:t>Regional species pool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"/>
              <a:t>Dispersal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"/>
              <a:t>Environmental filtering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"/>
              <a:t>Biotic filtering</a:t>
            </a:r>
            <a:endParaRPr/>
          </a:p>
        </p:txBody>
      </p:sp>
      <p:sp>
        <p:nvSpPr>
          <p:cNvPr id="973" name="Google Shape;973;p74"/>
          <p:cNvSpPr/>
          <p:nvPr/>
        </p:nvSpPr>
        <p:spPr>
          <a:xfrm>
            <a:off x="217125" y="2628900"/>
            <a:ext cx="3226200" cy="3072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7" name="Shape 9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8" name="Google Shape;978;p7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Biotic Filtering</a:t>
            </a:r>
            <a:endParaRPr/>
          </a:p>
        </p:txBody>
      </p:sp>
      <p:sp>
        <p:nvSpPr>
          <p:cNvPr id="979" name="Google Shape;979;p7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Can a </a:t>
            </a:r>
            <a:r>
              <a:rPr lang="en"/>
              <a:t>species</a:t>
            </a:r>
            <a:r>
              <a:rPr lang="en"/>
              <a:t> tolerate the biotic interactions?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Predation/Herbivory/Parasitism/Disease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Prey availability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Mutualist availability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Commensalism</a:t>
            </a:r>
            <a:endParaRPr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3" name="Shape 9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4" name="Google Shape;984;p7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Biotic Filtering</a:t>
            </a:r>
            <a:endParaRPr/>
          </a:p>
        </p:txBody>
      </p:sp>
      <p:sp>
        <p:nvSpPr>
          <p:cNvPr id="985" name="Google Shape;985;p7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Multiple approaches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Correlative: E.g., are co-occurring species different?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	Experimental: can species survive when competitors are removed?</a:t>
            </a:r>
            <a:endParaRPr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9" name="Shape 9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0" name="Google Shape;990;p7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Inferring Biotic Filtering</a:t>
            </a:r>
            <a:endParaRPr/>
          </a:p>
        </p:txBody>
      </p:sp>
      <p:sp>
        <p:nvSpPr>
          <p:cNvPr id="991" name="Google Shape;991;p7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Correlative: Are assemblages more different that you’d </a:t>
            </a:r>
            <a:r>
              <a:rPr lang="en"/>
              <a:t>expect</a:t>
            </a:r>
            <a:r>
              <a:rPr lang="en"/>
              <a:t> by chance? </a:t>
            </a:r>
            <a:endParaRPr/>
          </a:p>
        </p:txBody>
      </p:sp>
      <p:pic>
        <p:nvPicPr>
          <p:cNvPr id="992" name="Google Shape;992;p7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8125" y="1922251"/>
            <a:ext cx="6893451" cy="3013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6" name="Shape 9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7" name="Google Shape;997;p7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Inferring Biotic Filtering</a:t>
            </a:r>
            <a:endParaRPr/>
          </a:p>
        </p:txBody>
      </p:sp>
      <p:sp>
        <p:nvSpPr>
          <p:cNvPr id="998" name="Google Shape;998;p78"/>
          <p:cNvSpPr txBox="1"/>
          <p:nvPr>
            <p:ph idx="1" type="body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Correlative: Are assemblages more different that you’d expect by chance? </a:t>
            </a:r>
            <a:endParaRPr/>
          </a:p>
        </p:txBody>
      </p:sp>
      <p:grpSp>
        <p:nvGrpSpPr>
          <p:cNvPr id="999" name="Google Shape;999;p78"/>
          <p:cNvGrpSpPr/>
          <p:nvPr/>
        </p:nvGrpSpPr>
        <p:grpSpPr>
          <a:xfrm>
            <a:off x="729211" y="1771917"/>
            <a:ext cx="4670119" cy="2796946"/>
            <a:chOff x="527225" y="2233800"/>
            <a:chExt cx="3177600" cy="2319000"/>
          </a:xfrm>
        </p:grpSpPr>
        <p:cxnSp>
          <p:nvCxnSpPr>
            <p:cNvPr id="1000" name="Google Shape;1000;p78"/>
            <p:cNvCxnSpPr/>
            <p:nvPr/>
          </p:nvCxnSpPr>
          <p:spPr>
            <a:xfrm>
              <a:off x="527225" y="2233800"/>
              <a:ext cx="0" cy="23190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01" name="Google Shape;1001;p78"/>
            <p:cNvCxnSpPr/>
            <p:nvPr/>
          </p:nvCxnSpPr>
          <p:spPr>
            <a:xfrm flipH="1">
              <a:off x="527225" y="4549200"/>
              <a:ext cx="3177600" cy="36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002" name="Google Shape;1002;p78"/>
          <p:cNvSpPr txBox="1"/>
          <p:nvPr/>
        </p:nvSpPr>
        <p:spPr>
          <a:xfrm>
            <a:off x="1845600" y="4681800"/>
            <a:ext cx="1413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Trait 1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003" name="Google Shape;1003;p78"/>
          <p:cNvSpPr txBox="1"/>
          <p:nvPr/>
        </p:nvSpPr>
        <p:spPr>
          <a:xfrm rot="-5400000">
            <a:off x="-211800" y="2700600"/>
            <a:ext cx="1413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Trait 2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004" name="Google Shape;1004;p78"/>
          <p:cNvSpPr/>
          <p:nvPr/>
        </p:nvSpPr>
        <p:spPr>
          <a:xfrm>
            <a:off x="1241325" y="2244225"/>
            <a:ext cx="174000" cy="175200"/>
          </a:xfrm>
          <a:prstGeom prst="ellipse">
            <a:avLst/>
          </a:prstGeom>
          <a:solidFill>
            <a:srgbClr val="00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5" name="Google Shape;1005;p78"/>
          <p:cNvSpPr/>
          <p:nvPr/>
        </p:nvSpPr>
        <p:spPr>
          <a:xfrm>
            <a:off x="1631213" y="2343225"/>
            <a:ext cx="174000" cy="175200"/>
          </a:xfrm>
          <a:prstGeom prst="ellipse">
            <a:avLst/>
          </a:prstGeom>
          <a:solidFill>
            <a:srgbClr val="99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6" name="Google Shape;1006;p78"/>
          <p:cNvSpPr/>
          <p:nvPr/>
        </p:nvSpPr>
        <p:spPr>
          <a:xfrm>
            <a:off x="1362925" y="2648025"/>
            <a:ext cx="174000" cy="175200"/>
          </a:xfrm>
          <a:prstGeom prst="ellipse">
            <a:avLst/>
          </a:prstGeom>
          <a:solidFill>
            <a:srgbClr val="99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7" name="Google Shape;1007;p78"/>
          <p:cNvSpPr/>
          <p:nvPr/>
        </p:nvSpPr>
        <p:spPr>
          <a:xfrm>
            <a:off x="1622325" y="2777625"/>
            <a:ext cx="174000" cy="175200"/>
          </a:xfrm>
          <a:prstGeom prst="ellipse">
            <a:avLst/>
          </a:prstGeom>
          <a:solidFill>
            <a:srgbClr val="00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8" name="Google Shape;1008;p78"/>
          <p:cNvSpPr/>
          <p:nvPr/>
        </p:nvSpPr>
        <p:spPr>
          <a:xfrm>
            <a:off x="1850925" y="2244225"/>
            <a:ext cx="174000" cy="175200"/>
          </a:xfrm>
          <a:prstGeom prst="ellipse">
            <a:avLst/>
          </a:prstGeom>
          <a:solidFill>
            <a:srgbClr val="00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9" name="Google Shape;1009;p78"/>
          <p:cNvSpPr/>
          <p:nvPr/>
        </p:nvSpPr>
        <p:spPr>
          <a:xfrm>
            <a:off x="2079525" y="3006225"/>
            <a:ext cx="174000" cy="175200"/>
          </a:xfrm>
          <a:prstGeom prst="ellipse">
            <a:avLst/>
          </a:prstGeom>
          <a:solidFill>
            <a:srgbClr val="00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0" name="Google Shape;1010;p78"/>
          <p:cNvSpPr/>
          <p:nvPr/>
        </p:nvSpPr>
        <p:spPr>
          <a:xfrm>
            <a:off x="1241325" y="3158625"/>
            <a:ext cx="174000" cy="175200"/>
          </a:xfrm>
          <a:prstGeom prst="ellipse">
            <a:avLst/>
          </a:prstGeom>
          <a:solidFill>
            <a:srgbClr val="00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1" name="Google Shape;1011;p78"/>
          <p:cNvSpPr/>
          <p:nvPr/>
        </p:nvSpPr>
        <p:spPr>
          <a:xfrm>
            <a:off x="1536925" y="3311025"/>
            <a:ext cx="174000" cy="175200"/>
          </a:xfrm>
          <a:prstGeom prst="ellipse">
            <a:avLst/>
          </a:prstGeom>
          <a:solidFill>
            <a:srgbClr val="99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2" name="Google Shape;1012;p78"/>
          <p:cNvSpPr/>
          <p:nvPr/>
        </p:nvSpPr>
        <p:spPr>
          <a:xfrm>
            <a:off x="2460525" y="2168025"/>
            <a:ext cx="174000" cy="175200"/>
          </a:xfrm>
          <a:prstGeom prst="ellipse">
            <a:avLst/>
          </a:prstGeom>
          <a:solidFill>
            <a:srgbClr val="99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3" name="Google Shape;1013;p78"/>
          <p:cNvSpPr/>
          <p:nvPr/>
        </p:nvSpPr>
        <p:spPr>
          <a:xfrm>
            <a:off x="2536725" y="2701425"/>
            <a:ext cx="174000" cy="175200"/>
          </a:xfrm>
          <a:prstGeom prst="ellipse">
            <a:avLst/>
          </a:prstGeom>
          <a:solidFill>
            <a:srgbClr val="99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4" name="Google Shape;1014;p78"/>
          <p:cNvSpPr/>
          <p:nvPr/>
        </p:nvSpPr>
        <p:spPr>
          <a:xfrm>
            <a:off x="2308125" y="3311025"/>
            <a:ext cx="174000" cy="175200"/>
          </a:xfrm>
          <a:prstGeom prst="ellipse">
            <a:avLst/>
          </a:prstGeom>
          <a:solidFill>
            <a:srgbClr val="99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5" name="Google Shape;1015;p78"/>
          <p:cNvSpPr/>
          <p:nvPr/>
        </p:nvSpPr>
        <p:spPr>
          <a:xfrm>
            <a:off x="2634525" y="2952825"/>
            <a:ext cx="174000" cy="175200"/>
          </a:xfrm>
          <a:prstGeom prst="ellipse">
            <a:avLst/>
          </a:prstGeom>
          <a:solidFill>
            <a:srgbClr val="00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6" name="Google Shape;1016;p78"/>
          <p:cNvSpPr/>
          <p:nvPr/>
        </p:nvSpPr>
        <p:spPr>
          <a:xfrm>
            <a:off x="3222525" y="4012225"/>
            <a:ext cx="174000" cy="175200"/>
          </a:xfrm>
          <a:prstGeom prst="ellipse">
            <a:avLst/>
          </a:prstGeom>
          <a:solidFill>
            <a:srgbClr val="00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7" name="Google Shape;1017;p78"/>
          <p:cNvSpPr/>
          <p:nvPr/>
        </p:nvSpPr>
        <p:spPr>
          <a:xfrm>
            <a:off x="3222525" y="3486225"/>
            <a:ext cx="174000" cy="175200"/>
          </a:xfrm>
          <a:prstGeom prst="ellipse">
            <a:avLst/>
          </a:prstGeom>
          <a:solidFill>
            <a:srgbClr val="99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8" name="Google Shape;1018;p78"/>
          <p:cNvSpPr/>
          <p:nvPr/>
        </p:nvSpPr>
        <p:spPr>
          <a:xfrm>
            <a:off x="3374925" y="3006225"/>
            <a:ext cx="174000" cy="175200"/>
          </a:xfrm>
          <a:prstGeom prst="ellipse">
            <a:avLst/>
          </a:prstGeom>
          <a:solidFill>
            <a:srgbClr val="00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9" name="Google Shape;1019;p78"/>
          <p:cNvSpPr/>
          <p:nvPr/>
        </p:nvSpPr>
        <p:spPr>
          <a:xfrm>
            <a:off x="2917725" y="3463425"/>
            <a:ext cx="174000" cy="175200"/>
          </a:xfrm>
          <a:prstGeom prst="ellipse">
            <a:avLst/>
          </a:prstGeom>
          <a:solidFill>
            <a:srgbClr val="00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0" name="Google Shape;1020;p78"/>
          <p:cNvSpPr/>
          <p:nvPr/>
        </p:nvSpPr>
        <p:spPr>
          <a:xfrm>
            <a:off x="2993925" y="2762163"/>
            <a:ext cx="174000" cy="175200"/>
          </a:xfrm>
          <a:prstGeom prst="ellipse">
            <a:avLst/>
          </a:prstGeom>
          <a:solidFill>
            <a:srgbClr val="00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1" name="Google Shape;1021;p78"/>
          <p:cNvSpPr/>
          <p:nvPr/>
        </p:nvSpPr>
        <p:spPr>
          <a:xfrm>
            <a:off x="3527325" y="2472825"/>
            <a:ext cx="174000" cy="175200"/>
          </a:xfrm>
          <a:prstGeom prst="ellipse">
            <a:avLst/>
          </a:prstGeom>
          <a:solidFill>
            <a:srgbClr val="99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2" name="Google Shape;1022;p78"/>
          <p:cNvSpPr/>
          <p:nvPr/>
        </p:nvSpPr>
        <p:spPr>
          <a:xfrm>
            <a:off x="3832125" y="2571750"/>
            <a:ext cx="174000" cy="175200"/>
          </a:xfrm>
          <a:prstGeom prst="ellipse">
            <a:avLst/>
          </a:prstGeom>
          <a:solidFill>
            <a:srgbClr val="00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3" name="Google Shape;1023;p78"/>
          <p:cNvSpPr/>
          <p:nvPr/>
        </p:nvSpPr>
        <p:spPr>
          <a:xfrm>
            <a:off x="3984525" y="3234825"/>
            <a:ext cx="174000" cy="175200"/>
          </a:xfrm>
          <a:prstGeom prst="ellipse">
            <a:avLst/>
          </a:prstGeom>
          <a:solidFill>
            <a:srgbClr val="99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4" name="Google Shape;1024;p78"/>
          <p:cNvSpPr/>
          <p:nvPr/>
        </p:nvSpPr>
        <p:spPr>
          <a:xfrm>
            <a:off x="3832125" y="3463425"/>
            <a:ext cx="174000" cy="175200"/>
          </a:xfrm>
          <a:prstGeom prst="ellipse">
            <a:avLst/>
          </a:prstGeom>
          <a:solidFill>
            <a:srgbClr val="00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5" name="Google Shape;1025;p78"/>
          <p:cNvSpPr/>
          <p:nvPr/>
        </p:nvSpPr>
        <p:spPr>
          <a:xfrm>
            <a:off x="3527325" y="3920625"/>
            <a:ext cx="174000" cy="175200"/>
          </a:xfrm>
          <a:prstGeom prst="ellipse">
            <a:avLst/>
          </a:prstGeom>
          <a:solidFill>
            <a:srgbClr val="99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6" name="Google Shape;1026;p78"/>
          <p:cNvSpPr/>
          <p:nvPr/>
        </p:nvSpPr>
        <p:spPr>
          <a:xfrm>
            <a:off x="2710725" y="2244225"/>
            <a:ext cx="174000" cy="175200"/>
          </a:xfrm>
          <a:prstGeom prst="ellipse">
            <a:avLst/>
          </a:prstGeom>
          <a:solidFill>
            <a:srgbClr val="00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0" name="Shape 10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Google Shape;1031;p7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Inferring Biotic Filtering</a:t>
            </a:r>
            <a:endParaRPr/>
          </a:p>
        </p:txBody>
      </p:sp>
      <p:sp>
        <p:nvSpPr>
          <p:cNvPr id="1032" name="Google Shape;1032;p79"/>
          <p:cNvSpPr txBox="1"/>
          <p:nvPr>
            <p:ph idx="1" type="body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Correlative: Are assemblages more different that you’d expect by chance? </a:t>
            </a:r>
            <a:endParaRPr/>
          </a:p>
        </p:txBody>
      </p:sp>
      <p:pic>
        <p:nvPicPr>
          <p:cNvPr id="1033" name="Google Shape;1033;p7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406" y="1835271"/>
            <a:ext cx="1523740" cy="3093626"/>
          </a:xfrm>
          <a:prstGeom prst="rect">
            <a:avLst/>
          </a:prstGeom>
          <a:noFill/>
          <a:ln>
            <a:noFill/>
          </a:ln>
        </p:spPr>
      </p:pic>
      <p:sp>
        <p:nvSpPr>
          <p:cNvPr id="1034" name="Google Shape;1034;p79"/>
          <p:cNvSpPr/>
          <p:nvPr/>
        </p:nvSpPr>
        <p:spPr>
          <a:xfrm>
            <a:off x="2029265" y="1783400"/>
            <a:ext cx="148200" cy="160500"/>
          </a:xfrm>
          <a:prstGeom prst="ellipse">
            <a:avLst/>
          </a:prstGeom>
          <a:solidFill>
            <a:srgbClr val="99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5" name="Google Shape;1035;p79"/>
          <p:cNvSpPr/>
          <p:nvPr/>
        </p:nvSpPr>
        <p:spPr>
          <a:xfrm>
            <a:off x="2029265" y="2481427"/>
            <a:ext cx="148200" cy="160500"/>
          </a:xfrm>
          <a:prstGeom prst="ellipse">
            <a:avLst/>
          </a:prstGeom>
          <a:solidFill>
            <a:srgbClr val="99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6" name="Google Shape;1036;p79"/>
          <p:cNvSpPr/>
          <p:nvPr/>
        </p:nvSpPr>
        <p:spPr>
          <a:xfrm>
            <a:off x="2029265" y="3388863"/>
            <a:ext cx="148200" cy="160500"/>
          </a:xfrm>
          <a:prstGeom prst="ellipse">
            <a:avLst/>
          </a:prstGeom>
          <a:solidFill>
            <a:srgbClr val="99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7" name="Google Shape;1037;p79"/>
          <p:cNvSpPr/>
          <p:nvPr/>
        </p:nvSpPr>
        <p:spPr>
          <a:xfrm>
            <a:off x="2029265" y="3877482"/>
            <a:ext cx="148200" cy="160500"/>
          </a:xfrm>
          <a:prstGeom prst="ellipse">
            <a:avLst/>
          </a:prstGeom>
          <a:solidFill>
            <a:srgbClr val="00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8" name="Google Shape;1038;p79"/>
          <p:cNvSpPr/>
          <p:nvPr/>
        </p:nvSpPr>
        <p:spPr>
          <a:xfrm>
            <a:off x="2029265" y="4784918"/>
            <a:ext cx="148200" cy="160500"/>
          </a:xfrm>
          <a:prstGeom prst="ellipse">
            <a:avLst/>
          </a:prstGeom>
          <a:solidFill>
            <a:srgbClr val="00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9" name="Google Shape;1039;p79"/>
          <p:cNvSpPr/>
          <p:nvPr/>
        </p:nvSpPr>
        <p:spPr>
          <a:xfrm>
            <a:off x="2029265" y="2132414"/>
            <a:ext cx="148200" cy="160500"/>
          </a:xfrm>
          <a:prstGeom prst="ellipse">
            <a:avLst/>
          </a:prstGeom>
          <a:solidFill>
            <a:srgbClr val="00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0" name="Google Shape;1040;p79"/>
          <p:cNvSpPr/>
          <p:nvPr/>
        </p:nvSpPr>
        <p:spPr>
          <a:xfrm>
            <a:off x="2029265" y="2970047"/>
            <a:ext cx="148200" cy="160500"/>
          </a:xfrm>
          <a:prstGeom prst="ellipse">
            <a:avLst/>
          </a:prstGeom>
          <a:solidFill>
            <a:srgbClr val="00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1" name="Google Shape;1041;p79"/>
          <p:cNvSpPr/>
          <p:nvPr/>
        </p:nvSpPr>
        <p:spPr>
          <a:xfrm>
            <a:off x="2029265" y="4226496"/>
            <a:ext cx="148200" cy="160500"/>
          </a:xfrm>
          <a:prstGeom prst="ellipse">
            <a:avLst/>
          </a:prstGeom>
          <a:solidFill>
            <a:srgbClr val="99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2" name="Google Shape;1042;p79"/>
          <p:cNvSpPr txBox="1"/>
          <p:nvPr/>
        </p:nvSpPr>
        <p:spPr>
          <a:xfrm>
            <a:off x="2697400" y="2837225"/>
            <a:ext cx="476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vs.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043" name="Google Shape;1043;p79"/>
          <p:cNvSpPr txBox="1"/>
          <p:nvPr/>
        </p:nvSpPr>
        <p:spPr>
          <a:xfrm>
            <a:off x="813875" y="1465625"/>
            <a:ext cx="1523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</a:rPr>
              <a:t>Observed</a:t>
            </a:r>
            <a:endParaRPr b="1" sz="1800">
              <a:solidFill>
                <a:schemeClr val="dk2"/>
              </a:solidFill>
            </a:endParaRPr>
          </a:p>
        </p:txBody>
      </p:sp>
      <p:sp>
        <p:nvSpPr>
          <p:cNvPr id="1044" name="Google Shape;1044;p79"/>
          <p:cNvSpPr txBox="1"/>
          <p:nvPr/>
        </p:nvSpPr>
        <p:spPr>
          <a:xfrm>
            <a:off x="6532125" y="1412400"/>
            <a:ext cx="1523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</a:rPr>
              <a:t>Null</a:t>
            </a:r>
            <a:endParaRPr b="1" sz="1800">
              <a:solidFill>
                <a:schemeClr val="dk2"/>
              </a:solidFill>
            </a:endParaRPr>
          </a:p>
        </p:txBody>
      </p:sp>
      <p:pic>
        <p:nvPicPr>
          <p:cNvPr id="1045" name="Google Shape;1045;p7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29206" y="1911471"/>
            <a:ext cx="1523740" cy="3093626"/>
          </a:xfrm>
          <a:prstGeom prst="rect">
            <a:avLst/>
          </a:prstGeom>
          <a:noFill/>
          <a:ln>
            <a:noFill/>
          </a:ln>
        </p:spPr>
      </p:pic>
      <p:sp>
        <p:nvSpPr>
          <p:cNvPr id="1046" name="Google Shape;1046;p79"/>
          <p:cNvSpPr/>
          <p:nvPr/>
        </p:nvSpPr>
        <p:spPr>
          <a:xfrm>
            <a:off x="5001065" y="1859600"/>
            <a:ext cx="148200" cy="160500"/>
          </a:xfrm>
          <a:prstGeom prst="ellipse">
            <a:avLst/>
          </a:prstGeom>
          <a:solidFill>
            <a:srgbClr val="99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7" name="Google Shape;1047;p79"/>
          <p:cNvSpPr/>
          <p:nvPr/>
        </p:nvSpPr>
        <p:spPr>
          <a:xfrm>
            <a:off x="5001065" y="2557627"/>
            <a:ext cx="148200" cy="160500"/>
          </a:xfrm>
          <a:prstGeom prst="ellipse">
            <a:avLst/>
          </a:prstGeom>
          <a:solidFill>
            <a:srgbClr val="99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8" name="Google Shape;1048;p79"/>
          <p:cNvSpPr/>
          <p:nvPr/>
        </p:nvSpPr>
        <p:spPr>
          <a:xfrm>
            <a:off x="5001065" y="3465063"/>
            <a:ext cx="148200" cy="160500"/>
          </a:xfrm>
          <a:prstGeom prst="ellipse">
            <a:avLst/>
          </a:prstGeom>
          <a:solidFill>
            <a:srgbClr val="99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9" name="Google Shape;1049;p79"/>
          <p:cNvSpPr/>
          <p:nvPr/>
        </p:nvSpPr>
        <p:spPr>
          <a:xfrm>
            <a:off x="5001065" y="3953682"/>
            <a:ext cx="148200" cy="160500"/>
          </a:xfrm>
          <a:prstGeom prst="ellipse">
            <a:avLst/>
          </a:prstGeom>
          <a:solidFill>
            <a:srgbClr val="00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0" name="Google Shape;1050;p79"/>
          <p:cNvSpPr/>
          <p:nvPr/>
        </p:nvSpPr>
        <p:spPr>
          <a:xfrm>
            <a:off x="5001065" y="4861118"/>
            <a:ext cx="148200" cy="160500"/>
          </a:xfrm>
          <a:prstGeom prst="ellipse">
            <a:avLst/>
          </a:prstGeom>
          <a:solidFill>
            <a:srgbClr val="00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1" name="Google Shape;1051;p79"/>
          <p:cNvSpPr/>
          <p:nvPr/>
        </p:nvSpPr>
        <p:spPr>
          <a:xfrm>
            <a:off x="5001065" y="2208614"/>
            <a:ext cx="148200" cy="160500"/>
          </a:xfrm>
          <a:prstGeom prst="ellipse">
            <a:avLst/>
          </a:prstGeom>
          <a:solidFill>
            <a:srgbClr val="99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2" name="Google Shape;1052;p79"/>
          <p:cNvSpPr/>
          <p:nvPr/>
        </p:nvSpPr>
        <p:spPr>
          <a:xfrm>
            <a:off x="5001065" y="3046247"/>
            <a:ext cx="148200" cy="160500"/>
          </a:xfrm>
          <a:prstGeom prst="ellipse">
            <a:avLst/>
          </a:prstGeom>
          <a:solidFill>
            <a:srgbClr val="00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3" name="Google Shape;1053;p79"/>
          <p:cNvSpPr/>
          <p:nvPr/>
        </p:nvSpPr>
        <p:spPr>
          <a:xfrm>
            <a:off x="5001065" y="4302696"/>
            <a:ext cx="148200" cy="160500"/>
          </a:xfrm>
          <a:prstGeom prst="ellipse">
            <a:avLst/>
          </a:prstGeom>
          <a:solidFill>
            <a:srgbClr val="00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54" name="Google Shape;1054;p7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10406" y="1911471"/>
            <a:ext cx="1523740" cy="3093626"/>
          </a:xfrm>
          <a:prstGeom prst="rect">
            <a:avLst/>
          </a:prstGeom>
          <a:noFill/>
          <a:ln>
            <a:noFill/>
          </a:ln>
        </p:spPr>
      </p:pic>
      <p:sp>
        <p:nvSpPr>
          <p:cNvPr id="1055" name="Google Shape;1055;p79"/>
          <p:cNvSpPr/>
          <p:nvPr/>
        </p:nvSpPr>
        <p:spPr>
          <a:xfrm>
            <a:off x="6982265" y="1859600"/>
            <a:ext cx="148200" cy="160500"/>
          </a:xfrm>
          <a:prstGeom prst="ellipse">
            <a:avLst/>
          </a:prstGeom>
          <a:solidFill>
            <a:srgbClr val="00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6" name="Google Shape;1056;p79"/>
          <p:cNvSpPr/>
          <p:nvPr/>
        </p:nvSpPr>
        <p:spPr>
          <a:xfrm>
            <a:off x="6982265" y="2557627"/>
            <a:ext cx="148200" cy="160500"/>
          </a:xfrm>
          <a:prstGeom prst="ellipse">
            <a:avLst/>
          </a:prstGeom>
          <a:solidFill>
            <a:srgbClr val="00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7" name="Google Shape;1057;p79"/>
          <p:cNvSpPr/>
          <p:nvPr/>
        </p:nvSpPr>
        <p:spPr>
          <a:xfrm>
            <a:off x="6982265" y="3465063"/>
            <a:ext cx="148200" cy="160500"/>
          </a:xfrm>
          <a:prstGeom prst="ellipse">
            <a:avLst/>
          </a:prstGeom>
          <a:solidFill>
            <a:srgbClr val="99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8" name="Google Shape;1058;p79"/>
          <p:cNvSpPr/>
          <p:nvPr/>
        </p:nvSpPr>
        <p:spPr>
          <a:xfrm>
            <a:off x="6982265" y="3953682"/>
            <a:ext cx="148200" cy="160500"/>
          </a:xfrm>
          <a:prstGeom prst="ellipse">
            <a:avLst/>
          </a:prstGeom>
          <a:solidFill>
            <a:srgbClr val="99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9" name="Google Shape;1059;p79"/>
          <p:cNvSpPr/>
          <p:nvPr/>
        </p:nvSpPr>
        <p:spPr>
          <a:xfrm>
            <a:off x="6982265" y="4861118"/>
            <a:ext cx="148200" cy="160500"/>
          </a:xfrm>
          <a:prstGeom prst="ellipse">
            <a:avLst/>
          </a:prstGeom>
          <a:solidFill>
            <a:srgbClr val="99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0" name="Google Shape;1060;p79"/>
          <p:cNvSpPr/>
          <p:nvPr/>
        </p:nvSpPr>
        <p:spPr>
          <a:xfrm>
            <a:off x="6982265" y="2208614"/>
            <a:ext cx="148200" cy="160500"/>
          </a:xfrm>
          <a:prstGeom prst="ellipse">
            <a:avLst/>
          </a:prstGeom>
          <a:solidFill>
            <a:srgbClr val="00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1" name="Google Shape;1061;p79"/>
          <p:cNvSpPr/>
          <p:nvPr/>
        </p:nvSpPr>
        <p:spPr>
          <a:xfrm>
            <a:off x="6982265" y="3046247"/>
            <a:ext cx="148200" cy="160500"/>
          </a:xfrm>
          <a:prstGeom prst="ellipse">
            <a:avLst/>
          </a:prstGeom>
          <a:solidFill>
            <a:srgbClr val="00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2" name="Google Shape;1062;p79"/>
          <p:cNvSpPr/>
          <p:nvPr/>
        </p:nvSpPr>
        <p:spPr>
          <a:xfrm>
            <a:off x="6982265" y="4302696"/>
            <a:ext cx="148200" cy="160500"/>
          </a:xfrm>
          <a:prstGeom prst="ellipse">
            <a:avLst/>
          </a:prstGeom>
          <a:solidFill>
            <a:srgbClr val="99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63" name="Google Shape;1063;p7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15406" y="1911471"/>
            <a:ext cx="1523740" cy="3093626"/>
          </a:xfrm>
          <a:prstGeom prst="rect">
            <a:avLst/>
          </a:prstGeom>
          <a:noFill/>
          <a:ln>
            <a:noFill/>
          </a:ln>
        </p:spPr>
      </p:pic>
      <p:sp>
        <p:nvSpPr>
          <p:cNvPr id="1064" name="Google Shape;1064;p79"/>
          <p:cNvSpPr/>
          <p:nvPr/>
        </p:nvSpPr>
        <p:spPr>
          <a:xfrm>
            <a:off x="8887265" y="1859600"/>
            <a:ext cx="148200" cy="160500"/>
          </a:xfrm>
          <a:prstGeom prst="ellipse">
            <a:avLst/>
          </a:prstGeom>
          <a:solidFill>
            <a:srgbClr val="99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5" name="Google Shape;1065;p79"/>
          <p:cNvSpPr/>
          <p:nvPr/>
        </p:nvSpPr>
        <p:spPr>
          <a:xfrm>
            <a:off x="8887265" y="2557627"/>
            <a:ext cx="148200" cy="160500"/>
          </a:xfrm>
          <a:prstGeom prst="ellipse">
            <a:avLst/>
          </a:prstGeom>
          <a:solidFill>
            <a:srgbClr val="99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6" name="Google Shape;1066;p79"/>
          <p:cNvSpPr/>
          <p:nvPr/>
        </p:nvSpPr>
        <p:spPr>
          <a:xfrm>
            <a:off x="8887265" y="3465063"/>
            <a:ext cx="148200" cy="160500"/>
          </a:xfrm>
          <a:prstGeom prst="ellipse">
            <a:avLst/>
          </a:prstGeom>
          <a:solidFill>
            <a:srgbClr val="99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7" name="Google Shape;1067;p79"/>
          <p:cNvSpPr/>
          <p:nvPr/>
        </p:nvSpPr>
        <p:spPr>
          <a:xfrm>
            <a:off x="8887265" y="3953682"/>
            <a:ext cx="148200" cy="160500"/>
          </a:xfrm>
          <a:prstGeom prst="ellipse">
            <a:avLst/>
          </a:prstGeom>
          <a:solidFill>
            <a:srgbClr val="99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8" name="Google Shape;1068;p79"/>
          <p:cNvSpPr/>
          <p:nvPr/>
        </p:nvSpPr>
        <p:spPr>
          <a:xfrm>
            <a:off x="8887265" y="4861118"/>
            <a:ext cx="148200" cy="160500"/>
          </a:xfrm>
          <a:prstGeom prst="ellipse">
            <a:avLst/>
          </a:prstGeom>
          <a:solidFill>
            <a:srgbClr val="00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9" name="Google Shape;1069;p79"/>
          <p:cNvSpPr/>
          <p:nvPr/>
        </p:nvSpPr>
        <p:spPr>
          <a:xfrm>
            <a:off x="8887265" y="2208614"/>
            <a:ext cx="148200" cy="160500"/>
          </a:xfrm>
          <a:prstGeom prst="ellipse">
            <a:avLst/>
          </a:prstGeom>
          <a:solidFill>
            <a:srgbClr val="00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0" name="Google Shape;1070;p79"/>
          <p:cNvSpPr/>
          <p:nvPr/>
        </p:nvSpPr>
        <p:spPr>
          <a:xfrm>
            <a:off x="8887265" y="3046247"/>
            <a:ext cx="148200" cy="160500"/>
          </a:xfrm>
          <a:prstGeom prst="ellipse">
            <a:avLst/>
          </a:prstGeom>
          <a:solidFill>
            <a:srgbClr val="00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1" name="Google Shape;1071;p79"/>
          <p:cNvSpPr/>
          <p:nvPr/>
        </p:nvSpPr>
        <p:spPr>
          <a:xfrm>
            <a:off x="8887265" y="4302696"/>
            <a:ext cx="148200" cy="160500"/>
          </a:xfrm>
          <a:prstGeom prst="ellipse">
            <a:avLst/>
          </a:prstGeom>
          <a:solidFill>
            <a:srgbClr val="00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5" name="Shape 10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6" name="Google Shape;1076;p8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Inferring Biotic Filtering</a:t>
            </a:r>
            <a:endParaRPr/>
          </a:p>
        </p:txBody>
      </p:sp>
      <p:sp>
        <p:nvSpPr>
          <p:cNvPr id="1077" name="Google Shape;1077;p80"/>
          <p:cNvSpPr txBox="1"/>
          <p:nvPr>
            <p:ph idx="1" type="body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Experimental</a:t>
            </a:r>
            <a:r>
              <a:rPr lang="en"/>
              <a:t>: Add/remove species and see what happens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Can a </a:t>
            </a:r>
            <a:r>
              <a:rPr lang="en"/>
              <a:t>species</a:t>
            </a:r>
            <a:r>
              <a:rPr lang="en"/>
              <a:t> survive in the absence of a competitor?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Can it survive in the presence on a competitor?</a:t>
            </a:r>
            <a:endParaRPr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1" name="Shape 10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2" name="Google Shape;1082;p8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Community assembly</a:t>
            </a:r>
            <a:endParaRPr/>
          </a:p>
        </p:txBody>
      </p:sp>
      <p:sp>
        <p:nvSpPr>
          <p:cNvPr id="1083" name="Google Shape;1083;p8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Community assembly focuses on a few key concepts: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AutoNum type="arabicParenR"/>
            </a:pPr>
            <a:r>
              <a:rPr lang="en"/>
              <a:t>Regional species pool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"/>
              <a:t>Dispersal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"/>
              <a:t>Environmental filtering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"/>
              <a:t>Biotic filtering</a:t>
            </a:r>
            <a:endParaRPr/>
          </a:p>
        </p:txBody>
      </p:sp>
      <p:sp>
        <p:nvSpPr>
          <p:cNvPr id="1084" name="Google Shape;1084;p81"/>
          <p:cNvSpPr/>
          <p:nvPr/>
        </p:nvSpPr>
        <p:spPr>
          <a:xfrm>
            <a:off x="217125" y="2628900"/>
            <a:ext cx="3226200" cy="3072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8" name="Shape 10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9" name="Google Shape;1089;p8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Community assembly</a:t>
            </a:r>
            <a:endParaRPr/>
          </a:p>
        </p:txBody>
      </p:sp>
      <p:sp>
        <p:nvSpPr>
          <p:cNvPr id="1090" name="Google Shape;1090;p8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Community assembly focuses on a few key concepts: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AutoNum type="arabicParenR"/>
            </a:pPr>
            <a:r>
              <a:rPr lang="en"/>
              <a:t>Regional species pool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"/>
              <a:t>Dispersal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"/>
              <a:t>Environmental filtering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"/>
              <a:t>Biotic filtering</a:t>
            </a:r>
            <a:endParaRPr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4" name="Shape 10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" name="Google Shape;1095;p83"/>
          <p:cNvSpPr txBox="1"/>
          <p:nvPr>
            <p:ph type="title"/>
          </p:nvPr>
        </p:nvSpPr>
        <p:spPr>
          <a:xfrm>
            <a:off x="311700" y="3688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Big Caveat: These aren’t actually independent!</a:t>
            </a:r>
            <a:endParaRPr/>
          </a:p>
        </p:txBody>
      </p:sp>
      <p:sp>
        <p:nvSpPr>
          <p:cNvPr id="1096" name="Google Shape;1096;p83"/>
          <p:cNvSpPr/>
          <p:nvPr/>
        </p:nvSpPr>
        <p:spPr>
          <a:xfrm>
            <a:off x="329025" y="1411250"/>
            <a:ext cx="1476600" cy="32208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7" name="Google Shape;1097;p83"/>
          <p:cNvSpPr/>
          <p:nvPr/>
        </p:nvSpPr>
        <p:spPr>
          <a:xfrm>
            <a:off x="3054325" y="1514100"/>
            <a:ext cx="1476600" cy="9279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8" name="Google Shape;1098;p83"/>
          <p:cNvSpPr txBox="1"/>
          <p:nvPr/>
        </p:nvSpPr>
        <p:spPr>
          <a:xfrm>
            <a:off x="329025" y="1017725"/>
            <a:ext cx="14766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</a:rPr>
              <a:t>Species pool</a:t>
            </a:r>
            <a:endParaRPr sz="1700"/>
          </a:p>
        </p:txBody>
      </p:sp>
      <p:sp>
        <p:nvSpPr>
          <p:cNvPr id="1099" name="Google Shape;1099;p83"/>
          <p:cNvSpPr txBox="1"/>
          <p:nvPr/>
        </p:nvSpPr>
        <p:spPr>
          <a:xfrm>
            <a:off x="1691675" y="1005000"/>
            <a:ext cx="14766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</a:rPr>
              <a:t>Dispersal</a:t>
            </a:r>
            <a:endParaRPr sz="1700"/>
          </a:p>
        </p:txBody>
      </p:sp>
      <p:sp>
        <p:nvSpPr>
          <p:cNvPr id="1100" name="Google Shape;1100;p83"/>
          <p:cNvSpPr/>
          <p:nvPr/>
        </p:nvSpPr>
        <p:spPr>
          <a:xfrm>
            <a:off x="3054325" y="2504700"/>
            <a:ext cx="1476600" cy="9279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1" name="Google Shape;1101;p83"/>
          <p:cNvSpPr/>
          <p:nvPr/>
        </p:nvSpPr>
        <p:spPr>
          <a:xfrm>
            <a:off x="3054325" y="3495300"/>
            <a:ext cx="1476600" cy="9279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2" name="Google Shape;1102;p83"/>
          <p:cNvSpPr txBox="1"/>
          <p:nvPr/>
        </p:nvSpPr>
        <p:spPr>
          <a:xfrm>
            <a:off x="2987075" y="1005000"/>
            <a:ext cx="14766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</a:rPr>
              <a:t>Communities</a:t>
            </a:r>
            <a:endParaRPr sz="1700"/>
          </a:p>
        </p:txBody>
      </p:sp>
      <p:sp>
        <p:nvSpPr>
          <p:cNvPr id="1103" name="Google Shape;1103;p83"/>
          <p:cNvSpPr txBox="1"/>
          <p:nvPr/>
        </p:nvSpPr>
        <p:spPr>
          <a:xfrm>
            <a:off x="4633250" y="776400"/>
            <a:ext cx="9216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</a:rPr>
              <a:t>Abiotic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</a:rPr>
              <a:t>Filter</a:t>
            </a:r>
            <a:endParaRPr sz="1700"/>
          </a:p>
        </p:txBody>
      </p:sp>
      <p:sp>
        <p:nvSpPr>
          <p:cNvPr id="1104" name="Google Shape;1104;p83"/>
          <p:cNvSpPr txBox="1"/>
          <p:nvPr/>
        </p:nvSpPr>
        <p:spPr>
          <a:xfrm>
            <a:off x="5402725" y="776400"/>
            <a:ext cx="9216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</a:rPr>
              <a:t>Biotic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</a:rPr>
              <a:t>Filter</a:t>
            </a:r>
            <a:endParaRPr sz="1700"/>
          </a:p>
        </p:txBody>
      </p:sp>
      <p:sp>
        <p:nvSpPr>
          <p:cNvPr id="1105" name="Google Shape;1105;p83"/>
          <p:cNvSpPr/>
          <p:nvPr/>
        </p:nvSpPr>
        <p:spPr>
          <a:xfrm>
            <a:off x="6254725" y="1514100"/>
            <a:ext cx="1476600" cy="9279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6" name="Google Shape;1106;p83"/>
          <p:cNvSpPr/>
          <p:nvPr/>
        </p:nvSpPr>
        <p:spPr>
          <a:xfrm>
            <a:off x="6254725" y="2504700"/>
            <a:ext cx="1476600" cy="9279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7" name="Google Shape;1107;p83"/>
          <p:cNvSpPr/>
          <p:nvPr/>
        </p:nvSpPr>
        <p:spPr>
          <a:xfrm>
            <a:off x="6254725" y="3495300"/>
            <a:ext cx="1476600" cy="9279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8" name="Google Shape;1108;p83"/>
          <p:cNvSpPr txBox="1"/>
          <p:nvPr/>
        </p:nvSpPr>
        <p:spPr>
          <a:xfrm>
            <a:off x="6254725" y="852600"/>
            <a:ext cx="14766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</a:rPr>
              <a:t>Communities</a:t>
            </a:r>
            <a:endParaRPr sz="1700"/>
          </a:p>
        </p:txBody>
      </p:sp>
      <p:sp>
        <p:nvSpPr>
          <p:cNvPr id="1109" name="Google Shape;1109;p83"/>
          <p:cNvSpPr/>
          <p:nvPr/>
        </p:nvSpPr>
        <p:spPr>
          <a:xfrm>
            <a:off x="7831200" y="1514100"/>
            <a:ext cx="535200" cy="2909100"/>
          </a:xfrm>
          <a:prstGeom prst="rightBrace">
            <a:avLst>
              <a:gd fmla="val 50000" name="adj1"/>
              <a:gd fmla="val 48928" name="adj2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0" name="Google Shape;1110;p83"/>
          <p:cNvSpPr txBox="1"/>
          <p:nvPr/>
        </p:nvSpPr>
        <p:spPr>
          <a:xfrm rot="5400000">
            <a:off x="7550125" y="2681400"/>
            <a:ext cx="20550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</a:rPr>
              <a:t>Metacommunity</a:t>
            </a:r>
            <a:endParaRPr sz="1700"/>
          </a:p>
        </p:txBody>
      </p:sp>
      <p:sp>
        <p:nvSpPr>
          <p:cNvPr id="1111" name="Google Shape;1111;p83"/>
          <p:cNvSpPr/>
          <p:nvPr/>
        </p:nvSpPr>
        <p:spPr>
          <a:xfrm>
            <a:off x="1102025" y="4473550"/>
            <a:ext cx="6848296" cy="605950"/>
          </a:xfrm>
          <a:custGeom>
            <a:rect b="b" l="l" r="r" t="t"/>
            <a:pathLst>
              <a:path extrusionOk="0" h="24238" w="237850">
                <a:moveTo>
                  <a:pt x="237850" y="0"/>
                </a:moveTo>
                <a:cubicBezTo>
                  <a:pt x="233423" y="3634"/>
                  <a:pt x="246373" y="18103"/>
                  <a:pt x="211290" y="21803"/>
                </a:cubicBezTo>
                <a:cubicBezTo>
                  <a:pt x="176207" y="25503"/>
                  <a:pt x="62568" y="24446"/>
                  <a:pt x="27353" y="22200"/>
                </a:cubicBezTo>
                <a:cubicBezTo>
                  <a:pt x="-7862" y="19954"/>
                  <a:pt x="4559" y="10638"/>
                  <a:pt x="0" y="8325"/>
                </a:cubicBezTo>
              </a:path>
            </a:pathLst>
          </a:cu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sp>
      <p:sp>
        <p:nvSpPr>
          <p:cNvPr id="1112" name="Google Shape;1112;p83"/>
          <p:cNvSpPr txBox="1"/>
          <p:nvPr/>
        </p:nvSpPr>
        <p:spPr>
          <a:xfrm>
            <a:off x="2736625" y="4632050"/>
            <a:ext cx="3518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Speciation, Extinction, Dispersal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1113" name="Google Shape;1113;p83"/>
          <p:cNvCxnSpPr>
            <a:stCxn id="1103" idx="2"/>
          </p:cNvCxnSpPr>
          <p:nvPr/>
        </p:nvCxnSpPr>
        <p:spPr>
          <a:xfrm>
            <a:off x="5094050" y="1484400"/>
            <a:ext cx="1800" cy="29991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114" name="Google Shape;1114;p83"/>
          <p:cNvCxnSpPr/>
          <p:nvPr/>
        </p:nvCxnSpPr>
        <p:spPr>
          <a:xfrm>
            <a:off x="5856050" y="1484400"/>
            <a:ext cx="1800" cy="29991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lgDash"/>
            <a:round/>
            <a:headEnd len="med" w="med" type="none"/>
            <a:tailEnd len="med" w="med" type="none"/>
          </a:ln>
        </p:spPr>
      </p:cxnSp>
      <p:sp>
        <p:nvSpPr>
          <p:cNvPr id="1115" name="Google Shape;1115;p83"/>
          <p:cNvSpPr/>
          <p:nvPr/>
        </p:nvSpPr>
        <p:spPr>
          <a:xfrm>
            <a:off x="606525" y="1718475"/>
            <a:ext cx="297300" cy="297300"/>
          </a:xfrm>
          <a:prstGeom prst="rect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6" name="Google Shape;1116;p83"/>
          <p:cNvSpPr/>
          <p:nvPr/>
        </p:nvSpPr>
        <p:spPr>
          <a:xfrm>
            <a:off x="1292325" y="2175675"/>
            <a:ext cx="297300" cy="297300"/>
          </a:xfrm>
          <a:prstGeom prst="rect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7" name="Google Shape;1117;p83"/>
          <p:cNvSpPr/>
          <p:nvPr/>
        </p:nvSpPr>
        <p:spPr>
          <a:xfrm>
            <a:off x="691975" y="2749150"/>
            <a:ext cx="386400" cy="297300"/>
          </a:xfrm>
          <a:prstGeom prst="triangle">
            <a:avLst>
              <a:gd fmla="val 50000" name="adj"/>
            </a:avLst>
          </a:prstGeom>
          <a:solidFill>
            <a:srgbClr val="00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8" name="Google Shape;1118;p83"/>
          <p:cNvSpPr/>
          <p:nvPr/>
        </p:nvSpPr>
        <p:spPr>
          <a:xfrm>
            <a:off x="1307725" y="2909475"/>
            <a:ext cx="297300" cy="247800"/>
          </a:xfrm>
          <a:prstGeom prst="trapezoid">
            <a:avLst>
              <a:gd fmla="val 25000" name="adj"/>
            </a:avLst>
          </a:prstGeom>
          <a:solidFill>
            <a:srgbClr val="9FC5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9" name="Google Shape;1119;p83"/>
          <p:cNvSpPr/>
          <p:nvPr/>
        </p:nvSpPr>
        <p:spPr>
          <a:xfrm>
            <a:off x="725450" y="3621250"/>
            <a:ext cx="297300" cy="297300"/>
          </a:xfrm>
          <a:prstGeom prst="ellipse">
            <a:avLst/>
          </a:prstGeom>
          <a:solidFill>
            <a:srgbClr val="93C47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0" name="Google Shape;1120;p83"/>
          <p:cNvSpPr/>
          <p:nvPr/>
        </p:nvSpPr>
        <p:spPr>
          <a:xfrm>
            <a:off x="4139525" y="2042250"/>
            <a:ext cx="297300" cy="297300"/>
          </a:xfrm>
          <a:prstGeom prst="rect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1" name="Google Shape;1121;p83"/>
          <p:cNvSpPr/>
          <p:nvPr/>
        </p:nvSpPr>
        <p:spPr>
          <a:xfrm>
            <a:off x="3881525" y="2612175"/>
            <a:ext cx="297300" cy="297300"/>
          </a:xfrm>
          <a:prstGeom prst="rect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2" name="Google Shape;1122;p83"/>
          <p:cNvSpPr/>
          <p:nvPr/>
        </p:nvSpPr>
        <p:spPr>
          <a:xfrm>
            <a:off x="3836975" y="3026675"/>
            <a:ext cx="386400" cy="297300"/>
          </a:xfrm>
          <a:prstGeom prst="triangle">
            <a:avLst>
              <a:gd fmla="val 50000" name="adj"/>
            </a:avLst>
          </a:prstGeom>
          <a:solidFill>
            <a:srgbClr val="00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3" name="Google Shape;1123;p83"/>
          <p:cNvSpPr/>
          <p:nvPr/>
        </p:nvSpPr>
        <p:spPr>
          <a:xfrm>
            <a:off x="3968575" y="3542863"/>
            <a:ext cx="297300" cy="297300"/>
          </a:xfrm>
          <a:prstGeom prst="ellipse">
            <a:avLst/>
          </a:prstGeom>
          <a:solidFill>
            <a:srgbClr val="93C47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4" name="Google Shape;1124;p83"/>
          <p:cNvSpPr/>
          <p:nvPr/>
        </p:nvSpPr>
        <p:spPr>
          <a:xfrm>
            <a:off x="3968575" y="1579800"/>
            <a:ext cx="297300" cy="297300"/>
          </a:xfrm>
          <a:prstGeom prst="ellipse">
            <a:avLst/>
          </a:prstGeom>
          <a:solidFill>
            <a:srgbClr val="93C47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5" name="Google Shape;1125;p83"/>
          <p:cNvSpPr/>
          <p:nvPr/>
        </p:nvSpPr>
        <p:spPr>
          <a:xfrm>
            <a:off x="665975" y="2220150"/>
            <a:ext cx="386400" cy="247800"/>
          </a:xfrm>
          <a:prstGeom prst="parallelogram">
            <a:avLst>
              <a:gd fmla="val 25000" name="adj"/>
            </a:avLst>
          </a:prstGeom>
          <a:solidFill>
            <a:srgbClr val="FF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6" name="Google Shape;1126;p83"/>
          <p:cNvSpPr/>
          <p:nvPr/>
        </p:nvSpPr>
        <p:spPr>
          <a:xfrm>
            <a:off x="1182650" y="3773650"/>
            <a:ext cx="297300" cy="297300"/>
          </a:xfrm>
          <a:prstGeom prst="ellipse">
            <a:avLst/>
          </a:prstGeom>
          <a:solidFill>
            <a:srgbClr val="D5A6B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7" name="Google Shape;1127;p83"/>
          <p:cNvSpPr/>
          <p:nvPr/>
        </p:nvSpPr>
        <p:spPr>
          <a:xfrm>
            <a:off x="3163850" y="3011650"/>
            <a:ext cx="297300" cy="297300"/>
          </a:xfrm>
          <a:prstGeom prst="ellipse">
            <a:avLst/>
          </a:prstGeom>
          <a:solidFill>
            <a:srgbClr val="D5A6B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8" name="Google Shape;1128;p83"/>
          <p:cNvSpPr/>
          <p:nvPr/>
        </p:nvSpPr>
        <p:spPr>
          <a:xfrm>
            <a:off x="844375" y="3130150"/>
            <a:ext cx="386400" cy="297300"/>
          </a:xfrm>
          <a:prstGeom prst="triangle">
            <a:avLst>
              <a:gd fmla="val 50000" name="adj"/>
            </a:avLst>
          </a:prstGeom>
          <a:solidFill>
            <a:srgbClr val="38761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9" name="Google Shape;1129;p83"/>
          <p:cNvSpPr/>
          <p:nvPr/>
        </p:nvSpPr>
        <p:spPr>
          <a:xfrm>
            <a:off x="4094975" y="4048950"/>
            <a:ext cx="386400" cy="247800"/>
          </a:xfrm>
          <a:prstGeom prst="parallelogram">
            <a:avLst>
              <a:gd fmla="val 25000" name="adj"/>
            </a:avLst>
          </a:prstGeom>
          <a:solidFill>
            <a:srgbClr val="FF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0" name="Google Shape;1130;p83"/>
          <p:cNvSpPr/>
          <p:nvPr/>
        </p:nvSpPr>
        <p:spPr>
          <a:xfrm>
            <a:off x="7310525" y="2688375"/>
            <a:ext cx="297300" cy="297300"/>
          </a:xfrm>
          <a:prstGeom prst="rect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1" name="Google Shape;1131;p83"/>
          <p:cNvSpPr/>
          <p:nvPr/>
        </p:nvSpPr>
        <p:spPr>
          <a:xfrm>
            <a:off x="6580175" y="3026675"/>
            <a:ext cx="386400" cy="297300"/>
          </a:xfrm>
          <a:prstGeom prst="triangle">
            <a:avLst>
              <a:gd fmla="val 50000" name="adj"/>
            </a:avLst>
          </a:prstGeom>
          <a:solidFill>
            <a:srgbClr val="00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2" name="Google Shape;1132;p83"/>
          <p:cNvSpPr/>
          <p:nvPr/>
        </p:nvSpPr>
        <p:spPr>
          <a:xfrm>
            <a:off x="7321375" y="2042250"/>
            <a:ext cx="297300" cy="297300"/>
          </a:xfrm>
          <a:prstGeom prst="rect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3" name="Google Shape;1133;p83"/>
          <p:cNvSpPr/>
          <p:nvPr/>
        </p:nvSpPr>
        <p:spPr>
          <a:xfrm>
            <a:off x="3282775" y="3663550"/>
            <a:ext cx="386400" cy="297300"/>
          </a:xfrm>
          <a:prstGeom prst="triangle">
            <a:avLst>
              <a:gd fmla="val 50000" name="adj"/>
            </a:avLst>
          </a:prstGeom>
          <a:solidFill>
            <a:srgbClr val="38761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4" name="Google Shape;1134;p83"/>
          <p:cNvSpPr/>
          <p:nvPr/>
        </p:nvSpPr>
        <p:spPr>
          <a:xfrm>
            <a:off x="3358975" y="2063350"/>
            <a:ext cx="386400" cy="297300"/>
          </a:xfrm>
          <a:prstGeom prst="triangle">
            <a:avLst>
              <a:gd fmla="val 50000" name="adj"/>
            </a:avLst>
          </a:prstGeom>
          <a:solidFill>
            <a:srgbClr val="38761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5" name="Google Shape;1135;p83"/>
          <p:cNvSpPr/>
          <p:nvPr/>
        </p:nvSpPr>
        <p:spPr>
          <a:xfrm>
            <a:off x="3349725" y="4080675"/>
            <a:ext cx="297300" cy="297300"/>
          </a:xfrm>
          <a:prstGeom prst="rect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6" name="Google Shape;1136;p83"/>
          <p:cNvSpPr/>
          <p:nvPr/>
        </p:nvSpPr>
        <p:spPr>
          <a:xfrm>
            <a:off x="3365125" y="1614075"/>
            <a:ext cx="297300" cy="247800"/>
          </a:xfrm>
          <a:prstGeom prst="trapezoid">
            <a:avLst>
              <a:gd fmla="val 25000" name="adj"/>
            </a:avLst>
          </a:prstGeom>
          <a:solidFill>
            <a:srgbClr val="9FC5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7" name="Google Shape;1137;p83"/>
          <p:cNvSpPr/>
          <p:nvPr/>
        </p:nvSpPr>
        <p:spPr>
          <a:xfrm>
            <a:off x="3637775" y="1915350"/>
            <a:ext cx="386400" cy="247800"/>
          </a:xfrm>
          <a:prstGeom prst="parallelogram">
            <a:avLst>
              <a:gd fmla="val 25000" name="adj"/>
            </a:avLst>
          </a:prstGeom>
          <a:solidFill>
            <a:srgbClr val="FF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8" name="Google Shape;1138;p83"/>
          <p:cNvSpPr/>
          <p:nvPr/>
        </p:nvSpPr>
        <p:spPr>
          <a:xfrm>
            <a:off x="7251325" y="1690275"/>
            <a:ext cx="297300" cy="247800"/>
          </a:xfrm>
          <a:prstGeom prst="trapezoid">
            <a:avLst>
              <a:gd fmla="val 25000" name="adj"/>
            </a:avLst>
          </a:prstGeom>
          <a:solidFill>
            <a:srgbClr val="9FC5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9" name="Google Shape;1139;p83"/>
          <p:cNvSpPr/>
          <p:nvPr/>
        </p:nvSpPr>
        <p:spPr>
          <a:xfrm>
            <a:off x="6483175" y="1910950"/>
            <a:ext cx="386400" cy="297300"/>
          </a:xfrm>
          <a:prstGeom prst="triangle">
            <a:avLst>
              <a:gd fmla="val 50000" name="adj"/>
            </a:avLst>
          </a:prstGeom>
          <a:solidFill>
            <a:srgbClr val="38761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0" name="Google Shape;1140;p83"/>
          <p:cNvSpPr/>
          <p:nvPr/>
        </p:nvSpPr>
        <p:spPr>
          <a:xfrm>
            <a:off x="6940375" y="3587350"/>
            <a:ext cx="386400" cy="297300"/>
          </a:xfrm>
          <a:prstGeom prst="triangle">
            <a:avLst>
              <a:gd fmla="val 50000" name="adj"/>
            </a:avLst>
          </a:prstGeom>
          <a:solidFill>
            <a:srgbClr val="38761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1" name="Google Shape;1141;p83"/>
          <p:cNvSpPr/>
          <p:nvPr/>
        </p:nvSpPr>
        <p:spPr>
          <a:xfrm>
            <a:off x="7007325" y="4004475"/>
            <a:ext cx="297300" cy="297300"/>
          </a:xfrm>
          <a:prstGeom prst="rect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42" name="Google Shape;1142;p83"/>
          <p:cNvCxnSpPr>
            <a:stCxn id="1096" idx="3"/>
            <a:endCxn id="1097" idx="1"/>
          </p:cNvCxnSpPr>
          <p:nvPr/>
        </p:nvCxnSpPr>
        <p:spPr>
          <a:xfrm flipH="1" rot="10800000">
            <a:off x="1805625" y="1977950"/>
            <a:ext cx="1248600" cy="10437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43" name="Google Shape;1143;p83"/>
          <p:cNvCxnSpPr>
            <a:stCxn id="1096" idx="3"/>
            <a:endCxn id="1100" idx="1"/>
          </p:cNvCxnSpPr>
          <p:nvPr/>
        </p:nvCxnSpPr>
        <p:spPr>
          <a:xfrm flipH="1" rot="10800000">
            <a:off x="1805625" y="2968550"/>
            <a:ext cx="1248600" cy="531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44" name="Google Shape;1144;p83"/>
          <p:cNvCxnSpPr>
            <a:stCxn id="1096" idx="3"/>
            <a:endCxn id="1101" idx="1"/>
          </p:cNvCxnSpPr>
          <p:nvPr/>
        </p:nvCxnSpPr>
        <p:spPr>
          <a:xfrm>
            <a:off x="1805625" y="3021650"/>
            <a:ext cx="1248600" cy="9375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45" name="Google Shape;1145;p83"/>
          <p:cNvSpPr/>
          <p:nvPr/>
        </p:nvSpPr>
        <p:spPr>
          <a:xfrm>
            <a:off x="452175" y="1984125"/>
            <a:ext cx="778500" cy="708000"/>
          </a:xfrm>
          <a:prstGeom prst="mathMultiply">
            <a:avLst>
              <a:gd fmla="val 5678" name="adj1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6" name="Google Shape;1146;p83"/>
          <p:cNvSpPr/>
          <p:nvPr/>
        </p:nvSpPr>
        <p:spPr>
          <a:xfrm>
            <a:off x="985575" y="3584325"/>
            <a:ext cx="778500" cy="708000"/>
          </a:xfrm>
          <a:prstGeom prst="mathMultiply">
            <a:avLst>
              <a:gd fmla="val 5678" name="adj1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7" name="Google Shape;1147;p83"/>
          <p:cNvSpPr/>
          <p:nvPr/>
        </p:nvSpPr>
        <p:spPr>
          <a:xfrm>
            <a:off x="528375" y="3431925"/>
            <a:ext cx="778500" cy="708000"/>
          </a:xfrm>
          <a:prstGeom prst="mathMultiply">
            <a:avLst>
              <a:gd fmla="val 5678" name="adj1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8" name="Google Shape;1148;p83"/>
          <p:cNvSpPr/>
          <p:nvPr/>
        </p:nvSpPr>
        <p:spPr>
          <a:xfrm>
            <a:off x="375975" y="1526925"/>
            <a:ext cx="778500" cy="708000"/>
          </a:xfrm>
          <a:prstGeom prst="mathMultiply">
            <a:avLst>
              <a:gd fmla="val 5678" name="adj1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2" name="Shape 1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3" name="Google Shape;1153;p8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Lots of work to be done</a:t>
            </a:r>
            <a:endParaRPr/>
          </a:p>
        </p:txBody>
      </p:sp>
      <p:sp>
        <p:nvSpPr>
          <p:cNvPr id="1154" name="Google Shape;1154;p8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Most studies infer these processes based on pattern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More experimental work needed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More work integrating with theory</a:t>
            </a:r>
            <a:endParaRPr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8" name="Shape 1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9" name="Google Shape;1159;p8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Next class: Community assembly examples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