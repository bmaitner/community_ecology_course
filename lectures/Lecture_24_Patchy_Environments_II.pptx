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21cc0de1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21cc0de1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21cc0de1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21cc0de1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Colonization rate ~ birth rate, m ~ death rate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21cc0de1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21cc0de1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this means that if you destroy patches equivalent to the equilibrium proportion occupied, extinction will occur.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21cc0de19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21cc0de19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2412130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2412130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2412130b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2412130b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2412130b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2412130b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2412130b3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2412130b3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2412130b3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2412130b3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2412130b3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2412130b3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2412130b3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2412130b3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2412130b3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2412130b3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2412130b3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2412130b3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52412130b3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52412130b3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2412130b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52412130b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52412130b3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52412130b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52412130b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52412130b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2412130b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2412130b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52412130b3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52412130b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52412130b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52412130b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2412130b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52412130b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52412130b3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52412130b3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2412130b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52412130b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52412130b3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52412130b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52412130b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52412130b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52412130b3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52412130b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52412130b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52412130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52412130b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52412130b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-more spatio-temporal than competition-colonization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52412130b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52412130b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52412130b3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52412130b3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52412130b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52412130b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52412130b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52412130b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52412130b3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52412130b3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52412130b3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52412130b3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could also get competition via a tolerance-competitive ability trade-off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52412130b3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52412130b3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52412130b3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52412130b3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52412130b3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52412130b3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Patchy Environments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Patchy Environments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Patchy Environments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Patches</a:t>
            </a:r>
            <a:r>
              <a:rPr lang="en"/>
              <a:t>: suitable habitat, surrounded by unsuitable habitat.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Metapopulation:</a:t>
            </a:r>
            <a:r>
              <a:rPr lang="en"/>
              <a:t> collection of connected populations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Multiple patches connected by dispersal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377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 = per-patch colonization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Proportion occupied patches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</a:t>
            </a:r>
            <a:r>
              <a:rPr lang="en"/>
              <a:t> = per-patch extinction rate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5155400" y="1381500"/>
            <a:ext cx="382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dP</a:t>
            </a:r>
            <a:r>
              <a:rPr lang="en" sz="2700">
                <a:solidFill>
                  <a:schemeClr val="dk2"/>
                </a:solidFill>
              </a:rPr>
              <a:t>/</a:t>
            </a:r>
            <a:r>
              <a:rPr i="1" lang="en" sz="2700">
                <a:solidFill>
                  <a:schemeClr val="dk2"/>
                </a:solidFill>
              </a:rPr>
              <a:t>dt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r>
              <a:rPr lang="en" sz="2700">
                <a:solidFill>
                  <a:schemeClr val="dk2"/>
                </a:solidFill>
              </a:rPr>
              <a:t> </a:t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Levins Metapopulation Model and habitat loss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93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 = per-patch colonization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 = Proportion occupied patches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 = per-patch extinction 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980000"/>
                </a:solidFill>
              </a:rPr>
              <a:t>D = Proportion of patches destroyed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729250" y="1381500"/>
            <a:ext cx="4251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dP</a:t>
            </a:r>
            <a:r>
              <a:rPr lang="en" sz="2700">
                <a:solidFill>
                  <a:schemeClr val="dk2"/>
                </a:solidFill>
              </a:rPr>
              <a:t>/</a:t>
            </a:r>
            <a:r>
              <a:rPr i="1" lang="en" sz="2700">
                <a:solidFill>
                  <a:schemeClr val="dk2"/>
                </a:solidFill>
              </a:rPr>
              <a:t>dt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</a:t>
            </a:r>
            <a:r>
              <a:rPr lang="en" sz="2700">
                <a:solidFill>
                  <a:srgbClr val="980000"/>
                </a:solidFill>
              </a:rPr>
              <a:t>- D</a:t>
            </a:r>
            <a:r>
              <a:rPr lang="en" sz="2700">
                <a:solidFill>
                  <a:schemeClr val="dk2"/>
                </a:solidFill>
              </a:rPr>
              <a:t>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at   </a:t>
            </a:r>
            <a:r>
              <a:rPr i="1" lang="en" sz="2700">
                <a:solidFill>
                  <a:schemeClr val="dk2"/>
                </a:solidFill>
              </a:rPr>
              <a:t>D </a:t>
            </a:r>
            <a:r>
              <a:rPr lang="en" sz="2700">
                <a:solidFill>
                  <a:schemeClr val="dk2"/>
                </a:solidFill>
              </a:rPr>
              <a:t>= 1 - </a:t>
            </a:r>
            <a:r>
              <a:rPr i="1" lang="en" sz="2700">
                <a:solidFill>
                  <a:schemeClr val="dk2"/>
                </a:solidFill>
              </a:rPr>
              <a:t>m/c </a:t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</a:rPr>
              <a:t>Extinction occurs</a:t>
            </a:r>
            <a:endParaRPr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metapopulation structure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00" y="1509350"/>
            <a:ext cx="6069275" cy="299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 rotWithShape="1">
          <a:blip r:embed="rId4">
            <a:alphaModFix/>
          </a:blip>
          <a:srcRect b="60086" l="31879" r="31128" t="22106"/>
          <a:stretch/>
        </p:blipFill>
        <p:spPr>
          <a:xfrm>
            <a:off x="5583125" y="0"/>
            <a:ext cx="3560875" cy="9641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</a:t>
            </a:r>
            <a:r>
              <a:rPr lang="en"/>
              <a:t>competing</a:t>
            </a:r>
            <a:r>
              <a:rPr lang="en"/>
              <a:t> species to </a:t>
            </a:r>
            <a:r>
              <a:rPr lang="en"/>
              <a:t>coexist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baseline="-25000" lang="en"/>
              <a:t>ii</a:t>
            </a:r>
            <a:r>
              <a:rPr lang="en"/>
              <a:t> &gt; a</a:t>
            </a:r>
            <a:r>
              <a:rPr baseline="-25000" lang="en"/>
              <a:t>ji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trade-offs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grpSp>
        <p:nvGrpSpPr>
          <p:cNvPr id="94" name="Google Shape;94;p19"/>
          <p:cNvGrpSpPr/>
          <p:nvPr/>
        </p:nvGrpSpPr>
        <p:grpSpPr>
          <a:xfrm>
            <a:off x="664500" y="1560650"/>
            <a:ext cx="3907500" cy="2750550"/>
            <a:chOff x="664500" y="1560650"/>
            <a:chExt cx="3907500" cy="2750550"/>
          </a:xfrm>
        </p:grpSpPr>
        <p:grpSp>
          <p:nvGrpSpPr>
            <p:cNvPr id="95" name="Google Shape;95;p19"/>
            <p:cNvGrpSpPr/>
            <p:nvPr/>
          </p:nvGrpSpPr>
          <p:grpSpPr>
            <a:xfrm>
              <a:off x="1227600" y="1568750"/>
              <a:ext cx="3344400" cy="2144400"/>
              <a:chOff x="1002925" y="1440975"/>
              <a:chExt cx="3344400" cy="2144400"/>
            </a:xfrm>
          </p:grpSpPr>
          <p:cxnSp>
            <p:nvCxnSpPr>
              <p:cNvPr id="96" name="Google Shape;96;p19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" name="Google Shape;97;p19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98" name="Google Shape;98;p19"/>
            <p:cNvSpPr txBox="1"/>
            <p:nvPr/>
          </p:nvSpPr>
          <p:spPr>
            <a:xfrm>
              <a:off x="1819500" y="3849500"/>
              <a:ext cx="216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Competitive Ability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9" name="Google Shape;99;p19"/>
            <p:cNvSpPr txBox="1"/>
            <p:nvPr/>
          </p:nvSpPr>
          <p:spPr>
            <a:xfrm rot="-5400000">
              <a:off x="-184950" y="2410100"/>
              <a:ext cx="216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Dispersal Ability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100" name="Google Shape;100;p19"/>
            <p:cNvCxnSpPr/>
            <p:nvPr/>
          </p:nvCxnSpPr>
          <p:spPr>
            <a:xfrm>
              <a:off x="1396225" y="16192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525025" y="1294000"/>
            <a:ext cx="8307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Superior colonizer: gets to patches first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Superior competitor: arrives later, but displaces the superior colonizer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Superior colonizer species are concentrated in recently-disturbed patches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Superior competitor species are </a:t>
            </a:r>
            <a:r>
              <a:rPr lang="en" sz="1800">
                <a:solidFill>
                  <a:schemeClr val="dk2"/>
                </a:solidFill>
              </a:rPr>
              <a:t>concentrated</a:t>
            </a:r>
            <a:r>
              <a:rPr lang="en" sz="1800">
                <a:solidFill>
                  <a:schemeClr val="dk2"/>
                </a:solidFill>
              </a:rPr>
              <a:t> in older patches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Increases a</a:t>
            </a:r>
            <a:r>
              <a:rPr baseline="-25000" lang="en" sz="1800">
                <a:solidFill>
                  <a:schemeClr val="dk2"/>
                </a:solidFill>
              </a:rPr>
              <a:t>ii</a:t>
            </a:r>
            <a:r>
              <a:rPr lang="en" sz="1800">
                <a:solidFill>
                  <a:schemeClr val="dk2"/>
                </a:solidFill>
              </a:rPr>
              <a:t> relative to a</a:t>
            </a:r>
            <a:r>
              <a:rPr baseline="-25000" lang="en" sz="1800">
                <a:solidFill>
                  <a:schemeClr val="dk2"/>
                </a:solidFill>
              </a:rPr>
              <a:t>ji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112" name="Google Shape;112;p21"/>
          <p:cNvSpPr/>
          <p:nvPr/>
        </p:nvSpPr>
        <p:spPr>
          <a:xfrm rot="2430478">
            <a:off x="270272" y="4005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/>
          <p:nvPr/>
        </p:nvSpPr>
        <p:spPr>
          <a:xfrm rot="2430478">
            <a:off x="270272" y="4462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 txBox="1"/>
          <p:nvPr/>
        </p:nvSpPr>
        <p:spPr>
          <a:xfrm>
            <a:off x="546100" y="43945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competitor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546100" y="39373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colonizer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6472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15616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/>
          <p:nvPr/>
        </p:nvSpPr>
        <p:spPr>
          <a:xfrm>
            <a:off x="2476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/>
          <p:nvPr/>
        </p:nvSpPr>
        <p:spPr>
          <a:xfrm>
            <a:off x="33904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1"/>
          <p:cNvSpPr/>
          <p:nvPr/>
        </p:nvSpPr>
        <p:spPr>
          <a:xfrm>
            <a:off x="43048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/>
          <p:nvPr/>
        </p:nvSpPr>
        <p:spPr>
          <a:xfrm>
            <a:off x="5143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/>
          <p:nvPr/>
        </p:nvSpPr>
        <p:spPr>
          <a:xfrm>
            <a:off x="59812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/>
          <p:nvPr/>
        </p:nvSpPr>
        <p:spPr>
          <a:xfrm rot="2430478">
            <a:off x="6137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/>
          <p:nvPr/>
        </p:nvSpPr>
        <p:spPr>
          <a:xfrm rot="2430478">
            <a:off x="4461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 rot="2430478">
            <a:off x="35468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 rot="2430478">
            <a:off x="803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 rot="2430478">
            <a:off x="270272" y="4005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/>
          <p:nvPr/>
        </p:nvSpPr>
        <p:spPr>
          <a:xfrm rot="2430478">
            <a:off x="270272" y="4462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 txBox="1"/>
          <p:nvPr/>
        </p:nvSpPr>
        <p:spPr>
          <a:xfrm>
            <a:off x="546100" y="43945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competitor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546100" y="39373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colonizer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6472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15616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/>
          <p:nvPr/>
        </p:nvSpPr>
        <p:spPr>
          <a:xfrm>
            <a:off x="2476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33904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2"/>
          <p:cNvSpPr/>
          <p:nvPr/>
        </p:nvSpPr>
        <p:spPr>
          <a:xfrm>
            <a:off x="43048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5143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59812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 rot="2430478">
            <a:off x="6137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/>
          <p:nvPr/>
        </p:nvSpPr>
        <p:spPr>
          <a:xfrm rot="2430478">
            <a:off x="4461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/>
          <p:nvPr/>
        </p:nvSpPr>
        <p:spPr>
          <a:xfrm rot="2430478">
            <a:off x="35468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 rot="2430478">
            <a:off x="803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 rot="2430478">
            <a:off x="17180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/>
          <p:nvPr/>
        </p:nvSpPr>
        <p:spPr>
          <a:xfrm rot="2430478">
            <a:off x="2556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154" name="Google Shape;154;p23"/>
          <p:cNvSpPr/>
          <p:nvPr/>
        </p:nvSpPr>
        <p:spPr>
          <a:xfrm rot="2430478">
            <a:off x="270272" y="4005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 rot="2430478">
            <a:off x="270272" y="4462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546100" y="43945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competitor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546100" y="39373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colonizer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6472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15616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2476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/>
          <p:cNvSpPr/>
          <p:nvPr/>
        </p:nvSpPr>
        <p:spPr>
          <a:xfrm>
            <a:off x="33904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/>
          <p:nvPr/>
        </p:nvSpPr>
        <p:spPr>
          <a:xfrm>
            <a:off x="43048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3"/>
          <p:cNvSpPr/>
          <p:nvPr/>
        </p:nvSpPr>
        <p:spPr>
          <a:xfrm>
            <a:off x="5143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59812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3"/>
          <p:cNvSpPr/>
          <p:nvPr/>
        </p:nvSpPr>
        <p:spPr>
          <a:xfrm rot="2430478">
            <a:off x="6137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 rot="2430478">
            <a:off x="4461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/>
          <p:nvPr/>
        </p:nvSpPr>
        <p:spPr>
          <a:xfrm rot="2430478">
            <a:off x="35468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3"/>
          <p:cNvSpPr/>
          <p:nvPr/>
        </p:nvSpPr>
        <p:spPr>
          <a:xfrm rot="2430478">
            <a:off x="803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3"/>
          <p:cNvSpPr/>
          <p:nvPr/>
        </p:nvSpPr>
        <p:spPr>
          <a:xfrm rot="2430478">
            <a:off x="17180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/>
          <p:cNvSpPr/>
          <p:nvPr/>
        </p:nvSpPr>
        <p:spPr>
          <a:xfrm rot="2430478">
            <a:off x="2556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/>
          <p:nvPr/>
        </p:nvSpPr>
        <p:spPr>
          <a:xfrm rot="2430478">
            <a:off x="2556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3"/>
          <p:cNvSpPr/>
          <p:nvPr/>
        </p:nvSpPr>
        <p:spPr>
          <a:xfrm rot="2430478">
            <a:off x="17180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 rot="2430478">
            <a:off x="270272" y="4005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 rot="2430478">
            <a:off x="270272" y="4462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4"/>
          <p:cNvSpPr txBox="1"/>
          <p:nvPr/>
        </p:nvSpPr>
        <p:spPr>
          <a:xfrm>
            <a:off x="546100" y="43945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competitor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546100" y="39373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colonizer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6472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/>
          <p:nvPr/>
        </p:nvSpPr>
        <p:spPr>
          <a:xfrm>
            <a:off x="15616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>
            <a:off x="2476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33904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43048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4"/>
          <p:cNvSpPr/>
          <p:nvPr/>
        </p:nvSpPr>
        <p:spPr>
          <a:xfrm>
            <a:off x="5143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"/>
          <p:cNvSpPr/>
          <p:nvPr/>
        </p:nvSpPr>
        <p:spPr>
          <a:xfrm>
            <a:off x="5981275" y="2285400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 rot="2430478">
            <a:off x="6137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4"/>
          <p:cNvSpPr/>
          <p:nvPr/>
        </p:nvSpPr>
        <p:spPr>
          <a:xfrm rot="2430478">
            <a:off x="4461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4"/>
          <p:cNvSpPr/>
          <p:nvPr/>
        </p:nvSpPr>
        <p:spPr>
          <a:xfrm rot="2430478">
            <a:off x="35468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4"/>
          <p:cNvSpPr/>
          <p:nvPr/>
        </p:nvSpPr>
        <p:spPr>
          <a:xfrm rot="2430478">
            <a:off x="803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"/>
          <p:cNvSpPr/>
          <p:nvPr/>
        </p:nvSpPr>
        <p:spPr>
          <a:xfrm rot="2430478">
            <a:off x="17180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4"/>
          <p:cNvSpPr/>
          <p:nvPr/>
        </p:nvSpPr>
        <p:spPr>
          <a:xfrm rot="2430478">
            <a:off x="2556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 rot="2430478">
            <a:off x="2556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 rot="2430478">
            <a:off x="17180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4"/>
          <p:cNvSpPr/>
          <p:nvPr/>
        </p:nvSpPr>
        <p:spPr>
          <a:xfrm>
            <a:off x="5833525" y="2087025"/>
            <a:ext cx="951300" cy="951300"/>
          </a:xfrm>
          <a:prstGeom prst="mathMultiply">
            <a:avLst>
              <a:gd fmla="val 3338" name="adj1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 rot="2430478">
            <a:off x="52994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204" name="Google Shape;204;p25"/>
          <p:cNvSpPr/>
          <p:nvPr/>
        </p:nvSpPr>
        <p:spPr>
          <a:xfrm rot="2430478">
            <a:off x="270272" y="4005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 rot="2430478">
            <a:off x="270272" y="4462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5"/>
          <p:cNvSpPr txBox="1"/>
          <p:nvPr/>
        </p:nvSpPr>
        <p:spPr>
          <a:xfrm>
            <a:off x="546100" y="43945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competitor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546100" y="39373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colonizer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6472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15616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2476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33904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/>
          <p:nvPr/>
        </p:nvSpPr>
        <p:spPr>
          <a:xfrm>
            <a:off x="43048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5143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/>
          <p:nvPr/>
        </p:nvSpPr>
        <p:spPr>
          <a:xfrm>
            <a:off x="5981275" y="2285400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"/>
          <p:cNvSpPr/>
          <p:nvPr/>
        </p:nvSpPr>
        <p:spPr>
          <a:xfrm rot="2430478">
            <a:off x="4461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 rot="2430478">
            <a:off x="35468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/>
          <p:nvPr/>
        </p:nvSpPr>
        <p:spPr>
          <a:xfrm rot="2430478">
            <a:off x="803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5"/>
          <p:cNvSpPr/>
          <p:nvPr/>
        </p:nvSpPr>
        <p:spPr>
          <a:xfrm rot="2430478">
            <a:off x="17180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 rot="2430478">
            <a:off x="2556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"/>
          <p:cNvSpPr/>
          <p:nvPr/>
        </p:nvSpPr>
        <p:spPr>
          <a:xfrm rot="2430478">
            <a:off x="2556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"/>
          <p:cNvSpPr/>
          <p:nvPr/>
        </p:nvSpPr>
        <p:spPr>
          <a:xfrm rot="2430478">
            <a:off x="17180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5"/>
          <p:cNvSpPr/>
          <p:nvPr/>
        </p:nvSpPr>
        <p:spPr>
          <a:xfrm rot="2430478">
            <a:off x="52994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5"/>
          <p:cNvSpPr/>
          <p:nvPr/>
        </p:nvSpPr>
        <p:spPr>
          <a:xfrm>
            <a:off x="3242725" y="2163225"/>
            <a:ext cx="951300" cy="951300"/>
          </a:xfrm>
          <a:prstGeom prst="mathMultiply">
            <a:avLst>
              <a:gd fmla="val 3338" name="adj1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229" name="Google Shape;229;p26"/>
          <p:cNvSpPr/>
          <p:nvPr/>
        </p:nvSpPr>
        <p:spPr>
          <a:xfrm rot="2430478">
            <a:off x="270272" y="4005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"/>
          <p:cNvSpPr/>
          <p:nvPr/>
        </p:nvSpPr>
        <p:spPr>
          <a:xfrm rot="2430478">
            <a:off x="270272" y="4462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546100" y="43945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competitor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32" name="Google Shape;232;p26"/>
          <p:cNvSpPr txBox="1"/>
          <p:nvPr/>
        </p:nvSpPr>
        <p:spPr>
          <a:xfrm>
            <a:off x="546100" y="39373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colonizer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6472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"/>
          <p:cNvSpPr/>
          <p:nvPr/>
        </p:nvSpPr>
        <p:spPr>
          <a:xfrm>
            <a:off x="15616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2476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6"/>
          <p:cNvSpPr/>
          <p:nvPr/>
        </p:nvSpPr>
        <p:spPr>
          <a:xfrm>
            <a:off x="33904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6"/>
          <p:cNvSpPr/>
          <p:nvPr/>
        </p:nvSpPr>
        <p:spPr>
          <a:xfrm>
            <a:off x="43048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>
            <a:off x="5143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/>
          <p:nvPr/>
        </p:nvSpPr>
        <p:spPr>
          <a:xfrm>
            <a:off x="5981275" y="2285400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/>
          <p:nvPr/>
        </p:nvSpPr>
        <p:spPr>
          <a:xfrm rot="2430478">
            <a:off x="4461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"/>
          <p:cNvSpPr/>
          <p:nvPr/>
        </p:nvSpPr>
        <p:spPr>
          <a:xfrm rot="2430478">
            <a:off x="803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6"/>
          <p:cNvSpPr/>
          <p:nvPr/>
        </p:nvSpPr>
        <p:spPr>
          <a:xfrm rot="2430478">
            <a:off x="17180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6"/>
          <p:cNvSpPr/>
          <p:nvPr/>
        </p:nvSpPr>
        <p:spPr>
          <a:xfrm rot="2430478">
            <a:off x="2556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6"/>
          <p:cNvSpPr/>
          <p:nvPr/>
        </p:nvSpPr>
        <p:spPr>
          <a:xfrm rot="2430478">
            <a:off x="2556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6"/>
          <p:cNvSpPr/>
          <p:nvPr/>
        </p:nvSpPr>
        <p:spPr>
          <a:xfrm rot="2430478">
            <a:off x="17180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6"/>
          <p:cNvSpPr/>
          <p:nvPr/>
        </p:nvSpPr>
        <p:spPr>
          <a:xfrm rot="2430478">
            <a:off x="52994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6"/>
          <p:cNvSpPr/>
          <p:nvPr/>
        </p:nvSpPr>
        <p:spPr>
          <a:xfrm rot="2430478">
            <a:off x="6137672" y="2405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253" name="Google Shape;253;p27"/>
          <p:cNvSpPr/>
          <p:nvPr/>
        </p:nvSpPr>
        <p:spPr>
          <a:xfrm rot="2430478">
            <a:off x="270272" y="4005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7"/>
          <p:cNvSpPr/>
          <p:nvPr/>
        </p:nvSpPr>
        <p:spPr>
          <a:xfrm rot="2430478">
            <a:off x="270272" y="4462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7"/>
          <p:cNvSpPr txBox="1"/>
          <p:nvPr/>
        </p:nvSpPr>
        <p:spPr>
          <a:xfrm>
            <a:off x="546100" y="43945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competitor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546100" y="39373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colonizer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6472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7"/>
          <p:cNvSpPr/>
          <p:nvPr/>
        </p:nvSpPr>
        <p:spPr>
          <a:xfrm>
            <a:off x="15616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"/>
          <p:cNvSpPr/>
          <p:nvPr/>
        </p:nvSpPr>
        <p:spPr>
          <a:xfrm>
            <a:off x="2476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33904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7"/>
          <p:cNvSpPr/>
          <p:nvPr/>
        </p:nvSpPr>
        <p:spPr>
          <a:xfrm>
            <a:off x="43048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5143075" y="233677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7"/>
          <p:cNvSpPr/>
          <p:nvPr/>
        </p:nvSpPr>
        <p:spPr>
          <a:xfrm>
            <a:off x="5981275" y="2285400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7"/>
          <p:cNvSpPr/>
          <p:nvPr/>
        </p:nvSpPr>
        <p:spPr>
          <a:xfrm rot="2430478">
            <a:off x="4461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7"/>
          <p:cNvSpPr/>
          <p:nvPr/>
        </p:nvSpPr>
        <p:spPr>
          <a:xfrm rot="2430478">
            <a:off x="803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7"/>
          <p:cNvSpPr/>
          <p:nvPr/>
        </p:nvSpPr>
        <p:spPr>
          <a:xfrm rot="2430478">
            <a:off x="17180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7"/>
          <p:cNvSpPr/>
          <p:nvPr/>
        </p:nvSpPr>
        <p:spPr>
          <a:xfrm rot="2430478">
            <a:off x="2556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 rot="2430478">
            <a:off x="25562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7"/>
          <p:cNvSpPr/>
          <p:nvPr/>
        </p:nvSpPr>
        <p:spPr>
          <a:xfrm rot="2430478">
            <a:off x="17180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7"/>
          <p:cNvSpPr/>
          <p:nvPr/>
        </p:nvSpPr>
        <p:spPr>
          <a:xfrm rot="2430478">
            <a:off x="52994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7"/>
          <p:cNvSpPr/>
          <p:nvPr/>
        </p:nvSpPr>
        <p:spPr>
          <a:xfrm rot="2430478">
            <a:off x="6137672" y="2405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7"/>
          <p:cNvSpPr/>
          <p:nvPr/>
        </p:nvSpPr>
        <p:spPr>
          <a:xfrm rot="2430478">
            <a:off x="35468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7"/>
          <p:cNvSpPr/>
          <p:nvPr/>
        </p:nvSpPr>
        <p:spPr>
          <a:xfrm>
            <a:off x="4995325" y="2163225"/>
            <a:ext cx="951300" cy="951300"/>
          </a:xfrm>
          <a:prstGeom prst="mathMultiply">
            <a:avLst>
              <a:gd fmla="val 3338" name="adj1"/>
            </a:avLst>
          </a:prstGeom>
          <a:solidFill>
            <a:srgbClr val="98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7"/>
          <p:cNvSpPr/>
          <p:nvPr/>
        </p:nvSpPr>
        <p:spPr>
          <a:xfrm rot="2430478">
            <a:off x="803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525025" y="1294000"/>
            <a:ext cx="830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Idea can be generalized to more than two species:</a:t>
            </a:r>
            <a:endParaRPr baseline="-25000" sz="1800">
              <a:solidFill>
                <a:schemeClr val="dk2"/>
              </a:solidFill>
            </a:endParaRPr>
          </a:p>
        </p:txBody>
      </p:sp>
      <p:grpSp>
        <p:nvGrpSpPr>
          <p:cNvPr id="281" name="Google Shape;281;p28"/>
          <p:cNvGrpSpPr/>
          <p:nvPr/>
        </p:nvGrpSpPr>
        <p:grpSpPr>
          <a:xfrm>
            <a:off x="1075200" y="1949750"/>
            <a:ext cx="3344400" cy="2144400"/>
            <a:chOff x="1002925" y="1440975"/>
            <a:chExt cx="3344400" cy="2144400"/>
          </a:xfrm>
        </p:grpSpPr>
        <p:cxnSp>
          <p:nvCxnSpPr>
            <p:cNvPr id="282" name="Google Shape;282;p28"/>
            <p:cNvCxnSpPr/>
            <p:nvPr/>
          </p:nvCxnSpPr>
          <p:spPr>
            <a:xfrm>
              <a:off x="1002925" y="1440975"/>
              <a:ext cx="9900" cy="21408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3" name="Google Shape;283;p28"/>
            <p:cNvCxnSpPr/>
            <p:nvPr/>
          </p:nvCxnSpPr>
          <p:spPr>
            <a:xfrm flipH="1" rot="10800000">
              <a:off x="1002925" y="3581775"/>
              <a:ext cx="3344400" cy="3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4" name="Google Shape;284;p28"/>
          <p:cNvSpPr txBox="1"/>
          <p:nvPr/>
        </p:nvSpPr>
        <p:spPr>
          <a:xfrm>
            <a:off x="1667100" y="4230500"/>
            <a:ext cx="21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Competitive Ability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5" name="Google Shape;285;p28"/>
          <p:cNvSpPr txBox="1"/>
          <p:nvPr/>
        </p:nvSpPr>
        <p:spPr>
          <a:xfrm rot="-5400000">
            <a:off x="-337350" y="2791100"/>
            <a:ext cx="21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Dispersal Ability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86" name="Google Shape;286;p28"/>
          <p:cNvCxnSpPr/>
          <p:nvPr/>
        </p:nvCxnSpPr>
        <p:spPr>
          <a:xfrm>
            <a:off x="1243825" y="2000250"/>
            <a:ext cx="2985300" cy="20328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28"/>
          <p:cNvSpPr/>
          <p:nvPr/>
        </p:nvSpPr>
        <p:spPr>
          <a:xfrm>
            <a:off x="3438175" y="3431800"/>
            <a:ext cx="521100" cy="46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2371375" y="2746000"/>
            <a:ext cx="521100" cy="46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289" name="Google Shape;289;p28"/>
          <p:cNvSpPr/>
          <p:nvPr/>
        </p:nvSpPr>
        <p:spPr>
          <a:xfrm>
            <a:off x="1380775" y="2060200"/>
            <a:ext cx="521100" cy="46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4860075" y="2060650"/>
            <a:ext cx="4284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A arrives first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B arrives next, displaces 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C arrives last, displaces B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Patch extinction occurs (go to 1)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228600" y="1143000"/>
            <a:ext cx="444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</a:rPr>
              <a:t>dP</a:t>
            </a:r>
            <a:r>
              <a:rPr lang="en" sz="2700">
                <a:solidFill>
                  <a:schemeClr val="dk2"/>
                </a:solidFill>
              </a:rPr>
              <a:t>/</a:t>
            </a:r>
            <a:r>
              <a:rPr i="1" lang="en" sz="2700">
                <a:solidFill>
                  <a:schemeClr val="dk2"/>
                </a:solidFill>
              </a:rPr>
              <a:t>dt</a:t>
            </a:r>
            <a:r>
              <a:rPr lang="en" sz="2700">
                <a:solidFill>
                  <a:schemeClr val="dk2"/>
                </a:solidFill>
              </a:rPr>
              <a:t>  = </a:t>
            </a:r>
            <a:r>
              <a:rPr i="1" lang="en" sz="2700">
                <a:solidFill>
                  <a:schemeClr val="dk2"/>
                </a:solidFill>
              </a:rPr>
              <a:t>cP</a:t>
            </a:r>
            <a:r>
              <a:rPr lang="en" sz="2700">
                <a:solidFill>
                  <a:schemeClr val="dk2"/>
                </a:solidFill>
              </a:rPr>
              <a:t>(1 - </a:t>
            </a:r>
            <a:r>
              <a:rPr i="1" lang="en" sz="2700">
                <a:solidFill>
                  <a:schemeClr val="dk2"/>
                </a:solidFill>
              </a:rPr>
              <a:t>P</a:t>
            </a:r>
            <a:r>
              <a:rPr lang="en" sz="2700">
                <a:solidFill>
                  <a:schemeClr val="dk2"/>
                </a:solidFill>
              </a:rPr>
              <a:t>) - </a:t>
            </a:r>
            <a:r>
              <a:rPr i="1" lang="en" sz="2700">
                <a:solidFill>
                  <a:schemeClr val="dk2"/>
                </a:solidFill>
              </a:rPr>
              <a:t>mP</a:t>
            </a:r>
            <a:r>
              <a:rPr lang="en" sz="2700">
                <a:solidFill>
                  <a:schemeClr val="dk2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302" name="Google Shape;302;p30"/>
          <p:cNvSpPr txBox="1"/>
          <p:nvPr/>
        </p:nvSpPr>
        <p:spPr>
          <a:xfrm>
            <a:off x="228600" y="1143000"/>
            <a:ext cx="444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dt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=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0"/>
          <p:cNvSpPr txBox="1"/>
          <p:nvPr/>
        </p:nvSpPr>
        <p:spPr>
          <a:xfrm>
            <a:off x="228600" y="1752600"/>
            <a:ext cx="444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dt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=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309" name="Google Shape;309;p31"/>
          <p:cNvSpPr txBox="1"/>
          <p:nvPr/>
        </p:nvSpPr>
        <p:spPr>
          <a:xfrm>
            <a:off x="228600" y="1143000"/>
            <a:ext cx="444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dt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=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1"/>
          <p:cNvSpPr txBox="1"/>
          <p:nvPr/>
        </p:nvSpPr>
        <p:spPr>
          <a:xfrm>
            <a:off x="228600" y="1752600"/>
            <a:ext cx="606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dt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=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1"/>
          <p:cNvSpPr txBox="1"/>
          <p:nvPr/>
        </p:nvSpPr>
        <p:spPr>
          <a:xfrm>
            <a:off x="283425" y="2850525"/>
            <a:ext cx="570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i = Better competitor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j = Better colonizer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317" name="Google Shape;317;p32"/>
          <p:cNvSpPr txBox="1"/>
          <p:nvPr/>
        </p:nvSpPr>
        <p:spPr>
          <a:xfrm>
            <a:off x="228600" y="1143000"/>
            <a:ext cx="444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dt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=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2"/>
          <p:cNvSpPr txBox="1"/>
          <p:nvPr/>
        </p:nvSpPr>
        <p:spPr>
          <a:xfrm>
            <a:off x="228600" y="1752600"/>
            <a:ext cx="606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dt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=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- 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- c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2"/>
          <p:cNvSpPr txBox="1"/>
          <p:nvPr/>
        </p:nvSpPr>
        <p:spPr>
          <a:xfrm>
            <a:off x="283425" y="2545725"/>
            <a:ext cx="570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i = Better competitor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j = Better colonizer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0" name="Google Shape;320;p32"/>
          <p:cNvSpPr txBox="1"/>
          <p:nvPr/>
        </p:nvSpPr>
        <p:spPr>
          <a:xfrm>
            <a:off x="228600" y="3779800"/>
            <a:ext cx="57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1" name="Google Shape;321;p32"/>
          <p:cNvSpPr txBox="1"/>
          <p:nvPr/>
        </p:nvSpPr>
        <p:spPr>
          <a:xfrm>
            <a:off x="5266625" y="1061700"/>
            <a:ext cx="3898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get coexistence conditions: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Assume </a:t>
            </a:r>
            <a:r>
              <a:rPr lang="en" sz="1800">
                <a:solidFill>
                  <a:schemeClr val="dk2"/>
                </a:solidFill>
              </a:rPr>
              <a:t>equilibrium</a:t>
            </a:r>
            <a:r>
              <a:rPr lang="en" sz="1800">
                <a:solidFill>
                  <a:schemeClr val="dk2"/>
                </a:solidFill>
              </a:rPr>
              <a:t> (dP/dt = 0)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Both species present (P</a:t>
            </a:r>
            <a:r>
              <a:rPr baseline="-25000" lang="en" sz="1800">
                <a:solidFill>
                  <a:schemeClr val="dk2"/>
                </a:solidFill>
              </a:rPr>
              <a:t>j</a:t>
            </a:r>
            <a:r>
              <a:rPr lang="en" sz="1800">
                <a:solidFill>
                  <a:schemeClr val="dk2"/>
                </a:solidFill>
              </a:rPr>
              <a:t> &gt; 0)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Solve for c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c</a:t>
            </a:r>
            <a:r>
              <a:rPr baseline="-25000" lang="en" sz="3000">
                <a:solidFill>
                  <a:schemeClr val="dk2"/>
                </a:solidFill>
              </a:rPr>
              <a:t>j</a:t>
            </a:r>
            <a:r>
              <a:rPr lang="en" sz="3000">
                <a:solidFill>
                  <a:schemeClr val="dk2"/>
                </a:solidFill>
              </a:rPr>
              <a:t> &gt; c</a:t>
            </a:r>
            <a:r>
              <a:rPr baseline="-25000" lang="en" sz="3000">
                <a:solidFill>
                  <a:schemeClr val="dk2"/>
                </a:solidFill>
              </a:rPr>
              <a:t>i</a:t>
            </a:r>
            <a:r>
              <a:rPr baseline="30000" lang="en" sz="3000">
                <a:solidFill>
                  <a:schemeClr val="dk2"/>
                </a:solidFill>
              </a:rPr>
              <a:t>2</a:t>
            </a:r>
            <a:r>
              <a:rPr lang="en" sz="3000">
                <a:solidFill>
                  <a:schemeClr val="dk2"/>
                </a:solidFill>
              </a:rPr>
              <a:t>/m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Trade-off</a:t>
            </a:r>
            <a:endParaRPr/>
          </a:p>
        </p:txBody>
      </p:sp>
      <p:sp>
        <p:nvSpPr>
          <p:cNvPr id="327" name="Google Shape;327;p33"/>
          <p:cNvSpPr txBox="1"/>
          <p:nvPr/>
        </p:nvSpPr>
        <p:spPr>
          <a:xfrm>
            <a:off x="228600" y="1143000"/>
            <a:ext cx="444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dt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=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228600" y="1752600"/>
            <a:ext cx="606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dt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=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(1 -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- 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 - 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- c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i="1" lang="en" sz="2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283425" y="2545725"/>
            <a:ext cx="570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i = Better competitor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j = Better colonizer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228600" y="3779800"/>
            <a:ext cx="57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5266625" y="1061700"/>
            <a:ext cx="3898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get coexistence conditions: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Assume equilibrium (dP/dt = 0)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Both species present (P</a:t>
            </a:r>
            <a:r>
              <a:rPr baseline="-25000" lang="en" sz="1800">
                <a:solidFill>
                  <a:schemeClr val="dk2"/>
                </a:solidFill>
              </a:rPr>
              <a:t>j</a:t>
            </a:r>
            <a:r>
              <a:rPr lang="en" sz="1800">
                <a:solidFill>
                  <a:schemeClr val="dk2"/>
                </a:solidFill>
              </a:rPr>
              <a:t> &gt; 0)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Solve for c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c</a:t>
            </a:r>
            <a:r>
              <a:rPr baseline="-25000" lang="en" sz="3000">
                <a:solidFill>
                  <a:schemeClr val="dk2"/>
                </a:solidFill>
              </a:rPr>
              <a:t>j</a:t>
            </a:r>
            <a:r>
              <a:rPr lang="en" sz="3000">
                <a:solidFill>
                  <a:schemeClr val="dk2"/>
                </a:solidFill>
              </a:rPr>
              <a:t> &gt; c</a:t>
            </a:r>
            <a:r>
              <a:rPr baseline="-25000" lang="en" sz="3000">
                <a:solidFill>
                  <a:schemeClr val="dk2"/>
                </a:solidFill>
              </a:rPr>
              <a:t>i</a:t>
            </a:r>
            <a:r>
              <a:rPr baseline="30000" lang="en" sz="3000">
                <a:solidFill>
                  <a:schemeClr val="dk2"/>
                </a:solidFill>
              </a:rPr>
              <a:t>2</a:t>
            </a:r>
            <a:r>
              <a:rPr lang="en" sz="3000">
                <a:solidFill>
                  <a:schemeClr val="dk2"/>
                </a:solidFill>
              </a:rPr>
              <a:t>/m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1270775" y="3628800"/>
            <a:ext cx="570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Higher patch extinction rate, lower c</a:t>
            </a:r>
            <a:r>
              <a:rPr baseline="-25000" lang="en" sz="1800">
                <a:solidFill>
                  <a:schemeClr val="dk2"/>
                </a:solidFill>
              </a:rPr>
              <a:t>j</a:t>
            </a:r>
            <a:r>
              <a:rPr lang="en" sz="1800">
                <a:solidFill>
                  <a:schemeClr val="dk2"/>
                </a:solidFill>
              </a:rPr>
              <a:t> needed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More </a:t>
            </a:r>
            <a:r>
              <a:rPr lang="en" sz="1800">
                <a:solidFill>
                  <a:schemeClr val="dk2"/>
                </a:solidFill>
              </a:rPr>
              <a:t>patches</a:t>
            </a:r>
            <a:r>
              <a:rPr lang="en" sz="1800">
                <a:solidFill>
                  <a:schemeClr val="dk2"/>
                </a:solidFill>
              </a:rPr>
              <a:t> available to colonize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Competition-Colonization: Example</a:t>
            </a:r>
            <a:endParaRPr/>
          </a:p>
        </p:txBody>
      </p:sp>
      <p:pic>
        <p:nvPicPr>
          <p:cNvPr id="338" name="Google Shape;338;p34"/>
          <p:cNvPicPr preferRelativeResize="0"/>
          <p:nvPr/>
        </p:nvPicPr>
        <p:blipFill rotWithShape="1">
          <a:blip r:embed="rId3">
            <a:alphaModFix/>
          </a:blip>
          <a:srcRect b="26968" l="10693" r="23543" t="35793"/>
          <a:stretch/>
        </p:blipFill>
        <p:spPr>
          <a:xfrm>
            <a:off x="5591950" y="0"/>
            <a:ext cx="3552048" cy="11313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9" name="Google Shape;339;p34"/>
          <p:cNvSpPr txBox="1"/>
          <p:nvPr/>
        </p:nvSpPr>
        <p:spPr>
          <a:xfrm>
            <a:off x="469275" y="1596025"/>
            <a:ext cx="7410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Tilman looked at this in both experimental and theoretical systems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(Remember the grassland plots we </a:t>
            </a:r>
            <a:r>
              <a:rPr lang="en" sz="1800">
                <a:solidFill>
                  <a:schemeClr val="dk2"/>
                </a:solidFill>
              </a:rPr>
              <a:t>discussed</a:t>
            </a:r>
            <a:r>
              <a:rPr lang="en" sz="1800">
                <a:solidFill>
                  <a:schemeClr val="dk2"/>
                </a:solidFill>
              </a:rPr>
              <a:t> a while back?)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Competition-Colonization: Example</a:t>
            </a:r>
            <a:endParaRPr/>
          </a:p>
        </p:txBody>
      </p:sp>
      <p:pic>
        <p:nvPicPr>
          <p:cNvPr id="345" name="Google Shape;345;p35"/>
          <p:cNvPicPr preferRelativeResize="0"/>
          <p:nvPr/>
        </p:nvPicPr>
        <p:blipFill rotWithShape="1">
          <a:blip r:embed="rId3">
            <a:alphaModFix/>
          </a:blip>
          <a:srcRect b="11940" l="51178" r="12226" t="25738"/>
          <a:stretch/>
        </p:blipFill>
        <p:spPr>
          <a:xfrm>
            <a:off x="434425" y="1381125"/>
            <a:ext cx="3635774" cy="34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5"/>
          <p:cNvPicPr preferRelativeResize="0"/>
          <p:nvPr/>
        </p:nvPicPr>
        <p:blipFill rotWithShape="1">
          <a:blip r:embed="rId4">
            <a:alphaModFix/>
          </a:blip>
          <a:srcRect b="26968" l="10693" r="23543" t="35793"/>
          <a:stretch/>
        </p:blipFill>
        <p:spPr>
          <a:xfrm>
            <a:off x="5591950" y="0"/>
            <a:ext cx="3552048" cy="11313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Competition-Colonization: Example</a:t>
            </a:r>
            <a:endParaRPr/>
          </a:p>
        </p:txBody>
      </p:sp>
      <p:pic>
        <p:nvPicPr>
          <p:cNvPr id="352" name="Google Shape;352;p36"/>
          <p:cNvPicPr preferRelativeResize="0"/>
          <p:nvPr/>
        </p:nvPicPr>
        <p:blipFill rotWithShape="1">
          <a:blip r:embed="rId3">
            <a:alphaModFix/>
          </a:blip>
          <a:srcRect b="11940" l="51178" r="12226" t="25738"/>
          <a:stretch/>
        </p:blipFill>
        <p:spPr>
          <a:xfrm>
            <a:off x="434425" y="1381125"/>
            <a:ext cx="3635774" cy="34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6"/>
          <p:cNvPicPr preferRelativeResize="0"/>
          <p:nvPr/>
        </p:nvPicPr>
        <p:blipFill rotWithShape="1">
          <a:blip r:embed="rId4">
            <a:alphaModFix/>
          </a:blip>
          <a:srcRect b="11809" l="49657" r="11857" t="24971"/>
          <a:stretch/>
        </p:blipFill>
        <p:spPr>
          <a:xfrm>
            <a:off x="4418650" y="1503075"/>
            <a:ext cx="3635774" cy="335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6"/>
          <p:cNvPicPr preferRelativeResize="0"/>
          <p:nvPr/>
        </p:nvPicPr>
        <p:blipFill rotWithShape="1">
          <a:blip r:embed="rId5">
            <a:alphaModFix/>
          </a:blip>
          <a:srcRect b="26968" l="10693" r="23543" t="35793"/>
          <a:stretch/>
        </p:blipFill>
        <p:spPr>
          <a:xfrm>
            <a:off x="5591950" y="0"/>
            <a:ext cx="3552048" cy="11313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and Seed Traits</a:t>
            </a:r>
            <a:endParaRPr/>
          </a:p>
        </p:txBody>
      </p:sp>
      <p:pic>
        <p:nvPicPr>
          <p:cNvPr id="360" name="Google Shape;36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3798186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7"/>
          <p:cNvSpPr/>
          <p:nvPr/>
        </p:nvSpPr>
        <p:spPr>
          <a:xfrm>
            <a:off x="47625" y="2421250"/>
            <a:ext cx="2076600" cy="1238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2" name="Google Shape;362;p37"/>
          <p:cNvPicPr preferRelativeResize="0"/>
          <p:nvPr/>
        </p:nvPicPr>
        <p:blipFill rotWithShape="1">
          <a:blip r:embed="rId4">
            <a:alphaModFix/>
          </a:blip>
          <a:srcRect b="56025" l="18987" r="22171" t="20075"/>
          <a:stretch/>
        </p:blipFill>
        <p:spPr>
          <a:xfrm>
            <a:off x="6334200" y="0"/>
            <a:ext cx="2809800" cy="6419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 and Seed Traits</a:t>
            </a:r>
            <a:endParaRPr/>
          </a:p>
        </p:txBody>
      </p:sp>
      <p:pic>
        <p:nvPicPr>
          <p:cNvPr id="368" name="Google Shape;36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3798186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8"/>
          <p:cNvSpPr/>
          <p:nvPr/>
        </p:nvSpPr>
        <p:spPr>
          <a:xfrm>
            <a:off x="47625" y="2421250"/>
            <a:ext cx="2076600" cy="1238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2986" y="1170125"/>
            <a:ext cx="419625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8"/>
          <p:cNvPicPr preferRelativeResize="0"/>
          <p:nvPr/>
        </p:nvPicPr>
        <p:blipFill rotWithShape="1">
          <a:blip r:embed="rId5">
            <a:alphaModFix/>
          </a:blip>
          <a:srcRect b="56025" l="18987" r="22171" t="20075"/>
          <a:stretch/>
        </p:blipFill>
        <p:spPr>
          <a:xfrm>
            <a:off x="6334200" y="0"/>
            <a:ext cx="2809800" cy="6419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2" name="Google Shape;372;p38"/>
          <p:cNvPicPr preferRelativeResize="0"/>
          <p:nvPr/>
        </p:nvPicPr>
        <p:blipFill rotWithShape="1">
          <a:blip r:embed="rId6">
            <a:alphaModFix/>
          </a:blip>
          <a:srcRect b="67642" l="20329" r="39753" t="20628"/>
          <a:stretch/>
        </p:blipFill>
        <p:spPr>
          <a:xfrm>
            <a:off x="6334200" y="641975"/>
            <a:ext cx="2809800" cy="46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3" name="Google Shape;373;p38"/>
          <p:cNvSpPr/>
          <p:nvPr/>
        </p:nvSpPr>
        <p:spPr>
          <a:xfrm>
            <a:off x="3999550" y="918600"/>
            <a:ext cx="2315700" cy="213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Competition-Colonization: Evidence</a:t>
            </a:r>
            <a:endParaRPr/>
          </a:p>
        </p:txBody>
      </p:sp>
      <p:sp>
        <p:nvSpPr>
          <p:cNvPr id="379" name="Google Shape;37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Mixed evidence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May be more important in some systems than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Interacts with other coexistence mechanisms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 Heterogeneity</a:t>
            </a:r>
            <a:endParaRPr/>
          </a:p>
        </p:txBody>
      </p:sp>
      <p:sp>
        <p:nvSpPr>
          <p:cNvPr id="385" name="Google Shape;38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 far, we’ve assumed that patches are identical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However, this isn’t going to be the case in reality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Patch differences will also impact coexistence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 Heterogeneity - Distances</a:t>
            </a:r>
            <a:endParaRPr/>
          </a:p>
        </p:txBody>
      </p:sp>
      <p:sp>
        <p:nvSpPr>
          <p:cNvPr id="391" name="Google Shape;39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Different distances between patches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Coexistence via dispersal/fecundity trade-off</a:t>
            </a:r>
            <a:endParaRPr/>
          </a:p>
        </p:txBody>
      </p:sp>
      <p:grpSp>
        <p:nvGrpSpPr>
          <p:cNvPr id="392" name="Google Shape;392;p41"/>
          <p:cNvGrpSpPr/>
          <p:nvPr/>
        </p:nvGrpSpPr>
        <p:grpSpPr>
          <a:xfrm>
            <a:off x="664500" y="2017850"/>
            <a:ext cx="3907500" cy="2750550"/>
            <a:chOff x="664500" y="2017850"/>
            <a:chExt cx="3907500" cy="2750550"/>
          </a:xfrm>
        </p:grpSpPr>
        <p:grpSp>
          <p:nvGrpSpPr>
            <p:cNvPr id="393" name="Google Shape;393;p41"/>
            <p:cNvGrpSpPr/>
            <p:nvPr/>
          </p:nvGrpSpPr>
          <p:grpSpPr>
            <a:xfrm>
              <a:off x="1227600" y="2025950"/>
              <a:ext cx="3344400" cy="2144400"/>
              <a:chOff x="1002925" y="1440975"/>
              <a:chExt cx="3344400" cy="2144400"/>
            </a:xfrm>
          </p:grpSpPr>
          <p:cxnSp>
            <p:nvCxnSpPr>
              <p:cNvPr id="394" name="Google Shape;394;p41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41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96" name="Google Shape;396;p41"/>
            <p:cNvSpPr txBox="1"/>
            <p:nvPr/>
          </p:nvSpPr>
          <p:spPr>
            <a:xfrm>
              <a:off x="1819500" y="4306700"/>
              <a:ext cx="216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Fecundity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41"/>
            <p:cNvSpPr txBox="1"/>
            <p:nvPr/>
          </p:nvSpPr>
          <p:spPr>
            <a:xfrm rot="-5400000">
              <a:off x="-184950" y="2867300"/>
              <a:ext cx="216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Dispersal Ability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398" name="Google Shape;398;p41"/>
            <p:cNvCxnSpPr/>
            <p:nvPr/>
          </p:nvCxnSpPr>
          <p:spPr>
            <a:xfrm>
              <a:off x="1396225" y="20764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 Heterogeneity - Distances</a:t>
            </a:r>
            <a:endParaRPr/>
          </a:p>
        </p:txBody>
      </p:sp>
      <p:sp>
        <p:nvSpPr>
          <p:cNvPr id="404" name="Google Shape;404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Superior disperser: does better in low-density patches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Superior reproducer: does better in high-density patches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Superior colonizer species are concentrated in low-density patches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Superior competitor species are concentrated in high-density patches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/>
              <a:t>Increases a</a:t>
            </a:r>
            <a:r>
              <a:rPr baseline="-25000" lang="en"/>
              <a:t>ii</a:t>
            </a:r>
            <a:r>
              <a:rPr lang="en"/>
              <a:t> relative to a</a:t>
            </a:r>
            <a:r>
              <a:rPr baseline="-25000" lang="en"/>
              <a:t>ji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 Heterogeneity - Distances</a:t>
            </a:r>
            <a:endParaRPr/>
          </a:p>
        </p:txBody>
      </p:sp>
      <p:sp>
        <p:nvSpPr>
          <p:cNvPr id="410" name="Google Shape;410;p43"/>
          <p:cNvSpPr/>
          <p:nvPr/>
        </p:nvSpPr>
        <p:spPr>
          <a:xfrm>
            <a:off x="2603500" y="14139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3"/>
          <p:cNvSpPr/>
          <p:nvPr/>
        </p:nvSpPr>
        <p:spPr>
          <a:xfrm>
            <a:off x="3594100" y="14139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3"/>
          <p:cNvSpPr/>
          <p:nvPr/>
        </p:nvSpPr>
        <p:spPr>
          <a:xfrm>
            <a:off x="2755900" y="21759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3"/>
          <p:cNvSpPr/>
          <p:nvPr/>
        </p:nvSpPr>
        <p:spPr>
          <a:xfrm>
            <a:off x="3746500" y="21759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3"/>
          <p:cNvSpPr/>
          <p:nvPr/>
        </p:nvSpPr>
        <p:spPr>
          <a:xfrm>
            <a:off x="3213100" y="29379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3"/>
          <p:cNvSpPr/>
          <p:nvPr/>
        </p:nvSpPr>
        <p:spPr>
          <a:xfrm>
            <a:off x="4508500" y="15663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3"/>
          <p:cNvSpPr/>
          <p:nvPr/>
        </p:nvSpPr>
        <p:spPr>
          <a:xfrm>
            <a:off x="4432300" y="28617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3"/>
          <p:cNvSpPr/>
          <p:nvPr/>
        </p:nvSpPr>
        <p:spPr>
          <a:xfrm>
            <a:off x="6261100" y="24807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3"/>
          <p:cNvSpPr/>
          <p:nvPr/>
        </p:nvSpPr>
        <p:spPr>
          <a:xfrm>
            <a:off x="165100" y="11091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3"/>
          <p:cNvSpPr/>
          <p:nvPr/>
        </p:nvSpPr>
        <p:spPr>
          <a:xfrm>
            <a:off x="7327900" y="11091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3"/>
          <p:cNvSpPr/>
          <p:nvPr/>
        </p:nvSpPr>
        <p:spPr>
          <a:xfrm rot="2430478">
            <a:off x="270272" y="4234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3"/>
          <p:cNvSpPr/>
          <p:nvPr/>
        </p:nvSpPr>
        <p:spPr>
          <a:xfrm rot="2430478">
            <a:off x="270272" y="4691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3"/>
          <p:cNvSpPr txBox="1"/>
          <p:nvPr/>
        </p:nvSpPr>
        <p:spPr>
          <a:xfrm>
            <a:off x="546100" y="46231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More fecund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423" name="Google Shape;423;p43"/>
          <p:cNvSpPr txBox="1"/>
          <p:nvPr/>
        </p:nvSpPr>
        <p:spPr>
          <a:xfrm>
            <a:off x="546100" y="41659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Better disperser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424" name="Google Shape;424;p43"/>
          <p:cNvSpPr/>
          <p:nvPr/>
        </p:nvSpPr>
        <p:spPr>
          <a:xfrm rot="2430478">
            <a:off x="378222" y="124812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3"/>
          <p:cNvSpPr/>
          <p:nvPr/>
        </p:nvSpPr>
        <p:spPr>
          <a:xfrm rot="2430478">
            <a:off x="6318497" y="254922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3"/>
          <p:cNvSpPr/>
          <p:nvPr/>
        </p:nvSpPr>
        <p:spPr>
          <a:xfrm rot="2430478">
            <a:off x="7320872" y="117762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3"/>
          <p:cNvSpPr/>
          <p:nvPr/>
        </p:nvSpPr>
        <p:spPr>
          <a:xfrm rot="2430478">
            <a:off x="7755272" y="117762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3"/>
          <p:cNvSpPr/>
          <p:nvPr/>
        </p:nvSpPr>
        <p:spPr>
          <a:xfrm rot="2430478">
            <a:off x="98822" y="148454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3"/>
          <p:cNvSpPr/>
          <p:nvPr/>
        </p:nvSpPr>
        <p:spPr>
          <a:xfrm rot="2430478">
            <a:off x="2578897" y="14494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3"/>
          <p:cNvSpPr/>
          <p:nvPr/>
        </p:nvSpPr>
        <p:spPr>
          <a:xfrm rot="2430478">
            <a:off x="2731297" y="18304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3"/>
          <p:cNvSpPr/>
          <p:nvPr/>
        </p:nvSpPr>
        <p:spPr>
          <a:xfrm rot="2430478">
            <a:off x="2883697" y="22876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3"/>
          <p:cNvSpPr/>
          <p:nvPr/>
        </p:nvSpPr>
        <p:spPr>
          <a:xfrm rot="2430478">
            <a:off x="3569497" y="14494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3"/>
          <p:cNvSpPr/>
          <p:nvPr/>
        </p:nvSpPr>
        <p:spPr>
          <a:xfrm rot="2430478">
            <a:off x="3721897" y="21352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3"/>
          <p:cNvSpPr/>
          <p:nvPr/>
        </p:nvSpPr>
        <p:spPr>
          <a:xfrm rot="2430478">
            <a:off x="3417097" y="28972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3"/>
          <p:cNvSpPr/>
          <p:nvPr/>
        </p:nvSpPr>
        <p:spPr>
          <a:xfrm rot="2430478">
            <a:off x="4483897" y="31258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3"/>
          <p:cNvSpPr/>
          <p:nvPr/>
        </p:nvSpPr>
        <p:spPr>
          <a:xfrm rot="2430478">
            <a:off x="4636297" y="18304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3"/>
          <p:cNvSpPr/>
          <p:nvPr/>
        </p:nvSpPr>
        <p:spPr>
          <a:xfrm rot="2430478">
            <a:off x="3950497" y="25162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3"/>
          <p:cNvSpPr/>
          <p:nvPr/>
        </p:nvSpPr>
        <p:spPr>
          <a:xfrm rot="2430478">
            <a:off x="3950497" y="17542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3"/>
          <p:cNvSpPr/>
          <p:nvPr/>
        </p:nvSpPr>
        <p:spPr>
          <a:xfrm rot="2430478">
            <a:off x="3721897" y="31258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3"/>
          <p:cNvSpPr/>
          <p:nvPr/>
        </p:nvSpPr>
        <p:spPr>
          <a:xfrm rot="2430478">
            <a:off x="4331497" y="27448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3"/>
          <p:cNvSpPr/>
          <p:nvPr/>
        </p:nvSpPr>
        <p:spPr>
          <a:xfrm rot="2430478">
            <a:off x="4864897" y="27448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3"/>
          <p:cNvSpPr/>
          <p:nvPr/>
        </p:nvSpPr>
        <p:spPr>
          <a:xfrm rot="2430478">
            <a:off x="4560097" y="22876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3"/>
          <p:cNvSpPr/>
          <p:nvPr/>
        </p:nvSpPr>
        <p:spPr>
          <a:xfrm rot="2430478">
            <a:off x="3112297" y="32782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3"/>
          <p:cNvSpPr/>
          <p:nvPr/>
        </p:nvSpPr>
        <p:spPr>
          <a:xfrm rot="2430478">
            <a:off x="3264697" y="21352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3"/>
          <p:cNvSpPr/>
          <p:nvPr/>
        </p:nvSpPr>
        <p:spPr>
          <a:xfrm rot="2430478">
            <a:off x="2883697" y="12970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3"/>
          <p:cNvSpPr/>
          <p:nvPr/>
        </p:nvSpPr>
        <p:spPr>
          <a:xfrm rot="2430478">
            <a:off x="3264697" y="25162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3"/>
          <p:cNvSpPr/>
          <p:nvPr/>
        </p:nvSpPr>
        <p:spPr>
          <a:xfrm rot="2430478">
            <a:off x="2578897" y="259247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3"/>
          <p:cNvSpPr/>
          <p:nvPr/>
        </p:nvSpPr>
        <p:spPr>
          <a:xfrm>
            <a:off x="165100" y="28617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3"/>
          <p:cNvSpPr/>
          <p:nvPr/>
        </p:nvSpPr>
        <p:spPr>
          <a:xfrm rot="2430478">
            <a:off x="378222" y="300072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3"/>
          <p:cNvSpPr/>
          <p:nvPr/>
        </p:nvSpPr>
        <p:spPr>
          <a:xfrm rot="2430478">
            <a:off x="98822" y="323714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3"/>
          <p:cNvSpPr/>
          <p:nvPr/>
        </p:nvSpPr>
        <p:spPr>
          <a:xfrm>
            <a:off x="3289300" y="43857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2021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3"/>
          <p:cNvSpPr/>
          <p:nvPr/>
        </p:nvSpPr>
        <p:spPr>
          <a:xfrm rot="2430478">
            <a:off x="3502422" y="4524721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3"/>
          <p:cNvSpPr/>
          <p:nvPr/>
        </p:nvSpPr>
        <p:spPr>
          <a:xfrm rot="2430478">
            <a:off x="3223022" y="476114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 Heterogeneity - Quality</a:t>
            </a:r>
            <a:endParaRPr/>
          </a:p>
        </p:txBody>
      </p:sp>
      <p:sp>
        <p:nvSpPr>
          <p:cNvPr id="459" name="Google Shape;45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</a:t>
            </a:r>
            <a:r>
              <a:rPr lang="en"/>
              <a:t>t</a:t>
            </a:r>
            <a:r>
              <a:rPr lang="en"/>
              <a:t> patch qualities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Coexistence via tolerance/fecundity trade-off</a:t>
            </a:r>
            <a:endParaRPr/>
          </a:p>
        </p:txBody>
      </p:sp>
      <p:grpSp>
        <p:nvGrpSpPr>
          <p:cNvPr id="460" name="Google Shape;460;p44"/>
          <p:cNvGrpSpPr/>
          <p:nvPr/>
        </p:nvGrpSpPr>
        <p:grpSpPr>
          <a:xfrm>
            <a:off x="664500" y="2094050"/>
            <a:ext cx="3907500" cy="2750550"/>
            <a:chOff x="664500" y="2094050"/>
            <a:chExt cx="3907500" cy="2750550"/>
          </a:xfrm>
        </p:grpSpPr>
        <p:grpSp>
          <p:nvGrpSpPr>
            <p:cNvPr id="461" name="Google Shape;461;p44"/>
            <p:cNvGrpSpPr/>
            <p:nvPr/>
          </p:nvGrpSpPr>
          <p:grpSpPr>
            <a:xfrm>
              <a:off x="1227600" y="2102150"/>
              <a:ext cx="3344400" cy="2144400"/>
              <a:chOff x="1002925" y="1440975"/>
              <a:chExt cx="3344400" cy="2144400"/>
            </a:xfrm>
          </p:grpSpPr>
          <p:cxnSp>
            <p:nvCxnSpPr>
              <p:cNvPr id="462" name="Google Shape;462;p44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3" name="Google Shape;463;p44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64" name="Google Shape;464;p44"/>
            <p:cNvSpPr txBox="1"/>
            <p:nvPr/>
          </p:nvSpPr>
          <p:spPr>
            <a:xfrm>
              <a:off x="1819500" y="4382900"/>
              <a:ext cx="216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Fecundity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65" name="Google Shape;465;p44"/>
            <p:cNvSpPr txBox="1"/>
            <p:nvPr/>
          </p:nvSpPr>
          <p:spPr>
            <a:xfrm rot="-5400000">
              <a:off x="-184950" y="2943500"/>
              <a:ext cx="2160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Tolerance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466" name="Google Shape;466;p44"/>
            <p:cNvCxnSpPr/>
            <p:nvPr/>
          </p:nvCxnSpPr>
          <p:spPr>
            <a:xfrm>
              <a:off x="1396225" y="21526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 Heterogeneity - Quality</a:t>
            </a:r>
            <a:endParaRPr/>
          </a:p>
        </p:txBody>
      </p:sp>
      <p:sp>
        <p:nvSpPr>
          <p:cNvPr id="472" name="Google Shape;47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Superior tolerator: does better in low-quality patches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Superior reproducer: does better in high-quality patches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Superior tolerator species are concentrated in low-quality patches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Superior reproducer species are concentrated in high-quality patches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/>
              <a:t>Increases a</a:t>
            </a:r>
            <a:r>
              <a:rPr baseline="-25000" lang="en"/>
              <a:t>ii</a:t>
            </a:r>
            <a:r>
              <a:rPr lang="en"/>
              <a:t> relative to a</a:t>
            </a:r>
            <a:r>
              <a:rPr baseline="-25000" lang="en"/>
              <a:t>ji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 Heterogeneity - Quality</a:t>
            </a:r>
            <a:endParaRPr/>
          </a:p>
        </p:txBody>
      </p:sp>
      <p:sp>
        <p:nvSpPr>
          <p:cNvPr id="478" name="Google Shape;478;p46"/>
          <p:cNvSpPr/>
          <p:nvPr/>
        </p:nvSpPr>
        <p:spPr>
          <a:xfrm rot="2430478">
            <a:off x="270272" y="4234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6"/>
          <p:cNvSpPr/>
          <p:nvPr/>
        </p:nvSpPr>
        <p:spPr>
          <a:xfrm rot="2430478">
            <a:off x="270272" y="4691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6"/>
          <p:cNvSpPr txBox="1"/>
          <p:nvPr/>
        </p:nvSpPr>
        <p:spPr>
          <a:xfrm>
            <a:off x="546100" y="46231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More fecund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481" name="Google Shape;481;p46"/>
          <p:cNvSpPr txBox="1"/>
          <p:nvPr/>
        </p:nvSpPr>
        <p:spPr>
          <a:xfrm>
            <a:off x="546100" y="4165900"/>
            <a:ext cx="191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= More tolerant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482" name="Google Shape;482;p46"/>
          <p:cNvSpPr/>
          <p:nvPr/>
        </p:nvSpPr>
        <p:spPr>
          <a:xfrm>
            <a:off x="850900" y="13377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783F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6"/>
          <p:cNvSpPr/>
          <p:nvPr/>
        </p:nvSpPr>
        <p:spPr>
          <a:xfrm>
            <a:off x="1917700" y="13377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6"/>
          <p:cNvSpPr/>
          <p:nvPr/>
        </p:nvSpPr>
        <p:spPr>
          <a:xfrm>
            <a:off x="2984500" y="13377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6"/>
          <p:cNvSpPr/>
          <p:nvPr/>
        </p:nvSpPr>
        <p:spPr>
          <a:xfrm>
            <a:off x="4203700" y="13377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6"/>
          <p:cNvSpPr/>
          <p:nvPr/>
        </p:nvSpPr>
        <p:spPr>
          <a:xfrm>
            <a:off x="6261100" y="10329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6"/>
          <p:cNvSpPr/>
          <p:nvPr/>
        </p:nvSpPr>
        <p:spPr>
          <a:xfrm>
            <a:off x="8089900" y="20997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6"/>
          <p:cNvSpPr/>
          <p:nvPr/>
        </p:nvSpPr>
        <p:spPr>
          <a:xfrm>
            <a:off x="1841500" y="22521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6"/>
          <p:cNvSpPr/>
          <p:nvPr/>
        </p:nvSpPr>
        <p:spPr>
          <a:xfrm>
            <a:off x="3136900" y="24045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6"/>
          <p:cNvSpPr/>
          <p:nvPr/>
        </p:nvSpPr>
        <p:spPr>
          <a:xfrm>
            <a:off x="4508500" y="25569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6"/>
          <p:cNvSpPr/>
          <p:nvPr/>
        </p:nvSpPr>
        <p:spPr>
          <a:xfrm>
            <a:off x="5575300" y="27093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6"/>
          <p:cNvSpPr/>
          <p:nvPr/>
        </p:nvSpPr>
        <p:spPr>
          <a:xfrm>
            <a:off x="6946900" y="28617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6"/>
          <p:cNvSpPr/>
          <p:nvPr/>
        </p:nvSpPr>
        <p:spPr>
          <a:xfrm>
            <a:off x="2527300" y="30903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6"/>
          <p:cNvSpPr/>
          <p:nvPr/>
        </p:nvSpPr>
        <p:spPr>
          <a:xfrm>
            <a:off x="1612900" y="31665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783F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6"/>
          <p:cNvSpPr/>
          <p:nvPr/>
        </p:nvSpPr>
        <p:spPr>
          <a:xfrm>
            <a:off x="774700" y="21759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783F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6"/>
          <p:cNvSpPr/>
          <p:nvPr/>
        </p:nvSpPr>
        <p:spPr>
          <a:xfrm>
            <a:off x="3822700" y="34713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6"/>
          <p:cNvSpPr/>
          <p:nvPr/>
        </p:nvSpPr>
        <p:spPr>
          <a:xfrm>
            <a:off x="6413500" y="17949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46"/>
          <p:cNvSpPr/>
          <p:nvPr/>
        </p:nvSpPr>
        <p:spPr>
          <a:xfrm>
            <a:off x="7327900" y="12615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6"/>
          <p:cNvSpPr/>
          <p:nvPr/>
        </p:nvSpPr>
        <p:spPr>
          <a:xfrm>
            <a:off x="5422900" y="15663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6"/>
          <p:cNvSpPr/>
          <p:nvPr/>
        </p:nvSpPr>
        <p:spPr>
          <a:xfrm>
            <a:off x="7251700" y="2023525"/>
            <a:ext cx="645600" cy="572700"/>
          </a:xfrm>
          <a:prstGeom prst="rect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6"/>
          <p:cNvSpPr/>
          <p:nvPr/>
        </p:nvSpPr>
        <p:spPr>
          <a:xfrm rot="2430478">
            <a:off x="803672" y="1262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6"/>
          <p:cNvSpPr/>
          <p:nvPr/>
        </p:nvSpPr>
        <p:spPr>
          <a:xfrm rot="2430478">
            <a:off x="651272" y="2405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6"/>
          <p:cNvSpPr/>
          <p:nvPr/>
        </p:nvSpPr>
        <p:spPr>
          <a:xfrm rot="2430478">
            <a:off x="2861072" y="3167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6"/>
          <p:cNvSpPr/>
          <p:nvPr/>
        </p:nvSpPr>
        <p:spPr>
          <a:xfrm rot="2430478">
            <a:off x="1565672" y="3167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6"/>
          <p:cNvSpPr/>
          <p:nvPr/>
        </p:nvSpPr>
        <p:spPr>
          <a:xfrm rot="2430478">
            <a:off x="1794272" y="2176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6"/>
          <p:cNvSpPr/>
          <p:nvPr/>
        </p:nvSpPr>
        <p:spPr>
          <a:xfrm rot="2430478">
            <a:off x="1946672" y="1262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6"/>
          <p:cNvSpPr/>
          <p:nvPr/>
        </p:nvSpPr>
        <p:spPr>
          <a:xfrm rot="2430478">
            <a:off x="3318272" y="1414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6"/>
          <p:cNvSpPr/>
          <p:nvPr/>
        </p:nvSpPr>
        <p:spPr>
          <a:xfrm rot="2430478">
            <a:off x="2251472" y="2329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6"/>
          <p:cNvSpPr/>
          <p:nvPr/>
        </p:nvSpPr>
        <p:spPr>
          <a:xfrm rot="2430478">
            <a:off x="2175272" y="1567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6"/>
          <p:cNvSpPr/>
          <p:nvPr/>
        </p:nvSpPr>
        <p:spPr>
          <a:xfrm rot="2430478">
            <a:off x="1260872" y="1643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6"/>
          <p:cNvSpPr/>
          <p:nvPr/>
        </p:nvSpPr>
        <p:spPr>
          <a:xfrm rot="2430478">
            <a:off x="3394472" y="2557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6"/>
          <p:cNvSpPr/>
          <p:nvPr/>
        </p:nvSpPr>
        <p:spPr>
          <a:xfrm rot="2430478">
            <a:off x="2556272" y="3091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6"/>
          <p:cNvSpPr/>
          <p:nvPr/>
        </p:nvSpPr>
        <p:spPr>
          <a:xfrm rot="2430478">
            <a:off x="3013472" y="1719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6"/>
          <p:cNvSpPr/>
          <p:nvPr/>
        </p:nvSpPr>
        <p:spPr>
          <a:xfrm rot="2430478">
            <a:off x="3089672" y="2557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46"/>
          <p:cNvSpPr/>
          <p:nvPr/>
        </p:nvSpPr>
        <p:spPr>
          <a:xfrm rot="2430478">
            <a:off x="3318272" y="22528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6"/>
          <p:cNvSpPr/>
          <p:nvPr/>
        </p:nvSpPr>
        <p:spPr>
          <a:xfrm rot="2430478">
            <a:off x="3927872" y="3700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46"/>
          <p:cNvSpPr/>
          <p:nvPr/>
        </p:nvSpPr>
        <p:spPr>
          <a:xfrm rot="2430478">
            <a:off x="8347472" y="2176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6"/>
          <p:cNvSpPr/>
          <p:nvPr/>
        </p:nvSpPr>
        <p:spPr>
          <a:xfrm rot="2430478">
            <a:off x="8347472" y="2557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6"/>
          <p:cNvSpPr/>
          <p:nvPr/>
        </p:nvSpPr>
        <p:spPr>
          <a:xfrm rot="2430478">
            <a:off x="7966472" y="2176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6"/>
          <p:cNvSpPr/>
          <p:nvPr/>
        </p:nvSpPr>
        <p:spPr>
          <a:xfrm rot="2430478">
            <a:off x="7814072" y="1567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6"/>
          <p:cNvSpPr/>
          <p:nvPr/>
        </p:nvSpPr>
        <p:spPr>
          <a:xfrm rot="2430478">
            <a:off x="7814072" y="1186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6"/>
          <p:cNvSpPr/>
          <p:nvPr/>
        </p:nvSpPr>
        <p:spPr>
          <a:xfrm rot="2430478">
            <a:off x="7661672" y="2481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6"/>
          <p:cNvSpPr/>
          <p:nvPr/>
        </p:nvSpPr>
        <p:spPr>
          <a:xfrm rot="2430478">
            <a:off x="7204472" y="3091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6"/>
          <p:cNvSpPr/>
          <p:nvPr/>
        </p:nvSpPr>
        <p:spPr>
          <a:xfrm rot="2430478">
            <a:off x="7356872" y="2710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/>
          <p:nvPr/>
        </p:nvSpPr>
        <p:spPr>
          <a:xfrm rot="2430478">
            <a:off x="6899672" y="2786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6"/>
          <p:cNvSpPr/>
          <p:nvPr/>
        </p:nvSpPr>
        <p:spPr>
          <a:xfrm rot="2430478">
            <a:off x="7585472" y="2100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6"/>
          <p:cNvSpPr/>
          <p:nvPr/>
        </p:nvSpPr>
        <p:spPr>
          <a:xfrm rot="2430478">
            <a:off x="7128272" y="22528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6"/>
          <p:cNvSpPr/>
          <p:nvPr/>
        </p:nvSpPr>
        <p:spPr>
          <a:xfrm rot="2430478">
            <a:off x="7280672" y="1186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6"/>
          <p:cNvSpPr/>
          <p:nvPr/>
        </p:nvSpPr>
        <p:spPr>
          <a:xfrm rot="2430478">
            <a:off x="7433072" y="1567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6"/>
          <p:cNvSpPr/>
          <p:nvPr/>
        </p:nvSpPr>
        <p:spPr>
          <a:xfrm rot="2430478">
            <a:off x="6747272" y="1719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6"/>
          <p:cNvSpPr/>
          <p:nvPr/>
        </p:nvSpPr>
        <p:spPr>
          <a:xfrm rot="2430478">
            <a:off x="6747272" y="21004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6"/>
          <p:cNvSpPr/>
          <p:nvPr/>
        </p:nvSpPr>
        <p:spPr>
          <a:xfrm rot="2430478">
            <a:off x="6366272" y="18718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6"/>
          <p:cNvSpPr/>
          <p:nvPr/>
        </p:nvSpPr>
        <p:spPr>
          <a:xfrm rot="2430478">
            <a:off x="6518672" y="881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6"/>
          <p:cNvSpPr/>
          <p:nvPr/>
        </p:nvSpPr>
        <p:spPr>
          <a:xfrm rot="2430478">
            <a:off x="6671072" y="1262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6"/>
          <p:cNvSpPr/>
          <p:nvPr/>
        </p:nvSpPr>
        <p:spPr>
          <a:xfrm rot="2430478">
            <a:off x="6213872" y="11098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6"/>
          <p:cNvSpPr/>
          <p:nvPr/>
        </p:nvSpPr>
        <p:spPr>
          <a:xfrm rot="2430478">
            <a:off x="6290072" y="14146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6"/>
          <p:cNvSpPr/>
          <p:nvPr/>
        </p:nvSpPr>
        <p:spPr>
          <a:xfrm rot="2430478">
            <a:off x="5756672" y="1567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6"/>
          <p:cNvSpPr/>
          <p:nvPr/>
        </p:nvSpPr>
        <p:spPr>
          <a:xfrm rot="2430478">
            <a:off x="5604272" y="1948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6"/>
          <p:cNvSpPr/>
          <p:nvPr/>
        </p:nvSpPr>
        <p:spPr>
          <a:xfrm rot="2430478">
            <a:off x="4308872" y="1567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6"/>
          <p:cNvSpPr/>
          <p:nvPr/>
        </p:nvSpPr>
        <p:spPr>
          <a:xfrm rot="2430478">
            <a:off x="4156472" y="12622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6"/>
          <p:cNvSpPr/>
          <p:nvPr/>
        </p:nvSpPr>
        <p:spPr>
          <a:xfrm rot="2430478">
            <a:off x="4613672" y="2710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6"/>
          <p:cNvSpPr/>
          <p:nvPr/>
        </p:nvSpPr>
        <p:spPr>
          <a:xfrm rot="2430478">
            <a:off x="5909072" y="2710096"/>
            <a:ext cx="319604" cy="294711"/>
          </a:xfrm>
          <a:prstGeom prst="pie">
            <a:avLst>
              <a:gd fmla="val 0" name="adj1"/>
              <a:gd fmla="val 1810246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3" name="Google Shape;543;p46"/>
          <p:cNvCxnSpPr/>
          <p:nvPr/>
        </p:nvCxnSpPr>
        <p:spPr>
          <a:xfrm rot="10800000">
            <a:off x="806425" y="4112850"/>
            <a:ext cx="7313100" cy="21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4" name="Google Shape;544;p46"/>
          <p:cNvSpPr txBox="1"/>
          <p:nvPr/>
        </p:nvSpPr>
        <p:spPr>
          <a:xfrm>
            <a:off x="6976525" y="4044900"/>
            <a:ext cx="13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Stress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Patches and Coexistence</a:t>
            </a:r>
            <a:endParaRPr/>
          </a:p>
        </p:txBody>
      </p:sp>
      <p:grpSp>
        <p:nvGrpSpPr>
          <p:cNvPr id="550" name="Google Shape;550;p47"/>
          <p:cNvGrpSpPr/>
          <p:nvPr/>
        </p:nvGrpSpPr>
        <p:grpSpPr>
          <a:xfrm>
            <a:off x="-97521" y="2669938"/>
            <a:ext cx="2893504" cy="2242047"/>
            <a:chOff x="664500" y="2094050"/>
            <a:chExt cx="3907500" cy="2882550"/>
          </a:xfrm>
        </p:grpSpPr>
        <p:grpSp>
          <p:nvGrpSpPr>
            <p:cNvPr id="551" name="Google Shape;551;p47"/>
            <p:cNvGrpSpPr/>
            <p:nvPr/>
          </p:nvGrpSpPr>
          <p:grpSpPr>
            <a:xfrm>
              <a:off x="1227600" y="2102150"/>
              <a:ext cx="3344400" cy="2144400"/>
              <a:chOff x="1002925" y="1440975"/>
              <a:chExt cx="3344400" cy="2144400"/>
            </a:xfrm>
          </p:grpSpPr>
          <p:cxnSp>
            <p:nvCxnSpPr>
              <p:cNvPr id="552" name="Google Shape;552;p47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3" name="Google Shape;553;p47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54" name="Google Shape;554;p47"/>
            <p:cNvSpPr txBox="1"/>
            <p:nvPr/>
          </p:nvSpPr>
          <p:spPr>
            <a:xfrm>
              <a:off x="1819500" y="4382900"/>
              <a:ext cx="21606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Fecundity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55" name="Google Shape;555;p47"/>
            <p:cNvSpPr txBox="1"/>
            <p:nvPr/>
          </p:nvSpPr>
          <p:spPr>
            <a:xfrm rot="-5400000">
              <a:off x="-103950" y="2862500"/>
              <a:ext cx="2160600" cy="6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Tolerance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556" name="Google Shape;556;p47"/>
            <p:cNvCxnSpPr/>
            <p:nvPr/>
          </p:nvCxnSpPr>
          <p:spPr>
            <a:xfrm>
              <a:off x="1396225" y="21526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57" name="Google Shape;557;p47"/>
          <p:cNvGrpSpPr/>
          <p:nvPr/>
        </p:nvGrpSpPr>
        <p:grpSpPr>
          <a:xfrm>
            <a:off x="2719784" y="2669794"/>
            <a:ext cx="3287380" cy="2242336"/>
            <a:chOff x="664500" y="2017850"/>
            <a:chExt cx="3907500" cy="2882550"/>
          </a:xfrm>
        </p:grpSpPr>
        <p:grpSp>
          <p:nvGrpSpPr>
            <p:cNvPr id="558" name="Google Shape;558;p47"/>
            <p:cNvGrpSpPr/>
            <p:nvPr/>
          </p:nvGrpSpPr>
          <p:grpSpPr>
            <a:xfrm>
              <a:off x="1227600" y="2025950"/>
              <a:ext cx="3344400" cy="2144400"/>
              <a:chOff x="1002925" y="1440975"/>
              <a:chExt cx="3344400" cy="2144400"/>
            </a:xfrm>
          </p:grpSpPr>
          <p:cxnSp>
            <p:nvCxnSpPr>
              <p:cNvPr id="559" name="Google Shape;559;p47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" name="Google Shape;560;p47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61" name="Google Shape;561;p47"/>
            <p:cNvSpPr txBox="1"/>
            <p:nvPr/>
          </p:nvSpPr>
          <p:spPr>
            <a:xfrm>
              <a:off x="1819500" y="4306700"/>
              <a:ext cx="21606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Fecundity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62" name="Google Shape;562;p47"/>
            <p:cNvSpPr txBox="1"/>
            <p:nvPr/>
          </p:nvSpPr>
          <p:spPr>
            <a:xfrm rot="-5400000">
              <a:off x="-141450" y="2823800"/>
              <a:ext cx="21606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Dispersal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563" name="Google Shape;563;p47"/>
            <p:cNvCxnSpPr/>
            <p:nvPr/>
          </p:nvCxnSpPr>
          <p:spPr>
            <a:xfrm>
              <a:off x="1396225" y="20764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64" name="Google Shape;564;p47"/>
          <p:cNvGrpSpPr/>
          <p:nvPr/>
        </p:nvGrpSpPr>
        <p:grpSpPr>
          <a:xfrm>
            <a:off x="6007200" y="2571827"/>
            <a:ext cx="2973998" cy="2359014"/>
            <a:chOff x="664500" y="1560650"/>
            <a:chExt cx="3907500" cy="2845958"/>
          </a:xfrm>
        </p:grpSpPr>
        <p:grpSp>
          <p:nvGrpSpPr>
            <p:cNvPr id="565" name="Google Shape;565;p47"/>
            <p:cNvGrpSpPr/>
            <p:nvPr/>
          </p:nvGrpSpPr>
          <p:grpSpPr>
            <a:xfrm>
              <a:off x="1227600" y="1568750"/>
              <a:ext cx="3344400" cy="2144400"/>
              <a:chOff x="1002925" y="1440975"/>
              <a:chExt cx="3344400" cy="2144400"/>
            </a:xfrm>
          </p:grpSpPr>
          <p:cxnSp>
            <p:nvCxnSpPr>
              <p:cNvPr id="566" name="Google Shape;566;p47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" name="Google Shape;567;p47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68" name="Google Shape;568;p47"/>
            <p:cNvSpPr txBox="1"/>
            <p:nvPr/>
          </p:nvSpPr>
          <p:spPr>
            <a:xfrm>
              <a:off x="1237504" y="3849508"/>
              <a:ext cx="2985300" cy="5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Competitive Ability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69" name="Google Shape;569;p47"/>
            <p:cNvSpPr txBox="1"/>
            <p:nvPr/>
          </p:nvSpPr>
          <p:spPr>
            <a:xfrm rot="-5400000">
              <a:off x="-112500" y="2337650"/>
              <a:ext cx="2160600" cy="6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Dispersal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570" name="Google Shape;570;p47"/>
            <p:cNvCxnSpPr/>
            <p:nvPr/>
          </p:nvCxnSpPr>
          <p:spPr>
            <a:xfrm>
              <a:off x="1396225" y="16192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Patches and Coexistence</a:t>
            </a:r>
            <a:endParaRPr/>
          </a:p>
        </p:txBody>
      </p:sp>
      <p:grpSp>
        <p:nvGrpSpPr>
          <p:cNvPr id="576" name="Google Shape;576;p48"/>
          <p:cNvGrpSpPr/>
          <p:nvPr/>
        </p:nvGrpSpPr>
        <p:grpSpPr>
          <a:xfrm>
            <a:off x="-97521" y="2669938"/>
            <a:ext cx="2893504" cy="2242047"/>
            <a:chOff x="664500" y="2094050"/>
            <a:chExt cx="3907500" cy="2882550"/>
          </a:xfrm>
        </p:grpSpPr>
        <p:grpSp>
          <p:nvGrpSpPr>
            <p:cNvPr id="577" name="Google Shape;577;p48"/>
            <p:cNvGrpSpPr/>
            <p:nvPr/>
          </p:nvGrpSpPr>
          <p:grpSpPr>
            <a:xfrm>
              <a:off x="1227600" y="2102150"/>
              <a:ext cx="3344400" cy="2144400"/>
              <a:chOff x="1002925" y="1440975"/>
              <a:chExt cx="3344400" cy="2144400"/>
            </a:xfrm>
          </p:grpSpPr>
          <p:cxnSp>
            <p:nvCxnSpPr>
              <p:cNvPr id="578" name="Google Shape;578;p48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9" name="Google Shape;579;p48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80" name="Google Shape;580;p48"/>
            <p:cNvSpPr txBox="1"/>
            <p:nvPr/>
          </p:nvSpPr>
          <p:spPr>
            <a:xfrm>
              <a:off x="1819500" y="4382900"/>
              <a:ext cx="21606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Fecundity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81" name="Google Shape;581;p48"/>
            <p:cNvSpPr txBox="1"/>
            <p:nvPr/>
          </p:nvSpPr>
          <p:spPr>
            <a:xfrm rot="-5400000">
              <a:off x="-103950" y="2862500"/>
              <a:ext cx="2160600" cy="6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Tolerance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582" name="Google Shape;582;p48"/>
            <p:cNvCxnSpPr/>
            <p:nvPr/>
          </p:nvCxnSpPr>
          <p:spPr>
            <a:xfrm>
              <a:off x="1396225" y="21526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83" name="Google Shape;583;p48"/>
          <p:cNvGrpSpPr/>
          <p:nvPr/>
        </p:nvGrpSpPr>
        <p:grpSpPr>
          <a:xfrm>
            <a:off x="2719784" y="2669794"/>
            <a:ext cx="3287380" cy="2242336"/>
            <a:chOff x="664500" y="2017850"/>
            <a:chExt cx="3907500" cy="2882550"/>
          </a:xfrm>
        </p:grpSpPr>
        <p:grpSp>
          <p:nvGrpSpPr>
            <p:cNvPr id="584" name="Google Shape;584;p48"/>
            <p:cNvGrpSpPr/>
            <p:nvPr/>
          </p:nvGrpSpPr>
          <p:grpSpPr>
            <a:xfrm>
              <a:off x="1227600" y="2025950"/>
              <a:ext cx="3344400" cy="2144400"/>
              <a:chOff x="1002925" y="1440975"/>
              <a:chExt cx="3344400" cy="2144400"/>
            </a:xfrm>
          </p:grpSpPr>
          <p:cxnSp>
            <p:nvCxnSpPr>
              <p:cNvPr id="585" name="Google Shape;585;p48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86" name="Google Shape;586;p48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87" name="Google Shape;587;p48"/>
            <p:cNvSpPr txBox="1"/>
            <p:nvPr/>
          </p:nvSpPr>
          <p:spPr>
            <a:xfrm>
              <a:off x="1819500" y="4306700"/>
              <a:ext cx="21606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Fecundity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88" name="Google Shape;588;p48"/>
            <p:cNvSpPr txBox="1"/>
            <p:nvPr/>
          </p:nvSpPr>
          <p:spPr>
            <a:xfrm rot="-5400000">
              <a:off x="-141450" y="2823800"/>
              <a:ext cx="21606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Dispersal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589" name="Google Shape;589;p48"/>
            <p:cNvCxnSpPr/>
            <p:nvPr/>
          </p:nvCxnSpPr>
          <p:spPr>
            <a:xfrm>
              <a:off x="1396225" y="20764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90" name="Google Shape;590;p48"/>
          <p:cNvGrpSpPr/>
          <p:nvPr/>
        </p:nvGrpSpPr>
        <p:grpSpPr>
          <a:xfrm>
            <a:off x="6007200" y="2571827"/>
            <a:ext cx="2973998" cy="2359014"/>
            <a:chOff x="664500" y="1560650"/>
            <a:chExt cx="3907500" cy="2845958"/>
          </a:xfrm>
        </p:grpSpPr>
        <p:grpSp>
          <p:nvGrpSpPr>
            <p:cNvPr id="591" name="Google Shape;591;p48"/>
            <p:cNvGrpSpPr/>
            <p:nvPr/>
          </p:nvGrpSpPr>
          <p:grpSpPr>
            <a:xfrm>
              <a:off x="1227600" y="1568750"/>
              <a:ext cx="3344400" cy="2144400"/>
              <a:chOff x="1002925" y="1440975"/>
              <a:chExt cx="3344400" cy="2144400"/>
            </a:xfrm>
          </p:grpSpPr>
          <p:cxnSp>
            <p:nvCxnSpPr>
              <p:cNvPr id="592" name="Google Shape;592;p48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93" name="Google Shape;593;p48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94" name="Google Shape;594;p48"/>
            <p:cNvSpPr txBox="1"/>
            <p:nvPr/>
          </p:nvSpPr>
          <p:spPr>
            <a:xfrm>
              <a:off x="1237504" y="3849508"/>
              <a:ext cx="2985300" cy="5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Competitive Ability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95" name="Google Shape;595;p48"/>
            <p:cNvSpPr txBox="1"/>
            <p:nvPr/>
          </p:nvSpPr>
          <p:spPr>
            <a:xfrm rot="-5400000">
              <a:off x="-112500" y="2337650"/>
              <a:ext cx="2160600" cy="6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Dispersal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596" name="Google Shape;596;p48"/>
            <p:cNvCxnSpPr/>
            <p:nvPr/>
          </p:nvCxnSpPr>
          <p:spPr>
            <a:xfrm>
              <a:off x="1396225" y="16192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97" name="Google Shape;597;p48"/>
          <p:cNvGrpSpPr/>
          <p:nvPr/>
        </p:nvGrpSpPr>
        <p:grpSpPr>
          <a:xfrm>
            <a:off x="5998479" y="155338"/>
            <a:ext cx="2893504" cy="2242042"/>
            <a:chOff x="664500" y="2094050"/>
            <a:chExt cx="3907500" cy="2882543"/>
          </a:xfrm>
        </p:grpSpPr>
        <p:grpSp>
          <p:nvGrpSpPr>
            <p:cNvPr id="598" name="Google Shape;598;p48"/>
            <p:cNvGrpSpPr/>
            <p:nvPr/>
          </p:nvGrpSpPr>
          <p:grpSpPr>
            <a:xfrm>
              <a:off x="1227600" y="2102150"/>
              <a:ext cx="3344400" cy="2144400"/>
              <a:chOff x="1002925" y="1440975"/>
              <a:chExt cx="3344400" cy="2144400"/>
            </a:xfrm>
          </p:grpSpPr>
          <p:cxnSp>
            <p:nvCxnSpPr>
              <p:cNvPr id="599" name="Google Shape;599;p48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0" name="Google Shape;600;p48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01" name="Google Shape;601;p48"/>
            <p:cNvSpPr txBox="1"/>
            <p:nvPr/>
          </p:nvSpPr>
          <p:spPr>
            <a:xfrm>
              <a:off x="1396230" y="4382893"/>
              <a:ext cx="30951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Competitive Ability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02" name="Google Shape;602;p48"/>
            <p:cNvSpPr txBox="1"/>
            <p:nvPr/>
          </p:nvSpPr>
          <p:spPr>
            <a:xfrm rot="-5400000">
              <a:off x="-103950" y="2862500"/>
              <a:ext cx="2160600" cy="6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Tolerance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603" name="Google Shape;603;p48"/>
            <p:cNvCxnSpPr/>
            <p:nvPr/>
          </p:nvCxnSpPr>
          <p:spPr>
            <a:xfrm>
              <a:off x="1396225" y="21526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Patches and Coexistence</a:t>
            </a:r>
            <a:endParaRPr/>
          </a:p>
        </p:txBody>
      </p:sp>
      <p:grpSp>
        <p:nvGrpSpPr>
          <p:cNvPr id="609" name="Google Shape;609;p49"/>
          <p:cNvGrpSpPr/>
          <p:nvPr/>
        </p:nvGrpSpPr>
        <p:grpSpPr>
          <a:xfrm>
            <a:off x="-97521" y="2669938"/>
            <a:ext cx="2893504" cy="2242047"/>
            <a:chOff x="664500" y="2094050"/>
            <a:chExt cx="3907500" cy="2882550"/>
          </a:xfrm>
        </p:grpSpPr>
        <p:grpSp>
          <p:nvGrpSpPr>
            <p:cNvPr id="610" name="Google Shape;610;p49"/>
            <p:cNvGrpSpPr/>
            <p:nvPr/>
          </p:nvGrpSpPr>
          <p:grpSpPr>
            <a:xfrm>
              <a:off x="1227600" y="2102150"/>
              <a:ext cx="3344400" cy="2144400"/>
              <a:chOff x="1002925" y="1440975"/>
              <a:chExt cx="3344400" cy="2144400"/>
            </a:xfrm>
          </p:grpSpPr>
          <p:cxnSp>
            <p:nvCxnSpPr>
              <p:cNvPr id="611" name="Google Shape;611;p49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2" name="Google Shape;612;p49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13" name="Google Shape;613;p49"/>
            <p:cNvSpPr txBox="1"/>
            <p:nvPr/>
          </p:nvSpPr>
          <p:spPr>
            <a:xfrm>
              <a:off x="1819500" y="4382900"/>
              <a:ext cx="21606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Fecundity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14" name="Google Shape;614;p49"/>
            <p:cNvSpPr txBox="1"/>
            <p:nvPr/>
          </p:nvSpPr>
          <p:spPr>
            <a:xfrm rot="-5400000">
              <a:off x="-103950" y="2862500"/>
              <a:ext cx="2160600" cy="6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Tolerance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615" name="Google Shape;615;p49"/>
            <p:cNvCxnSpPr/>
            <p:nvPr/>
          </p:nvCxnSpPr>
          <p:spPr>
            <a:xfrm>
              <a:off x="1396225" y="21526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16" name="Google Shape;616;p49"/>
          <p:cNvGrpSpPr/>
          <p:nvPr/>
        </p:nvGrpSpPr>
        <p:grpSpPr>
          <a:xfrm>
            <a:off x="2719784" y="2669794"/>
            <a:ext cx="3287380" cy="2242336"/>
            <a:chOff x="664500" y="2017850"/>
            <a:chExt cx="3907500" cy="2882550"/>
          </a:xfrm>
        </p:grpSpPr>
        <p:grpSp>
          <p:nvGrpSpPr>
            <p:cNvPr id="617" name="Google Shape;617;p49"/>
            <p:cNvGrpSpPr/>
            <p:nvPr/>
          </p:nvGrpSpPr>
          <p:grpSpPr>
            <a:xfrm>
              <a:off x="1227600" y="2025950"/>
              <a:ext cx="3344400" cy="2144400"/>
              <a:chOff x="1002925" y="1440975"/>
              <a:chExt cx="3344400" cy="2144400"/>
            </a:xfrm>
          </p:grpSpPr>
          <p:cxnSp>
            <p:nvCxnSpPr>
              <p:cNvPr id="618" name="Google Shape;618;p49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9" name="Google Shape;619;p49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20" name="Google Shape;620;p49"/>
            <p:cNvSpPr txBox="1"/>
            <p:nvPr/>
          </p:nvSpPr>
          <p:spPr>
            <a:xfrm>
              <a:off x="1819500" y="4306700"/>
              <a:ext cx="21606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Fecundity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21" name="Google Shape;621;p49"/>
            <p:cNvSpPr txBox="1"/>
            <p:nvPr/>
          </p:nvSpPr>
          <p:spPr>
            <a:xfrm rot="-5400000">
              <a:off x="-141450" y="2823800"/>
              <a:ext cx="21606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Dispersal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622" name="Google Shape;622;p49"/>
            <p:cNvCxnSpPr/>
            <p:nvPr/>
          </p:nvCxnSpPr>
          <p:spPr>
            <a:xfrm>
              <a:off x="1396225" y="20764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23" name="Google Shape;623;p49"/>
          <p:cNvGrpSpPr/>
          <p:nvPr/>
        </p:nvGrpSpPr>
        <p:grpSpPr>
          <a:xfrm>
            <a:off x="6007200" y="2571827"/>
            <a:ext cx="2973998" cy="2359014"/>
            <a:chOff x="664500" y="1560650"/>
            <a:chExt cx="3907500" cy="2845958"/>
          </a:xfrm>
        </p:grpSpPr>
        <p:grpSp>
          <p:nvGrpSpPr>
            <p:cNvPr id="624" name="Google Shape;624;p49"/>
            <p:cNvGrpSpPr/>
            <p:nvPr/>
          </p:nvGrpSpPr>
          <p:grpSpPr>
            <a:xfrm>
              <a:off x="1227600" y="1568750"/>
              <a:ext cx="3344400" cy="2144400"/>
              <a:chOff x="1002925" y="1440975"/>
              <a:chExt cx="3344400" cy="2144400"/>
            </a:xfrm>
          </p:grpSpPr>
          <p:cxnSp>
            <p:nvCxnSpPr>
              <p:cNvPr id="625" name="Google Shape;625;p49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6" name="Google Shape;626;p49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27" name="Google Shape;627;p49"/>
            <p:cNvSpPr txBox="1"/>
            <p:nvPr/>
          </p:nvSpPr>
          <p:spPr>
            <a:xfrm>
              <a:off x="1237504" y="3849508"/>
              <a:ext cx="2985300" cy="5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Competitive Ability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28" name="Google Shape;628;p49"/>
            <p:cNvSpPr txBox="1"/>
            <p:nvPr/>
          </p:nvSpPr>
          <p:spPr>
            <a:xfrm rot="-5400000">
              <a:off x="-112500" y="2337650"/>
              <a:ext cx="2160600" cy="6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Dispersal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629" name="Google Shape;629;p49"/>
            <p:cNvCxnSpPr/>
            <p:nvPr/>
          </p:nvCxnSpPr>
          <p:spPr>
            <a:xfrm>
              <a:off x="1396225" y="16192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30" name="Google Shape;630;p49"/>
          <p:cNvGrpSpPr/>
          <p:nvPr/>
        </p:nvGrpSpPr>
        <p:grpSpPr>
          <a:xfrm>
            <a:off x="5998479" y="155338"/>
            <a:ext cx="2893504" cy="2242042"/>
            <a:chOff x="664500" y="2094050"/>
            <a:chExt cx="3907500" cy="2882543"/>
          </a:xfrm>
        </p:grpSpPr>
        <p:grpSp>
          <p:nvGrpSpPr>
            <p:cNvPr id="631" name="Google Shape;631;p49"/>
            <p:cNvGrpSpPr/>
            <p:nvPr/>
          </p:nvGrpSpPr>
          <p:grpSpPr>
            <a:xfrm>
              <a:off x="1227600" y="2102150"/>
              <a:ext cx="3344400" cy="2144400"/>
              <a:chOff x="1002925" y="1440975"/>
              <a:chExt cx="3344400" cy="2144400"/>
            </a:xfrm>
          </p:grpSpPr>
          <p:cxnSp>
            <p:nvCxnSpPr>
              <p:cNvPr id="632" name="Google Shape;632;p49"/>
              <p:cNvCxnSpPr/>
              <p:nvPr/>
            </p:nvCxnSpPr>
            <p:spPr>
              <a:xfrm>
                <a:off x="1002925" y="1440975"/>
                <a:ext cx="9900" cy="2140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33" name="Google Shape;633;p49"/>
              <p:cNvCxnSpPr/>
              <p:nvPr/>
            </p:nvCxnSpPr>
            <p:spPr>
              <a:xfrm flipH="1" rot="10800000">
                <a:off x="1002925" y="3581775"/>
                <a:ext cx="3344400" cy="3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34" name="Google Shape;634;p49"/>
            <p:cNvSpPr txBox="1"/>
            <p:nvPr/>
          </p:nvSpPr>
          <p:spPr>
            <a:xfrm>
              <a:off x="1396230" y="4382893"/>
              <a:ext cx="3095100" cy="5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Competitive Ability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35" name="Google Shape;635;p49"/>
            <p:cNvSpPr txBox="1"/>
            <p:nvPr/>
          </p:nvSpPr>
          <p:spPr>
            <a:xfrm rot="-5400000">
              <a:off x="-103950" y="2862500"/>
              <a:ext cx="2160600" cy="6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Tolerance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636" name="Google Shape;636;p49"/>
            <p:cNvCxnSpPr/>
            <p:nvPr/>
          </p:nvCxnSpPr>
          <p:spPr>
            <a:xfrm>
              <a:off x="1396225" y="2152650"/>
              <a:ext cx="2985300" cy="20328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7" name="Google Shape;637;p49"/>
          <p:cNvSpPr txBox="1"/>
          <p:nvPr/>
        </p:nvSpPr>
        <p:spPr>
          <a:xfrm>
            <a:off x="266700" y="1138775"/>
            <a:ext cx="570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Common feature: trade-offs allow species to be concentrated in different patches.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Patches and conservation</a:t>
            </a:r>
            <a:endParaRPr/>
          </a:p>
        </p:txBody>
      </p:sp>
      <p:sp>
        <p:nvSpPr>
          <p:cNvPr id="643" name="Google Shape;643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coexistence mechanisms may require disturbance to create empty patches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Thus the disturbance regime is critical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Too much OR too little disturbance can cause extinctions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Complicates management decisions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Metacommunities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