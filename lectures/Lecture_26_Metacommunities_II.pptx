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687f98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687f98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dd329b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dd329b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dd329bbb9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dd329bbb9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27cfb5d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27cfb5d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27cfb5d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27cfb5d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27cfb5d7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27cfb5d7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27cfb5d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27cfb5d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27cfb5d7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27cfb5d7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27cfb5d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27cfb5d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27cfb5d7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27cfb5d7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27cfb5d7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27cfb5d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27cfb5d7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27cfb5d7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27cfb5d7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27cfb5d7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27cfb5d7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27cfb5d7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27cfb5d7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27cfb5d7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27cfb5d7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27cfb5d7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27cfb5d7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27cfb5d7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27cfb5d7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27cfb5d7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27cfb5d7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27cfb5d7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27cfb5d7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27cfb5d7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27cfb5d7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27cfb5d7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27cfb5d7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27cfb5d7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27cfb5d7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27cfb5d7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27cfb5d7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27cfb5d7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27cfb5d7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27cfb5d7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27cfb5d7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27cfb5d7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27cfb5d7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27cfb5d7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27cfb5d7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27cfb5d7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= field observed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27cfb5d7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27cfb5d7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= field observed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27cfb5d7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27cfb5d7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Neutral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Patches</a:t>
            </a:r>
            <a:r>
              <a:rPr lang="en"/>
              <a:t>: suitable habitat, surrounded by unsuitable habitat.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Metapopulation:</a:t>
            </a:r>
            <a:r>
              <a:rPr lang="en"/>
              <a:t> collection of connected populations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Metacommunity:</a:t>
            </a:r>
            <a:r>
              <a:rPr lang="en"/>
              <a:t> collection of connected communities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 of one or more species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</a:t>
            </a:r>
            <a:r>
              <a:rPr lang="en"/>
              <a:t>source</a:t>
            </a:r>
            <a:r>
              <a:rPr lang="en"/>
              <a:t>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29925" y="26564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175" y="445025"/>
            <a:ext cx="2852425" cy="441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428125" y="1341875"/>
            <a:ext cx="3102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Published 2001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Hubbell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Tropical ecologist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BCI in Panama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Forest plot mapping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428125" y="1341875"/>
            <a:ext cx="5896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Key assumptions: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Individuals of different species are equivalent in terms of: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Birth rate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Death rate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Dispersal rate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These factors don’t vary with environment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428125" y="1341875"/>
            <a:ext cx="5896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Key assumptions: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Individuals of different species are equivalent in terms of: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Birth rate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Death rate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Dispersal rate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These factors don’t vary with 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55175" y="3760000"/>
            <a:ext cx="4677600" cy="9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do you think of these assumptions?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When might they be true?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Theory: Initial formulation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428125" y="1341875"/>
            <a:ext cx="864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 assumptions: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Number of individuals constant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Space is limiting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All space is occupied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Species are equally likely to colonize (proportional to abundance)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Death occurs at a constant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Theory: Initial formulation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428125" y="1341875"/>
            <a:ext cx="864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 assumptions: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Number of individuals constant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Space is limiting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All space is occupied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Species are equally likely to colonize (proportional to abundance)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Death occurs at a constant rate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269575" y="3442875"/>
            <a:ext cx="63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 sz="1800">
                <a:solidFill>
                  <a:srgbClr val="980000"/>
                </a:solidFill>
              </a:rPr>
              <a:t>Model cannot allow stable coexistence</a:t>
            </a:r>
            <a:endParaRPr sz="1800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 sz="1800">
                <a:solidFill>
                  <a:srgbClr val="980000"/>
                </a:solidFill>
              </a:rPr>
              <a:t>Species slowly go extinct over time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Theory: Initial formulation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28125" y="1341875"/>
            <a:ext cx="864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 assumptions: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Number of individuals constant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Space is limiting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All space is occupied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Species are equally likely to colonize (proportional to abundance)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Death occurs at a constant rate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269575" y="3442875"/>
            <a:ext cx="63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 sz="1800">
                <a:solidFill>
                  <a:srgbClr val="980000"/>
                </a:solidFill>
              </a:rPr>
              <a:t>Model cannot allow stable coexistence</a:t>
            </a:r>
            <a:endParaRPr sz="1800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 sz="1800">
                <a:solidFill>
                  <a:srgbClr val="980000"/>
                </a:solidFill>
              </a:rPr>
              <a:t>Species slowly go extinct over time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4641375" y="3836200"/>
            <a:ext cx="4329600" cy="9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do you think of these assumptions?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When might they be true?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Theory: Later formulation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428125" y="1341875"/>
            <a:ext cx="864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Book</a:t>
            </a:r>
            <a:r>
              <a:rPr lang="en" sz="1800">
                <a:solidFill>
                  <a:schemeClr val="dk2"/>
                </a:solidFill>
              </a:rPr>
              <a:t> changes: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Incorporated metacommunities and dispersal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Patches can be re-colonized, slowing extinction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Theory: Later formulation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100" y="0"/>
            <a:ext cx="1302900" cy="20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428125" y="1341875"/>
            <a:ext cx="864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Book changes: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Incorporated metacommunities and dispersal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Patches can be re-colonized, slowing extinction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Incorporated</a:t>
            </a:r>
            <a:r>
              <a:rPr lang="en" sz="1800">
                <a:solidFill>
                  <a:schemeClr val="dk2"/>
                </a:solidFill>
              </a:rPr>
              <a:t> speciation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Species emerge at a fixed, per-capita rate.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</a:t>
            </a:r>
            <a:r>
              <a:rPr lang="en" sz="1800">
                <a:solidFill>
                  <a:schemeClr val="dk2"/>
                </a:solidFill>
              </a:rPr>
              <a:t>counteract</a:t>
            </a:r>
            <a:r>
              <a:rPr lang="en" sz="1800">
                <a:solidFill>
                  <a:schemeClr val="dk2"/>
                </a:solidFill>
              </a:rPr>
              <a:t> extinctions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makes some very testable </a:t>
            </a:r>
            <a:r>
              <a:rPr lang="en"/>
              <a:t>predictions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aspects of ecology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Species abundance distributions (and how they change)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Species-area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Coexistence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Community assembly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predicts a certain form of SAD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Involves</a:t>
            </a:r>
            <a:r>
              <a:rPr lang="en"/>
              <a:t> fitting a model </a:t>
            </a:r>
            <a:r>
              <a:rPr lang="en"/>
              <a:t>with</a:t>
            </a:r>
            <a:r>
              <a:rPr lang="en"/>
              <a:t> 3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However, other models exist for other theories (METE, MST, etc).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McGill compared the performance of neutral model with null models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Null models fit better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Null models used fewer parameters (more parsimonious)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39420" l="45219" r="11102" t="30715"/>
          <a:stretch/>
        </p:blipFill>
        <p:spPr>
          <a:xfrm>
            <a:off x="5581550" y="0"/>
            <a:ext cx="3562450" cy="1370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51281" t="0"/>
          <a:stretch/>
        </p:blipFill>
        <p:spPr>
          <a:xfrm>
            <a:off x="156600" y="1062925"/>
            <a:ext cx="3541975" cy="3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 rotWithShape="1">
          <a:blip r:embed="rId4">
            <a:alphaModFix/>
          </a:blip>
          <a:srcRect b="39111" l="19925" r="35096" t="22160"/>
          <a:stretch/>
        </p:blipFill>
        <p:spPr>
          <a:xfrm>
            <a:off x="7042707" y="0"/>
            <a:ext cx="2101296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27"/>
          <p:cNvSpPr txBox="1"/>
          <p:nvPr/>
        </p:nvSpPr>
        <p:spPr>
          <a:xfrm>
            <a:off x="3411150" y="2273450"/>
            <a:ext cx="475800" cy="20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9" y="1062925"/>
            <a:ext cx="7270350" cy="3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4">
            <a:alphaModFix/>
          </a:blip>
          <a:srcRect b="39111" l="19925" r="35096" t="22160"/>
          <a:stretch/>
        </p:blipFill>
        <p:spPr>
          <a:xfrm>
            <a:off x="7042707" y="0"/>
            <a:ext cx="2101296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9" y="1062925"/>
            <a:ext cx="7270350" cy="39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 rotWithShape="1">
          <a:blip r:embed="rId4">
            <a:alphaModFix/>
          </a:blip>
          <a:srcRect b="39111" l="19925" r="35096" t="22160"/>
          <a:stretch/>
        </p:blipFill>
        <p:spPr>
          <a:xfrm>
            <a:off x="7042707" y="0"/>
            <a:ext cx="2101296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" name="Google Shape;170;p29"/>
          <p:cNvSpPr/>
          <p:nvPr/>
        </p:nvSpPr>
        <p:spPr>
          <a:xfrm>
            <a:off x="378550" y="1787850"/>
            <a:ext cx="2983200" cy="21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378550" y="1330650"/>
            <a:ext cx="2983200" cy="21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using intertidal organisms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12 year record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60 x 60 cm quadrats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Parameterized neutral model using field data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</a:t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25" y="1213050"/>
            <a:ext cx="4515851" cy="367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5" name="Google Shape;185;p31"/>
          <p:cNvCxnSpPr/>
          <p:nvPr/>
        </p:nvCxnSpPr>
        <p:spPr>
          <a:xfrm flipH="1">
            <a:off x="3886850" y="3482525"/>
            <a:ext cx="1407300" cy="6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31"/>
          <p:cNvCxnSpPr/>
          <p:nvPr/>
        </p:nvCxnSpPr>
        <p:spPr>
          <a:xfrm flipH="1">
            <a:off x="4267850" y="3939725"/>
            <a:ext cx="1407300" cy="6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87" name="Google Shape;187;p31"/>
          <p:cNvSpPr txBox="1"/>
          <p:nvPr/>
        </p:nvSpPr>
        <p:spPr>
          <a:xfrm>
            <a:off x="5353600" y="3214925"/>
            <a:ext cx="12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5658400" y="3672125"/>
            <a:ext cx="12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Predicted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9" name="Google Shape;189;p31"/>
          <p:cNvCxnSpPr/>
          <p:nvPr/>
        </p:nvCxnSpPr>
        <p:spPr>
          <a:xfrm flipH="1">
            <a:off x="3658250" y="3025325"/>
            <a:ext cx="1407300" cy="6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0" name="Google Shape;190;p31"/>
          <p:cNvSpPr txBox="1"/>
          <p:nvPr/>
        </p:nvSpPr>
        <p:spPr>
          <a:xfrm>
            <a:off x="5048800" y="2757725"/>
            <a:ext cx="12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95% CI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5195025" y="1322050"/>
            <a:ext cx="39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Observed SAD matched prediction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Neutral Theory</a:t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4746750" y="1292325"/>
            <a:ext cx="4232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However, deviations observed when predictions looked at dynamics over time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 even when neutral theory gets the </a:t>
            </a:r>
            <a:r>
              <a:rPr lang="en" sz="1800">
                <a:solidFill>
                  <a:schemeClr val="dk2"/>
                </a:solidFill>
              </a:rPr>
              <a:t>distribution</a:t>
            </a:r>
            <a:r>
              <a:rPr lang="en" sz="1800">
                <a:solidFill>
                  <a:schemeClr val="dk2"/>
                </a:solidFill>
              </a:rPr>
              <a:t> correct, it can still get other things quite wrong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9435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needs to occur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this happen under neutral theory?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needs to occur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this happen under neutral theory?</a:t>
            </a:r>
            <a:endParaRPr/>
          </a:p>
        </p:txBody>
      </p:sp>
      <p:sp>
        <p:nvSpPr>
          <p:cNvPr id="211" name="Google Shape;211;p34"/>
          <p:cNvSpPr txBox="1"/>
          <p:nvPr/>
        </p:nvSpPr>
        <p:spPr>
          <a:xfrm>
            <a:off x="762000" y="2895600"/>
            <a:ext cx="3000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ji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jj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needs to occur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this happen under neutral theory?</a:t>
            </a:r>
            <a:endParaRPr/>
          </a:p>
        </p:txBody>
      </p:sp>
      <p:sp>
        <p:nvSpPr>
          <p:cNvPr id="218" name="Google Shape;218;p35"/>
          <p:cNvSpPr txBox="1"/>
          <p:nvPr/>
        </p:nvSpPr>
        <p:spPr>
          <a:xfrm>
            <a:off x="762000" y="2895600"/>
            <a:ext cx="3000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ji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jj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endParaRPr/>
          </a:p>
        </p:txBody>
      </p:sp>
      <p:sp>
        <p:nvSpPr>
          <p:cNvPr id="219" name="Google Shape;219;p35"/>
          <p:cNvSpPr/>
          <p:nvPr/>
        </p:nvSpPr>
        <p:spPr>
          <a:xfrm>
            <a:off x="379225" y="2611050"/>
            <a:ext cx="1486500" cy="1387500"/>
          </a:xfrm>
          <a:prstGeom prst="noSmoking">
            <a:avLst>
              <a:gd fmla="val 235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 txBox="1"/>
          <p:nvPr/>
        </p:nvSpPr>
        <p:spPr>
          <a:xfrm>
            <a:off x="2590800" y="2895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 </a:t>
            </a:r>
            <a:r>
              <a:rPr lang="en" sz="1800">
                <a:solidFill>
                  <a:schemeClr val="dk2"/>
                </a:solidFill>
              </a:rPr>
              <a:t>=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ji </a:t>
            </a:r>
            <a:r>
              <a:rPr lang="en" sz="1800">
                <a:solidFill>
                  <a:schemeClr val="dk2"/>
                </a:solidFill>
              </a:rPr>
              <a:t>= </a:t>
            </a: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jj </a:t>
            </a:r>
            <a:r>
              <a:rPr lang="en" sz="1800">
                <a:solidFill>
                  <a:schemeClr val="dk2"/>
                </a:solidFill>
              </a:rPr>
              <a:t>=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needs to occur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this happen under neutral theory?</a:t>
            </a:r>
            <a:endParaRPr/>
          </a:p>
        </p:txBody>
      </p:sp>
      <p:sp>
        <p:nvSpPr>
          <p:cNvPr id="227" name="Google Shape;227;p36"/>
          <p:cNvSpPr txBox="1"/>
          <p:nvPr/>
        </p:nvSpPr>
        <p:spPr>
          <a:xfrm>
            <a:off x="762000" y="2895600"/>
            <a:ext cx="3000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ji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jj </a:t>
            </a:r>
            <a:r>
              <a:rPr lang="en" sz="1800">
                <a:solidFill>
                  <a:schemeClr val="dk2"/>
                </a:solidFill>
              </a:rPr>
              <a:t>&gt;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endParaRPr/>
          </a:p>
        </p:txBody>
      </p:sp>
      <p:sp>
        <p:nvSpPr>
          <p:cNvPr id="228" name="Google Shape;228;p36"/>
          <p:cNvSpPr/>
          <p:nvPr/>
        </p:nvSpPr>
        <p:spPr>
          <a:xfrm>
            <a:off x="379225" y="2611050"/>
            <a:ext cx="1486500" cy="1387500"/>
          </a:xfrm>
          <a:prstGeom prst="noSmoking">
            <a:avLst>
              <a:gd fmla="val 235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6"/>
          <p:cNvSpPr txBox="1"/>
          <p:nvPr/>
        </p:nvSpPr>
        <p:spPr>
          <a:xfrm>
            <a:off x="2590800" y="2895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 </a:t>
            </a:r>
            <a:r>
              <a:rPr lang="en" sz="1800">
                <a:solidFill>
                  <a:schemeClr val="dk2"/>
                </a:solidFill>
              </a:rPr>
              <a:t>= α</a:t>
            </a:r>
            <a:r>
              <a:rPr baseline="-25000" lang="en" sz="1800">
                <a:solidFill>
                  <a:schemeClr val="dk2"/>
                </a:solidFill>
              </a:rPr>
              <a:t>ji </a:t>
            </a:r>
            <a:r>
              <a:rPr lang="en" sz="1800">
                <a:solidFill>
                  <a:schemeClr val="dk2"/>
                </a:solidFill>
              </a:rPr>
              <a:t>= α</a:t>
            </a:r>
            <a:r>
              <a:rPr baseline="-25000" lang="en" sz="1800">
                <a:solidFill>
                  <a:schemeClr val="dk2"/>
                </a:solidFill>
              </a:rPr>
              <a:t>jj </a:t>
            </a:r>
            <a:r>
              <a:rPr lang="en" sz="1800">
                <a:solidFill>
                  <a:schemeClr val="dk2"/>
                </a:solidFill>
              </a:rPr>
              <a:t>=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endParaRPr/>
          </a:p>
        </p:txBody>
      </p:sp>
      <p:sp>
        <p:nvSpPr>
          <p:cNvPr id="230" name="Google Shape;230;p36"/>
          <p:cNvSpPr txBox="1"/>
          <p:nvPr/>
        </p:nvSpPr>
        <p:spPr>
          <a:xfrm>
            <a:off x="3034575" y="386902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But, under coexistence theory, even small differences can lead to competitive exclusion!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of experiment focusing on sheep grazing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Grazing vs no grazing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22 years of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Spatial data of individual plants recorded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 rotWithShape="1">
          <a:blip r:embed="rId3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data to parameterize a model of competition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parameters can be </a:t>
            </a:r>
            <a:r>
              <a:rPr lang="en"/>
              <a:t>altered</a:t>
            </a:r>
            <a:r>
              <a:rPr lang="en"/>
              <a:t> to make species neutral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Effects on heterospecifics set to equal effect on conspecifics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“experimenting” on things you couldn’t actually manipulate!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pic>
        <p:nvPicPr>
          <p:cNvPr id="250" name="Google Shape;250;p39"/>
          <p:cNvPicPr preferRelativeResize="0"/>
          <p:nvPr/>
        </p:nvPicPr>
        <p:blipFill rotWithShape="1">
          <a:blip r:embed="rId3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70200"/>
            <a:ext cx="5875099" cy="372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pic>
        <p:nvPicPr>
          <p:cNvPr id="257" name="Google Shape;2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2525"/>
            <a:ext cx="8679901" cy="309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0"/>
          <p:cNvPicPr preferRelativeResize="0"/>
          <p:nvPr/>
        </p:nvPicPr>
        <p:blipFill rotWithShape="1">
          <a:blip r:embed="rId4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pic>
        <p:nvPicPr>
          <p:cNvPr id="264" name="Google Shape;26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848150" cy="36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1"/>
          <p:cNvPicPr preferRelativeResize="0"/>
          <p:nvPr/>
        </p:nvPicPr>
        <p:blipFill rotWithShape="1">
          <a:blip r:embed="rId4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 and coexistence</a:t>
            </a:r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 rotWithShape="1">
          <a:blip r:embed="rId3">
            <a:alphaModFix/>
          </a:blip>
          <a:srcRect b="46166" l="21584" r="22380" t="18187"/>
          <a:stretch/>
        </p:blipFill>
        <p:spPr>
          <a:xfrm>
            <a:off x="5720275" y="0"/>
            <a:ext cx="3423725" cy="122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2" name="Google Shape;272;p42"/>
          <p:cNvSpPr txBox="1"/>
          <p:nvPr/>
        </p:nvSpPr>
        <p:spPr>
          <a:xfrm>
            <a:off x="537150" y="1440975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Strong support for niches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Relatively strong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May even underestimate niche strength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Neutral Theory</a:t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Valuable as a null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Gets some things right, some things wrong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Important in driving theory forward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Variable environments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