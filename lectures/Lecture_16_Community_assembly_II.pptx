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d8981be03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d8981be03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ecb89f54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ecb89f54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f21c6f606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f21c6f606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3f21c6f6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3f21c6f6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3f21c6f606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3f21c6f606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3f21c6f606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3f21c6f606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can’t go back in time, or wait for dunes to change, but space-for-time approaches give us a reasonable alternative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f21c6f606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3f21c6f606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3f21c6f606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3f21c6f606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3f21c6f606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3f21c6f606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3f21c6f606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3f21c6f606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3f21c6f606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3f21c6f606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3f21c6f606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3f21c6f606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3f21c6f606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3f21c6f606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3f21c6f606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3f21c6f606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3f21c6f606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3f21c6f606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3f21c6f606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3f21c6f606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3f21c6f606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3f21c6f606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3f21c6f606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3f21c6f606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3f21c6f606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3f21c6f606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3f21c6f606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3f21c6f606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3f21c6f606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3f21c6f606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3f21c6f606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3f21c6f606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3f21c6f606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3f21c6f606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3f21c6f606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3f21c6f606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3f21c6f606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3f21c6f606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3f21c6f606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3f21c6f606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that the assumptions here are slightly different from what others may focus on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3f21c6f606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3f21c6f606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3f21c6f606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3f21c6f606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3f21c6f606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3f21c6f606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3f21c6f606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3f21c6f606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3f21c6f606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3f21c6f606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3f21c6f606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3f21c6f606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3f21c6f606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3f21c6f606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3f21c6f606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3f21c6f606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3f21c6f606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3f21c6f606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3f21c6f606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3f21c6f606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3f21c6f606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3f21c6f606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d8981be03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2d8981be03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hyperlink" Target="https://commons.wikimedia.org/w/index.php?curid=39164773" TargetMode="External"/><Relationship Id="rId13" Type="http://schemas.openxmlformats.org/officeDocument/2006/relationships/image" Target="../media/image15.png"/><Relationship Id="rId1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hyperlink" Target="https://commons.wikimedia.org/w/index.php?curid=39164918" TargetMode="External"/><Relationship Id="rId15" Type="http://schemas.openxmlformats.org/officeDocument/2006/relationships/image" Target="../media/image16.png"/><Relationship Id="rId1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hyperlink" Target="https://commons.wikimedia.org/w/index.php?curid=39164961" TargetMode="External"/><Relationship Id="rId7" Type="http://schemas.openxmlformats.org/officeDocument/2006/relationships/hyperlink" Target="https://commons.wikimedia.org/w/index.php?curid=114636926" TargetMode="External"/><Relationship Id="rId8" Type="http://schemas.openxmlformats.org/officeDocument/2006/relationships/hyperlink" Target="https://commons.wikimedia.org/w/index.php?curid=4992616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Relationship Id="rId4" Type="http://schemas.openxmlformats.org/officeDocument/2006/relationships/image" Target="../media/image26.png"/><Relationship Id="rId5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Relationship Id="rId4" Type="http://schemas.openxmlformats.org/officeDocument/2006/relationships/image" Target="../media/image1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5.png"/><Relationship Id="rId4" Type="http://schemas.openxmlformats.org/officeDocument/2006/relationships/image" Target="../media/image1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5.png"/><Relationship Id="rId4" Type="http://schemas.openxmlformats.org/officeDocument/2006/relationships/image" Target="../media/image1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5.png"/><Relationship Id="rId4" Type="http://schemas.openxmlformats.org/officeDocument/2006/relationships/image" Target="../media/image2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5.png"/><Relationship Id="rId4" Type="http://schemas.openxmlformats.org/officeDocument/2006/relationships/image" Target="../media/image2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5.png"/><Relationship Id="rId4" Type="http://schemas.openxmlformats.org/officeDocument/2006/relationships/image" Target="../media/image1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1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 II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89575"/>
            <a:ext cx="8520600" cy="24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Quiz</a:t>
            </a:r>
            <a:endParaRPr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Check-in</a:t>
            </a:r>
            <a:endParaRPr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Community Assembly Examples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Check-in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Just wanted to touch base and see how the class is going.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Anything that isn’t working? </a:t>
            </a:r>
            <a:r>
              <a:rPr lang="en"/>
              <a:t>Anything</a:t>
            </a:r>
            <a:r>
              <a:rPr lang="en"/>
              <a:t> that IS working?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Feel free to email me as well.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329025" y="1411250"/>
            <a:ext cx="1476600" cy="322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3054325" y="15141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329025" y="1017725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Species pool</a:t>
            </a:r>
            <a:endParaRPr sz="1700"/>
          </a:p>
        </p:txBody>
      </p:sp>
      <p:sp>
        <p:nvSpPr>
          <p:cNvPr id="69" name="Google Shape;69;p15"/>
          <p:cNvSpPr txBox="1"/>
          <p:nvPr/>
        </p:nvSpPr>
        <p:spPr>
          <a:xfrm>
            <a:off x="1691675" y="1005000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Dispersal</a:t>
            </a:r>
            <a:endParaRPr sz="1700"/>
          </a:p>
        </p:txBody>
      </p:sp>
      <p:sp>
        <p:nvSpPr>
          <p:cNvPr id="70" name="Google Shape;70;p15"/>
          <p:cNvSpPr/>
          <p:nvPr/>
        </p:nvSpPr>
        <p:spPr>
          <a:xfrm>
            <a:off x="3054325" y="25047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3054325" y="34953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2987075" y="1005000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Communities</a:t>
            </a:r>
            <a:endParaRPr sz="1700"/>
          </a:p>
        </p:txBody>
      </p:sp>
      <p:sp>
        <p:nvSpPr>
          <p:cNvPr id="73" name="Google Shape;73;p15"/>
          <p:cNvSpPr txBox="1"/>
          <p:nvPr/>
        </p:nvSpPr>
        <p:spPr>
          <a:xfrm>
            <a:off x="4633250" y="776400"/>
            <a:ext cx="921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Abiotic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Filter</a:t>
            </a:r>
            <a:endParaRPr sz="1700"/>
          </a:p>
        </p:txBody>
      </p:sp>
      <p:sp>
        <p:nvSpPr>
          <p:cNvPr id="74" name="Google Shape;74;p15"/>
          <p:cNvSpPr txBox="1"/>
          <p:nvPr/>
        </p:nvSpPr>
        <p:spPr>
          <a:xfrm>
            <a:off x="5402725" y="776400"/>
            <a:ext cx="921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Biotic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Filter</a:t>
            </a:r>
            <a:endParaRPr sz="1700"/>
          </a:p>
        </p:txBody>
      </p:sp>
      <p:sp>
        <p:nvSpPr>
          <p:cNvPr id="75" name="Google Shape;75;p15"/>
          <p:cNvSpPr/>
          <p:nvPr/>
        </p:nvSpPr>
        <p:spPr>
          <a:xfrm>
            <a:off x="6254725" y="15141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6254725" y="25047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6254725" y="3495300"/>
            <a:ext cx="1476600" cy="927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6254725" y="852600"/>
            <a:ext cx="147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Communities</a:t>
            </a:r>
            <a:endParaRPr sz="1700"/>
          </a:p>
        </p:txBody>
      </p:sp>
      <p:sp>
        <p:nvSpPr>
          <p:cNvPr id="79" name="Google Shape;79;p15"/>
          <p:cNvSpPr/>
          <p:nvPr/>
        </p:nvSpPr>
        <p:spPr>
          <a:xfrm>
            <a:off x="7831200" y="1514100"/>
            <a:ext cx="535200" cy="2909100"/>
          </a:xfrm>
          <a:prstGeom prst="rightBrace">
            <a:avLst>
              <a:gd fmla="val 50000" name="adj1"/>
              <a:gd fmla="val 48928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 rot="5400000">
            <a:off x="7550125" y="2681400"/>
            <a:ext cx="2055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Metacommunity</a:t>
            </a:r>
            <a:endParaRPr sz="1700"/>
          </a:p>
        </p:txBody>
      </p:sp>
      <p:sp>
        <p:nvSpPr>
          <p:cNvPr id="81" name="Google Shape;81;p15"/>
          <p:cNvSpPr/>
          <p:nvPr/>
        </p:nvSpPr>
        <p:spPr>
          <a:xfrm>
            <a:off x="1102025" y="4473550"/>
            <a:ext cx="6848296" cy="605950"/>
          </a:xfrm>
          <a:custGeom>
            <a:rect b="b" l="l" r="r" t="t"/>
            <a:pathLst>
              <a:path extrusionOk="0" h="24238" w="237850">
                <a:moveTo>
                  <a:pt x="237850" y="0"/>
                </a:moveTo>
                <a:cubicBezTo>
                  <a:pt x="233423" y="3634"/>
                  <a:pt x="246373" y="18103"/>
                  <a:pt x="211290" y="21803"/>
                </a:cubicBezTo>
                <a:cubicBezTo>
                  <a:pt x="176207" y="25503"/>
                  <a:pt x="62568" y="24446"/>
                  <a:pt x="27353" y="22200"/>
                </a:cubicBezTo>
                <a:cubicBezTo>
                  <a:pt x="-7862" y="19954"/>
                  <a:pt x="4559" y="10638"/>
                  <a:pt x="0" y="8325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82" name="Google Shape;82;p15"/>
          <p:cNvSpPr txBox="1"/>
          <p:nvPr/>
        </p:nvSpPr>
        <p:spPr>
          <a:xfrm>
            <a:off x="2736625" y="4632050"/>
            <a:ext cx="351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Speciation, Extinction, Dispersal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83" name="Google Shape;83;p15"/>
          <p:cNvCxnSpPr>
            <a:stCxn id="73" idx="2"/>
          </p:cNvCxnSpPr>
          <p:nvPr/>
        </p:nvCxnSpPr>
        <p:spPr>
          <a:xfrm>
            <a:off x="5094050" y="1484400"/>
            <a:ext cx="1800" cy="2999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4" name="Google Shape;84;p15"/>
          <p:cNvCxnSpPr/>
          <p:nvPr/>
        </p:nvCxnSpPr>
        <p:spPr>
          <a:xfrm>
            <a:off x="5856050" y="1484400"/>
            <a:ext cx="1800" cy="2999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lgDash"/>
            <a:round/>
            <a:headEnd len="med" w="med" type="none"/>
            <a:tailEnd len="med" w="med" type="none"/>
          </a:ln>
        </p:spPr>
      </p:cxnSp>
      <p:sp>
        <p:nvSpPr>
          <p:cNvPr id="85" name="Google Shape;85;p15"/>
          <p:cNvSpPr/>
          <p:nvPr/>
        </p:nvSpPr>
        <p:spPr>
          <a:xfrm>
            <a:off x="606525" y="1718475"/>
            <a:ext cx="297300" cy="2973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1292325" y="21756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691975" y="27491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1307725" y="29094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725450" y="3621250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4139525" y="2042250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3881525" y="26121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3836975" y="3026675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3968575" y="3542863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3968575" y="1579800"/>
            <a:ext cx="297300" cy="297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665975" y="22201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1182650" y="3773650"/>
            <a:ext cx="297300" cy="2973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3163850" y="3011650"/>
            <a:ext cx="297300" cy="297300"/>
          </a:xfrm>
          <a:prstGeom prst="ellipse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844375" y="31301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4094975" y="40489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7310525" y="26883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6580175" y="3026675"/>
            <a:ext cx="386400" cy="297300"/>
          </a:xfrm>
          <a:prstGeom prst="triangle">
            <a:avLst>
              <a:gd fmla="val 50000" name="adj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7321375" y="2042250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3282775" y="36635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3358975" y="20633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3349725" y="40806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3365125" y="16140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3637775" y="1915350"/>
            <a:ext cx="386400" cy="247800"/>
          </a:xfrm>
          <a:prstGeom prst="parallelogram">
            <a:avLst>
              <a:gd fmla="val 25000" name="adj"/>
            </a:avLst>
          </a:prstGeom>
          <a:solidFill>
            <a:srgbClr val="FF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7251325" y="1690275"/>
            <a:ext cx="297300" cy="247800"/>
          </a:xfrm>
          <a:prstGeom prst="trapezoid">
            <a:avLst>
              <a:gd fmla="val 25000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6483175" y="19109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6940375" y="3587350"/>
            <a:ext cx="386400" cy="297300"/>
          </a:xfrm>
          <a:prstGeom prst="triangle">
            <a:avLst>
              <a:gd fmla="val 50000" name="adj"/>
            </a:avLst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7007325" y="4004475"/>
            <a:ext cx="297300" cy="297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2" name="Google Shape;112;p15"/>
          <p:cNvCxnSpPr>
            <a:stCxn id="66" idx="3"/>
            <a:endCxn id="67" idx="1"/>
          </p:cNvCxnSpPr>
          <p:nvPr/>
        </p:nvCxnSpPr>
        <p:spPr>
          <a:xfrm flipH="1" rot="10800000">
            <a:off x="1805625" y="1977950"/>
            <a:ext cx="1248600" cy="1043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5"/>
          <p:cNvCxnSpPr>
            <a:stCxn id="66" idx="3"/>
            <a:endCxn id="70" idx="1"/>
          </p:cNvCxnSpPr>
          <p:nvPr/>
        </p:nvCxnSpPr>
        <p:spPr>
          <a:xfrm flipH="1" rot="10800000">
            <a:off x="1805625" y="2968550"/>
            <a:ext cx="1248600" cy="53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" name="Google Shape;114;p15"/>
          <p:cNvCxnSpPr>
            <a:stCxn id="66" idx="3"/>
            <a:endCxn id="71" idx="1"/>
          </p:cNvCxnSpPr>
          <p:nvPr/>
        </p:nvCxnSpPr>
        <p:spPr>
          <a:xfrm>
            <a:off x="1805625" y="3021650"/>
            <a:ext cx="1248600" cy="93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this look like in practice?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Environmental Filtering of Plants</a:t>
            </a:r>
            <a:endParaRPr/>
          </a:p>
        </p:txBody>
      </p:sp>
      <p:pic>
        <p:nvPicPr>
          <p:cNvPr id="125" name="Google Shape;125;p17"/>
          <p:cNvPicPr preferRelativeResize="0"/>
          <p:nvPr/>
        </p:nvPicPr>
        <p:blipFill rotWithShape="1">
          <a:blip r:embed="rId3">
            <a:alphaModFix/>
          </a:blip>
          <a:srcRect b="43853" l="54430" r="10129" t="31291"/>
          <a:stretch/>
        </p:blipFill>
        <p:spPr>
          <a:xfrm>
            <a:off x="5804200" y="92150"/>
            <a:ext cx="3240701" cy="1278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6" name="Google Shape;126;p17"/>
          <p:cNvSpPr txBox="1"/>
          <p:nvPr/>
        </p:nvSpPr>
        <p:spPr>
          <a:xfrm>
            <a:off x="418225" y="1292325"/>
            <a:ext cx="5708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Studied a chronosequence of soil ages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“Space-for-time” substitution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Dunes in Australia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Aside: space for time substitutions</a:t>
            </a:r>
            <a:endParaRPr/>
          </a:p>
        </p:txBody>
      </p:sp>
      <p:pic>
        <p:nvPicPr>
          <p:cNvPr id="132" name="Google Shape;13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096000" cy="2981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" name="Google Shape;133;p18"/>
          <p:cNvCxnSpPr/>
          <p:nvPr/>
        </p:nvCxnSpPr>
        <p:spPr>
          <a:xfrm flipH="1" rot="10800000">
            <a:off x="596600" y="4453750"/>
            <a:ext cx="5569800" cy="19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" name="Google Shape;134;p18"/>
          <p:cNvSpPr txBox="1"/>
          <p:nvPr/>
        </p:nvSpPr>
        <p:spPr>
          <a:xfrm>
            <a:off x="2296250" y="4542925"/>
            <a:ext cx="217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Dune Age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5" name="Google Shape;135;p18"/>
          <p:cNvPicPr preferRelativeResize="0"/>
          <p:nvPr/>
        </p:nvPicPr>
        <p:blipFill rotWithShape="1">
          <a:blip r:embed="rId4">
            <a:alphaModFix/>
          </a:blip>
          <a:srcRect b="34100" l="36182" r="17972" t="19787"/>
          <a:stretch/>
        </p:blipFill>
        <p:spPr>
          <a:xfrm>
            <a:off x="6400175" y="99800"/>
            <a:ext cx="2580648" cy="14601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6" name="Google Shape;136;p18"/>
          <p:cNvSpPr txBox="1"/>
          <p:nvPr/>
        </p:nvSpPr>
        <p:spPr>
          <a:xfrm>
            <a:off x="6503200" y="2035600"/>
            <a:ext cx="266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Note: this figure depicts Baltic dunes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Environmental Filtering of Plants</a:t>
            </a:r>
            <a:endParaRPr/>
          </a:p>
        </p:txBody>
      </p:sp>
      <p:pic>
        <p:nvPicPr>
          <p:cNvPr id="142" name="Google Shape;142;p19"/>
          <p:cNvPicPr preferRelativeResize="0"/>
          <p:nvPr/>
        </p:nvPicPr>
        <p:blipFill rotWithShape="1">
          <a:blip r:embed="rId3">
            <a:alphaModFix/>
          </a:blip>
          <a:srcRect b="43853" l="54430" r="10129" t="31291"/>
          <a:stretch/>
        </p:blipFill>
        <p:spPr>
          <a:xfrm>
            <a:off x="5804200" y="92150"/>
            <a:ext cx="3240701" cy="1278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3" name="Google Shape;143;p19"/>
          <p:cNvSpPr txBox="1"/>
          <p:nvPr/>
        </p:nvSpPr>
        <p:spPr>
          <a:xfrm>
            <a:off x="418225" y="1292325"/>
            <a:ext cx="70767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Studied a chronosequence of soil ages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“Space-for-time” substitution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Dunes in Australia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Really cool system!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2 million year gradient of soil ages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Sites within 10 km (assume the same regional species pool)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Comparable climate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Open ecosystem (not light-limited)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Environmental Filtering of Plants</a:t>
            </a:r>
            <a:endParaRPr/>
          </a:p>
        </p:txBody>
      </p:sp>
      <p:pic>
        <p:nvPicPr>
          <p:cNvPr id="149" name="Google Shape;149;p20"/>
          <p:cNvPicPr preferRelativeResize="0"/>
          <p:nvPr/>
        </p:nvPicPr>
        <p:blipFill rotWithShape="1">
          <a:blip r:embed="rId3">
            <a:alphaModFix/>
          </a:blip>
          <a:srcRect b="43853" l="54430" r="10129" t="31291"/>
          <a:stretch/>
        </p:blipFill>
        <p:spPr>
          <a:xfrm>
            <a:off x="5804200" y="92150"/>
            <a:ext cx="3240701" cy="1278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0" name="Google Shape;150;p20"/>
          <p:cNvSpPr txBox="1"/>
          <p:nvPr/>
        </p:nvSpPr>
        <p:spPr>
          <a:xfrm>
            <a:off x="418225" y="1292325"/>
            <a:ext cx="693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Hypotheses tested</a:t>
            </a:r>
            <a:endParaRPr b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More heterogeneous soils, more species - why?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51" name="Google Shape;151;p20"/>
          <p:cNvGrpSpPr/>
          <p:nvPr/>
        </p:nvGrpSpPr>
        <p:grpSpPr>
          <a:xfrm>
            <a:off x="874100" y="2095050"/>
            <a:ext cx="4644300" cy="2541000"/>
            <a:chOff x="874100" y="2095050"/>
            <a:chExt cx="4644300" cy="2541000"/>
          </a:xfrm>
        </p:grpSpPr>
        <p:cxnSp>
          <p:nvCxnSpPr>
            <p:cNvPr id="152" name="Google Shape;152;p20"/>
            <p:cNvCxnSpPr/>
            <p:nvPr/>
          </p:nvCxnSpPr>
          <p:spPr>
            <a:xfrm>
              <a:off x="874100" y="2095050"/>
              <a:ext cx="0" cy="253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" name="Google Shape;153;p20"/>
            <p:cNvCxnSpPr/>
            <p:nvPr/>
          </p:nvCxnSpPr>
          <p:spPr>
            <a:xfrm flipH="1">
              <a:off x="874100" y="4632150"/>
              <a:ext cx="4644300" cy="3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4" name="Google Shape;154;p20"/>
          <p:cNvSpPr txBox="1"/>
          <p:nvPr/>
        </p:nvSpPr>
        <p:spPr>
          <a:xfrm>
            <a:off x="1260675" y="4636050"/>
            <a:ext cx="318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Soil heterogeneity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5" name="Google Shape;155;p20"/>
          <p:cNvSpPr txBox="1"/>
          <p:nvPr/>
        </p:nvSpPr>
        <p:spPr>
          <a:xfrm rot="-5400000">
            <a:off x="-663825" y="3092550"/>
            <a:ext cx="246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Species Richness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56" name="Google Shape;156;p20"/>
          <p:cNvCxnSpPr/>
          <p:nvPr/>
        </p:nvCxnSpPr>
        <p:spPr>
          <a:xfrm flipH="1" rot="10800000">
            <a:off x="1262525" y="2474775"/>
            <a:ext cx="3679200" cy="1792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Environmental Filtering of Plants</a:t>
            </a:r>
            <a:endParaRPr/>
          </a:p>
        </p:txBody>
      </p:sp>
      <p:pic>
        <p:nvPicPr>
          <p:cNvPr id="162" name="Google Shape;162;p21"/>
          <p:cNvPicPr preferRelativeResize="0"/>
          <p:nvPr/>
        </p:nvPicPr>
        <p:blipFill rotWithShape="1">
          <a:blip r:embed="rId3">
            <a:alphaModFix/>
          </a:blip>
          <a:srcRect b="43853" l="54430" r="10129" t="31291"/>
          <a:stretch/>
        </p:blipFill>
        <p:spPr>
          <a:xfrm>
            <a:off x="5804200" y="92150"/>
            <a:ext cx="3240701" cy="1278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3" name="Google Shape;163;p21"/>
          <p:cNvSpPr txBox="1"/>
          <p:nvPr/>
        </p:nvSpPr>
        <p:spPr>
          <a:xfrm>
            <a:off x="418225" y="1292325"/>
            <a:ext cx="693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Hypotheses tested</a:t>
            </a:r>
            <a:endParaRPr b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More heterogeneous soils, more species (niche partitioning)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64" name="Google Shape;164;p21"/>
          <p:cNvGrpSpPr/>
          <p:nvPr/>
        </p:nvGrpSpPr>
        <p:grpSpPr>
          <a:xfrm>
            <a:off x="874100" y="2095050"/>
            <a:ext cx="4644300" cy="2541000"/>
            <a:chOff x="874100" y="2095050"/>
            <a:chExt cx="4644300" cy="2541000"/>
          </a:xfrm>
        </p:grpSpPr>
        <p:cxnSp>
          <p:nvCxnSpPr>
            <p:cNvPr id="165" name="Google Shape;165;p21"/>
            <p:cNvCxnSpPr/>
            <p:nvPr/>
          </p:nvCxnSpPr>
          <p:spPr>
            <a:xfrm>
              <a:off x="874100" y="2095050"/>
              <a:ext cx="0" cy="253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" name="Google Shape;166;p21"/>
            <p:cNvCxnSpPr/>
            <p:nvPr/>
          </p:nvCxnSpPr>
          <p:spPr>
            <a:xfrm flipH="1">
              <a:off x="874100" y="4632150"/>
              <a:ext cx="4644300" cy="3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7" name="Google Shape;167;p21"/>
          <p:cNvSpPr txBox="1"/>
          <p:nvPr/>
        </p:nvSpPr>
        <p:spPr>
          <a:xfrm>
            <a:off x="1260675" y="4636050"/>
            <a:ext cx="318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Soil heterogeneity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8" name="Google Shape;168;p21"/>
          <p:cNvSpPr txBox="1"/>
          <p:nvPr/>
        </p:nvSpPr>
        <p:spPr>
          <a:xfrm rot="-5400000">
            <a:off x="-663825" y="3092550"/>
            <a:ext cx="246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Species Richness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69" name="Google Shape;169;p21"/>
          <p:cNvCxnSpPr/>
          <p:nvPr/>
        </p:nvCxnSpPr>
        <p:spPr>
          <a:xfrm flipH="1" rot="10800000">
            <a:off x="1262525" y="2474775"/>
            <a:ext cx="3679200" cy="1792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Environmental Filtering of Plants</a:t>
            </a:r>
            <a:endParaRPr/>
          </a:p>
        </p:txBody>
      </p:sp>
      <p:pic>
        <p:nvPicPr>
          <p:cNvPr id="175" name="Google Shape;175;p22"/>
          <p:cNvPicPr preferRelativeResize="0"/>
          <p:nvPr/>
        </p:nvPicPr>
        <p:blipFill rotWithShape="1">
          <a:blip r:embed="rId3">
            <a:alphaModFix/>
          </a:blip>
          <a:srcRect b="43853" l="54430" r="10129" t="31291"/>
          <a:stretch/>
        </p:blipFill>
        <p:spPr>
          <a:xfrm>
            <a:off x="5804200" y="92150"/>
            <a:ext cx="3240701" cy="1278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6" name="Google Shape;176;p22"/>
          <p:cNvSpPr txBox="1"/>
          <p:nvPr/>
        </p:nvSpPr>
        <p:spPr>
          <a:xfrm>
            <a:off x="418225" y="1292325"/>
            <a:ext cx="794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Hypotheses tested</a:t>
            </a:r>
            <a:endParaRPr b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Unimodal response with soil fertility - why might we expect this?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77" name="Google Shape;177;p22"/>
          <p:cNvGrpSpPr/>
          <p:nvPr/>
        </p:nvGrpSpPr>
        <p:grpSpPr>
          <a:xfrm>
            <a:off x="874100" y="2095050"/>
            <a:ext cx="4644300" cy="2541000"/>
            <a:chOff x="874100" y="2095050"/>
            <a:chExt cx="4644300" cy="2541000"/>
          </a:xfrm>
        </p:grpSpPr>
        <p:cxnSp>
          <p:nvCxnSpPr>
            <p:cNvPr id="178" name="Google Shape;178;p22"/>
            <p:cNvCxnSpPr/>
            <p:nvPr/>
          </p:nvCxnSpPr>
          <p:spPr>
            <a:xfrm>
              <a:off x="874100" y="2095050"/>
              <a:ext cx="0" cy="253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" name="Google Shape;179;p22"/>
            <p:cNvCxnSpPr/>
            <p:nvPr/>
          </p:nvCxnSpPr>
          <p:spPr>
            <a:xfrm flipH="1">
              <a:off x="874100" y="4632150"/>
              <a:ext cx="4644300" cy="3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0" name="Google Shape;180;p22"/>
          <p:cNvSpPr txBox="1"/>
          <p:nvPr/>
        </p:nvSpPr>
        <p:spPr>
          <a:xfrm>
            <a:off x="1260675" y="4636050"/>
            <a:ext cx="318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Soil fertility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1" name="Google Shape;181;p22"/>
          <p:cNvSpPr txBox="1"/>
          <p:nvPr/>
        </p:nvSpPr>
        <p:spPr>
          <a:xfrm rot="-5400000">
            <a:off x="-663825" y="3092550"/>
            <a:ext cx="246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Species Richness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1083300" y="2760792"/>
            <a:ext cx="4208050" cy="1421675"/>
          </a:xfrm>
          <a:custGeom>
            <a:rect b="b" l="l" r="r" t="t"/>
            <a:pathLst>
              <a:path extrusionOk="0" h="56867" w="168322">
                <a:moveTo>
                  <a:pt x="0" y="55161"/>
                </a:moveTo>
                <a:cubicBezTo>
                  <a:pt x="14596" y="45968"/>
                  <a:pt x="59519" y="-283"/>
                  <a:pt x="87573" y="1"/>
                </a:cubicBezTo>
                <a:cubicBezTo>
                  <a:pt x="115627" y="285"/>
                  <a:pt x="154864" y="47389"/>
                  <a:pt x="168322" y="56867"/>
                </a:cubicBez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Environmental Filtering of Plants</a:t>
            </a:r>
            <a:endParaRPr/>
          </a:p>
        </p:txBody>
      </p:sp>
      <p:pic>
        <p:nvPicPr>
          <p:cNvPr id="188" name="Google Shape;188;p23"/>
          <p:cNvPicPr preferRelativeResize="0"/>
          <p:nvPr/>
        </p:nvPicPr>
        <p:blipFill rotWithShape="1">
          <a:blip r:embed="rId3">
            <a:alphaModFix/>
          </a:blip>
          <a:srcRect b="43853" l="54430" r="10129" t="31291"/>
          <a:stretch/>
        </p:blipFill>
        <p:spPr>
          <a:xfrm>
            <a:off x="5804200" y="92150"/>
            <a:ext cx="3240701" cy="1278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9" name="Google Shape;189;p23"/>
          <p:cNvSpPr txBox="1"/>
          <p:nvPr/>
        </p:nvSpPr>
        <p:spPr>
          <a:xfrm>
            <a:off x="418225" y="1292325"/>
            <a:ext cx="794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Hypotheses tested</a:t>
            </a:r>
            <a:endParaRPr b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Unimodal response with soil fertility - why might we expect this?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90" name="Google Shape;190;p23"/>
          <p:cNvGrpSpPr/>
          <p:nvPr/>
        </p:nvGrpSpPr>
        <p:grpSpPr>
          <a:xfrm>
            <a:off x="874100" y="2095050"/>
            <a:ext cx="4644300" cy="2541000"/>
            <a:chOff x="874100" y="2095050"/>
            <a:chExt cx="4644300" cy="2541000"/>
          </a:xfrm>
        </p:grpSpPr>
        <p:cxnSp>
          <p:nvCxnSpPr>
            <p:cNvPr id="191" name="Google Shape;191;p23"/>
            <p:cNvCxnSpPr/>
            <p:nvPr/>
          </p:nvCxnSpPr>
          <p:spPr>
            <a:xfrm>
              <a:off x="874100" y="2095050"/>
              <a:ext cx="0" cy="253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" name="Google Shape;192;p23"/>
            <p:cNvCxnSpPr/>
            <p:nvPr/>
          </p:nvCxnSpPr>
          <p:spPr>
            <a:xfrm flipH="1">
              <a:off x="874100" y="4632150"/>
              <a:ext cx="4644300" cy="3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3" name="Google Shape;193;p23"/>
          <p:cNvSpPr txBox="1"/>
          <p:nvPr/>
        </p:nvSpPr>
        <p:spPr>
          <a:xfrm>
            <a:off x="1260675" y="4636050"/>
            <a:ext cx="318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Soil fertility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4" name="Google Shape;194;p23"/>
          <p:cNvSpPr txBox="1"/>
          <p:nvPr/>
        </p:nvSpPr>
        <p:spPr>
          <a:xfrm rot="-5400000">
            <a:off x="-663825" y="3092550"/>
            <a:ext cx="246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Species Richness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1083300" y="2760792"/>
            <a:ext cx="4208050" cy="1421675"/>
          </a:xfrm>
          <a:custGeom>
            <a:rect b="b" l="l" r="r" t="t"/>
            <a:pathLst>
              <a:path extrusionOk="0" h="56867" w="168322">
                <a:moveTo>
                  <a:pt x="0" y="55161"/>
                </a:moveTo>
                <a:cubicBezTo>
                  <a:pt x="14596" y="45968"/>
                  <a:pt x="59519" y="-283"/>
                  <a:pt x="87573" y="1"/>
                </a:cubicBezTo>
                <a:cubicBezTo>
                  <a:pt x="115627" y="285"/>
                  <a:pt x="154864" y="47389"/>
                  <a:pt x="168322" y="56867"/>
                </a:cubicBez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6" name="Google Shape;196;p23"/>
          <p:cNvSpPr txBox="1"/>
          <p:nvPr/>
        </p:nvSpPr>
        <p:spPr>
          <a:xfrm>
            <a:off x="4822225" y="2892650"/>
            <a:ext cx="2757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Competitive exclusion excludes some species</a:t>
            </a:r>
            <a:endParaRPr b="1" sz="1800">
              <a:solidFill>
                <a:srgbClr val="980000"/>
              </a:solidFill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874100" y="2457438"/>
            <a:ext cx="1720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Few species can tolerate</a:t>
            </a:r>
            <a:endParaRPr b="1" sz="18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fertility</a:t>
            </a:r>
            <a:endParaRPr b="1" sz="18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Environmental Filtering of Plants</a:t>
            </a:r>
            <a:endParaRPr/>
          </a:p>
        </p:txBody>
      </p:sp>
      <p:pic>
        <p:nvPicPr>
          <p:cNvPr id="203" name="Google Shape;203;p24"/>
          <p:cNvPicPr preferRelativeResize="0"/>
          <p:nvPr/>
        </p:nvPicPr>
        <p:blipFill rotWithShape="1">
          <a:blip r:embed="rId3">
            <a:alphaModFix/>
          </a:blip>
          <a:srcRect b="43853" l="54430" r="10129" t="31291"/>
          <a:stretch/>
        </p:blipFill>
        <p:spPr>
          <a:xfrm>
            <a:off x="5804200" y="92150"/>
            <a:ext cx="3240701" cy="1278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4" name="Google Shape;204;p24"/>
          <p:cNvSpPr txBox="1"/>
          <p:nvPr/>
        </p:nvSpPr>
        <p:spPr>
          <a:xfrm>
            <a:off x="418225" y="1292325"/>
            <a:ext cx="794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Hypotheses tested</a:t>
            </a:r>
            <a:endParaRPr b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Higher diversity where nutrients aren’t limiting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5" name="Google Shape;205;p24"/>
          <p:cNvSpPr txBox="1"/>
          <p:nvPr/>
        </p:nvSpPr>
        <p:spPr>
          <a:xfrm>
            <a:off x="1260675" y="4636050"/>
            <a:ext cx="318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Nutrient Availability (N + P)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6" name="Google Shape;206;p24"/>
          <p:cNvSpPr txBox="1"/>
          <p:nvPr/>
        </p:nvSpPr>
        <p:spPr>
          <a:xfrm rot="-5400000">
            <a:off x="-663825" y="3092550"/>
            <a:ext cx="246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Species Richness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207" name="Google Shape;207;p24"/>
          <p:cNvGrpSpPr/>
          <p:nvPr/>
        </p:nvGrpSpPr>
        <p:grpSpPr>
          <a:xfrm>
            <a:off x="874100" y="2095050"/>
            <a:ext cx="4644300" cy="2541000"/>
            <a:chOff x="874100" y="2095050"/>
            <a:chExt cx="4644300" cy="2541000"/>
          </a:xfrm>
        </p:grpSpPr>
        <p:cxnSp>
          <p:nvCxnSpPr>
            <p:cNvPr id="208" name="Google Shape;208;p24"/>
            <p:cNvCxnSpPr/>
            <p:nvPr/>
          </p:nvCxnSpPr>
          <p:spPr>
            <a:xfrm>
              <a:off x="874100" y="2095050"/>
              <a:ext cx="0" cy="253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" name="Google Shape;209;p24"/>
            <p:cNvCxnSpPr/>
            <p:nvPr/>
          </p:nvCxnSpPr>
          <p:spPr>
            <a:xfrm flipH="1">
              <a:off x="874100" y="4632150"/>
              <a:ext cx="4644300" cy="3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10" name="Google Shape;210;p24"/>
          <p:cNvCxnSpPr/>
          <p:nvPr/>
        </p:nvCxnSpPr>
        <p:spPr>
          <a:xfrm flipH="1" rot="10800000">
            <a:off x="1262525" y="2474775"/>
            <a:ext cx="3679200" cy="1792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Environmental Filtering of Plants</a:t>
            </a:r>
            <a:endParaRPr/>
          </a:p>
        </p:txBody>
      </p:sp>
      <p:pic>
        <p:nvPicPr>
          <p:cNvPr id="216" name="Google Shape;216;p25"/>
          <p:cNvPicPr preferRelativeResize="0"/>
          <p:nvPr/>
        </p:nvPicPr>
        <p:blipFill rotWithShape="1">
          <a:blip r:embed="rId3">
            <a:alphaModFix/>
          </a:blip>
          <a:srcRect b="43853" l="54430" r="10129" t="31291"/>
          <a:stretch/>
        </p:blipFill>
        <p:spPr>
          <a:xfrm>
            <a:off x="5804200" y="92150"/>
            <a:ext cx="3240701" cy="1278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7" name="Google Shape;217;p25"/>
          <p:cNvSpPr txBox="1"/>
          <p:nvPr/>
        </p:nvSpPr>
        <p:spPr>
          <a:xfrm>
            <a:off x="418225" y="1292325"/>
            <a:ext cx="794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Hypotheses tested</a:t>
            </a:r>
            <a:endParaRPr b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Higher diversity where multiple forms of </a:t>
            </a:r>
            <a:r>
              <a:rPr lang="en" sz="1800">
                <a:solidFill>
                  <a:schemeClr val="dk2"/>
                </a:solidFill>
              </a:rPr>
              <a:t>nutrients exists (partitioning)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8" name="Google Shape;218;p25"/>
          <p:cNvSpPr txBox="1"/>
          <p:nvPr/>
        </p:nvSpPr>
        <p:spPr>
          <a:xfrm>
            <a:off x="1260675" y="4636050"/>
            <a:ext cx="318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Diversity of N+P forms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9" name="Google Shape;219;p25"/>
          <p:cNvSpPr txBox="1"/>
          <p:nvPr/>
        </p:nvSpPr>
        <p:spPr>
          <a:xfrm rot="-5400000">
            <a:off x="-663825" y="3092550"/>
            <a:ext cx="246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Species Richness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220" name="Google Shape;220;p25"/>
          <p:cNvGrpSpPr/>
          <p:nvPr/>
        </p:nvGrpSpPr>
        <p:grpSpPr>
          <a:xfrm>
            <a:off x="874100" y="2095050"/>
            <a:ext cx="4644300" cy="2541000"/>
            <a:chOff x="874100" y="2095050"/>
            <a:chExt cx="4644300" cy="2541000"/>
          </a:xfrm>
        </p:grpSpPr>
        <p:cxnSp>
          <p:nvCxnSpPr>
            <p:cNvPr id="221" name="Google Shape;221;p25"/>
            <p:cNvCxnSpPr/>
            <p:nvPr/>
          </p:nvCxnSpPr>
          <p:spPr>
            <a:xfrm>
              <a:off x="874100" y="2095050"/>
              <a:ext cx="0" cy="253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" name="Google Shape;222;p25"/>
            <p:cNvCxnSpPr/>
            <p:nvPr/>
          </p:nvCxnSpPr>
          <p:spPr>
            <a:xfrm flipH="1">
              <a:off x="874100" y="4632150"/>
              <a:ext cx="4644300" cy="3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23" name="Google Shape;223;p25"/>
          <p:cNvCxnSpPr/>
          <p:nvPr/>
        </p:nvCxnSpPr>
        <p:spPr>
          <a:xfrm flipH="1" rot="10800000">
            <a:off x="1262525" y="2474775"/>
            <a:ext cx="3679200" cy="17928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Environmental Filtering of Plants</a:t>
            </a:r>
            <a:endParaRPr/>
          </a:p>
        </p:txBody>
      </p:sp>
      <p:pic>
        <p:nvPicPr>
          <p:cNvPr id="229" name="Google Shape;229;p26"/>
          <p:cNvPicPr preferRelativeResize="0"/>
          <p:nvPr/>
        </p:nvPicPr>
        <p:blipFill rotWithShape="1">
          <a:blip r:embed="rId3">
            <a:alphaModFix/>
          </a:blip>
          <a:srcRect b="43853" l="54430" r="10129" t="31291"/>
          <a:stretch/>
        </p:blipFill>
        <p:spPr>
          <a:xfrm>
            <a:off x="5804200" y="92150"/>
            <a:ext cx="3240701" cy="1278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0" name="Google Shape;23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3000"/>
            <a:ext cx="6905511" cy="3468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Environmental Filtering of Plants</a:t>
            </a:r>
            <a:endParaRPr/>
          </a:p>
        </p:txBody>
      </p:sp>
      <p:pic>
        <p:nvPicPr>
          <p:cNvPr id="236" name="Google Shape;236;p27"/>
          <p:cNvPicPr preferRelativeResize="0"/>
          <p:nvPr/>
        </p:nvPicPr>
        <p:blipFill rotWithShape="1">
          <a:blip r:embed="rId3">
            <a:alphaModFix/>
          </a:blip>
          <a:srcRect b="43853" l="54430" r="10129" t="31291"/>
          <a:stretch/>
        </p:blipFill>
        <p:spPr>
          <a:xfrm>
            <a:off x="5804200" y="92150"/>
            <a:ext cx="3240701" cy="1278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7" name="Google Shape;237;p27"/>
          <p:cNvSpPr txBox="1"/>
          <p:nvPr/>
        </p:nvSpPr>
        <p:spPr>
          <a:xfrm>
            <a:off x="418225" y="1292325"/>
            <a:ext cx="79440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Methods</a:t>
            </a:r>
            <a:endParaRPr b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60 plots (10 m x 10 m)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6 age classes (10 plots each)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In each plot</a:t>
            </a:r>
            <a:endParaRPr sz="1800">
              <a:solidFill>
                <a:schemeClr val="dk2"/>
              </a:solidFill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Species</a:t>
            </a:r>
            <a:endParaRPr sz="1800">
              <a:solidFill>
                <a:schemeClr val="dk2"/>
              </a:solidFill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Density</a:t>
            </a:r>
            <a:endParaRPr sz="1800">
              <a:solidFill>
                <a:schemeClr val="dk2"/>
              </a:solidFill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Cover</a:t>
            </a:r>
            <a:endParaRPr sz="1800">
              <a:solidFill>
                <a:schemeClr val="dk2"/>
              </a:solidFill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Soil samples (nutrients and fertility analyses)</a:t>
            </a:r>
            <a:endParaRPr sz="1800">
              <a:solidFill>
                <a:schemeClr val="dk2"/>
              </a:solidFill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Leaf sample (for nutrient analyses)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Species pool estimated: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38" name="Google Shape;238;p27"/>
          <p:cNvPicPr preferRelativeResize="0"/>
          <p:nvPr/>
        </p:nvPicPr>
        <p:blipFill rotWithShape="1">
          <a:blip r:embed="rId4">
            <a:alphaModFix/>
          </a:blip>
          <a:srcRect b="17071" l="23695" r="11154" t="53603"/>
          <a:stretch/>
        </p:blipFill>
        <p:spPr>
          <a:xfrm>
            <a:off x="3534625" y="3887375"/>
            <a:ext cx="4502726" cy="11400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Environmental Filtering of Plants</a:t>
            </a:r>
            <a:endParaRPr/>
          </a:p>
        </p:txBody>
      </p:sp>
      <p:pic>
        <p:nvPicPr>
          <p:cNvPr id="244" name="Google Shape;244;p28"/>
          <p:cNvPicPr preferRelativeResize="0"/>
          <p:nvPr/>
        </p:nvPicPr>
        <p:blipFill rotWithShape="1">
          <a:blip r:embed="rId3">
            <a:alphaModFix/>
          </a:blip>
          <a:srcRect b="43853" l="54430" r="10129" t="31291"/>
          <a:stretch/>
        </p:blipFill>
        <p:spPr>
          <a:xfrm>
            <a:off x="5804200" y="92150"/>
            <a:ext cx="3240701" cy="1278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5" name="Google Shape;245;p28"/>
          <p:cNvSpPr txBox="1"/>
          <p:nvPr/>
        </p:nvSpPr>
        <p:spPr>
          <a:xfrm>
            <a:off x="418225" y="1292325"/>
            <a:ext cx="794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Results</a:t>
            </a:r>
            <a:endParaRPr b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46" name="Google Shape;246;p28"/>
          <p:cNvPicPr preferRelativeResize="0"/>
          <p:nvPr/>
        </p:nvPicPr>
        <p:blipFill rotWithShape="1">
          <a:blip r:embed="rId4">
            <a:alphaModFix/>
          </a:blip>
          <a:srcRect b="0" l="0" r="0" t="53972"/>
          <a:stretch/>
        </p:blipFill>
        <p:spPr>
          <a:xfrm>
            <a:off x="1653700" y="1602275"/>
            <a:ext cx="3723999" cy="2621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8"/>
          <p:cNvPicPr preferRelativeResize="0"/>
          <p:nvPr/>
        </p:nvPicPr>
        <p:blipFill rotWithShape="1">
          <a:blip r:embed="rId4">
            <a:alphaModFix/>
          </a:blip>
          <a:srcRect b="39160" l="0" r="70140" t="34520"/>
          <a:stretch/>
        </p:blipFill>
        <p:spPr>
          <a:xfrm>
            <a:off x="1513375" y="1003713"/>
            <a:ext cx="976400" cy="131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Environmental Filtering of Plants</a:t>
            </a:r>
            <a:endParaRPr/>
          </a:p>
        </p:txBody>
      </p:sp>
      <p:pic>
        <p:nvPicPr>
          <p:cNvPr id="253" name="Google Shape;253;p29"/>
          <p:cNvPicPr preferRelativeResize="0"/>
          <p:nvPr/>
        </p:nvPicPr>
        <p:blipFill rotWithShape="1">
          <a:blip r:embed="rId3">
            <a:alphaModFix/>
          </a:blip>
          <a:srcRect b="43853" l="54430" r="10129" t="31291"/>
          <a:stretch/>
        </p:blipFill>
        <p:spPr>
          <a:xfrm>
            <a:off x="5804200" y="92150"/>
            <a:ext cx="3240701" cy="1278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4" name="Google Shape;254;p29"/>
          <p:cNvSpPr txBox="1"/>
          <p:nvPr/>
        </p:nvSpPr>
        <p:spPr>
          <a:xfrm>
            <a:off x="565675" y="1448200"/>
            <a:ext cx="8086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Plot-level properties didn’t explain plot richness very well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Instead: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Soil aging changed soil pH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Different pools of species were specialized on different pH values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 and ciliates </a:t>
            </a:r>
            <a:endParaRPr/>
          </a:p>
        </p:txBody>
      </p:sp>
      <p:pic>
        <p:nvPicPr>
          <p:cNvPr id="260" name="Google Shape;260;p30"/>
          <p:cNvPicPr preferRelativeResize="0"/>
          <p:nvPr/>
        </p:nvPicPr>
        <p:blipFill rotWithShape="1">
          <a:blip r:embed="rId3">
            <a:alphaModFix/>
          </a:blip>
          <a:srcRect b="46692" l="19261" r="19633" t="19690"/>
          <a:stretch/>
        </p:blipFill>
        <p:spPr>
          <a:xfrm>
            <a:off x="4921550" y="157300"/>
            <a:ext cx="4150800" cy="12845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 and ciliates </a:t>
            </a:r>
            <a:endParaRPr/>
          </a:p>
        </p:txBody>
      </p:sp>
      <p:pic>
        <p:nvPicPr>
          <p:cNvPr id="266" name="Google Shape;266;p31"/>
          <p:cNvPicPr preferRelativeResize="0"/>
          <p:nvPr/>
        </p:nvPicPr>
        <p:blipFill rotWithShape="1">
          <a:blip r:embed="rId3">
            <a:alphaModFix/>
          </a:blip>
          <a:srcRect b="46692" l="19261" r="19633" t="19690"/>
          <a:stretch/>
        </p:blipFill>
        <p:spPr>
          <a:xfrm>
            <a:off x="4921550" y="157300"/>
            <a:ext cx="4150800" cy="12845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7" name="Google Shape;26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70125"/>
            <a:ext cx="3360722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7024" y="606825"/>
            <a:ext cx="873449" cy="9195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31"/>
          <p:cNvCxnSpPr>
            <a:endCxn id="268" idx="1"/>
          </p:cNvCxnSpPr>
          <p:nvPr/>
        </p:nvCxnSpPr>
        <p:spPr>
          <a:xfrm flipH="1" rot="10800000">
            <a:off x="3427124" y="1066588"/>
            <a:ext cx="489900" cy="15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31"/>
          <p:cNvSpPr txBox="1"/>
          <p:nvPr/>
        </p:nvSpPr>
        <p:spPr>
          <a:xfrm>
            <a:off x="4073900" y="4482875"/>
            <a:ext cx="4857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By Picturepest</a:t>
            </a:r>
            <a:r>
              <a:rPr lang="en" sz="600">
                <a:solidFill>
                  <a:schemeClr val="dk2"/>
                </a:solidFill>
              </a:rPr>
              <a:t> - Spirostomum teres - 160x, CC BY 2.0, </a:t>
            </a:r>
            <a:r>
              <a:rPr lang="en" sz="600" u="sng">
                <a:solidFill>
                  <a:schemeClr val="hlink"/>
                </a:solidFill>
                <a:hlinkClick r:id="rId6"/>
              </a:rPr>
              <a:t>https://commons.wikimedia.org/w/index.php?curid=39164961</a:t>
            </a:r>
            <a:r>
              <a:rPr lang="en" sz="600">
                <a:solidFill>
                  <a:schemeClr val="dk2"/>
                </a:solidFill>
              </a:rPr>
              <a:t>; By Don Loarie - https://www.inaturalist.org/photos/107300954, CC BY 4.0, </a:t>
            </a:r>
            <a:r>
              <a:rPr lang="en" sz="600" u="sng">
                <a:solidFill>
                  <a:schemeClr val="hlink"/>
                </a:solidFill>
                <a:hlinkClick r:id="rId7"/>
              </a:rPr>
              <a:t>https://commons.wikimedia.org/w/index.php?curid=114636926</a:t>
            </a:r>
            <a:r>
              <a:rPr lang="en" sz="600">
                <a:solidFill>
                  <a:schemeClr val="dk2"/>
                </a:solidFill>
              </a:rPr>
              <a:t>; By Dr. Eugen Lehle - Eigenes Werk (own work) http://bodenlabor.de, CC BY-SA 3.0, </a:t>
            </a:r>
            <a:r>
              <a:rPr lang="en" sz="600" u="sng">
                <a:solidFill>
                  <a:schemeClr val="hlink"/>
                </a:solidFill>
                <a:hlinkClick r:id="rId8"/>
              </a:rPr>
              <a:t>https://commons.wikimedia.org/w/index.php?curid=4992616</a:t>
            </a:r>
            <a:r>
              <a:rPr lang="en" sz="600">
                <a:solidFill>
                  <a:schemeClr val="dk2"/>
                </a:solidFill>
              </a:rPr>
              <a:t>; </a:t>
            </a:r>
            <a:endParaRPr sz="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By Picturepest - Tetrahymena pyriformis - 400x - Oralapparat, CC BY 2.0, </a:t>
            </a:r>
            <a:r>
              <a:rPr lang="en" sz="600" u="sng">
                <a:solidFill>
                  <a:schemeClr val="hlink"/>
                </a:solidFill>
                <a:hlinkClick r:id="rId9"/>
              </a:rPr>
              <a:t>https://commons.wikimedia.org/w/index.php?curid=39164918</a:t>
            </a:r>
            <a:r>
              <a:rPr lang="en" sz="600">
                <a:solidFill>
                  <a:schemeClr val="dk2"/>
                </a:solidFill>
              </a:rPr>
              <a:t>;</a:t>
            </a:r>
            <a:endParaRPr sz="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</a:rPr>
              <a:t>By Picturepest - Paramecium bursaria - 400x, CC BY 2.0, </a:t>
            </a:r>
            <a:r>
              <a:rPr lang="en" sz="600" u="sng">
                <a:solidFill>
                  <a:schemeClr val="hlink"/>
                </a:solidFill>
                <a:hlinkClick r:id="rId10"/>
              </a:rPr>
              <a:t>https://commons.wikimedia.org/w/index.php?curid=39164773</a:t>
            </a:r>
            <a:r>
              <a:rPr lang="en" sz="600">
                <a:solidFill>
                  <a:schemeClr val="dk2"/>
                </a:solidFill>
              </a:rPr>
              <a:t>;  </a:t>
            </a:r>
            <a:endParaRPr sz="600">
              <a:solidFill>
                <a:schemeClr val="dk2"/>
              </a:solidFill>
            </a:endParaRPr>
          </a:p>
        </p:txBody>
      </p:sp>
      <p:pic>
        <p:nvPicPr>
          <p:cNvPr id="271" name="Google Shape;271;p3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963724" y="1371925"/>
            <a:ext cx="780059" cy="57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2" name="Google Shape;272;p31"/>
          <p:cNvCxnSpPr>
            <a:endCxn id="271" idx="1"/>
          </p:cNvCxnSpPr>
          <p:nvPr/>
        </p:nvCxnSpPr>
        <p:spPr>
          <a:xfrm>
            <a:off x="3392224" y="1633975"/>
            <a:ext cx="571500" cy="2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73" name="Google Shape;273;p31"/>
          <p:cNvPicPr preferRelativeResize="0"/>
          <p:nvPr/>
        </p:nvPicPr>
        <p:blipFill rotWithShape="1">
          <a:blip r:embed="rId12">
            <a:alphaModFix/>
          </a:blip>
          <a:srcRect b="0" l="17691" r="29391" t="0"/>
          <a:stretch/>
        </p:blipFill>
        <p:spPr>
          <a:xfrm>
            <a:off x="4743776" y="1658286"/>
            <a:ext cx="780051" cy="9073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4" name="Google Shape;274;p31"/>
          <p:cNvCxnSpPr>
            <a:endCxn id="273" idx="1"/>
          </p:cNvCxnSpPr>
          <p:nvPr/>
        </p:nvCxnSpPr>
        <p:spPr>
          <a:xfrm>
            <a:off x="3042776" y="2079881"/>
            <a:ext cx="1701000" cy="3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75" name="Google Shape;275;p31"/>
          <p:cNvPicPr preferRelativeResize="0"/>
          <p:nvPr/>
        </p:nvPicPr>
        <p:blipFill rotWithShape="1">
          <a:blip r:embed="rId13">
            <a:alphaModFix/>
          </a:blip>
          <a:srcRect b="25730" l="25937" r="17109" t="25344"/>
          <a:stretch/>
        </p:blipFill>
        <p:spPr>
          <a:xfrm>
            <a:off x="3917025" y="2182138"/>
            <a:ext cx="873450" cy="6874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6" name="Google Shape;276;p31"/>
          <p:cNvCxnSpPr>
            <a:endCxn id="275" idx="1"/>
          </p:cNvCxnSpPr>
          <p:nvPr/>
        </p:nvCxnSpPr>
        <p:spPr>
          <a:xfrm>
            <a:off x="3540825" y="2434056"/>
            <a:ext cx="376200" cy="9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77" name="Google Shape;277;p31"/>
          <p:cNvPicPr preferRelativeResize="0"/>
          <p:nvPr/>
        </p:nvPicPr>
        <p:blipFill rotWithShape="1">
          <a:blip r:embed="rId14">
            <a:alphaModFix/>
          </a:blip>
          <a:srcRect b="32245" l="21808" r="16745" t="25278"/>
          <a:stretch/>
        </p:blipFill>
        <p:spPr>
          <a:xfrm>
            <a:off x="3888362" y="2939742"/>
            <a:ext cx="1367276" cy="8362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8" name="Google Shape;278;p31"/>
          <p:cNvCxnSpPr/>
          <p:nvPr/>
        </p:nvCxnSpPr>
        <p:spPr>
          <a:xfrm>
            <a:off x="3348600" y="2932650"/>
            <a:ext cx="524400" cy="11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31"/>
          <p:cNvCxnSpPr/>
          <p:nvPr/>
        </p:nvCxnSpPr>
        <p:spPr>
          <a:xfrm flipH="1" rot="10800000">
            <a:off x="3182575" y="3640550"/>
            <a:ext cx="603000" cy="8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80" name="Google Shape;280;p3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464112" y="3092150"/>
            <a:ext cx="1144634" cy="1390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1" name="Google Shape;281;p31"/>
          <p:cNvCxnSpPr>
            <a:endCxn id="280" idx="1"/>
          </p:cNvCxnSpPr>
          <p:nvPr/>
        </p:nvCxnSpPr>
        <p:spPr>
          <a:xfrm flipH="1" rot="10800000">
            <a:off x="3497012" y="3787513"/>
            <a:ext cx="1967100" cy="34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 and ciliates </a:t>
            </a:r>
            <a:endParaRPr/>
          </a:p>
        </p:txBody>
      </p:sp>
      <p:pic>
        <p:nvPicPr>
          <p:cNvPr id="287" name="Google Shape;287;p32"/>
          <p:cNvPicPr preferRelativeResize="0"/>
          <p:nvPr/>
        </p:nvPicPr>
        <p:blipFill rotWithShape="1">
          <a:blip r:embed="rId3">
            <a:alphaModFix/>
          </a:blip>
          <a:srcRect b="46692" l="19261" r="19633" t="19690"/>
          <a:stretch/>
        </p:blipFill>
        <p:spPr>
          <a:xfrm>
            <a:off x="4921550" y="157300"/>
            <a:ext cx="4150800" cy="12845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8" name="Google Shape;288;p32"/>
          <p:cNvSpPr txBox="1"/>
          <p:nvPr/>
        </p:nvSpPr>
        <p:spPr>
          <a:xfrm>
            <a:off x="419875" y="1331550"/>
            <a:ext cx="5598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Methods</a:t>
            </a:r>
            <a:endParaRPr b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Grew populations in pairs and alone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Grown with 3 different bacteria species (= food)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Tracked population sizes over time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 and ciliates </a:t>
            </a:r>
            <a:endParaRPr/>
          </a:p>
        </p:txBody>
      </p:sp>
      <p:pic>
        <p:nvPicPr>
          <p:cNvPr id="294" name="Google Shape;294;p33"/>
          <p:cNvPicPr preferRelativeResize="0"/>
          <p:nvPr/>
        </p:nvPicPr>
        <p:blipFill rotWithShape="1">
          <a:blip r:embed="rId3">
            <a:alphaModFix/>
          </a:blip>
          <a:srcRect b="46692" l="19261" r="19633" t="19690"/>
          <a:stretch/>
        </p:blipFill>
        <p:spPr>
          <a:xfrm>
            <a:off x="4921550" y="157300"/>
            <a:ext cx="4150800" cy="12845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5" name="Google Shape;295;p33"/>
          <p:cNvPicPr preferRelativeResize="0"/>
          <p:nvPr/>
        </p:nvPicPr>
        <p:blipFill rotWithShape="1">
          <a:blip r:embed="rId4">
            <a:alphaModFix/>
          </a:blip>
          <a:srcRect b="0" l="0" r="48339" t="0"/>
          <a:stretch/>
        </p:blipFill>
        <p:spPr>
          <a:xfrm>
            <a:off x="356500" y="1730350"/>
            <a:ext cx="4074899" cy="30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3"/>
          <p:cNvSpPr txBox="1"/>
          <p:nvPr/>
        </p:nvSpPr>
        <p:spPr>
          <a:xfrm>
            <a:off x="4735275" y="2041075"/>
            <a:ext cx="443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Close relatives less likely to coexist - suggests competitive exclusion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 and ciliates </a:t>
            </a:r>
            <a:endParaRPr/>
          </a:p>
        </p:txBody>
      </p:sp>
      <p:pic>
        <p:nvPicPr>
          <p:cNvPr id="302" name="Google Shape;302;p34"/>
          <p:cNvPicPr preferRelativeResize="0"/>
          <p:nvPr/>
        </p:nvPicPr>
        <p:blipFill rotWithShape="1">
          <a:blip r:embed="rId3">
            <a:alphaModFix/>
          </a:blip>
          <a:srcRect b="46692" l="19261" r="19633" t="19690"/>
          <a:stretch/>
        </p:blipFill>
        <p:spPr>
          <a:xfrm>
            <a:off x="4921550" y="157300"/>
            <a:ext cx="4150800" cy="12845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3" name="Google Shape;303;p34"/>
          <p:cNvSpPr txBox="1"/>
          <p:nvPr/>
        </p:nvSpPr>
        <p:spPr>
          <a:xfrm>
            <a:off x="4735275" y="2041075"/>
            <a:ext cx="443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Trait analysis suggests mouth size might play a role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04" name="Google Shape;304;p34"/>
          <p:cNvPicPr preferRelativeResize="0"/>
          <p:nvPr/>
        </p:nvPicPr>
        <p:blipFill rotWithShape="1">
          <a:blip r:embed="rId4">
            <a:alphaModFix/>
          </a:blip>
          <a:srcRect b="0" l="51665" r="0" t="0"/>
          <a:stretch/>
        </p:blipFill>
        <p:spPr>
          <a:xfrm>
            <a:off x="311703" y="1186807"/>
            <a:ext cx="4150800" cy="3279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 and ciliates </a:t>
            </a:r>
            <a:endParaRPr/>
          </a:p>
        </p:txBody>
      </p:sp>
      <p:pic>
        <p:nvPicPr>
          <p:cNvPr id="310" name="Google Shape;310;p35"/>
          <p:cNvPicPr preferRelativeResize="0"/>
          <p:nvPr/>
        </p:nvPicPr>
        <p:blipFill rotWithShape="1">
          <a:blip r:embed="rId3">
            <a:alphaModFix/>
          </a:blip>
          <a:srcRect b="46692" l="19261" r="19633" t="19690"/>
          <a:stretch/>
        </p:blipFill>
        <p:spPr>
          <a:xfrm>
            <a:off x="4921550" y="157300"/>
            <a:ext cx="4150800" cy="12845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1" name="Google Shape;311;p35"/>
          <p:cNvSpPr txBox="1"/>
          <p:nvPr/>
        </p:nvSpPr>
        <p:spPr>
          <a:xfrm>
            <a:off x="4921550" y="2050800"/>
            <a:ext cx="4051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Competitive exclusion happens faster with close relatives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12" name="Google Shape;31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525" y="1286775"/>
            <a:ext cx="3889950" cy="291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 and ciliates </a:t>
            </a:r>
            <a:endParaRPr/>
          </a:p>
        </p:txBody>
      </p:sp>
      <p:pic>
        <p:nvPicPr>
          <p:cNvPr id="318" name="Google Shape;318;p36"/>
          <p:cNvPicPr preferRelativeResize="0"/>
          <p:nvPr/>
        </p:nvPicPr>
        <p:blipFill rotWithShape="1">
          <a:blip r:embed="rId3">
            <a:alphaModFix/>
          </a:blip>
          <a:srcRect b="46692" l="19261" r="19633" t="19690"/>
          <a:stretch/>
        </p:blipFill>
        <p:spPr>
          <a:xfrm>
            <a:off x="4921550" y="157300"/>
            <a:ext cx="4150800" cy="12845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9" name="Google Shape;319;p36"/>
          <p:cNvSpPr txBox="1"/>
          <p:nvPr/>
        </p:nvSpPr>
        <p:spPr>
          <a:xfrm>
            <a:off x="4921550" y="2050800"/>
            <a:ext cx="4051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Smaller effects relative to monoculture at larger distances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20" name="Google Shape;32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286750"/>
            <a:ext cx="4278300" cy="30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 and ciliates </a:t>
            </a:r>
            <a:endParaRPr/>
          </a:p>
        </p:txBody>
      </p:sp>
      <p:pic>
        <p:nvPicPr>
          <p:cNvPr id="326" name="Google Shape;326;p37"/>
          <p:cNvPicPr preferRelativeResize="0"/>
          <p:nvPr/>
        </p:nvPicPr>
        <p:blipFill rotWithShape="1">
          <a:blip r:embed="rId3">
            <a:alphaModFix/>
          </a:blip>
          <a:srcRect b="46692" l="19261" r="19633" t="19690"/>
          <a:stretch/>
        </p:blipFill>
        <p:spPr>
          <a:xfrm>
            <a:off x="4921550" y="157300"/>
            <a:ext cx="4150800" cy="12845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7" name="Google Shape;327;p37"/>
          <p:cNvSpPr txBox="1"/>
          <p:nvPr/>
        </p:nvSpPr>
        <p:spPr>
          <a:xfrm>
            <a:off x="390725" y="1768925"/>
            <a:ext cx="55983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Provides strong, experimental test of </a:t>
            </a:r>
            <a:r>
              <a:rPr lang="en" sz="1800">
                <a:solidFill>
                  <a:schemeClr val="dk2"/>
                </a:solidFill>
              </a:rPr>
              <a:t>competition</a:t>
            </a:r>
            <a:r>
              <a:rPr lang="en" sz="1800">
                <a:solidFill>
                  <a:schemeClr val="dk2"/>
                </a:solidFill>
              </a:rPr>
              <a:t> driving assembly of ciliate </a:t>
            </a:r>
            <a:r>
              <a:rPr lang="en" sz="1800">
                <a:solidFill>
                  <a:schemeClr val="dk2"/>
                </a:solidFill>
              </a:rPr>
              <a:t>communities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Phylogeny served as a useful predictor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Seems to be driven by feeding niches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Close relatives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Faster exclusion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More likely to exclude each other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Larger impact on population sizes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Mammal assembly</a:t>
            </a:r>
            <a:endParaRPr/>
          </a:p>
        </p:txBody>
      </p:sp>
      <p:pic>
        <p:nvPicPr>
          <p:cNvPr id="333" name="Google Shape;333;p38"/>
          <p:cNvPicPr preferRelativeResize="0"/>
          <p:nvPr/>
        </p:nvPicPr>
        <p:blipFill rotWithShape="1">
          <a:blip r:embed="rId3">
            <a:alphaModFix/>
          </a:blip>
          <a:srcRect b="44632" l="36694" r="18133" t="21167"/>
          <a:stretch/>
        </p:blipFill>
        <p:spPr>
          <a:xfrm>
            <a:off x="5542000" y="184675"/>
            <a:ext cx="3362899" cy="14321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34" name="Google Shape;334;p38"/>
          <p:cNvPicPr preferRelativeResize="0"/>
          <p:nvPr/>
        </p:nvPicPr>
        <p:blipFill rotWithShape="1">
          <a:blip r:embed="rId4">
            <a:alphaModFix/>
          </a:blip>
          <a:srcRect b="15242" l="52183" r="7940" t="18691"/>
          <a:stretch/>
        </p:blipFill>
        <p:spPr>
          <a:xfrm>
            <a:off x="351825" y="1017725"/>
            <a:ext cx="3936374" cy="3668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Mammal assembly</a:t>
            </a:r>
            <a:endParaRPr/>
          </a:p>
        </p:txBody>
      </p:sp>
      <p:pic>
        <p:nvPicPr>
          <p:cNvPr id="340" name="Google Shape;340;p39"/>
          <p:cNvPicPr preferRelativeResize="0"/>
          <p:nvPr/>
        </p:nvPicPr>
        <p:blipFill rotWithShape="1">
          <a:blip r:embed="rId3">
            <a:alphaModFix/>
          </a:blip>
          <a:srcRect b="21334" l="26388" r="27454" t="28890"/>
          <a:stretch/>
        </p:blipFill>
        <p:spPr>
          <a:xfrm>
            <a:off x="149025" y="1375100"/>
            <a:ext cx="6136550" cy="372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9"/>
          <p:cNvPicPr preferRelativeResize="0"/>
          <p:nvPr/>
        </p:nvPicPr>
        <p:blipFill rotWithShape="1">
          <a:blip r:embed="rId4">
            <a:alphaModFix/>
          </a:blip>
          <a:srcRect b="44632" l="36694" r="18133" t="21167"/>
          <a:stretch/>
        </p:blipFill>
        <p:spPr>
          <a:xfrm>
            <a:off x="5542000" y="184675"/>
            <a:ext cx="3362899" cy="14321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Mammal assembly</a:t>
            </a:r>
            <a:endParaRPr/>
          </a:p>
        </p:txBody>
      </p:sp>
      <p:pic>
        <p:nvPicPr>
          <p:cNvPr id="347" name="Google Shape;347;p40"/>
          <p:cNvPicPr preferRelativeResize="0"/>
          <p:nvPr/>
        </p:nvPicPr>
        <p:blipFill rotWithShape="1">
          <a:blip r:embed="rId3">
            <a:alphaModFix/>
          </a:blip>
          <a:srcRect b="44632" l="36694" r="18133" t="21167"/>
          <a:stretch/>
        </p:blipFill>
        <p:spPr>
          <a:xfrm>
            <a:off x="5542000" y="184675"/>
            <a:ext cx="3362899" cy="14321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48" name="Google Shape;348;p40"/>
          <p:cNvPicPr preferRelativeResize="0"/>
          <p:nvPr/>
        </p:nvPicPr>
        <p:blipFill rotWithShape="1">
          <a:blip r:embed="rId4">
            <a:alphaModFix/>
          </a:blip>
          <a:srcRect b="17954" l="24013" r="26436" t="26837"/>
          <a:stretch/>
        </p:blipFill>
        <p:spPr>
          <a:xfrm>
            <a:off x="176900" y="1558600"/>
            <a:ext cx="5219299" cy="3271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0"/>
          <p:cNvPicPr preferRelativeResize="0"/>
          <p:nvPr/>
        </p:nvPicPr>
        <p:blipFill rotWithShape="1">
          <a:blip r:embed="rId5">
            <a:alphaModFix/>
          </a:blip>
          <a:srcRect b="15242" l="52183" r="7940" t="18691"/>
          <a:stretch/>
        </p:blipFill>
        <p:spPr>
          <a:xfrm>
            <a:off x="5822100" y="1759225"/>
            <a:ext cx="3180000" cy="296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0" name="Google Shape;350;p40"/>
          <p:cNvCxnSpPr/>
          <p:nvPr/>
        </p:nvCxnSpPr>
        <p:spPr>
          <a:xfrm flipH="1" rot="10800000">
            <a:off x="3996600" y="2021625"/>
            <a:ext cx="2430000" cy="486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" name="Google Shape;351;p40"/>
          <p:cNvCxnSpPr/>
          <p:nvPr/>
        </p:nvCxnSpPr>
        <p:spPr>
          <a:xfrm>
            <a:off x="1595925" y="3226825"/>
            <a:ext cx="5413800" cy="972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Disease dynamics</a:t>
            </a:r>
            <a:endParaRPr/>
          </a:p>
        </p:txBody>
      </p:sp>
      <p:pic>
        <p:nvPicPr>
          <p:cNvPr id="357" name="Google Shape;357;p41"/>
          <p:cNvPicPr preferRelativeResize="0"/>
          <p:nvPr/>
        </p:nvPicPr>
        <p:blipFill rotWithShape="1">
          <a:blip r:embed="rId3">
            <a:alphaModFix/>
          </a:blip>
          <a:srcRect b="44352" l="18741" r="19671" t="19674"/>
          <a:stretch/>
        </p:blipFill>
        <p:spPr>
          <a:xfrm>
            <a:off x="4849300" y="113325"/>
            <a:ext cx="4183776" cy="13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Disease dynamics</a:t>
            </a:r>
            <a:endParaRPr/>
          </a:p>
        </p:txBody>
      </p:sp>
      <p:pic>
        <p:nvPicPr>
          <p:cNvPr id="363" name="Google Shape;363;p42"/>
          <p:cNvPicPr preferRelativeResize="0"/>
          <p:nvPr/>
        </p:nvPicPr>
        <p:blipFill rotWithShape="1">
          <a:blip r:embed="rId3">
            <a:alphaModFix/>
          </a:blip>
          <a:srcRect b="44352" l="18741" r="19671" t="19674"/>
          <a:stretch/>
        </p:blipFill>
        <p:spPr>
          <a:xfrm>
            <a:off x="4870475" y="113325"/>
            <a:ext cx="4183776" cy="13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64" name="Google Shape;364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9625" y="952650"/>
            <a:ext cx="3334474" cy="4038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Disease dynamics</a:t>
            </a:r>
            <a:endParaRPr/>
          </a:p>
        </p:txBody>
      </p:sp>
      <p:pic>
        <p:nvPicPr>
          <p:cNvPr id="370" name="Google Shape;370;p43"/>
          <p:cNvPicPr preferRelativeResize="0"/>
          <p:nvPr/>
        </p:nvPicPr>
        <p:blipFill rotWithShape="1">
          <a:blip r:embed="rId3">
            <a:alphaModFix/>
          </a:blip>
          <a:srcRect b="44352" l="18741" r="19671" t="19674"/>
          <a:stretch/>
        </p:blipFill>
        <p:spPr>
          <a:xfrm>
            <a:off x="4870475" y="113325"/>
            <a:ext cx="4183776" cy="13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1" name="Google Shape;371;p43"/>
          <p:cNvSpPr txBox="1"/>
          <p:nvPr/>
        </p:nvSpPr>
        <p:spPr>
          <a:xfrm>
            <a:off x="266250" y="1381700"/>
            <a:ext cx="81249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Methods: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Hosts = plants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120 plots (1m x 1 m)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Treatments: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	1 vs 5 species (6 different treatment sets of species each)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	High vs low resource supply (fertilized vs unfertilized)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r>
              <a:rPr lang="en" sz="1800">
                <a:solidFill>
                  <a:schemeClr val="dk2"/>
                </a:solidFill>
              </a:rPr>
              <a:t>Disease</a:t>
            </a:r>
            <a:r>
              <a:rPr lang="en" sz="1800">
                <a:solidFill>
                  <a:schemeClr val="dk2"/>
                </a:solidFill>
              </a:rPr>
              <a:t>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	Subsets of leaves sampled per plot per species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	Parasites identified by symptoms, DNA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	Calculated parasite load as total leaf area damaged per plot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Native vs Exotic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	Followed USDA categorization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Disease dynamics</a:t>
            </a:r>
            <a:endParaRPr/>
          </a:p>
        </p:txBody>
      </p:sp>
      <p:pic>
        <p:nvPicPr>
          <p:cNvPr id="377" name="Google Shape;377;p44"/>
          <p:cNvPicPr preferRelativeResize="0"/>
          <p:nvPr/>
        </p:nvPicPr>
        <p:blipFill rotWithShape="1">
          <a:blip r:embed="rId3">
            <a:alphaModFix/>
          </a:blip>
          <a:srcRect b="44352" l="18741" r="19671" t="19674"/>
          <a:stretch/>
        </p:blipFill>
        <p:spPr>
          <a:xfrm>
            <a:off x="4847500" y="90375"/>
            <a:ext cx="4183776" cy="13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78" name="Google Shape;378;p44"/>
          <p:cNvPicPr preferRelativeResize="0"/>
          <p:nvPr/>
        </p:nvPicPr>
        <p:blipFill rotWithShape="1">
          <a:blip r:embed="rId4">
            <a:alphaModFix/>
          </a:blip>
          <a:srcRect b="64811" l="0" r="0" t="0"/>
          <a:stretch/>
        </p:blipFill>
        <p:spPr>
          <a:xfrm>
            <a:off x="230425" y="940625"/>
            <a:ext cx="3024924" cy="1478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Disease dynamics</a:t>
            </a:r>
            <a:endParaRPr/>
          </a:p>
        </p:txBody>
      </p:sp>
      <p:pic>
        <p:nvPicPr>
          <p:cNvPr id="384" name="Google Shape;384;p45"/>
          <p:cNvPicPr preferRelativeResize="0"/>
          <p:nvPr/>
        </p:nvPicPr>
        <p:blipFill rotWithShape="1">
          <a:blip r:embed="rId3">
            <a:alphaModFix/>
          </a:blip>
          <a:srcRect b="44352" l="18741" r="19671" t="19674"/>
          <a:stretch/>
        </p:blipFill>
        <p:spPr>
          <a:xfrm>
            <a:off x="4847500" y="90375"/>
            <a:ext cx="4183776" cy="13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85" name="Google Shape;385;p45"/>
          <p:cNvPicPr preferRelativeResize="0"/>
          <p:nvPr/>
        </p:nvPicPr>
        <p:blipFill rotWithShape="1">
          <a:blip r:embed="rId4">
            <a:alphaModFix/>
          </a:blip>
          <a:srcRect b="31871" l="0" r="0" t="0"/>
          <a:stretch/>
        </p:blipFill>
        <p:spPr>
          <a:xfrm>
            <a:off x="230425" y="940625"/>
            <a:ext cx="3024924" cy="2863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Disease dynamics</a:t>
            </a:r>
            <a:endParaRPr/>
          </a:p>
        </p:txBody>
      </p:sp>
      <p:pic>
        <p:nvPicPr>
          <p:cNvPr id="391" name="Google Shape;391;p46"/>
          <p:cNvPicPr preferRelativeResize="0"/>
          <p:nvPr/>
        </p:nvPicPr>
        <p:blipFill rotWithShape="1">
          <a:blip r:embed="rId3">
            <a:alphaModFix/>
          </a:blip>
          <a:srcRect b="44352" l="18741" r="19671" t="19674"/>
          <a:stretch/>
        </p:blipFill>
        <p:spPr>
          <a:xfrm>
            <a:off x="4847500" y="90375"/>
            <a:ext cx="4183776" cy="13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92" name="Google Shape;392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425" y="940625"/>
            <a:ext cx="3024913" cy="420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Disease dynamics</a:t>
            </a:r>
            <a:endParaRPr/>
          </a:p>
        </p:txBody>
      </p:sp>
      <p:pic>
        <p:nvPicPr>
          <p:cNvPr id="398" name="Google Shape;398;p47"/>
          <p:cNvPicPr preferRelativeResize="0"/>
          <p:nvPr/>
        </p:nvPicPr>
        <p:blipFill rotWithShape="1">
          <a:blip r:embed="rId3">
            <a:alphaModFix/>
          </a:blip>
          <a:srcRect b="44352" l="18741" r="19671" t="19674"/>
          <a:stretch/>
        </p:blipFill>
        <p:spPr>
          <a:xfrm>
            <a:off x="4847500" y="90375"/>
            <a:ext cx="4183776" cy="13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99" name="Google Shape;399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00" y="952500"/>
            <a:ext cx="3308974" cy="40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Disease dynamics</a:t>
            </a:r>
            <a:endParaRPr/>
          </a:p>
        </p:txBody>
      </p:sp>
      <p:pic>
        <p:nvPicPr>
          <p:cNvPr id="405" name="Google Shape;405;p48"/>
          <p:cNvPicPr preferRelativeResize="0"/>
          <p:nvPr/>
        </p:nvPicPr>
        <p:blipFill rotWithShape="1">
          <a:blip r:embed="rId3">
            <a:alphaModFix/>
          </a:blip>
          <a:srcRect b="44352" l="18741" r="19671" t="19674"/>
          <a:stretch/>
        </p:blipFill>
        <p:spPr>
          <a:xfrm>
            <a:off x="4847500" y="90375"/>
            <a:ext cx="4183776" cy="13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06" name="Google Shape;406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617275"/>
            <a:ext cx="4838651" cy="337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Disease dynamics</a:t>
            </a:r>
            <a:endParaRPr/>
          </a:p>
        </p:txBody>
      </p:sp>
      <p:pic>
        <p:nvPicPr>
          <p:cNvPr id="412" name="Google Shape;412;p49"/>
          <p:cNvPicPr preferRelativeResize="0"/>
          <p:nvPr/>
        </p:nvPicPr>
        <p:blipFill rotWithShape="1">
          <a:blip r:embed="rId3">
            <a:alphaModFix/>
          </a:blip>
          <a:srcRect b="44352" l="18741" r="19671" t="19674"/>
          <a:stretch/>
        </p:blipFill>
        <p:spPr>
          <a:xfrm>
            <a:off x="4847500" y="90375"/>
            <a:ext cx="4183776" cy="13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13" name="Google Shape;413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425" y="940625"/>
            <a:ext cx="3024913" cy="420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49"/>
          <p:cNvSpPr txBox="1"/>
          <p:nvPr/>
        </p:nvSpPr>
        <p:spPr>
          <a:xfrm>
            <a:off x="3910175" y="1895175"/>
            <a:ext cx="4642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Community assembly mechanisms can change over time!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Importance of considering </a:t>
            </a:r>
            <a:r>
              <a:rPr lang="en" sz="1800">
                <a:solidFill>
                  <a:schemeClr val="dk2"/>
                </a:solidFill>
              </a:rPr>
              <a:t>temporal</a:t>
            </a:r>
            <a:r>
              <a:rPr lang="en" sz="1800">
                <a:solidFill>
                  <a:schemeClr val="dk2"/>
                </a:solidFill>
              </a:rPr>
              <a:t> dynamics.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Just because you don’t find evidence of something doesn’t mean it won’t be important at another time!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class: Community assembly and global change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