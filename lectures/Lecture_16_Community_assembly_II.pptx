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2d8981be037_0_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2d8981be037_0_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3ecb89f54c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3ecb89f54c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3f21c6f606_0_10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3f21c6f606_0_10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33f21c6f606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33f21c6f606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3f21c6f606_0_1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3f21c6f606_0_1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33f21c6f606_0_2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33f21c6f606_0_2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can’t go back in time, or wait for dunes to change, but space-for-time approaches give us a reasonable alternative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g33f21c6f606_0_20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9" name="Google Shape;139;g33f21c6f606_0_20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3f21c6f606_0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3f21c6f606_0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g33f21c6f606_0_2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9" name="Google Shape;159;g33f21c6f606_0_2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3f21c6f606_0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3f21c6f606_0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3f21c6f606_0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33f21c6f606_0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3f21c6f606_0_2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0" name="Google Shape;200;g33f21c6f606_0_2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3f21c6f606_0_2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3" name="Google Shape;213;g33f21c6f606_0_2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g33f21c6f606_0_3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6" name="Google Shape;226;g33f21c6f606_0_3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3f21c6f606_0_3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g33f21c6f606_0_3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3f21c6f606_0_3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3f21c6f606_0_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g33f21c6f606_0_4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0" name="Google Shape;250;g33f21c6f606_0_4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3f21c6f606_0_3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7" name="Google Shape;257;g33f21c6f606_0_3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g33f21c6f606_0_3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3" name="Google Shape;263;g33f21c6f606_0_3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g33f21c6f606_0_3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4" name="Google Shape;284;g33f21c6f606_0_3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3f21c6f606_0_3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3f21c6f606_0_3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3f21c6f606_0_4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3f21c6f606_0_4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3f21c6f606_0_40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3f21c6f606_0_40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g33f21c6f606_0_4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5" name="Google Shape;315;g33f21c6f606_0_4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3f21c6f606_0_4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3f21c6f606_0_4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g33f21c6f606_0_3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0" name="Google Shape;330;g33f21c6f606_0_3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Note that the assumptions here are slightly different from what others may focus on</a:t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3f21c6f606_0_45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7" name="Google Shape;337;g33f21c6f606_0_45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3f21c6f606_0_4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4" name="Google Shape;344;g33f21c6f606_0_4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3f21c6f606_0_46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4" name="Google Shape;354;g33f21c6f606_0_46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g33f21c6f606_0_4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0" name="Google Shape;360;g33f21c6f606_0_4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3f21c6f606_0_47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67" name="Google Shape;367;g33f21c6f606_0_47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g33f21c6f606_0_4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4" name="Google Shape;374;g33f21c6f606_0_4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9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g33f21c6f606_0_49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1" name="Google Shape;381;g33f21c6f606_0_49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g33f21c6f606_0_4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8" name="Google Shape;388;g33f21c6f606_0_4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3f21c6f606_0_5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95" name="Google Shape;395;g33f21c6f606_0_5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3f21c6f606_0_5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2" name="Google Shape;402;g33f21c6f606_0_5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3f21c6f606_0_5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9" name="Google Shape;409;g33f21c6f606_0_5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5" name="Shape 4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Google Shape;416;g2d8981be037_0_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7" name="Google Shape;417;g2d8981be037_0_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.png"/></Relationships>
</file>

<file path=ppt/slides/_rels/slide19.xml.rels><?xml version="1.0" encoding="UTF-8" standalone="yes"?><Relationships xmlns="http://schemas.openxmlformats.org/package/2006/relationships"><Relationship Id="rId11" Type="http://schemas.openxmlformats.org/officeDocument/2006/relationships/image" Target="../media/image25.png"/><Relationship Id="rId10" Type="http://schemas.openxmlformats.org/officeDocument/2006/relationships/hyperlink" Target="https://commons.wikimedia.org/w/index.php?curid=39164773" TargetMode="External"/><Relationship Id="rId13" Type="http://schemas.openxmlformats.org/officeDocument/2006/relationships/image" Target="../media/image23.png"/><Relationship Id="rId12" Type="http://schemas.openxmlformats.org/officeDocument/2006/relationships/image" Target="../media/image18.png"/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.png"/><Relationship Id="rId4" Type="http://schemas.openxmlformats.org/officeDocument/2006/relationships/image" Target="../media/image7.png"/><Relationship Id="rId9" Type="http://schemas.openxmlformats.org/officeDocument/2006/relationships/hyperlink" Target="https://commons.wikimedia.org/w/index.php?curid=39164918" TargetMode="External"/><Relationship Id="rId15" Type="http://schemas.openxmlformats.org/officeDocument/2006/relationships/image" Target="../media/image15.png"/><Relationship Id="rId14" Type="http://schemas.openxmlformats.org/officeDocument/2006/relationships/image" Target="../media/image21.png"/><Relationship Id="rId5" Type="http://schemas.openxmlformats.org/officeDocument/2006/relationships/image" Target="../media/image19.png"/><Relationship Id="rId6" Type="http://schemas.openxmlformats.org/officeDocument/2006/relationships/hyperlink" Target="https://commons.wikimedia.org/w/index.php?curid=39164961" TargetMode="External"/><Relationship Id="rId7" Type="http://schemas.openxmlformats.org/officeDocument/2006/relationships/hyperlink" Target="https://commons.wikimedia.org/w/index.php?curid=114636926" TargetMode="External"/><Relationship Id="rId8" Type="http://schemas.openxmlformats.org/officeDocument/2006/relationships/hyperlink" Target="https://commons.wikimedia.org/w/index.php?curid=4992616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2.png"/><Relationship Id="rId4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2.png"/><Relationship Id="rId4" Type="http://schemas.openxmlformats.org/officeDocument/2006/relationships/image" Target="../media/image11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.png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Relationship Id="rId4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Relationship Id="rId4" Type="http://schemas.openxmlformats.org/officeDocument/2006/relationships/image" Target="../media/image28.png"/><Relationship Id="rId5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.png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4.png"/><Relationship Id="rId4" Type="http://schemas.openxmlformats.org/officeDocument/2006/relationships/image" Target="../media/image22.png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4.png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4.png"/><Relationship Id="rId4" Type="http://schemas.openxmlformats.org/officeDocument/2006/relationships/image" Target="../media/image27.png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4.png"/><Relationship Id="rId4" Type="http://schemas.openxmlformats.org/officeDocument/2006/relationships/image" Target="../media/image26.png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2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>
            <p:ph type="ctrTitle"/>
          </p:nvPr>
        </p:nvSpPr>
        <p:spPr>
          <a:xfrm>
            <a:off x="311700" y="744575"/>
            <a:ext cx="8520600" cy="115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Community Assembly II</a:t>
            </a:r>
            <a:endParaRPr/>
          </a:p>
        </p:txBody>
      </p:sp>
      <p:sp>
        <p:nvSpPr>
          <p:cNvPr id="55" name="Google Shape;55;p13"/>
          <p:cNvSpPr txBox="1"/>
          <p:nvPr>
            <p:ph idx="1" type="subTitle"/>
          </p:nvPr>
        </p:nvSpPr>
        <p:spPr>
          <a:xfrm>
            <a:off x="311700" y="2389575"/>
            <a:ext cx="8520600" cy="2430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Today’s Agenda:</a:t>
            </a:r>
            <a:endParaRPr b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Quiz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Check-in</a:t>
            </a:r>
            <a:endParaRPr/>
          </a:p>
          <a:p>
            <a:pPr indent="-406400" lvl="0" marL="457200" rtl="0" algn="ctr">
              <a:spcBef>
                <a:spcPts val="0"/>
              </a:spcBef>
              <a:spcAft>
                <a:spcPts val="0"/>
              </a:spcAft>
              <a:buSzPts val="2800"/>
              <a:buChar char="●"/>
            </a:pPr>
            <a:r>
              <a:rPr lang="en"/>
              <a:t>Community Assembly Examples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Check-in</a:t>
            </a:r>
            <a:endParaRPr/>
          </a:p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Just wanted to touch base and see how the class is going.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/>
              <a:t>	Anything that isn’t working? </a:t>
            </a:r>
            <a:r>
              <a:rPr lang="en"/>
              <a:t>Anything</a:t>
            </a:r>
            <a:r>
              <a:rPr lang="en"/>
              <a:t> that IS working?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	Feel free to email me as well.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/>
          <p:nvPr/>
        </p:nvSpPr>
        <p:spPr>
          <a:xfrm>
            <a:off x="329025" y="1411250"/>
            <a:ext cx="1476600" cy="32208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15"/>
          <p:cNvSpPr/>
          <p:nvPr/>
        </p:nvSpPr>
        <p:spPr>
          <a:xfrm>
            <a:off x="3054325" y="15141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15"/>
          <p:cNvSpPr txBox="1"/>
          <p:nvPr/>
        </p:nvSpPr>
        <p:spPr>
          <a:xfrm>
            <a:off x="329025" y="1017725"/>
            <a:ext cx="1476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Species pool</a:t>
            </a:r>
            <a:endParaRPr sz="1700"/>
          </a:p>
        </p:txBody>
      </p:sp>
      <p:sp>
        <p:nvSpPr>
          <p:cNvPr id="69" name="Google Shape;69;p15"/>
          <p:cNvSpPr txBox="1"/>
          <p:nvPr/>
        </p:nvSpPr>
        <p:spPr>
          <a:xfrm>
            <a:off x="1691675" y="1005000"/>
            <a:ext cx="1476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Dispersal</a:t>
            </a:r>
            <a:endParaRPr sz="1700"/>
          </a:p>
        </p:txBody>
      </p:sp>
      <p:sp>
        <p:nvSpPr>
          <p:cNvPr id="70" name="Google Shape;70;p15"/>
          <p:cNvSpPr/>
          <p:nvPr/>
        </p:nvSpPr>
        <p:spPr>
          <a:xfrm>
            <a:off x="3054325" y="25047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/>
          <p:nvPr/>
        </p:nvSpPr>
        <p:spPr>
          <a:xfrm>
            <a:off x="3054325" y="34953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15"/>
          <p:cNvSpPr txBox="1"/>
          <p:nvPr/>
        </p:nvSpPr>
        <p:spPr>
          <a:xfrm>
            <a:off x="2987075" y="1005000"/>
            <a:ext cx="1476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Communities</a:t>
            </a:r>
            <a:endParaRPr sz="1700"/>
          </a:p>
        </p:txBody>
      </p:sp>
      <p:sp>
        <p:nvSpPr>
          <p:cNvPr id="73" name="Google Shape;73;p15"/>
          <p:cNvSpPr txBox="1"/>
          <p:nvPr/>
        </p:nvSpPr>
        <p:spPr>
          <a:xfrm>
            <a:off x="4633250" y="776400"/>
            <a:ext cx="921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Abiotic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Filter</a:t>
            </a:r>
            <a:endParaRPr sz="1700"/>
          </a:p>
        </p:txBody>
      </p:sp>
      <p:sp>
        <p:nvSpPr>
          <p:cNvPr id="74" name="Google Shape;74;p15"/>
          <p:cNvSpPr txBox="1"/>
          <p:nvPr/>
        </p:nvSpPr>
        <p:spPr>
          <a:xfrm>
            <a:off x="5402725" y="776400"/>
            <a:ext cx="921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Biotic</a:t>
            </a:r>
            <a:endParaRPr sz="1700">
              <a:solidFill>
                <a:schemeClr val="dk1"/>
              </a:solidFill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Filter</a:t>
            </a:r>
            <a:endParaRPr sz="1700"/>
          </a:p>
        </p:txBody>
      </p:sp>
      <p:sp>
        <p:nvSpPr>
          <p:cNvPr id="75" name="Google Shape;75;p15"/>
          <p:cNvSpPr/>
          <p:nvPr/>
        </p:nvSpPr>
        <p:spPr>
          <a:xfrm>
            <a:off x="6254725" y="15141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" name="Google Shape;76;p15"/>
          <p:cNvSpPr/>
          <p:nvPr/>
        </p:nvSpPr>
        <p:spPr>
          <a:xfrm>
            <a:off x="6254725" y="25047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15"/>
          <p:cNvSpPr/>
          <p:nvPr/>
        </p:nvSpPr>
        <p:spPr>
          <a:xfrm>
            <a:off x="6254725" y="3495300"/>
            <a:ext cx="1476600" cy="9279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15"/>
          <p:cNvSpPr txBox="1"/>
          <p:nvPr/>
        </p:nvSpPr>
        <p:spPr>
          <a:xfrm>
            <a:off x="6254725" y="852600"/>
            <a:ext cx="14766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Communities</a:t>
            </a:r>
            <a:endParaRPr sz="1700"/>
          </a:p>
        </p:txBody>
      </p:sp>
      <p:sp>
        <p:nvSpPr>
          <p:cNvPr id="79" name="Google Shape;79;p15"/>
          <p:cNvSpPr/>
          <p:nvPr/>
        </p:nvSpPr>
        <p:spPr>
          <a:xfrm>
            <a:off x="7831200" y="1514100"/>
            <a:ext cx="535200" cy="2909100"/>
          </a:xfrm>
          <a:prstGeom prst="rightBrace">
            <a:avLst>
              <a:gd fmla="val 50000" name="adj1"/>
              <a:gd fmla="val 48928" name="adj2"/>
            </a:avLst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15"/>
          <p:cNvSpPr txBox="1"/>
          <p:nvPr/>
        </p:nvSpPr>
        <p:spPr>
          <a:xfrm rot="5400000">
            <a:off x="7550125" y="2681400"/>
            <a:ext cx="2055000" cy="44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>
                <a:solidFill>
                  <a:schemeClr val="dk1"/>
                </a:solidFill>
              </a:rPr>
              <a:t>Metacommunity</a:t>
            </a:r>
            <a:endParaRPr sz="1700"/>
          </a:p>
        </p:txBody>
      </p:sp>
      <p:sp>
        <p:nvSpPr>
          <p:cNvPr id="81" name="Google Shape;81;p15"/>
          <p:cNvSpPr/>
          <p:nvPr/>
        </p:nvSpPr>
        <p:spPr>
          <a:xfrm>
            <a:off x="1102025" y="4473550"/>
            <a:ext cx="6848296" cy="605950"/>
          </a:xfrm>
          <a:custGeom>
            <a:rect b="b" l="l" r="r" t="t"/>
            <a:pathLst>
              <a:path extrusionOk="0" h="24238" w="237850">
                <a:moveTo>
                  <a:pt x="237850" y="0"/>
                </a:moveTo>
                <a:cubicBezTo>
                  <a:pt x="233423" y="3634"/>
                  <a:pt x="246373" y="18103"/>
                  <a:pt x="211290" y="21803"/>
                </a:cubicBezTo>
                <a:cubicBezTo>
                  <a:pt x="176207" y="25503"/>
                  <a:pt x="62568" y="24446"/>
                  <a:pt x="27353" y="22200"/>
                </a:cubicBezTo>
                <a:cubicBezTo>
                  <a:pt x="-7862" y="19954"/>
                  <a:pt x="4559" y="10638"/>
                  <a:pt x="0" y="8325"/>
                </a:cubicBezTo>
              </a:path>
            </a:pathLst>
          </a:cu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sp>
      <p:sp>
        <p:nvSpPr>
          <p:cNvPr id="82" name="Google Shape;82;p15"/>
          <p:cNvSpPr txBox="1"/>
          <p:nvPr/>
        </p:nvSpPr>
        <p:spPr>
          <a:xfrm>
            <a:off x="2736625" y="4632050"/>
            <a:ext cx="35181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Speciation, Extinction, Dispersal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83" name="Google Shape;83;p15"/>
          <p:cNvCxnSpPr>
            <a:stCxn id="73" idx="2"/>
          </p:cNvCxnSpPr>
          <p:nvPr/>
        </p:nvCxnSpPr>
        <p:spPr>
          <a:xfrm>
            <a:off x="5094050" y="1484400"/>
            <a:ext cx="1800" cy="29991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84" name="Google Shape;84;p15"/>
          <p:cNvCxnSpPr/>
          <p:nvPr/>
        </p:nvCxnSpPr>
        <p:spPr>
          <a:xfrm>
            <a:off x="5856050" y="1484400"/>
            <a:ext cx="1800" cy="2999100"/>
          </a:xfrm>
          <a:prstGeom prst="straightConnector1">
            <a:avLst/>
          </a:prstGeom>
          <a:noFill/>
          <a:ln cap="flat" cmpd="sng" w="76200">
            <a:solidFill>
              <a:schemeClr val="dk2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85" name="Google Shape;85;p15"/>
          <p:cNvSpPr/>
          <p:nvPr/>
        </p:nvSpPr>
        <p:spPr>
          <a:xfrm>
            <a:off x="606525" y="1718475"/>
            <a:ext cx="297300" cy="297300"/>
          </a:xfrm>
          <a:prstGeom prst="rect">
            <a:avLst/>
          </a:prstGeom>
          <a:solidFill>
            <a:srgbClr val="6FA8DC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5"/>
          <p:cNvSpPr/>
          <p:nvPr/>
        </p:nvSpPr>
        <p:spPr>
          <a:xfrm>
            <a:off x="1292325" y="2175675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5"/>
          <p:cNvSpPr/>
          <p:nvPr/>
        </p:nvSpPr>
        <p:spPr>
          <a:xfrm>
            <a:off x="691975" y="27491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15"/>
          <p:cNvSpPr/>
          <p:nvPr/>
        </p:nvSpPr>
        <p:spPr>
          <a:xfrm>
            <a:off x="1307725" y="2909475"/>
            <a:ext cx="297300" cy="247800"/>
          </a:xfrm>
          <a:prstGeom prst="trapezoid">
            <a:avLst>
              <a:gd fmla="val 25000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15"/>
          <p:cNvSpPr/>
          <p:nvPr/>
        </p:nvSpPr>
        <p:spPr>
          <a:xfrm>
            <a:off x="725450" y="3621250"/>
            <a:ext cx="297300" cy="297300"/>
          </a:xfrm>
          <a:prstGeom prst="ellipse">
            <a:avLst/>
          </a:prstGeom>
          <a:solidFill>
            <a:srgbClr val="93C47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0" name="Google Shape;90;p15"/>
          <p:cNvSpPr/>
          <p:nvPr/>
        </p:nvSpPr>
        <p:spPr>
          <a:xfrm>
            <a:off x="4139525" y="2042250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15"/>
          <p:cNvSpPr/>
          <p:nvPr/>
        </p:nvSpPr>
        <p:spPr>
          <a:xfrm>
            <a:off x="3881525" y="2612175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15"/>
          <p:cNvSpPr/>
          <p:nvPr/>
        </p:nvSpPr>
        <p:spPr>
          <a:xfrm>
            <a:off x="3836975" y="3026675"/>
            <a:ext cx="386400" cy="297300"/>
          </a:xfrm>
          <a:prstGeom prst="triangle">
            <a:avLst>
              <a:gd fmla="val 50000" name="adj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5"/>
          <p:cNvSpPr/>
          <p:nvPr/>
        </p:nvSpPr>
        <p:spPr>
          <a:xfrm>
            <a:off x="3968575" y="3542863"/>
            <a:ext cx="297300" cy="297300"/>
          </a:xfrm>
          <a:prstGeom prst="ellipse">
            <a:avLst/>
          </a:prstGeom>
          <a:solidFill>
            <a:srgbClr val="93C47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3968575" y="1579800"/>
            <a:ext cx="297300" cy="297300"/>
          </a:xfrm>
          <a:prstGeom prst="ellipse">
            <a:avLst/>
          </a:prstGeom>
          <a:solidFill>
            <a:srgbClr val="93C47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5"/>
          <p:cNvSpPr/>
          <p:nvPr/>
        </p:nvSpPr>
        <p:spPr>
          <a:xfrm>
            <a:off x="665975" y="2220150"/>
            <a:ext cx="386400" cy="247800"/>
          </a:xfrm>
          <a:prstGeom prst="parallelogram">
            <a:avLst>
              <a:gd fmla="val 25000" name="adj"/>
            </a:avLst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15"/>
          <p:cNvSpPr/>
          <p:nvPr/>
        </p:nvSpPr>
        <p:spPr>
          <a:xfrm>
            <a:off x="1182650" y="3773650"/>
            <a:ext cx="297300" cy="297300"/>
          </a:xfrm>
          <a:prstGeom prst="ellipse">
            <a:avLst/>
          </a:prstGeom>
          <a:solidFill>
            <a:srgbClr val="D5A6B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7" name="Google Shape;97;p15"/>
          <p:cNvSpPr/>
          <p:nvPr/>
        </p:nvSpPr>
        <p:spPr>
          <a:xfrm>
            <a:off x="3163850" y="3011650"/>
            <a:ext cx="297300" cy="297300"/>
          </a:xfrm>
          <a:prstGeom prst="ellipse">
            <a:avLst/>
          </a:prstGeom>
          <a:solidFill>
            <a:srgbClr val="D5A6B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15"/>
          <p:cNvSpPr/>
          <p:nvPr/>
        </p:nvSpPr>
        <p:spPr>
          <a:xfrm>
            <a:off x="844375" y="31301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15"/>
          <p:cNvSpPr/>
          <p:nvPr/>
        </p:nvSpPr>
        <p:spPr>
          <a:xfrm>
            <a:off x="4094975" y="4048950"/>
            <a:ext cx="386400" cy="247800"/>
          </a:xfrm>
          <a:prstGeom prst="parallelogram">
            <a:avLst>
              <a:gd fmla="val 25000" name="adj"/>
            </a:avLst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5"/>
          <p:cNvSpPr/>
          <p:nvPr/>
        </p:nvSpPr>
        <p:spPr>
          <a:xfrm>
            <a:off x="7310525" y="2688375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15"/>
          <p:cNvSpPr/>
          <p:nvPr/>
        </p:nvSpPr>
        <p:spPr>
          <a:xfrm>
            <a:off x="6580175" y="3026675"/>
            <a:ext cx="386400" cy="297300"/>
          </a:xfrm>
          <a:prstGeom prst="triangle">
            <a:avLst>
              <a:gd fmla="val 50000" name="adj"/>
            </a:avLst>
          </a:prstGeom>
          <a:solidFill>
            <a:srgbClr val="00FF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15"/>
          <p:cNvSpPr/>
          <p:nvPr/>
        </p:nvSpPr>
        <p:spPr>
          <a:xfrm>
            <a:off x="7321375" y="2042250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5"/>
          <p:cNvSpPr/>
          <p:nvPr/>
        </p:nvSpPr>
        <p:spPr>
          <a:xfrm>
            <a:off x="3282775" y="36635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15"/>
          <p:cNvSpPr/>
          <p:nvPr/>
        </p:nvSpPr>
        <p:spPr>
          <a:xfrm>
            <a:off x="3358975" y="20633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15"/>
          <p:cNvSpPr/>
          <p:nvPr/>
        </p:nvSpPr>
        <p:spPr>
          <a:xfrm>
            <a:off x="3349725" y="4080675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15"/>
          <p:cNvSpPr/>
          <p:nvPr/>
        </p:nvSpPr>
        <p:spPr>
          <a:xfrm>
            <a:off x="3365125" y="1614075"/>
            <a:ext cx="297300" cy="247800"/>
          </a:xfrm>
          <a:prstGeom prst="trapezoid">
            <a:avLst>
              <a:gd fmla="val 25000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15"/>
          <p:cNvSpPr/>
          <p:nvPr/>
        </p:nvSpPr>
        <p:spPr>
          <a:xfrm>
            <a:off x="3637775" y="1915350"/>
            <a:ext cx="386400" cy="247800"/>
          </a:xfrm>
          <a:prstGeom prst="parallelogram">
            <a:avLst>
              <a:gd fmla="val 25000" name="adj"/>
            </a:avLst>
          </a:prstGeom>
          <a:solidFill>
            <a:srgbClr val="FF00FF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15"/>
          <p:cNvSpPr/>
          <p:nvPr/>
        </p:nvSpPr>
        <p:spPr>
          <a:xfrm>
            <a:off x="7251325" y="1690275"/>
            <a:ext cx="297300" cy="247800"/>
          </a:xfrm>
          <a:prstGeom prst="trapezoid">
            <a:avLst>
              <a:gd fmla="val 25000" name="adj"/>
            </a:avLst>
          </a:prstGeom>
          <a:solidFill>
            <a:srgbClr val="9FC5E8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15"/>
          <p:cNvSpPr/>
          <p:nvPr/>
        </p:nvSpPr>
        <p:spPr>
          <a:xfrm>
            <a:off x="6483175" y="19109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15"/>
          <p:cNvSpPr/>
          <p:nvPr/>
        </p:nvSpPr>
        <p:spPr>
          <a:xfrm>
            <a:off x="6940375" y="3587350"/>
            <a:ext cx="386400" cy="297300"/>
          </a:xfrm>
          <a:prstGeom prst="triangle">
            <a:avLst>
              <a:gd fmla="val 50000" name="adj"/>
            </a:avLst>
          </a:prstGeom>
          <a:solidFill>
            <a:srgbClr val="38761D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15"/>
          <p:cNvSpPr/>
          <p:nvPr/>
        </p:nvSpPr>
        <p:spPr>
          <a:xfrm>
            <a:off x="7007325" y="4004475"/>
            <a:ext cx="297300" cy="297300"/>
          </a:xfrm>
          <a:prstGeom prst="rect">
            <a:avLst/>
          </a:prstGeom>
          <a:solidFill>
            <a:srgbClr val="00FF00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cxnSp>
        <p:nvCxnSpPr>
          <p:cNvPr id="112" name="Google Shape;112;p15"/>
          <p:cNvCxnSpPr>
            <a:stCxn id="66" idx="3"/>
            <a:endCxn id="67" idx="1"/>
          </p:cNvCxnSpPr>
          <p:nvPr/>
        </p:nvCxnSpPr>
        <p:spPr>
          <a:xfrm flipH="1" rot="10800000">
            <a:off x="1805625" y="1977950"/>
            <a:ext cx="1248600" cy="10437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3" name="Google Shape;113;p15"/>
          <p:cNvCxnSpPr>
            <a:stCxn id="66" idx="3"/>
            <a:endCxn id="70" idx="1"/>
          </p:cNvCxnSpPr>
          <p:nvPr/>
        </p:nvCxnSpPr>
        <p:spPr>
          <a:xfrm flipH="1" rot="10800000">
            <a:off x="1805625" y="2968550"/>
            <a:ext cx="1248600" cy="531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114" name="Google Shape;114;p15"/>
          <p:cNvCxnSpPr>
            <a:stCxn id="66" idx="3"/>
            <a:endCxn id="71" idx="1"/>
          </p:cNvCxnSpPr>
          <p:nvPr/>
        </p:nvCxnSpPr>
        <p:spPr>
          <a:xfrm>
            <a:off x="1805625" y="3021650"/>
            <a:ext cx="1248600" cy="9375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does this look like in practice?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25" name="Google Shape;125;p17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26" name="Google Shape;126;p17"/>
          <p:cNvSpPr txBox="1"/>
          <p:nvPr/>
        </p:nvSpPr>
        <p:spPr>
          <a:xfrm>
            <a:off x="418225" y="1292325"/>
            <a:ext cx="57084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Studied a chronosequence of soil ages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“Space-for-time” substitution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Dunes in Australia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Aside: space for time substitutions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6096000" cy="29813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18"/>
          <p:cNvCxnSpPr/>
          <p:nvPr/>
        </p:nvCxnSpPr>
        <p:spPr>
          <a:xfrm flipH="1" rot="10800000">
            <a:off x="596600" y="4453750"/>
            <a:ext cx="5569800" cy="198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triangle"/>
          </a:ln>
        </p:spPr>
      </p:cxnSp>
      <p:sp>
        <p:nvSpPr>
          <p:cNvPr id="134" name="Google Shape;134;p18"/>
          <p:cNvSpPr txBox="1"/>
          <p:nvPr/>
        </p:nvSpPr>
        <p:spPr>
          <a:xfrm>
            <a:off x="2296250" y="4542925"/>
            <a:ext cx="21705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Dune Age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135" name="Google Shape;135;p18"/>
          <p:cNvPicPr preferRelativeResize="0"/>
          <p:nvPr/>
        </p:nvPicPr>
        <p:blipFill rotWithShape="1">
          <a:blip r:embed="rId4">
            <a:alphaModFix/>
          </a:blip>
          <a:srcRect b="34100" l="36181" r="17971" t="19786"/>
          <a:stretch/>
        </p:blipFill>
        <p:spPr>
          <a:xfrm>
            <a:off x="6400175" y="99800"/>
            <a:ext cx="2580648" cy="1460101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36" name="Google Shape;136;p18"/>
          <p:cNvSpPr txBox="1"/>
          <p:nvPr/>
        </p:nvSpPr>
        <p:spPr>
          <a:xfrm>
            <a:off x="6503200" y="2035600"/>
            <a:ext cx="2664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500"/>
              <a:buChar char="●"/>
            </a:pPr>
            <a:r>
              <a:rPr lang="en" sz="1500">
                <a:solidFill>
                  <a:schemeClr val="dk2"/>
                </a:solidFill>
              </a:rPr>
              <a:t>Note: this figure depicts Baltic dunes</a:t>
            </a:r>
            <a:endParaRPr sz="15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43" name="Google Shape;143;p19"/>
          <p:cNvSpPr txBox="1"/>
          <p:nvPr/>
        </p:nvSpPr>
        <p:spPr>
          <a:xfrm>
            <a:off x="418225" y="1292325"/>
            <a:ext cx="70767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Studied a chronosequence of soil ages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“Space-for-time” substitution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Dunes in Australia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Really cool system!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2 million year gradient of soil ages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Sites within 10 km (assume the same regional species pool)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Comparable climate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Open ecosystem (not light-limited)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50" name="Google Shape;150;p20"/>
          <p:cNvSpPr txBox="1"/>
          <p:nvPr/>
        </p:nvSpPr>
        <p:spPr>
          <a:xfrm>
            <a:off x="418225" y="1292325"/>
            <a:ext cx="6937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More heterogeneous soils, more species - why?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151" name="Google Shape;151;p20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152" name="Google Shape;152;p20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53" name="Google Shape;153;p20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54" name="Google Shape;154;p20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Soil heterogeneity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55" name="Google Shape;155;p20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56" name="Google Shape;156;p20"/>
          <p:cNvCxnSpPr/>
          <p:nvPr/>
        </p:nvCxnSpPr>
        <p:spPr>
          <a:xfrm flipH="1" rot="10800000">
            <a:off x="1262525" y="2474775"/>
            <a:ext cx="3679200" cy="17928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62" name="Google Shape;162;p21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63" name="Google Shape;163;p21"/>
          <p:cNvSpPr txBox="1"/>
          <p:nvPr/>
        </p:nvSpPr>
        <p:spPr>
          <a:xfrm>
            <a:off x="418225" y="1292325"/>
            <a:ext cx="6937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More heterogeneous soils, more species (niche partitioning)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164" name="Google Shape;164;p21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165" name="Google Shape;165;p21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66" name="Google Shape;166;p21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67" name="Google Shape;167;p21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Soil heterogeneity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68" name="Google Shape;168;p21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cxnSp>
        <p:nvCxnSpPr>
          <p:cNvPr id="169" name="Google Shape;169;p21"/>
          <p:cNvCxnSpPr/>
          <p:nvPr/>
        </p:nvCxnSpPr>
        <p:spPr>
          <a:xfrm flipH="1" rot="10800000">
            <a:off x="1262525" y="2474775"/>
            <a:ext cx="3679200" cy="17928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75" name="Google Shape;175;p22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6" name="Google Shape;176;p22"/>
          <p:cNvSpPr txBox="1"/>
          <p:nvPr/>
        </p:nvSpPr>
        <p:spPr>
          <a:xfrm>
            <a:off x="418225" y="1292325"/>
            <a:ext cx="794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Unimodal response with soil fertility - why might we expect this?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177" name="Google Shape;177;p22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178" name="Google Shape;178;p22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79" name="Google Shape;179;p22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80" name="Google Shape;180;p22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Soil fertility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1" name="Google Shape;181;p22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82" name="Google Shape;182;p22"/>
          <p:cNvSpPr/>
          <p:nvPr/>
        </p:nvSpPr>
        <p:spPr>
          <a:xfrm>
            <a:off x="1083300" y="2760792"/>
            <a:ext cx="4208050" cy="1421675"/>
          </a:xfrm>
          <a:custGeom>
            <a:rect b="b" l="l" r="r" t="t"/>
            <a:pathLst>
              <a:path extrusionOk="0" h="56867" w="168322">
                <a:moveTo>
                  <a:pt x="0" y="55161"/>
                </a:moveTo>
                <a:cubicBezTo>
                  <a:pt x="14596" y="45968"/>
                  <a:pt x="59519" y="-283"/>
                  <a:pt x="87573" y="1"/>
                </a:cubicBezTo>
                <a:cubicBezTo>
                  <a:pt x="115627" y="285"/>
                  <a:pt x="154864" y="47389"/>
                  <a:pt x="168322" y="56867"/>
                </a:cubicBezTo>
              </a:path>
            </a:pathLst>
          </a:cu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188" name="Google Shape;188;p23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89" name="Google Shape;189;p23"/>
          <p:cNvSpPr txBox="1"/>
          <p:nvPr/>
        </p:nvSpPr>
        <p:spPr>
          <a:xfrm>
            <a:off x="418225" y="1292325"/>
            <a:ext cx="794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Unimodal response with soil fertility - why might we expect this?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190" name="Google Shape;190;p23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191" name="Google Shape;191;p23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92" name="Google Shape;192;p23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193" name="Google Shape;193;p23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Soil fertility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4" name="Google Shape;194;p23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195" name="Google Shape;195;p23"/>
          <p:cNvSpPr/>
          <p:nvPr/>
        </p:nvSpPr>
        <p:spPr>
          <a:xfrm>
            <a:off x="1083300" y="2760792"/>
            <a:ext cx="4208050" cy="1421675"/>
          </a:xfrm>
          <a:custGeom>
            <a:rect b="b" l="l" r="r" t="t"/>
            <a:pathLst>
              <a:path extrusionOk="0" h="56867" w="168322">
                <a:moveTo>
                  <a:pt x="0" y="55161"/>
                </a:moveTo>
                <a:cubicBezTo>
                  <a:pt x="14596" y="45968"/>
                  <a:pt x="59519" y="-283"/>
                  <a:pt x="87573" y="1"/>
                </a:cubicBezTo>
                <a:cubicBezTo>
                  <a:pt x="115627" y="285"/>
                  <a:pt x="154864" y="47389"/>
                  <a:pt x="168322" y="56867"/>
                </a:cubicBezTo>
              </a:path>
            </a:pathLst>
          </a:cu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sp>
      <p:sp>
        <p:nvSpPr>
          <p:cNvPr id="196" name="Google Shape;196;p23"/>
          <p:cNvSpPr txBox="1"/>
          <p:nvPr/>
        </p:nvSpPr>
        <p:spPr>
          <a:xfrm>
            <a:off x="4822225" y="2892650"/>
            <a:ext cx="27579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Competitive exclusion excludes some species</a:t>
            </a:r>
            <a:endParaRPr b="1" sz="1800">
              <a:solidFill>
                <a:srgbClr val="980000"/>
              </a:solidFill>
            </a:endParaRPr>
          </a:p>
        </p:txBody>
      </p:sp>
      <p:sp>
        <p:nvSpPr>
          <p:cNvPr id="197" name="Google Shape;197;p23"/>
          <p:cNvSpPr txBox="1"/>
          <p:nvPr/>
        </p:nvSpPr>
        <p:spPr>
          <a:xfrm>
            <a:off x="874100" y="2457438"/>
            <a:ext cx="1720200" cy="101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Few species can tolerate</a:t>
            </a:r>
            <a:endParaRPr b="1" sz="1800">
              <a:solidFill>
                <a:srgbClr val="980000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rgbClr val="980000"/>
                </a:solidFill>
              </a:rPr>
              <a:t>fertility</a:t>
            </a:r>
            <a:endParaRPr b="1" sz="1800">
              <a:solidFill>
                <a:srgbClr val="98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03" name="Google Shape;203;p24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04" name="Google Shape;204;p24"/>
          <p:cNvSpPr txBox="1"/>
          <p:nvPr/>
        </p:nvSpPr>
        <p:spPr>
          <a:xfrm>
            <a:off x="418225" y="1292325"/>
            <a:ext cx="794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Higher diversity where nutrients aren’t limiting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5" name="Google Shape;205;p24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Nutrient Availability (N + P)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06" name="Google Shape;206;p24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207" name="Google Shape;207;p24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208" name="Google Shape;208;p24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9" name="Google Shape;209;p24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10" name="Google Shape;210;p24"/>
          <p:cNvCxnSpPr/>
          <p:nvPr/>
        </p:nvCxnSpPr>
        <p:spPr>
          <a:xfrm flipH="1" rot="10800000">
            <a:off x="1262525" y="2474775"/>
            <a:ext cx="3679200" cy="17928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16" name="Google Shape;216;p25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17" name="Google Shape;217;p25"/>
          <p:cNvSpPr txBox="1"/>
          <p:nvPr/>
        </p:nvSpPr>
        <p:spPr>
          <a:xfrm>
            <a:off x="418225" y="1292325"/>
            <a:ext cx="794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Hypotheses tested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Higher diversity where multiple forms of </a:t>
            </a:r>
            <a:r>
              <a:rPr lang="en" sz="1800">
                <a:solidFill>
                  <a:schemeClr val="dk2"/>
                </a:solidFill>
              </a:rPr>
              <a:t>nutrients exists (partitioning)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8" name="Google Shape;218;p25"/>
          <p:cNvSpPr txBox="1"/>
          <p:nvPr/>
        </p:nvSpPr>
        <p:spPr>
          <a:xfrm>
            <a:off x="1260675" y="4636050"/>
            <a:ext cx="3186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Diversity of N+P forms</a:t>
            </a:r>
            <a:endParaRPr sz="1800">
              <a:solidFill>
                <a:schemeClr val="dk2"/>
              </a:solidFill>
            </a:endParaRPr>
          </a:p>
        </p:txBody>
      </p:sp>
      <p:sp>
        <p:nvSpPr>
          <p:cNvPr id="219" name="Google Shape;219;p25"/>
          <p:cNvSpPr txBox="1"/>
          <p:nvPr/>
        </p:nvSpPr>
        <p:spPr>
          <a:xfrm rot="-5400000">
            <a:off x="-663825" y="3092550"/>
            <a:ext cx="24633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Species Richness</a:t>
            </a:r>
            <a:endParaRPr sz="1800">
              <a:solidFill>
                <a:schemeClr val="dk2"/>
              </a:solidFill>
            </a:endParaRPr>
          </a:p>
        </p:txBody>
      </p:sp>
      <p:grpSp>
        <p:nvGrpSpPr>
          <p:cNvPr id="220" name="Google Shape;220;p25"/>
          <p:cNvGrpSpPr/>
          <p:nvPr/>
        </p:nvGrpSpPr>
        <p:grpSpPr>
          <a:xfrm>
            <a:off x="874100" y="2095050"/>
            <a:ext cx="4644300" cy="2541000"/>
            <a:chOff x="874100" y="2095050"/>
            <a:chExt cx="4644300" cy="2541000"/>
          </a:xfrm>
        </p:grpSpPr>
        <p:cxnSp>
          <p:nvCxnSpPr>
            <p:cNvPr id="221" name="Google Shape;221;p25"/>
            <p:cNvCxnSpPr/>
            <p:nvPr/>
          </p:nvCxnSpPr>
          <p:spPr>
            <a:xfrm>
              <a:off x="874100" y="2095050"/>
              <a:ext cx="0" cy="25371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22" name="Google Shape;222;p25"/>
            <p:cNvCxnSpPr/>
            <p:nvPr/>
          </p:nvCxnSpPr>
          <p:spPr>
            <a:xfrm flipH="1">
              <a:off x="874100" y="4632150"/>
              <a:ext cx="4644300" cy="3900"/>
            </a:xfrm>
            <a:prstGeom prst="straightConnector1">
              <a:avLst/>
            </a:prstGeom>
            <a:noFill/>
            <a:ln cap="flat" cmpd="sng" w="19050">
              <a:solidFill>
                <a:schemeClr val="dk2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cxnSp>
        <p:nvCxnSpPr>
          <p:cNvPr id="223" name="Google Shape;223;p25"/>
          <p:cNvCxnSpPr/>
          <p:nvPr/>
        </p:nvCxnSpPr>
        <p:spPr>
          <a:xfrm flipH="1" rot="10800000">
            <a:off x="1262525" y="2474775"/>
            <a:ext cx="3679200" cy="1792800"/>
          </a:xfrm>
          <a:prstGeom prst="straightConnector1">
            <a:avLst/>
          </a:prstGeom>
          <a:noFill/>
          <a:ln cap="flat" cmpd="sng" w="1905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Google Shape;228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29" name="Google Shape;229;p26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30" name="Google Shape;230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523000"/>
            <a:ext cx="6905511" cy="34681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36" name="Google Shape;236;p27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37" name="Google Shape;237;p27"/>
          <p:cNvSpPr txBox="1"/>
          <p:nvPr/>
        </p:nvSpPr>
        <p:spPr>
          <a:xfrm>
            <a:off x="418225" y="1292325"/>
            <a:ext cx="7944000" cy="40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Methods</a:t>
            </a:r>
            <a:endParaRPr b="1"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60 plots (10 m x 10 m)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6 age classes (10 plots each)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In each plot</a:t>
            </a:r>
            <a:endParaRPr sz="1800">
              <a:solidFill>
                <a:schemeClr val="dk2"/>
              </a:solidFill>
            </a:endParaRPr>
          </a:p>
          <a:p>
            <a:pPr indent="-342900" lvl="1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Species</a:t>
            </a:r>
            <a:endParaRPr sz="1800">
              <a:solidFill>
                <a:schemeClr val="dk2"/>
              </a:solidFill>
            </a:endParaRPr>
          </a:p>
          <a:p>
            <a:pPr indent="-342900" lvl="1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Density</a:t>
            </a:r>
            <a:endParaRPr sz="1800">
              <a:solidFill>
                <a:schemeClr val="dk2"/>
              </a:solidFill>
            </a:endParaRPr>
          </a:p>
          <a:p>
            <a:pPr indent="-342900" lvl="1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Cover</a:t>
            </a:r>
            <a:endParaRPr sz="1800">
              <a:solidFill>
                <a:schemeClr val="dk2"/>
              </a:solidFill>
            </a:endParaRPr>
          </a:p>
          <a:p>
            <a:pPr indent="-342900" lvl="1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Soil samples (nutrients and fertility analyses)</a:t>
            </a:r>
            <a:endParaRPr sz="1800">
              <a:solidFill>
                <a:schemeClr val="dk2"/>
              </a:solidFill>
            </a:endParaRPr>
          </a:p>
          <a:p>
            <a:pPr indent="-342900" lvl="1" marL="13716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○"/>
            </a:pPr>
            <a:r>
              <a:rPr lang="en" sz="1800">
                <a:solidFill>
                  <a:schemeClr val="dk2"/>
                </a:solidFill>
              </a:rPr>
              <a:t>Leaf sample (for nutrient analyses)</a:t>
            </a:r>
            <a:endParaRPr sz="1800">
              <a:solidFill>
                <a:schemeClr val="dk2"/>
              </a:solidFill>
            </a:endParaRPr>
          </a:p>
          <a:p>
            <a:pPr indent="0" lvl="0" marL="13716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Species pool estimated:</a:t>
            </a:r>
            <a:endParaRPr sz="1800">
              <a:solidFill>
                <a:schemeClr val="dk2"/>
              </a:solidFill>
            </a:endParaRPr>
          </a:p>
          <a:p>
            <a:pPr indent="0" lvl="0" marL="9144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38" name="Google Shape;238;p27"/>
          <p:cNvPicPr preferRelativeResize="0"/>
          <p:nvPr/>
        </p:nvPicPr>
        <p:blipFill rotWithShape="1">
          <a:blip r:embed="rId4">
            <a:alphaModFix/>
          </a:blip>
          <a:srcRect b="17070" l="23695" r="11153" t="53602"/>
          <a:stretch/>
        </p:blipFill>
        <p:spPr>
          <a:xfrm>
            <a:off x="3534625" y="3887375"/>
            <a:ext cx="4502726" cy="11400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44" name="Google Shape;244;p28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45" name="Google Shape;245;p28"/>
          <p:cNvSpPr txBox="1"/>
          <p:nvPr/>
        </p:nvSpPr>
        <p:spPr>
          <a:xfrm>
            <a:off x="418225" y="1292325"/>
            <a:ext cx="79440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Results</a:t>
            </a:r>
            <a:endParaRPr b="1" sz="1800">
              <a:solidFill>
                <a:schemeClr val="dk2"/>
              </a:solidFill>
            </a:endParaRPr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246" name="Google Shape;246;p28"/>
          <p:cNvPicPr preferRelativeResize="0"/>
          <p:nvPr/>
        </p:nvPicPr>
        <p:blipFill rotWithShape="1">
          <a:blip r:embed="rId4">
            <a:alphaModFix/>
          </a:blip>
          <a:srcRect b="0" l="0" r="0" t="53972"/>
          <a:stretch/>
        </p:blipFill>
        <p:spPr>
          <a:xfrm>
            <a:off x="1653700" y="1602275"/>
            <a:ext cx="3723999" cy="2621226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28"/>
          <p:cNvPicPr preferRelativeResize="0"/>
          <p:nvPr/>
        </p:nvPicPr>
        <p:blipFill rotWithShape="1">
          <a:blip r:embed="rId4">
            <a:alphaModFix/>
          </a:blip>
          <a:srcRect b="39160" l="0" r="70140" t="34520"/>
          <a:stretch/>
        </p:blipFill>
        <p:spPr>
          <a:xfrm>
            <a:off x="1513375" y="1003713"/>
            <a:ext cx="976400" cy="1316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Environmental Filtering of Plants</a:t>
            </a:r>
            <a:endParaRPr/>
          </a:p>
        </p:txBody>
      </p:sp>
      <p:pic>
        <p:nvPicPr>
          <p:cNvPr id="253" name="Google Shape;253;p29"/>
          <p:cNvPicPr preferRelativeResize="0"/>
          <p:nvPr/>
        </p:nvPicPr>
        <p:blipFill rotWithShape="1">
          <a:blip r:embed="rId3">
            <a:alphaModFix/>
          </a:blip>
          <a:srcRect b="43853" l="54430" r="10129" t="31291"/>
          <a:stretch/>
        </p:blipFill>
        <p:spPr>
          <a:xfrm>
            <a:off x="5804200" y="92150"/>
            <a:ext cx="3240701" cy="127845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54" name="Google Shape;254;p29"/>
          <p:cNvSpPr txBox="1"/>
          <p:nvPr/>
        </p:nvSpPr>
        <p:spPr>
          <a:xfrm>
            <a:off x="565675" y="1448200"/>
            <a:ext cx="8086500" cy="1569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Plot-level properties didn’t explain plot richness very well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Instead: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Soil aging changed soil pH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Different pools of species were specialized on different pH values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260" name="Google Shape;260;p30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266" name="Google Shape;266;p31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67" name="Google Shape;267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170125"/>
            <a:ext cx="3360722" cy="382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68" name="Google Shape;268;p3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917024" y="606825"/>
            <a:ext cx="873449" cy="91952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69" name="Google Shape;269;p31"/>
          <p:cNvCxnSpPr>
            <a:endCxn id="268" idx="1"/>
          </p:cNvCxnSpPr>
          <p:nvPr/>
        </p:nvCxnSpPr>
        <p:spPr>
          <a:xfrm flipH="1" rot="10800000">
            <a:off x="3427124" y="1066588"/>
            <a:ext cx="489900" cy="1569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70" name="Google Shape;270;p31"/>
          <p:cNvSpPr txBox="1"/>
          <p:nvPr/>
        </p:nvSpPr>
        <p:spPr>
          <a:xfrm>
            <a:off x="4073900" y="4482875"/>
            <a:ext cx="48570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Picturepest</a:t>
            </a:r>
            <a:r>
              <a:rPr lang="en" sz="600">
                <a:solidFill>
                  <a:schemeClr val="dk2"/>
                </a:solidFill>
              </a:rPr>
              <a:t> - Spirostomum teres - 160x, CC BY 2.0, </a:t>
            </a:r>
            <a:r>
              <a:rPr lang="en" sz="600" u="sng">
                <a:solidFill>
                  <a:schemeClr val="hlink"/>
                </a:solidFill>
                <a:hlinkClick r:id="rId6"/>
              </a:rPr>
              <a:t>https://commons.wikimedia.org/w/index.php?curid=39164961</a:t>
            </a:r>
            <a:r>
              <a:rPr lang="en" sz="600">
                <a:solidFill>
                  <a:schemeClr val="dk2"/>
                </a:solidFill>
              </a:rPr>
              <a:t>; By Don Loarie - https://www.inaturalist.org/photos/107300954, CC BY 4.0, </a:t>
            </a:r>
            <a:r>
              <a:rPr lang="en" sz="600" u="sng">
                <a:solidFill>
                  <a:schemeClr val="hlink"/>
                </a:solidFill>
                <a:hlinkClick r:id="rId7"/>
              </a:rPr>
              <a:t>https://commons.wikimedia.org/w/index.php?curid=114636926</a:t>
            </a:r>
            <a:r>
              <a:rPr lang="en" sz="600">
                <a:solidFill>
                  <a:schemeClr val="dk2"/>
                </a:solidFill>
              </a:rPr>
              <a:t>; By Dr. Eugen Lehle - Eigenes Werk (own work) http://bodenlabor.de, CC BY-SA 3.0, </a:t>
            </a:r>
            <a:r>
              <a:rPr lang="en" sz="600" u="sng">
                <a:solidFill>
                  <a:schemeClr val="hlink"/>
                </a:solidFill>
                <a:hlinkClick r:id="rId8"/>
              </a:rPr>
              <a:t>https://commons.wikimedia.org/w/index.php?curid=4992616</a:t>
            </a:r>
            <a:r>
              <a:rPr lang="en" sz="600">
                <a:solidFill>
                  <a:schemeClr val="dk2"/>
                </a:solidFill>
              </a:rPr>
              <a:t>; </a:t>
            </a:r>
            <a:endParaRPr sz="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Picturepest - Tetrahymena pyriformis - 400x - Oralapparat, CC BY 2.0, </a:t>
            </a:r>
            <a:r>
              <a:rPr lang="en" sz="600" u="sng">
                <a:solidFill>
                  <a:schemeClr val="hlink"/>
                </a:solidFill>
                <a:hlinkClick r:id="rId9"/>
              </a:rPr>
              <a:t>https://commons.wikimedia.org/w/index.php?curid=39164918</a:t>
            </a:r>
            <a:r>
              <a:rPr lang="en" sz="600">
                <a:solidFill>
                  <a:schemeClr val="dk2"/>
                </a:solidFill>
              </a:rPr>
              <a:t>;</a:t>
            </a:r>
            <a:endParaRPr sz="6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2"/>
                </a:solidFill>
              </a:rPr>
              <a:t>By Picturepest - Paramecium bursaria - 400x, CC BY 2.0, </a:t>
            </a:r>
            <a:r>
              <a:rPr lang="en" sz="600" u="sng">
                <a:solidFill>
                  <a:schemeClr val="hlink"/>
                </a:solidFill>
                <a:hlinkClick r:id="rId10"/>
              </a:rPr>
              <a:t>https://commons.wikimedia.org/w/index.php?curid=39164773</a:t>
            </a:r>
            <a:r>
              <a:rPr lang="en" sz="600">
                <a:solidFill>
                  <a:schemeClr val="dk2"/>
                </a:solidFill>
              </a:rPr>
              <a:t>;  </a:t>
            </a:r>
            <a:endParaRPr sz="600">
              <a:solidFill>
                <a:schemeClr val="dk2"/>
              </a:solidFill>
            </a:endParaRPr>
          </a:p>
        </p:txBody>
      </p:sp>
      <p:pic>
        <p:nvPicPr>
          <p:cNvPr id="271" name="Google Shape;271;p31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3963724" y="1371925"/>
            <a:ext cx="780059" cy="57270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2" name="Google Shape;272;p31"/>
          <p:cNvCxnSpPr>
            <a:endCxn id="271" idx="1"/>
          </p:cNvCxnSpPr>
          <p:nvPr/>
        </p:nvCxnSpPr>
        <p:spPr>
          <a:xfrm>
            <a:off x="3392224" y="1633975"/>
            <a:ext cx="571500" cy="24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73" name="Google Shape;273;p31"/>
          <p:cNvPicPr preferRelativeResize="0"/>
          <p:nvPr/>
        </p:nvPicPr>
        <p:blipFill rotWithShape="1">
          <a:blip r:embed="rId12">
            <a:alphaModFix/>
          </a:blip>
          <a:srcRect b="0" l="17690" r="29390" t="0"/>
          <a:stretch/>
        </p:blipFill>
        <p:spPr>
          <a:xfrm>
            <a:off x="4743776" y="1658286"/>
            <a:ext cx="780051" cy="907389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4" name="Google Shape;274;p31"/>
          <p:cNvCxnSpPr>
            <a:endCxn id="273" idx="1"/>
          </p:cNvCxnSpPr>
          <p:nvPr/>
        </p:nvCxnSpPr>
        <p:spPr>
          <a:xfrm>
            <a:off x="3042776" y="2079881"/>
            <a:ext cx="1701000" cy="321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75" name="Google Shape;275;p31"/>
          <p:cNvPicPr preferRelativeResize="0"/>
          <p:nvPr/>
        </p:nvPicPr>
        <p:blipFill rotWithShape="1">
          <a:blip r:embed="rId13">
            <a:alphaModFix/>
          </a:blip>
          <a:srcRect b="25730" l="25936" r="17109" t="25343"/>
          <a:stretch/>
        </p:blipFill>
        <p:spPr>
          <a:xfrm>
            <a:off x="3917025" y="2182138"/>
            <a:ext cx="873450" cy="687437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6" name="Google Shape;276;p31"/>
          <p:cNvCxnSpPr>
            <a:endCxn id="275" idx="1"/>
          </p:cNvCxnSpPr>
          <p:nvPr/>
        </p:nvCxnSpPr>
        <p:spPr>
          <a:xfrm>
            <a:off x="3540825" y="2434056"/>
            <a:ext cx="376200" cy="918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77" name="Google Shape;277;p31"/>
          <p:cNvPicPr preferRelativeResize="0"/>
          <p:nvPr/>
        </p:nvPicPr>
        <p:blipFill rotWithShape="1">
          <a:blip r:embed="rId14">
            <a:alphaModFix/>
          </a:blip>
          <a:srcRect b="32244" l="21807" r="16744" t="25278"/>
          <a:stretch/>
        </p:blipFill>
        <p:spPr>
          <a:xfrm>
            <a:off x="3888362" y="2939742"/>
            <a:ext cx="1367276" cy="836204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78" name="Google Shape;278;p31"/>
          <p:cNvCxnSpPr/>
          <p:nvPr/>
        </p:nvCxnSpPr>
        <p:spPr>
          <a:xfrm>
            <a:off x="3348600" y="2932650"/>
            <a:ext cx="524400" cy="113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79" name="Google Shape;279;p31"/>
          <p:cNvCxnSpPr/>
          <p:nvPr/>
        </p:nvCxnSpPr>
        <p:spPr>
          <a:xfrm flipH="1" rot="10800000">
            <a:off x="3182575" y="3640550"/>
            <a:ext cx="603000" cy="873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pic>
        <p:nvPicPr>
          <p:cNvPr id="280" name="Google Shape;280;p31"/>
          <p:cNvPicPr preferRelativeResize="0"/>
          <p:nvPr/>
        </p:nvPicPr>
        <p:blipFill>
          <a:blip r:embed="rId15">
            <a:alphaModFix/>
          </a:blip>
          <a:stretch>
            <a:fillRect/>
          </a:stretch>
        </p:blipFill>
        <p:spPr>
          <a:xfrm>
            <a:off x="5464112" y="3092150"/>
            <a:ext cx="1144634" cy="139072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281" name="Google Shape;281;p31"/>
          <p:cNvCxnSpPr>
            <a:endCxn id="280" idx="1"/>
          </p:cNvCxnSpPr>
          <p:nvPr/>
        </p:nvCxnSpPr>
        <p:spPr>
          <a:xfrm flipH="1" rot="10800000">
            <a:off x="3497012" y="3787513"/>
            <a:ext cx="1967100" cy="34770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3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287" name="Google Shape;287;p32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288" name="Google Shape;288;p32"/>
          <p:cNvSpPr txBox="1"/>
          <p:nvPr/>
        </p:nvSpPr>
        <p:spPr>
          <a:xfrm>
            <a:off x="419875" y="1331550"/>
            <a:ext cx="5598300" cy="1293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>
                <a:solidFill>
                  <a:schemeClr val="dk2"/>
                </a:solidFill>
              </a:rPr>
              <a:t>Methods</a:t>
            </a:r>
            <a:endParaRPr b="1"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Grew populations in pairs and alone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Grown with 3 different bacteria species (= food)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en" sz="1800">
                <a:solidFill>
                  <a:schemeClr val="dk2"/>
                </a:solidFill>
              </a:rPr>
              <a:t>Tracked population sizes over time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294" name="Google Shape;294;p33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295" name="Google Shape;295;p33"/>
          <p:cNvPicPr preferRelativeResize="0"/>
          <p:nvPr/>
        </p:nvPicPr>
        <p:blipFill rotWithShape="1">
          <a:blip r:embed="rId4">
            <a:alphaModFix/>
          </a:blip>
          <a:srcRect b="0" l="0" r="48339" t="0"/>
          <a:stretch/>
        </p:blipFill>
        <p:spPr>
          <a:xfrm>
            <a:off x="356500" y="1730350"/>
            <a:ext cx="4074899" cy="3012700"/>
          </a:xfrm>
          <a:prstGeom prst="rect">
            <a:avLst/>
          </a:prstGeom>
          <a:noFill/>
          <a:ln>
            <a:noFill/>
          </a:ln>
        </p:spPr>
      </p:pic>
      <p:sp>
        <p:nvSpPr>
          <p:cNvPr id="296" name="Google Shape;296;p33"/>
          <p:cNvSpPr txBox="1"/>
          <p:nvPr/>
        </p:nvSpPr>
        <p:spPr>
          <a:xfrm>
            <a:off x="4735275" y="2041075"/>
            <a:ext cx="443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Closely relatives less likely to coexist - suggests competitive exclusion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302" name="Google Shape;302;p34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03" name="Google Shape;303;p34"/>
          <p:cNvSpPr txBox="1"/>
          <p:nvPr/>
        </p:nvSpPr>
        <p:spPr>
          <a:xfrm>
            <a:off x="4735275" y="2041075"/>
            <a:ext cx="443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Trait analysis suggests mouth size might play a role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04" name="Google Shape;304;p34"/>
          <p:cNvPicPr preferRelativeResize="0"/>
          <p:nvPr/>
        </p:nvPicPr>
        <p:blipFill rotWithShape="1">
          <a:blip r:embed="rId4">
            <a:alphaModFix/>
          </a:blip>
          <a:srcRect b="0" l="51665" r="0" t="0"/>
          <a:stretch/>
        </p:blipFill>
        <p:spPr>
          <a:xfrm>
            <a:off x="311703" y="1186807"/>
            <a:ext cx="4150800" cy="32799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310" name="Google Shape;310;p35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1" name="Google Shape;311;p35"/>
          <p:cNvSpPr txBox="1"/>
          <p:nvPr/>
        </p:nvSpPr>
        <p:spPr>
          <a:xfrm>
            <a:off x="4921550" y="2050800"/>
            <a:ext cx="4051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Competitive exclusion happens faster with close relatives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12" name="Google Shape;312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24525" y="1286775"/>
            <a:ext cx="3889950" cy="29120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3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318" name="Google Shape;318;p36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19" name="Google Shape;319;p36"/>
          <p:cNvSpPr txBox="1"/>
          <p:nvPr/>
        </p:nvSpPr>
        <p:spPr>
          <a:xfrm>
            <a:off x="4921550" y="2050800"/>
            <a:ext cx="40512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Smaller effects relative to monoculture at larger distances</a:t>
            </a:r>
            <a:endParaRPr sz="1800">
              <a:solidFill>
                <a:schemeClr val="dk2"/>
              </a:solidFill>
            </a:endParaRPr>
          </a:p>
        </p:txBody>
      </p:sp>
      <p:pic>
        <p:nvPicPr>
          <p:cNvPr id="320" name="Google Shape;320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1700" y="1286750"/>
            <a:ext cx="4278300" cy="303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Competition and ciliates </a:t>
            </a:r>
            <a:endParaRPr/>
          </a:p>
        </p:txBody>
      </p:sp>
      <p:pic>
        <p:nvPicPr>
          <p:cNvPr id="326" name="Google Shape;326;p37"/>
          <p:cNvPicPr preferRelativeResize="0"/>
          <p:nvPr/>
        </p:nvPicPr>
        <p:blipFill rotWithShape="1">
          <a:blip r:embed="rId3">
            <a:alphaModFix/>
          </a:blip>
          <a:srcRect b="46691" l="19260" r="19633" t="19690"/>
          <a:stretch/>
        </p:blipFill>
        <p:spPr>
          <a:xfrm>
            <a:off x="4921550" y="157300"/>
            <a:ext cx="4150800" cy="1284576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27" name="Google Shape;327;p37"/>
          <p:cNvSpPr txBox="1"/>
          <p:nvPr/>
        </p:nvSpPr>
        <p:spPr>
          <a:xfrm>
            <a:off x="390725" y="1768925"/>
            <a:ext cx="5598300" cy="267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Provides strong, experimental test of </a:t>
            </a:r>
            <a:r>
              <a:rPr lang="en" sz="1800">
                <a:solidFill>
                  <a:schemeClr val="dk2"/>
                </a:solidFill>
              </a:rPr>
              <a:t>competition</a:t>
            </a:r>
            <a:r>
              <a:rPr lang="en" sz="1800">
                <a:solidFill>
                  <a:schemeClr val="dk2"/>
                </a:solidFill>
              </a:rPr>
              <a:t> driving assembly of ciliate </a:t>
            </a:r>
            <a:r>
              <a:rPr lang="en" sz="1800">
                <a:solidFill>
                  <a:schemeClr val="dk2"/>
                </a:solidFill>
              </a:rPr>
              <a:t>communities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Phylogeny served as a useful predictor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Seems to be driven by feeding niches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Close relatives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Faster exclusion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More likely to exclude each other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Larger impact on population sizes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Mammal assembly</a:t>
            </a:r>
            <a:endParaRPr/>
          </a:p>
        </p:txBody>
      </p:sp>
      <p:pic>
        <p:nvPicPr>
          <p:cNvPr id="333" name="Google Shape;333;p38"/>
          <p:cNvPicPr preferRelativeResize="0"/>
          <p:nvPr/>
        </p:nvPicPr>
        <p:blipFill rotWithShape="1">
          <a:blip r:embed="rId3">
            <a:alphaModFix/>
          </a:blip>
          <a:srcRect b="44632" l="36694" r="18132" t="21166"/>
          <a:stretch/>
        </p:blipFill>
        <p:spPr>
          <a:xfrm>
            <a:off x="5542000" y="184675"/>
            <a:ext cx="3362899" cy="1432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34" name="Google Shape;334;p38"/>
          <p:cNvPicPr preferRelativeResize="0"/>
          <p:nvPr/>
        </p:nvPicPr>
        <p:blipFill rotWithShape="1">
          <a:blip r:embed="rId4">
            <a:alphaModFix/>
          </a:blip>
          <a:srcRect b="15241" l="52183" r="7939" t="18690"/>
          <a:stretch/>
        </p:blipFill>
        <p:spPr>
          <a:xfrm>
            <a:off x="351825" y="1017725"/>
            <a:ext cx="3936374" cy="36683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Mammal assembly</a:t>
            </a:r>
            <a:endParaRPr/>
          </a:p>
        </p:txBody>
      </p:sp>
      <p:pic>
        <p:nvPicPr>
          <p:cNvPr id="340" name="Google Shape;340;p39"/>
          <p:cNvPicPr preferRelativeResize="0"/>
          <p:nvPr/>
        </p:nvPicPr>
        <p:blipFill rotWithShape="1">
          <a:blip r:embed="rId3">
            <a:alphaModFix/>
          </a:blip>
          <a:srcRect b="21334" l="26388" r="27454" t="28889"/>
          <a:stretch/>
        </p:blipFill>
        <p:spPr>
          <a:xfrm>
            <a:off x="149025" y="1375100"/>
            <a:ext cx="6136550" cy="3722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1" name="Google Shape;341;p39"/>
          <p:cNvPicPr preferRelativeResize="0"/>
          <p:nvPr/>
        </p:nvPicPr>
        <p:blipFill rotWithShape="1">
          <a:blip r:embed="rId4">
            <a:alphaModFix/>
          </a:blip>
          <a:srcRect b="44632" l="36694" r="18132" t="21166"/>
          <a:stretch/>
        </p:blipFill>
        <p:spPr>
          <a:xfrm>
            <a:off x="5542000" y="184675"/>
            <a:ext cx="3362899" cy="1432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Mammal assembly</a:t>
            </a:r>
            <a:endParaRPr/>
          </a:p>
        </p:txBody>
      </p:sp>
      <p:pic>
        <p:nvPicPr>
          <p:cNvPr id="347" name="Google Shape;347;p40"/>
          <p:cNvPicPr preferRelativeResize="0"/>
          <p:nvPr/>
        </p:nvPicPr>
        <p:blipFill rotWithShape="1">
          <a:blip r:embed="rId3">
            <a:alphaModFix/>
          </a:blip>
          <a:srcRect b="44632" l="36694" r="18132" t="21166"/>
          <a:stretch/>
        </p:blipFill>
        <p:spPr>
          <a:xfrm>
            <a:off x="5542000" y="184675"/>
            <a:ext cx="3362899" cy="1432199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48" name="Google Shape;348;p40"/>
          <p:cNvPicPr preferRelativeResize="0"/>
          <p:nvPr/>
        </p:nvPicPr>
        <p:blipFill rotWithShape="1">
          <a:blip r:embed="rId4">
            <a:alphaModFix/>
          </a:blip>
          <a:srcRect b="17953" l="24012" r="26435" t="26837"/>
          <a:stretch/>
        </p:blipFill>
        <p:spPr>
          <a:xfrm>
            <a:off x="176900" y="1558600"/>
            <a:ext cx="5219299" cy="32710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49" name="Google Shape;349;p40"/>
          <p:cNvPicPr preferRelativeResize="0"/>
          <p:nvPr/>
        </p:nvPicPr>
        <p:blipFill rotWithShape="1">
          <a:blip r:embed="rId5">
            <a:alphaModFix/>
          </a:blip>
          <a:srcRect b="15241" l="52183" r="7939" t="18690"/>
          <a:stretch/>
        </p:blipFill>
        <p:spPr>
          <a:xfrm>
            <a:off x="5822100" y="1759225"/>
            <a:ext cx="3180000" cy="2963501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50" name="Google Shape;350;p40"/>
          <p:cNvCxnSpPr/>
          <p:nvPr/>
        </p:nvCxnSpPr>
        <p:spPr>
          <a:xfrm flipH="1" rot="10800000">
            <a:off x="3996600" y="2021625"/>
            <a:ext cx="2430000" cy="48600"/>
          </a:xfrm>
          <a:prstGeom prst="straightConnector1">
            <a:avLst/>
          </a:prstGeom>
          <a:noFill/>
          <a:ln cap="flat" cmpd="sng" w="38100">
            <a:solidFill>
              <a:srgbClr val="98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51" name="Google Shape;351;p40"/>
          <p:cNvCxnSpPr/>
          <p:nvPr/>
        </p:nvCxnSpPr>
        <p:spPr>
          <a:xfrm>
            <a:off x="1595925" y="3226825"/>
            <a:ext cx="5413800" cy="972000"/>
          </a:xfrm>
          <a:prstGeom prst="straightConnector1">
            <a:avLst/>
          </a:prstGeom>
          <a:noFill/>
          <a:ln cap="flat" cmpd="sng" w="38100">
            <a:solidFill>
              <a:srgbClr val="0000FF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4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57" name="Google Shape;357;p41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9300" y="11332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63" name="Google Shape;363;p42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70475" y="11332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64" name="Google Shape;364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39625" y="952650"/>
            <a:ext cx="3334474" cy="40384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70" name="Google Shape;370;p43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70475" y="11332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371" name="Google Shape;371;p43"/>
          <p:cNvSpPr txBox="1"/>
          <p:nvPr/>
        </p:nvSpPr>
        <p:spPr>
          <a:xfrm>
            <a:off x="266250" y="1381700"/>
            <a:ext cx="8124900" cy="350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Methods: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Hosts = plants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120 plots (1m x 1 m)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Treatments: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1 vs 5 species (6 different treatment sets of species each)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High vs low resource supply (fertilized vs unfertilized)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</a:t>
            </a:r>
            <a:r>
              <a:rPr lang="en" sz="1800">
                <a:solidFill>
                  <a:schemeClr val="dk2"/>
                </a:solidFill>
              </a:rPr>
              <a:t>Disease</a:t>
            </a:r>
            <a:r>
              <a:rPr lang="en" sz="1800">
                <a:solidFill>
                  <a:schemeClr val="dk2"/>
                </a:solidFill>
              </a:rPr>
              <a:t>: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Subsets of leaves samples per plot per species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Parasites identified by symptoms, DNA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Calculated parasite load at total leaf area damaged per plot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Native vs Exotic</a:t>
            </a:r>
            <a:endParaRPr sz="1800">
              <a:solidFill>
                <a:schemeClr val="dk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		Followed USDA categorization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4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77" name="Google Shape;377;p44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78" name="Google Shape;378;p44"/>
          <p:cNvPicPr preferRelativeResize="0"/>
          <p:nvPr/>
        </p:nvPicPr>
        <p:blipFill rotWithShape="1">
          <a:blip r:embed="rId4">
            <a:alphaModFix/>
          </a:blip>
          <a:srcRect b="64811" l="0" r="0" t="0"/>
          <a:stretch/>
        </p:blipFill>
        <p:spPr>
          <a:xfrm>
            <a:off x="230425" y="940625"/>
            <a:ext cx="3024924" cy="147892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p4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84" name="Google Shape;384;p45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85" name="Google Shape;385;p45"/>
          <p:cNvPicPr preferRelativeResize="0"/>
          <p:nvPr/>
        </p:nvPicPr>
        <p:blipFill rotWithShape="1">
          <a:blip r:embed="rId4">
            <a:alphaModFix/>
          </a:blip>
          <a:srcRect b="31870" l="0" r="0" t="0"/>
          <a:stretch/>
        </p:blipFill>
        <p:spPr>
          <a:xfrm>
            <a:off x="230425" y="940625"/>
            <a:ext cx="3024924" cy="2863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4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91" name="Google Shape;391;p46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92" name="Google Shape;392;p4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0425" y="940625"/>
            <a:ext cx="3024913" cy="420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4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398" name="Google Shape;398;p47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399" name="Google Shape;399;p4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81000" y="952500"/>
            <a:ext cx="3308974" cy="4038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3" name="Shape 4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Google Shape;404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405" name="Google Shape;405;p48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06" name="Google Shape;406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17275"/>
            <a:ext cx="4838651" cy="3373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0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Disease dynamics</a:t>
            </a:r>
            <a:endParaRPr/>
          </a:p>
        </p:txBody>
      </p:sp>
      <p:pic>
        <p:nvPicPr>
          <p:cNvPr id="412" name="Google Shape;412;p49"/>
          <p:cNvPicPr preferRelativeResize="0"/>
          <p:nvPr/>
        </p:nvPicPr>
        <p:blipFill rotWithShape="1">
          <a:blip r:embed="rId3">
            <a:alphaModFix/>
          </a:blip>
          <a:srcRect b="44352" l="18741" r="19671" t="19674"/>
          <a:stretch/>
        </p:blipFill>
        <p:spPr>
          <a:xfrm>
            <a:off x="4847500" y="90375"/>
            <a:ext cx="4183776" cy="1374500"/>
          </a:xfrm>
          <a:prstGeom prst="rect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413" name="Google Shape;413;p4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30425" y="940625"/>
            <a:ext cx="3024913" cy="420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49"/>
          <p:cNvSpPr txBox="1"/>
          <p:nvPr/>
        </p:nvSpPr>
        <p:spPr>
          <a:xfrm>
            <a:off x="3910175" y="1895175"/>
            <a:ext cx="4642800" cy="21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2"/>
                </a:solidFill>
              </a:rPr>
              <a:t>Community assembly mechanisms can change over time!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Importance of considering </a:t>
            </a:r>
            <a:r>
              <a:rPr lang="en" sz="1800">
                <a:solidFill>
                  <a:schemeClr val="dk2"/>
                </a:solidFill>
              </a:rPr>
              <a:t>temporal</a:t>
            </a:r>
            <a:r>
              <a:rPr lang="en" sz="1800">
                <a:solidFill>
                  <a:schemeClr val="dk2"/>
                </a:solidFill>
              </a:rPr>
              <a:t> dynamics.</a:t>
            </a:r>
            <a:endParaRPr sz="1800">
              <a:solidFill>
                <a:schemeClr val="dk2"/>
              </a:solidFill>
            </a:endParaRPr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-"/>
            </a:pPr>
            <a:r>
              <a:rPr lang="en" sz="1800">
                <a:solidFill>
                  <a:schemeClr val="dk2"/>
                </a:solidFill>
              </a:rPr>
              <a:t>Just because you don’t find evidence of something doesn’t mean it won’t be important at another time!</a:t>
            </a:r>
            <a:endParaRPr sz="18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8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Next class: Community assembly and global change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