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6b8dead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6b8dea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b8b91d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b8b91d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6b8dead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6b8dead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0b8b91d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0b8b91d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0b8b91d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0b8b91d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0b8b91d7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0b8b91d7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0b8b91d7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0b8b91d7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0b8b91d7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0b8b91d7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0b8b91d7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0b8b91d7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0b8b91d7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0b8b91d7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6b8deadf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6b8deadf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0b8b91d7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0b8b91d7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0b8b91d7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0b8b91d7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0b8b91d7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0b8b91d7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6b8deadf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6b8deadf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0b8b91d7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0b8b91d7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0b8b91d7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0b8b91d7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0b8b91d7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0b8b91d7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0b8b91d7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0b8b91d7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0b8b91d7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0b8b91d7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0b8b91d7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50b8b91d7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0b8b91d7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0b8b91d7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0b8b91d7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50b8b91d7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0b8b91d7a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0b8b91d7a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0b8b91d7a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50b8b91d7a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50b8b91d7a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50b8b91d7a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50b8b91d7a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50b8b91d7a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50b8b91d7a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50b8b91d7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50b8b91d7a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50b8b91d7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56b8deadf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56b8deadf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50b8b91d7a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50b8b91d7a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50b8b91d7a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50b8b91d7a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50b8b91d7a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50b8b91d7a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50b8b91d7a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50b8b91d7a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50b8b91d7a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50b8b91d7a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50b8b91d7a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50b8b91d7a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50b8b91d7a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50b8b91d7a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0b8b91d7a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50b8b91d7a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50b8b91d7a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50b8b91d7a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50b8b91d7a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50b8b91d7a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50b8b91d7a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50b8b91d7a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50b8b91d7a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50b8b91d7a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Environments 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Variable Environments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Environments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Recently we’ve been talking about variation in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Variation in time is also super important!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 variation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Variation around a mean (e.g., temperature, precipitation, tides,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Long-term trends (e.g., climate change, desertification)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Succession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Intermediate disturbance hypothesis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Temporal </a:t>
            </a:r>
            <a:r>
              <a:rPr lang="en"/>
              <a:t>variation and coexistence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Alternative Stable States (a phrase that is rarely abbreviated)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Slow change but rapid exposure to new conditions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Succession</a:t>
            </a:r>
            <a:r>
              <a:rPr lang="en"/>
              <a:t> = pattern of community change following disturbance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Primary succession</a:t>
            </a:r>
            <a:r>
              <a:rPr lang="en"/>
              <a:t> = starting from scratch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newly formed islands, land scraped bare by glaciers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Secondary succession</a:t>
            </a:r>
            <a:r>
              <a:rPr lang="en"/>
              <a:t> = starting from a large disturbance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fires, agriculture, floods,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Soil, seeds, maybe some resilient organisms may remain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72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early ecologists thought succession would always end the same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 location, if disturbed, would always return to the same </a:t>
            </a:r>
            <a:r>
              <a:rPr b="1" lang="en"/>
              <a:t>climax community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50" y="936925"/>
            <a:ext cx="7074249" cy="39779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0" y="4804800"/>
            <a:ext cx="14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Image: shutterstock.com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9975"/>
            <a:ext cx="7187026" cy="40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0" y="4804800"/>
            <a:ext cx="146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Image: shutterstock.com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Small-scale succession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these dynamics can occur on different spatial scales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E.g., treefall gaps in forests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smaller-scale disturbances can increase species diversity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Think about the spatial variation stuff we’ve discussed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Climax community assumes a set of species will occur at a given </a:t>
            </a:r>
            <a:r>
              <a:rPr lang="en"/>
              <a:t>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Succession is just a return to this set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65650"/>
            <a:ext cx="5566184" cy="23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0" y="4881900"/>
            <a:ext cx="614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Image: Florida Department of Environmental Protection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7877" y="2265650"/>
            <a:ext cx="3080600" cy="29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964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of fixed types of communities has been abandoned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Communities as aggregations of individual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dominate because they’re suited to the current environment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0" y="2015775"/>
            <a:ext cx="3035650" cy="29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Succession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Climax communities abandoned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However, there is still a lot of study in how ecosystems 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focus now has shifted to community assembly, metacommunity,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Disturbance Hypothesis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 diversity highest at an intermediate level of disturbance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28" name="Google Shape;128;p24"/>
          <p:cNvGrpSpPr/>
          <p:nvPr/>
        </p:nvGrpSpPr>
        <p:grpSpPr>
          <a:xfrm>
            <a:off x="835950" y="2496650"/>
            <a:ext cx="3213900" cy="1767600"/>
            <a:chOff x="844375" y="1946400"/>
            <a:chExt cx="3213900" cy="1767600"/>
          </a:xfrm>
        </p:grpSpPr>
        <p:cxnSp>
          <p:nvCxnSpPr>
            <p:cNvPr id="129" name="Google Shape;129;p24"/>
            <p:cNvCxnSpPr/>
            <p:nvPr/>
          </p:nvCxnSpPr>
          <p:spPr>
            <a:xfrm>
              <a:off x="844375" y="1946400"/>
              <a:ext cx="0" cy="1764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24"/>
            <p:cNvCxnSpPr/>
            <p:nvPr/>
          </p:nvCxnSpPr>
          <p:spPr>
            <a:xfrm flipH="1">
              <a:off x="844375" y="3710400"/>
              <a:ext cx="32139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1" name="Google Shape;131;p24"/>
          <p:cNvSpPr/>
          <p:nvPr/>
        </p:nvSpPr>
        <p:spPr>
          <a:xfrm>
            <a:off x="920475" y="3150797"/>
            <a:ext cx="3118800" cy="1104925"/>
          </a:xfrm>
          <a:custGeom>
            <a:rect b="b" l="l" r="r" t="t"/>
            <a:pathLst>
              <a:path extrusionOk="0" h="44197" w="124752">
                <a:moveTo>
                  <a:pt x="0" y="41837"/>
                </a:moveTo>
                <a:cubicBezTo>
                  <a:pt x="4720" y="36836"/>
                  <a:pt x="18432" y="18797"/>
                  <a:pt x="28322" y="11829"/>
                </a:cubicBezTo>
                <a:cubicBezTo>
                  <a:pt x="38212" y="4861"/>
                  <a:pt x="47765" y="-84"/>
                  <a:pt x="59341" y="28"/>
                </a:cubicBezTo>
                <a:cubicBezTo>
                  <a:pt x="70917" y="141"/>
                  <a:pt x="86877" y="5143"/>
                  <a:pt x="97779" y="12504"/>
                </a:cubicBezTo>
                <a:cubicBezTo>
                  <a:pt x="108681" y="19866"/>
                  <a:pt x="120257" y="38915"/>
                  <a:pt x="124752" y="44197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" name="Google Shape;132;p24"/>
          <p:cNvSpPr txBox="1"/>
          <p:nvPr/>
        </p:nvSpPr>
        <p:spPr>
          <a:xfrm>
            <a:off x="1161600" y="4323175"/>
            <a:ext cx="25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Disturbance Frequency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4"/>
          <p:cNvSpPr txBox="1"/>
          <p:nvPr/>
        </p:nvSpPr>
        <p:spPr>
          <a:xfrm rot="-5400000">
            <a:off x="-492600" y="2973775"/>
            <a:ext cx="221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Disturbance Hypothesis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 diversity highest at an intermediate level of disturbance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40" name="Google Shape;140;p25"/>
          <p:cNvGrpSpPr/>
          <p:nvPr/>
        </p:nvGrpSpPr>
        <p:grpSpPr>
          <a:xfrm>
            <a:off x="835950" y="2496650"/>
            <a:ext cx="3213900" cy="1767600"/>
            <a:chOff x="844375" y="1946400"/>
            <a:chExt cx="3213900" cy="1767600"/>
          </a:xfrm>
        </p:grpSpPr>
        <p:cxnSp>
          <p:nvCxnSpPr>
            <p:cNvPr id="141" name="Google Shape;141;p25"/>
            <p:cNvCxnSpPr/>
            <p:nvPr/>
          </p:nvCxnSpPr>
          <p:spPr>
            <a:xfrm>
              <a:off x="844375" y="1946400"/>
              <a:ext cx="0" cy="1764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25"/>
            <p:cNvCxnSpPr/>
            <p:nvPr/>
          </p:nvCxnSpPr>
          <p:spPr>
            <a:xfrm flipH="1">
              <a:off x="844375" y="3710400"/>
              <a:ext cx="32139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25"/>
          <p:cNvSpPr/>
          <p:nvPr/>
        </p:nvSpPr>
        <p:spPr>
          <a:xfrm>
            <a:off x="920475" y="3150797"/>
            <a:ext cx="3118800" cy="1104925"/>
          </a:xfrm>
          <a:custGeom>
            <a:rect b="b" l="l" r="r" t="t"/>
            <a:pathLst>
              <a:path extrusionOk="0" h="44197" w="124752">
                <a:moveTo>
                  <a:pt x="0" y="41837"/>
                </a:moveTo>
                <a:cubicBezTo>
                  <a:pt x="4720" y="36836"/>
                  <a:pt x="18432" y="18797"/>
                  <a:pt x="28322" y="11829"/>
                </a:cubicBezTo>
                <a:cubicBezTo>
                  <a:pt x="38212" y="4861"/>
                  <a:pt x="47765" y="-84"/>
                  <a:pt x="59341" y="28"/>
                </a:cubicBezTo>
                <a:cubicBezTo>
                  <a:pt x="70917" y="141"/>
                  <a:pt x="86877" y="5143"/>
                  <a:pt x="97779" y="12504"/>
                </a:cubicBezTo>
                <a:cubicBezTo>
                  <a:pt x="108681" y="19866"/>
                  <a:pt x="120257" y="38915"/>
                  <a:pt x="124752" y="44197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Google Shape;144;p25"/>
          <p:cNvSpPr txBox="1"/>
          <p:nvPr/>
        </p:nvSpPr>
        <p:spPr>
          <a:xfrm>
            <a:off x="1161600" y="4323175"/>
            <a:ext cx="25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Disturbance Frequency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5"/>
          <p:cNvSpPr txBox="1"/>
          <p:nvPr/>
        </p:nvSpPr>
        <p:spPr>
          <a:xfrm rot="-5400000">
            <a:off x="-492600" y="2973775"/>
            <a:ext cx="221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4359600" y="1952225"/>
            <a:ext cx="433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What factors might drive this?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Disturbance Hypothesis</a:t>
            </a:r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835950" y="1963250"/>
            <a:ext cx="3213900" cy="1767600"/>
            <a:chOff x="844375" y="1946400"/>
            <a:chExt cx="3213900" cy="1767600"/>
          </a:xfrm>
        </p:grpSpPr>
        <p:cxnSp>
          <p:nvCxnSpPr>
            <p:cNvPr id="153" name="Google Shape;153;p26"/>
            <p:cNvCxnSpPr/>
            <p:nvPr/>
          </p:nvCxnSpPr>
          <p:spPr>
            <a:xfrm>
              <a:off x="844375" y="1946400"/>
              <a:ext cx="0" cy="1764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6"/>
            <p:cNvCxnSpPr/>
            <p:nvPr/>
          </p:nvCxnSpPr>
          <p:spPr>
            <a:xfrm flipH="1">
              <a:off x="844375" y="3710400"/>
              <a:ext cx="32139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" name="Google Shape;155;p26"/>
          <p:cNvSpPr/>
          <p:nvPr/>
        </p:nvSpPr>
        <p:spPr>
          <a:xfrm>
            <a:off x="920475" y="2617397"/>
            <a:ext cx="3118800" cy="1104925"/>
          </a:xfrm>
          <a:custGeom>
            <a:rect b="b" l="l" r="r" t="t"/>
            <a:pathLst>
              <a:path extrusionOk="0" h="44197" w="124752">
                <a:moveTo>
                  <a:pt x="0" y="41837"/>
                </a:moveTo>
                <a:cubicBezTo>
                  <a:pt x="4720" y="36836"/>
                  <a:pt x="18432" y="18797"/>
                  <a:pt x="28322" y="11829"/>
                </a:cubicBezTo>
                <a:cubicBezTo>
                  <a:pt x="38212" y="4861"/>
                  <a:pt x="47765" y="-84"/>
                  <a:pt x="59341" y="28"/>
                </a:cubicBezTo>
                <a:cubicBezTo>
                  <a:pt x="70917" y="141"/>
                  <a:pt x="86877" y="5143"/>
                  <a:pt x="97779" y="12504"/>
                </a:cubicBezTo>
                <a:cubicBezTo>
                  <a:pt x="108681" y="19866"/>
                  <a:pt x="120257" y="38915"/>
                  <a:pt x="124752" y="44197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" name="Google Shape;156;p26"/>
          <p:cNvSpPr txBox="1"/>
          <p:nvPr/>
        </p:nvSpPr>
        <p:spPr>
          <a:xfrm>
            <a:off x="1161600" y="3789775"/>
            <a:ext cx="25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Disturbance Frequency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6"/>
          <p:cNvSpPr txBox="1"/>
          <p:nvPr/>
        </p:nvSpPr>
        <p:spPr>
          <a:xfrm rot="-5400000">
            <a:off x="-492600" y="2440375"/>
            <a:ext cx="221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Richness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8" name="Google Shape;158;p26"/>
          <p:cNvCxnSpPr/>
          <p:nvPr/>
        </p:nvCxnSpPr>
        <p:spPr>
          <a:xfrm flipH="1" rot="10800000">
            <a:off x="4039275" y="2222075"/>
            <a:ext cx="843000" cy="13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9" name="Google Shape;159;p26"/>
          <p:cNvCxnSpPr/>
          <p:nvPr/>
        </p:nvCxnSpPr>
        <p:spPr>
          <a:xfrm flipH="1" rot="10800000">
            <a:off x="1013200" y="2255700"/>
            <a:ext cx="278100" cy="11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" name="Google Shape;160;p26"/>
          <p:cNvSpPr txBox="1"/>
          <p:nvPr/>
        </p:nvSpPr>
        <p:spPr>
          <a:xfrm>
            <a:off x="4595600" y="1766750"/>
            <a:ext cx="10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Only good colonizers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920475" y="1766750"/>
            <a:ext cx="10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Only good competitors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62" name="Google Shape;162;p26"/>
          <p:cNvCxnSpPr/>
          <p:nvPr/>
        </p:nvCxnSpPr>
        <p:spPr>
          <a:xfrm flipH="1" rot="10800000">
            <a:off x="2456950" y="1935450"/>
            <a:ext cx="132600" cy="6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3" name="Google Shape;163;p26"/>
          <p:cNvSpPr txBox="1"/>
          <p:nvPr/>
        </p:nvSpPr>
        <p:spPr>
          <a:xfrm>
            <a:off x="1974125" y="1470650"/>
            <a:ext cx="211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Good colonizers and good competitors in different patches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164" name="Google Shape;164;p26"/>
          <p:cNvGrpSpPr/>
          <p:nvPr/>
        </p:nvGrpSpPr>
        <p:grpSpPr>
          <a:xfrm>
            <a:off x="5371100" y="2421603"/>
            <a:ext cx="3011074" cy="2373719"/>
            <a:chOff x="72487" y="1568750"/>
            <a:chExt cx="4499513" cy="3311550"/>
          </a:xfrm>
        </p:grpSpPr>
        <p:grpSp>
          <p:nvGrpSpPr>
            <p:cNvPr id="165" name="Google Shape;165;p26"/>
            <p:cNvGrpSpPr/>
            <p:nvPr/>
          </p:nvGrpSpPr>
          <p:grpSpPr>
            <a:xfrm>
              <a:off x="1227600" y="1568750"/>
              <a:ext cx="3344400" cy="2144400"/>
              <a:chOff x="1002925" y="1440975"/>
              <a:chExt cx="3344400" cy="2144400"/>
            </a:xfrm>
          </p:grpSpPr>
          <p:cxnSp>
            <p:nvCxnSpPr>
              <p:cNvPr id="166" name="Google Shape;166;p26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6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8" name="Google Shape;168;p26"/>
            <p:cNvSpPr txBox="1"/>
            <p:nvPr/>
          </p:nvSpPr>
          <p:spPr>
            <a:xfrm>
              <a:off x="1819500" y="3849500"/>
              <a:ext cx="2160600" cy="10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Competitive Ability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26"/>
            <p:cNvSpPr txBox="1"/>
            <p:nvPr/>
          </p:nvSpPr>
          <p:spPr>
            <a:xfrm rot="-5400000">
              <a:off x="-455813" y="2147544"/>
              <a:ext cx="2160600" cy="11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Dispersal Ability</a:t>
              </a:r>
              <a:endParaRPr sz="1800">
                <a:solidFill>
                  <a:srgbClr val="595959"/>
                </a:solidFill>
              </a:endParaRPr>
            </a:p>
          </p:txBody>
        </p:sp>
        <p:cxnSp>
          <p:nvCxnSpPr>
            <p:cNvPr id="170" name="Google Shape;170;p26"/>
            <p:cNvCxnSpPr/>
            <p:nvPr/>
          </p:nvCxnSpPr>
          <p:spPr>
            <a:xfrm>
              <a:off x="1396225" y="16192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Disturbance and Coexistence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may read or hear someone say something like: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“Disturbance promotes coexistence by reducing competition”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NOT TRUE!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Coexistence is only promoted when species are impacted </a:t>
            </a:r>
            <a:r>
              <a:rPr lang="en"/>
              <a:t>differently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Needs to increase intraspecific competition relative to interspecific competition</a:t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 rotWithShape="1">
          <a:blip r:embed="rId3">
            <a:alphaModFix/>
          </a:blip>
          <a:srcRect b="27596" l="21680" r="20887" t="26124"/>
          <a:stretch/>
        </p:blipFill>
        <p:spPr>
          <a:xfrm>
            <a:off x="6525901" y="601850"/>
            <a:ext cx="2618102" cy="1186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Variation and Coexistence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Temporal and spatial variation can interact to allow coexistence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fluctuation-dependent coexistence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Storage effect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Relative non-linearity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189" name="Google Shape;189;p29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190" name="Google Shape;190;p29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29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" name="Google Shape;192;p29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3" name="Google Shape;193;p29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9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200" name="Google Shape;200;p30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201" name="Google Shape;201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3" name="Google Shape;203;p30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4" name="Google Shape;204;p30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0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06" name="Google Shape;206;p30"/>
          <p:cNvGrpSpPr/>
          <p:nvPr/>
        </p:nvGrpSpPr>
        <p:grpSpPr>
          <a:xfrm>
            <a:off x="5622725" y="1555525"/>
            <a:ext cx="3092100" cy="2156700"/>
            <a:chOff x="517325" y="2088925"/>
            <a:chExt cx="3092100" cy="2156700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9" name="Google Shape;209;p30"/>
          <p:cNvSpPr txBox="1"/>
          <p:nvPr/>
        </p:nvSpPr>
        <p:spPr>
          <a:xfrm>
            <a:off x="56657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30"/>
          <p:cNvSpPr txBox="1"/>
          <p:nvPr/>
        </p:nvSpPr>
        <p:spPr>
          <a:xfrm rot="-5400000">
            <a:off x="4641875" y="2340900"/>
            <a:ext cx="15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Growth rate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6480975" y="1770050"/>
            <a:ext cx="1696539" cy="1805800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B6D7A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Google Shape;212;p30"/>
          <p:cNvSpPr/>
          <p:nvPr/>
        </p:nvSpPr>
        <p:spPr>
          <a:xfrm>
            <a:off x="5947575" y="2464600"/>
            <a:ext cx="2230010" cy="1187494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30"/>
          <p:cNvSpPr/>
          <p:nvPr/>
        </p:nvSpPr>
        <p:spPr>
          <a:xfrm>
            <a:off x="6938175" y="1261950"/>
            <a:ext cx="1239346" cy="2313952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219" name="Google Shape;219;p31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220" name="Google Shape;220;p3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3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" name="Google Shape;222;p31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31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230" name="Google Shape;230;p32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231" name="Google Shape;231;p3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3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3" name="Google Shape;233;p32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32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6" name="Google Shape;236;p32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/>
        </p:nvSpPr>
        <p:spPr>
          <a:xfrm>
            <a:off x="69000" y="45730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Effect on Resources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9" name="Google Shape;26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270" name="Google Shape;270;p33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271" name="Google Shape;271;p33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33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33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4" name="Google Shape;274;p33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6" name="Google Shape;276;p33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3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3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3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3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3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3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3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3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3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/>
          <p:nvPr/>
        </p:nvSpPr>
        <p:spPr>
          <a:xfrm rot="-8992804">
            <a:off x="3583460" y="46500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33"/>
          <p:cNvCxnSpPr/>
          <p:nvPr/>
        </p:nvCxnSpPr>
        <p:spPr>
          <a:xfrm rot="10800000">
            <a:off x="28575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3"/>
          <p:cNvCxnSpPr/>
          <p:nvPr/>
        </p:nvCxnSpPr>
        <p:spPr>
          <a:xfrm rot="10800000">
            <a:off x="40767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6" name="Google Shape;306;p33"/>
          <p:cNvSpPr/>
          <p:nvPr/>
        </p:nvSpPr>
        <p:spPr>
          <a:xfrm rot="1806979">
            <a:off x="2498503" y="47275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sp>
        <p:nvSpPr>
          <p:cNvPr id="318" name="Google Shape;31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differ in the environment they do best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can persist through sub-optimal conditions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(Note that there is a spatial version of this as well)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324" name="Google Shape;324;p36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325" name="Google Shape;325;p36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36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7" name="Google Shape;327;p36"/>
          <p:cNvSpPr txBox="1"/>
          <p:nvPr/>
        </p:nvSpPr>
        <p:spPr>
          <a:xfrm>
            <a:off x="788975" y="3808025"/>
            <a:ext cx="318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 to low resources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28" name="Google Shape;328;p36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6"/>
          <p:cNvSpPr txBox="1"/>
          <p:nvPr/>
        </p:nvSpPr>
        <p:spPr>
          <a:xfrm rot="-5400000">
            <a:off x="-1006675" y="2240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Growth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335" name="Google Shape;335;p37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336" name="Google Shape;336;p3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3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8" name="Google Shape;338;p37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9" name="Google Shape;339;p37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Mean Annual 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40" name="Google Shape;340;p37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341" name="Google Shape;341;p3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3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43" name="Google Shape;343;p37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344" name="Google Shape;344;p3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3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6" name="Google Shape;346;p37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7" name="Google Shape;347;p37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7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7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7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7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7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7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7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7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7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7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7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7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7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7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7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7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7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7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7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7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7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7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7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7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7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7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7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7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462" name="Google Shape;462;p38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463" name="Google Shape;463;p38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38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5" name="Google Shape;465;p38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6" name="Google Shape;466;p38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Mean Annual 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67" name="Google Shape;467;p38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468" name="Google Shape;468;p38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8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0" name="Google Shape;470;p38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471" name="Google Shape;471;p38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38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3" name="Google Shape;473;p38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4" name="Google Shape;474;p38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8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8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8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8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8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8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3" name="Google Shape;4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8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8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8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8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8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8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8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8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8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8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8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8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8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8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8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8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8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8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8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8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8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8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8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8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8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8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8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8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8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8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8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8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8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8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8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8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8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8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8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8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8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8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8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8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8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8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8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8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8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8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8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8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8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8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8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4" name="Google Shape;584;p38"/>
          <p:cNvCxnSpPr/>
          <p:nvPr/>
        </p:nvCxnSpPr>
        <p:spPr>
          <a:xfrm rot="10800000">
            <a:off x="6044400" y="827500"/>
            <a:ext cx="545700" cy="2053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85" name="Google Shape;585;p38"/>
          <p:cNvSpPr txBox="1"/>
          <p:nvPr/>
        </p:nvSpPr>
        <p:spPr>
          <a:xfrm>
            <a:off x="5391725" y="193475"/>
            <a:ext cx="12561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980000"/>
                </a:solidFill>
              </a:rPr>
              <a:t>α</a:t>
            </a:r>
            <a:r>
              <a:rPr b="1" baseline="-25000" lang="en" sz="2600">
                <a:solidFill>
                  <a:srgbClr val="980000"/>
                </a:solidFill>
              </a:rPr>
              <a:t>ii</a:t>
            </a:r>
            <a:r>
              <a:rPr b="1" lang="en" sz="2600">
                <a:solidFill>
                  <a:srgbClr val="980000"/>
                </a:solidFill>
              </a:rPr>
              <a:t> &gt; α</a:t>
            </a:r>
            <a:r>
              <a:rPr b="1" baseline="-25000" lang="en" sz="2600">
                <a:solidFill>
                  <a:srgbClr val="980000"/>
                </a:solidFill>
              </a:rPr>
              <a:t>ji</a:t>
            </a:r>
            <a:endParaRPr b="1" baseline="-25000" sz="2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591" name="Google Shape;591;p39"/>
          <p:cNvPicPr preferRelativeResize="0"/>
          <p:nvPr/>
        </p:nvPicPr>
        <p:blipFill rotWithShape="1">
          <a:blip r:embed="rId3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597" name="Google Shape;5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0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604" name="Google Shape;6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100" y="46400"/>
            <a:ext cx="2910299" cy="50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1"/>
          <p:cNvPicPr preferRelativeResize="0"/>
          <p:nvPr/>
        </p:nvPicPr>
        <p:blipFill rotWithShape="1">
          <a:blip r:embed="rId5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612" name="Google Shape;612;p42"/>
          <p:cNvPicPr preferRelativeResize="0"/>
          <p:nvPr/>
        </p:nvPicPr>
        <p:blipFill rotWithShape="1">
          <a:blip r:embed="rId3">
            <a:alphaModFix/>
          </a:blip>
          <a:srcRect b="0" l="0" r="46265" t="0"/>
          <a:stretch/>
        </p:blipFill>
        <p:spPr>
          <a:xfrm>
            <a:off x="152400" y="1170125"/>
            <a:ext cx="3560373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3" name="Google Shape;613;p42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sp>
        <p:nvSpPr>
          <p:cNvPr id="619" name="Google Shape;61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Stable States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communities, same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Perturbations may cause a shift from one to the other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pic>
        <p:nvPicPr>
          <p:cNvPr id="625" name="Google Shape;6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52501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4"/>
          <p:cNvPicPr preferRelativeResize="0"/>
          <p:nvPr/>
        </p:nvPicPr>
        <p:blipFill rotWithShape="1">
          <a:blip r:embed="rId4">
            <a:alphaModFix/>
          </a:blip>
          <a:srcRect b="49472" l="37238" r="19155" t="19789"/>
          <a:stretch/>
        </p:blipFill>
        <p:spPr>
          <a:xfrm>
            <a:off x="6935525" y="0"/>
            <a:ext cx="2208475" cy="875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pic>
        <p:nvPicPr>
          <p:cNvPr id="632" name="Google Shape;63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4000" cy="23645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3" name="Google Shape;633;p45"/>
          <p:cNvPicPr preferRelativeResize="0"/>
          <p:nvPr/>
        </p:nvPicPr>
        <p:blipFill rotWithShape="1">
          <a:blip r:embed="rId4">
            <a:alphaModFix/>
          </a:blip>
          <a:srcRect b="57227" l="20279" r="21581" t="22100"/>
          <a:stretch/>
        </p:blipFill>
        <p:spPr>
          <a:xfrm>
            <a:off x="3827725" y="4080250"/>
            <a:ext cx="5316274" cy="10632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pic>
        <p:nvPicPr>
          <p:cNvPr id="639" name="Google Shape;6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4000" cy="3607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6"/>
          <p:cNvPicPr preferRelativeResize="0"/>
          <p:nvPr/>
        </p:nvPicPr>
        <p:blipFill rotWithShape="1">
          <a:blip r:embed="rId4">
            <a:alphaModFix/>
          </a:blip>
          <a:srcRect b="55285" l="17254" r="41079" t="16827"/>
          <a:stretch/>
        </p:blipFill>
        <p:spPr>
          <a:xfrm>
            <a:off x="6869075" y="14175"/>
            <a:ext cx="2274926" cy="856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72359" t="0"/>
          <a:stretch/>
        </p:blipFill>
        <p:spPr>
          <a:xfrm>
            <a:off x="0" y="1170125"/>
            <a:ext cx="2527450" cy="360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7" name="Google Shape;647;p47"/>
          <p:cNvPicPr preferRelativeResize="0"/>
          <p:nvPr/>
        </p:nvPicPr>
        <p:blipFill rotWithShape="1">
          <a:blip r:embed="rId4">
            <a:alphaModFix/>
          </a:blip>
          <a:srcRect b="55285" l="17254" r="41079" t="16827"/>
          <a:stretch/>
        </p:blipFill>
        <p:spPr>
          <a:xfrm>
            <a:off x="6869075" y="14175"/>
            <a:ext cx="2274926" cy="856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8" name="Google Shape;648;p47"/>
          <p:cNvSpPr txBox="1"/>
          <p:nvPr/>
        </p:nvSpPr>
        <p:spPr>
          <a:xfrm>
            <a:off x="2992625" y="1388875"/>
            <a:ext cx="570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switch from forest to savannah has big implications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Different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Different carbon sequestration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Impacts on global climate models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 Shifts and Alternative Stable States</a:t>
            </a:r>
            <a:endParaRPr/>
          </a:p>
        </p:txBody>
      </p:sp>
      <p:sp>
        <p:nvSpPr>
          <p:cNvPr id="654" name="Google Shape;654;p48"/>
          <p:cNvSpPr txBox="1"/>
          <p:nvPr/>
        </p:nvSpPr>
        <p:spPr>
          <a:xfrm>
            <a:off x="600300" y="1211675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Will shifts be gradual or abrupt?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Gradual gives us time to act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Abrupt may leave us scrambling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</p:txBody>
      </p:sp>
      <p:sp>
        <p:nvSpPr>
          <p:cNvPr id="660" name="Google Shape;660;p49"/>
          <p:cNvSpPr txBox="1"/>
          <p:nvPr/>
        </p:nvSpPr>
        <p:spPr>
          <a:xfrm>
            <a:off x="135150" y="1422100"/>
            <a:ext cx="8594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Approach: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When will species be exposed to novel conditions?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Compared species’ historical climates to projected future climates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Asked when species will be exposed to new climates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Novel isn’t necessarily bad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But it does mean we don’t KNOW a species can survive it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High </a:t>
            </a:r>
            <a:r>
              <a:rPr lang="en" sz="1800">
                <a:solidFill>
                  <a:schemeClr val="dk2"/>
                </a:solidFill>
              </a:rPr>
              <a:t>sensitivity</a:t>
            </a:r>
            <a:r>
              <a:rPr lang="en" sz="1800">
                <a:solidFill>
                  <a:schemeClr val="dk2"/>
                </a:solidFill>
              </a:rPr>
              <a:t>, low specificity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Make few assumptions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46190" l="34881" r="15864" t="18126"/>
          <a:stretch/>
        </p:blipFill>
        <p:spPr>
          <a:xfrm>
            <a:off x="5654501" y="0"/>
            <a:ext cx="3489499" cy="1422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374" y="0"/>
            <a:ext cx="3749625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8" name="Google Shape;668;p50"/>
          <p:cNvSpPr txBox="1"/>
          <p:nvPr/>
        </p:nvSpPr>
        <p:spPr>
          <a:xfrm>
            <a:off x="135150" y="1422100"/>
            <a:ext cx="40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Abrupt onsets of exposure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4">
            <a:alphaModFix/>
          </a:blip>
          <a:srcRect b="46190" l="34881" r="15864" t="18126"/>
          <a:stretch/>
        </p:blipFill>
        <p:spPr>
          <a:xfrm>
            <a:off x="1" y="3721400"/>
            <a:ext cx="3489499" cy="1422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135150" y="1422100"/>
            <a:ext cx="409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Abrupt onsets of exposure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Driven by realized niches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6" name="Google Shape;676;p51"/>
          <p:cNvPicPr preferRelativeResize="0"/>
          <p:nvPr/>
        </p:nvPicPr>
        <p:blipFill rotWithShape="1">
          <a:blip r:embed="rId3">
            <a:alphaModFix/>
          </a:blip>
          <a:srcRect b="46190" l="34881" r="15864" t="18126"/>
          <a:stretch/>
        </p:blipFill>
        <p:spPr>
          <a:xfrm>
            <a:off x="1" y="3721400"/>
            <a:ext cx="3489499" cy="1422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7" name="Google Shape;6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923" y="46075"/>
            <a:ext cx="5105076" cy="50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</p:txBody>
      </p:sp>
      <p:grpSp>
        <p:nvGrpSpPr>
          <p:cNvPr id="683" name="Google Shape;683;p52"/>
          <p:cNvGrpSpPr/>
          <p:nvPr/>
        </p:nvGrpSpPr>
        <p:grpSpPr>
          <a:xfrm>
            <a:off x="844934" y="1555142"/>
            <a:ext cx="6245572" cy="2702484"/>
            <a:chOff x="844375" y="1946400"/>
            <a:chExt cx="3213900" cy="1767600"/>
          </a:xfrm>
        </p:grpSpPr>
        <p:cxnSp>
          <p:nvCxnSpPr>
            <p:cNvPr id="684" name="Google Shape;684;p52"/>
            <p:cNvCxnSpPr/>
            <p:nvPr/>
          </p:nvCxnSpPr>
          <p:spPr>
            <a:xfrm>
              <a:off x="844375" y="1946400"/>
              <a:ext cx="0" cy="1764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52"/>
            <p:cNvCxnSpPr/>
            <p:nvPr/>
          </p:nvCxnSpPr>
          <p:spPr>
            <a:xfrm flipH="1">
              <a:off x="844375" y="3710400"/>
              <a:ext cx="32139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6" name="Google Shape;686;p52"/>
          <p:cNvSpPr txBox="1"/>
          <p:nvPr/>
        </p:nvSpPr>
        <p:spPr>
          <a:xfrm>
            <a:off x="2648250" y="4311325"/>
            <a:ext cx="28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Realized thermal niche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7" name="Google Shape;687;p52"/>
          <p:cNvSpPr txBox="1"/>
          <p:nvPr/>
        </p:nvSpPr>
        <p:spPr>
          <a:xfrm rot="-5400000">
            <a:off x="-647700" y="2818675"/>
            <a:ext cx="252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Density of Grid cells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8" name="Google Shape;688;p52"/>
          <p:cNvSpPr txBox="1"/>
          <p:nvPr/>
        </p:nvSpPr>
        <p:spPr>
          <a:xfrm>
            <a:off x="6676500" y="4344550"/>
            <a:ext cx="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9" name="Google Shape;689;p52"/>
          <p:cNvSpPr txBox="1"/>
          <p:nvPr/>
        </p:nvSpPr>
        <p:spPr>
          <a:xfrm>
            <a:off x="844950" y="4344550"/>
            <a:ext cx="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0" name="Google Shape;690;p52"/>
          <p:cNvSpPr/>
          <p:nvPr/>
        </p:nvSpPr>
        <p:spPr>
          <a:xfrm>
            <a:off x="888250" y="2153100"/>
            <a:ext cx="6091619" cy="1990664"/>
          </a:xfrm>
          <a:custGeom>
            <a:rect b="b" l="l" r="r" t="t"/>
            <a:pathLst>
              <a:path extrusionOk="0" h="76564" w="228600">
                <a:moveTo>
                  <a:pt x="0" y="75794"/>
                </a:moveTo>
                <a:cubicBezTo>
                  <a:pt x="24809" y="74613"/>
                  <a:pt x="112823" y="81331"/>
                  <a:pt x="148856" y="68705"/>
                </a:cubicBezTo>
                <a:cubicBezTo>
                  <a:pt x="184889" y="56079"/>
                  <a:pt x="202905" y="-554"/>
                  <a:pt x="216196" y="37"/>
                </a:cubicBezTo>
                <a:cubicBezTo>
                  <a:pt x="229487" y="628"/>
                  <a:pt x="226533" y="60215"/>
                  <a:pt x="228600" y="72250"/>
                </a:cubicBezTo>
              </a:path>
            </a:pathLst>
          </a:custGeom>
          <a:noFill/>
          <a:ln cap="flat" cmpd="sng" w="38100">
            <a:solidFill>
              <a:srgbClr val="B45F0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1" name="Google Shape;691;p52"/>
          <p:cNvSpPr txBox="1"/>
          <p:nvPr/>
        </p:nvSpPr>
        <p:spPr>
          <a:xfrm>
            <a:off x="3812225" y="500525"/>
            <a:ext cx="42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Note: x-axis is reversed from previous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</p:txBody>
      </p:sp>
      <p:grpSp>
        <p:nvGrpSpPr>
          <p:cNvPr id="697" name="Google Shape;697;p53"/>
          <p:cNvGrpSpPr/>
          <p:nvPr/>
        </p:nvGrpSpPr>
        <p:grpSpPr>
          <a:xfrm>
            <a:off x="844934" y="1555142"/>
            <a:ext cx="6245572" cy="2702484"/>
            <a:chOff x="844375" y="1946400"/>
            <a:chExt cx="3213900" cy="1767600"/>
          </a:xfrm>
        </p:grpSpPr>
        <p:cxnSp>
          <p:nvCxnSpPr>
            <p:cNvPr id="698" name="Google Shape;698;p53"/>
            <p:cNvCxnSpPr/>
            <p:nvPr/>
          </p:nvCxnSpPr>
          <p:spPr>
            <a:xfrm>
              <a:off x="844375" y="1946400"/>
              <a:ext cx="0" cy="1764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53"/>
            <p:cNvCxnSpPr/>
            <p:nvPr/>
          </p:nvCxnSpPr>
          <p:spPr>
            <a:xfrm flipH="1">
              <a:off x="844375" y="3710400"/>
              <a:ext cx="32139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0" name="Google Shape;700;p53"/>
          <p:cNvSpPr txBox="1"/>
          <p:nvPr/>
        </p:nvSpPr>
        <p:spPr>
          <a:xfrm>
            <a:off x="2648250" y="4311325"/>
            <a:ext cx="28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Realized thermal niche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1" name="Google Shape;701;p53"/>
          <p:cNvSpPr txBox="1"/>
          <p:nvPr/>
        </p:nvSpPr>
        <p:spPr>
          <a:xfrm rot="-5400000">
            <a:off x="-647700" y="2818675"/>
            <a:ext cx="252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Density of Grid cells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6676500" y="4344550"/>
            <a:ext cx="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844950" y="4344550"/>
            <a:ext cx="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888250" y="2153100"/>
            <a:ext cx="6091619" cy="1990664"/>
          </a:xfrm>
          <a:custGeom>
            <a:rect b="b" l="l" r="r" t="t"/>
            <a:pathLst>
              <a:path extrusionOk="0" h="76564" w="228600">
                <a:moveTo>
                  <a:pt x="0" y="75794"/>
                </a:moveTo>
                <a:cubicBezTo>
                  <a:pt x="24809" y="74613"/>
                  <a:pt x="112823" y="81331"/>
                  <a:pt x="148856" y="68705"/>
                </a:cubicBezTo>
                <a:cubicBezTo>
                  <a:pt x="184889" y="56079"/>
                  <a:pt x="202905" y="-554"/>
                  <a:pt x="216196" y="37"/>
                </a:cubicBezTo>
                <a:cubicBezTo>
                  <a:pt x="229487" y="628"/>
                  <a:pt x="226533" y="60215"/>
                  <a:pt x="228600" y="72250"/>
                </a:cubicBezTo>
              </a:path>
            </a:pathLst>
          </a:custGeom>
          <a:noFill/>
          <a:ln cap="flat" cmpd="sng" w="38100">
            <a:solidFill>
              <a:srgbClr val="B45F06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05" name="Google Shape;705;p53"/>
          <p:cNvCxnSpPr/>
          <p:nvPr/>
        </p:nvCxnSpPr>
        <p:spPr>
          <a:xfrm>
            <a:off x="6300225" y="3105600"/>
            <a:ext cx="963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6" name="Google Shape;706;p53"/>
          <p:cNvSpPr txBox="1"/>
          <p:nvPr/>
        </p:nvSpPr>
        <p:spPr>
          <a:xfrm>
            <a:off x="888250" y="1909450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-Most species are biased towards the warm end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-Warm end has abrupt limit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-Minor shift pushes into novel climate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Relatively slow increases in climate may cause sudden risks to species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Need ways of identifying when exposure to new climate is a risk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2023 and 2024, many species were exposed to novel temperatures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 to understand which species were impacted and which weren’t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</a:t>
            </a:r>
            <a:endParaRPr/>
          </a:p>
        </p:txBody>
      </p:sp>
      <p:sp>
        <p:nvSpPr>
          <p:cNvPr id="718" name="Google Shape;71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Succession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Intermediate disturbance hypothesis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Temporal variation and coexistence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Alternative Stable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Slow change but rapid exposure to new conditions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Students present something!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