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6b8deadf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56b8deadf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0b8b91d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0b8b91d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6b8dead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6b8dead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0b8b91d7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0b8b91d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50b8b91d7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50b8b91d7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0b8b91d7a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50b8b91d7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50b8b91d7a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50b8b91d7a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50b8b91d7a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50b8b91d7a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50b8b91d7a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50b8b91d7a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50b8b91d7a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50b8b91d7a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56b8deadf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56b8deadf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50b8b91d7a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50b8b91d7a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50b8b91d7a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50b8b91d7a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0b8b91d7a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0b8b91d7a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6b8deadf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6b8deadf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50b8b91d7a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50b8b91d7a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50b8b91d7a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50b8b91d7a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0b8b91d7a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50b8b91d7a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50b8b91d7a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50b8b91d7a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50b8b91d7a_0_2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50b8b91d7a_0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50b8b91d7a_0_2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50b8b91d7a_0_2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50b8b91d7a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50b8b91d7a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50b8b91d7a_0_2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50b8b91d7a_0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50b8b91d7a_0_2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50b8b91d7a_0_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50b8b91d7a_0_4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350b8b91d7a_0_4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350b8b91d7a_0_5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8" name="Google Shape;588;g350b8b91d7a_0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350b8b91d7a_0_5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350b8b91d7a_0_5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50b8b91d7a_0_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350b8b91d7a_0_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50b8b91d7a_0_5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350b8b91d7a_0_5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56b8deadf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56b8deadf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50b8b91d7a_0_6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350b8b91d7a_0_6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50b8b91d7a_0_6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350b8b91d7a_0_6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50b8b91d7a_0_6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350b8b91d7a_0_6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50b8b91d7a_0_6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50b8b91d7a_0_6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50b8b91d7a_0_6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350b8b91d7a_0_6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50b8b91d7a_0_6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50b8b91d7a_0_6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50b8b91d7a_0_6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50b8b91d7a_0_6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50b8b91d7a_0_6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2" name="Google Shape;672;g350b8b91d7a_0_6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50b8b91d7a_0_6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50b8b91d7a_0_6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350b8b91d7a_0_6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350b8b91d7a_0_6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350b8b91d7a_0_7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350b8b91d7a_0_7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350b8b91d7a_0_7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350b8b91d7a_0_7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1" name="Google Shape;721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2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 Environments 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Quiz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Variable Environments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 Environments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Recently we’ve been talking about variation in space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Variation in time is also super important!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variation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Variation around a mean (e.g., temperature, precipitation, tides, etc.)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Long-term trends (e.g., climate change, desertification)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ideas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Succession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Intermediate disturbance hypothesis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Temporal </a:t>
            </a:r>
            <a:r>
              <a:rPr lang="en"/>
              <a:t>variation and coexistence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Alternative Stable States (a phrase that is rarely abbreviated)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Slow change but rapid exposure to new conditions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Succession</a:t>
            </a:r>
            <a:r>
              <a:rPr lang="en"/>
              <a:t> = pattern of community change following disturbance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Primary succession</a:t>
            </a:r>
            <a:r>
              <a:rPr lang="en"/>
              <a:t> = starting from scratch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E.g., newly formed islands, land scraped bare by glaciers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Secondary succession</a:t>
            </a:r>
            <a:r>
              <a:rPr lang="en"/>
              <a:t> = starting from a large disturbance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E.g., fires, agriculture, floods,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Soil, seeds, maybe some resilient organisms may remain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728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early ecologists thought succession would always end the same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Any location, if disturbed, would always return to the same </a:t>
            </a:r>
            <a:r>
              <a:rPr b="1" lang="en"/>
              <a:t>climax community</a:t>
            </a:r>
            <a:endParaRPr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pic>
        <p:nvPicPr>
          <p:cNvPr id="85" name="Google Shape;8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950" y="936925"/>
            <a:ext cx="7074249" cy="397797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8"/>
          <p:cNvSpPr txBox="1"/>
          <p:nvPr/>
        </p:nvSpPr>
        <p:spPr>
          <a:xfrm>
            <a:off x="0" y="4804800"/>
            <a:ext cx="146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Image: shutterstock.com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19975"/>
            <a:ext cx="7187026" cy="40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sp>
        <p:nvSpPr>
          <p:cNvPr id="93" name="Google Shape;93;p19"/>
          <p:cNvSpPr txBox="1"/>
          <p:nvPr/>
        </p:nvSpPr>
        <p:spPr>
          <a:xfrm>
            <a:off x="0" y="4804800"/>
            <a:ext cx="146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Image: shutterstock.com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Small-scale succession</a:t>
            </a:r>
            <a:endParaRPr/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these dynamics can occur on different spatial scales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E.g., treefall gaps in forests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These smaller-scale disturbances can increase species diversity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Think about the spatial variation stuff we’ve discussed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Climax community assumes a set of species will occur at a given </a:t>
            </a:r>
            <a:r>
              <a:rPr lang="en"/>
              <a:t>environment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Succession is just a return to this set</a:t>
            </a:r>
            <a:endParaRPr/>
          </a:p>
        </p:txBody>
      </p:sp>
      <p:pic>
        <p:nvPicPr>
          <p:cNvPr id="106" name="Google Shape;10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265650"/>
            <a:ext cx="5566184" cy="2303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/>
        </p:nvSpPr>
        <p:spPr>
          <a:xfrm>
            <a:off x="0" y="4881900"/>
            <a:ext cx="6140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2"/>
                </a:solidFill>
              </a:rPr>
              <a:t>Image: Florida Department of Environmental Protection</a:t>
            </a:r>
            <a:endParaRPr sz="500">
              <a:solidFill>
                <a:schemeClr val="dk2"/>
              </a:solidFill>
            </a:endParaRPr>
          </a:p>
        </p:txBody>
      </p:sp>
      <p:pic>
        <p:nvPicPr>
          <p:cNvPr id="108" name="Google Shape;10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77877" y="2265650"/>
            <a:ext cx="3080600" cy="297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9641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idea of fixed types of communities has been abandoned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Communities as aggregations of individual species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Species dominate because they’re suited to the current environment</a:t>
            </a:r>
            <a:endParaRPr/>
          </a:p>
        </p:txBody>
      </p:sp>
      <p:pic>
        <p:nvPicPr>
          <p:cNvPr id="115" name="Google Shape;11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2450" y="2015775"/>
            <a:ext cx="3035650" cy="292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Climax communities abandoned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However, there is still a lot of study in how ecosystems change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focus now has shifted to community assembly, metacommunity, etc.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Intermediate Disturbance Hypothesis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species diversity highest at an intermediate level of disturbance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grpSp>
        <p:nvGrpSpPr>
          <p:cNvPr id="128" name="Google Shape;128;p24"/>
          <p:cNvGrpSpPr/>
          <p:nvPr/>
        </p:nvGrpSpPr>
        <p:grpSpPr>
          <a:xfrm>
            <a:off x="835950" y="2496650"/>
            <a:ext cx="3213900" cy="1767600"/>
            <a:chOff x="844375" y="1946400"/>
            <a:chExt cx="3213900" cy="1767600"/>
          </a:xfrm>
        </p:grpSpPr>
        <p:cxnSp>
          <p:nvCxnSpPr>
            <p:cNvPr id="129" name="Google Shape;129;p24"/>
            <p:cNvCxnSpPr/>
            <p:nvPr/>
          </p:nvCxnSpPr>
          <p:spPr>
            <a:xfrm>
              <a:off x="844375" y="1946400"/>
              <a:ext cx="0" cy="17640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0" name="Google Shape;130;p24"/>
            <p:cNvCxnSpPr/>
            <p:nvPr/>
          </p:nvCxnSpPr>
          <p:spPr>
            <a:xfrm flipH="1">
              <a:off x="844375" y="3710400"/>
              <a:ext cx="3213900" cy="3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31" name="Google Shape;131;p24"/>
          <p:cNvSpPr/>
          <p:nvPr/>
        </p:nvSpPr>
        <p:spPr>
          <a:xfrm>
            <a:off x="920475" y="3150797"/>
            <a:ext cx="3118800" cy="1104925"/>
          </a:xfrm>
          <a:custGeom>
            <a:rect b="b" l="l" r="r" t="t"/>
            <a:pathLst>
              <a:path extrusionOk="0" h="44197" w="124752">
                <a:moveTo>
                  <a:pt x="0" y="41837"/>
                </a:moveTo>
                <a:cubicBezTo>
                  <a:pt x="4720" y="36836"/>
                  <a:pt x="18432" y="18797"/>
                  <a:pt x="28322" y="11829"/>
                </a:cubicBezTo>
                <a:cubicBezTo>
                  <a:pt x="38212" y="4861"/>
                  <a:pt x="47765" y="-84"/>
                  <a:pt x="59341" y="28"/>
                </a:cubicBezTo>
                <a:cubicBezTo>
                  <a:pt x="70917" y="141"/>
                  <a:pt x="86877" y="5143"/>
                  <a:pt x="97779" y="12504"/>
                </a:cubicBezTo>
                <a:cubicBezTo>
                  <a:pt x="108681" y="19866"/>
                  <a:pt x="120257" y="38915"/>
                  <a:pt x="124752" y="44197"/>
                </a:cubicBezTo>
              </a:path>
            </a:pathLst>
          </a:cu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32" name="Google Shape;132;p24"/>
          <p:cNvSpPr txBox="1"/>
          <p:nvPr/>
        </p:nvSpPr>
        <p:spPr>
          <a:xfrm>
            <a:off x="1161600" y="4323175"/>
            <a:ext cx="2562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Disturbance Frequency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3" name="Google Shape;133;p24"/>
          <p:cNvSpPr txBox="1"/>
          <p:nvPr/>
        </p:nvSpPr>
        <p:spPr>
          <a:xfrm rot="-5400000">
            <a:off x="-492600" y="2973775"/>
            <a:ext cx="221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Intermediate Disturbance Hypothesis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species diversity highest at an intermediate level of disturbance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grpSp>
        <p:nvGrpSpPr>
          <p:cNvPr id="140" name="Google Shape;140;p25"/>
          <p:cNvGrpSpPr/>
          <p:nvPr/>
        </p:nvGrpSpPr>
        <p:grpSpPr>
          <a:xfrm>
            <a:off x="835950" y="2496650"/>
            <a:ext cx="3213900" cy="1767600"/>
            <a:chOff x="844375" y="1946400"/>
            <a:chExt cx="3213900" cy="1767600"/>
          </a:xfrm>
        </p:grpSpPr>
        <p:cxnSp>
          <p:nvCxnSpPr>
            <p:cNvPr id="141" name="Google Shape;141;p25"/>
            <p:cNvCxnSpPr/>
            <p:nvPr/>
          </p:nvCxnSpPr>
          <p:spPr>
            <a:xfrm>
              <a:off x="844375" y="1946400"/>
              <a:ext cx="0" cy="17640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5"/>
            <p:cNvCxnSpPr/>
            <p:nvPr/>
          </p:nvCxnSpPr>
          <p:spPr>
            <a:xfrm flipH="1">
              <a:off x="844375" y="3710400"/>
              <a:ext cx="3213900" cy="3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3" name="Google Shape;143;p25"/>
          <p:cNvSpPr/>
          <p:nvPr/>
        </p:nvSpPr>
        <p:spPr>
          <a:xfrm>
            <a:off x="920475" y="3150797"/>
            <a:ext cx="3118800" cy="1104925"/>
          </a:xfrm>
          <a:custGeom>
            <a:rect b="b" l="l" r="r" t="t"/>
            <a:pathLst>
              <a:path extrusionOk="0" h="44197" w="124752">
                <a:moveTo>
                  <a:pt x="0" y="41837"/>
                </a:moveTo>
                <a:cubicBezTo>
                  <a:pt x="4720" y="36836"/>
                  <a:pt x="18432" y="18797"/>
                  <a:pt x="28322" y="11829"/>
                </a:cubicBezTo>
                <a:cubicBezTo>
                  <a:pt x="38212" y="4861"/>
                  <a:pt x="47765" y="-84"/>
                  <a:pt x="59341" y="28"/>
                </a:cubicBezTo>
                <a:cubicBezTo>
                  <a:pt x="70917" y="141"/>
                  <a:pt x="86877" y="5143"/>
                  <a:pt x="97779" y="12504"/>
                </a:cubicBezTo>
                <a:cubicBezTo>
                  <a:pt x="108681" y="19866"/>
                  <a:pt x="120257" y="38915"/>
                  <a:pt x="124752" y="44197"/>
                </a:cubicBezTo>
              </a:path>
            </a:pathLst>
          </a:cu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44" name="Google Shape;144;p25"/>
          <p:cNvSpPr txBox="1"/>
          <p:nvPr/>
        </p:nvSpPr>
        <p:spPr>
          <a:xfrm>
            <a:off x="1161600" y="4323175"/>
            <a:ext cx="2562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Disturbance Frequency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5" name="Google Shape;145;p25"/>
          <p:cNvSpPr txBox="1"/>
          <p:nvPr/>
        </p:nvSpPr>
        <p:spPr>
          <a:xfrm rot="-5400000">
            <a:off x="-492600" y="2973775"/>
            <a:ext cx="221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6" name="Google Shape;146;p25"/>
          <p:cNvSpPr txBox="1"/>
          <p:nvPr/>
        </p:nvSpPr>
        <p:spPr>
          <a:xfrm>
            <a:off x="4359600" y="1952225"/>
            <a:ext cx="433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What factors might drive this?</a:t>
            </a:r>
            <a:endParaRPr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Intermediate Disturbance Hypothesis</a:t>
            </a:r>
            <a:endParaRPr/>
          </a:p>
        </p:txBody>
      </p:sp>
      <p:grpSp>
        <p:nvGrpSpPr>
          <p:cNvPr id="152" name="Google Shape;152;p26"/>
          <p:cNvGrpSpPr/>
          <p:nvPr/>
        </p:nvGrpSpPr>
        <p:grpSpPr>
          <a:xfrm>
            <a:off x="835950" y="1963250"/>
            <a:ext cx="3213900" cy="1767600"/>
            <a:chOff x="844375" y="1946400"/>
            <a:chExt cx="3213900" cy="1767600"/>
          </a:xfrm>
        </p:grpSpPr>
        <p:cxnSp>
          <p:nvCxnSpPr>
            <p:cNvPr id="153" name="Google Shape;153;p26"/>
            <p:cNvCxnSpPr/>
            <p:nvPr/>
          </p:nvCxnSpPr>
          <p:spPr>
            <a:xfrm>
              <a:off x="844375" y="1946400"/>
              <a:ext cx="0" cy="17640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4" name="Google Shape;154;p26"/>
            <p:cNvCxnSpPr/>
            <p:nvPr/>
          </p:nvCxnSpPr>
          <p:spPr>
            <a:xfrm flipH="1">
              <a:off x="844375" y="3710400"/>
              <a:ext cx="3213900" cy="3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55" name="Google Shape;155;p26"/>
          <p:cNvSpPr/>
          <p:nvPr/>
        </p:nvSpPr>
        <p:spPr>
          <a:xfrm>
            <a:off x="920475" y="2617397"/>
            <a:ext cx="3118800" cy="1104925"/>
          </a:xfrm>
          <a:custGeom>
            <a:rect b="b" l="l" r="r" t="t"/>
            <a:pathLst>
              <a:path extrusionOk="0" h="44197" w="124752">
                <a:moveTo>
                  <a:pt x="0" y="41837"/>
                </a:moveTo>
                <a:cubicBezTo>
                  <a:pt x="4720" y="36836"/>
                  <a:pt x="18432" y="18797"/>
                  <a:pt x="28322" y="11829"/>
                </a:cubicBezTo>
                <a:cubicBezTo>
                  <a:pt x="38212" y="4861"/>
                  <a:pt x="47765" y="-84"/>
                  <a:pt x="59341" y="28"/>
                </a:cubicBezTo>
                <a:cubicBezTo>
                  <a:pt x="70917" y="141"/>
                  <a:pt x="86877" y="5143"/>
                  <a:pt x="97779" y="12504"/>
                </a:cubicBezTo>
                <a:cubicBezTo>
                  <a:pt x="108681" y="19866"/>
                  <a:pt x="120257" y="38915"/>
                  <a:pt x="124752" y="44197"/>
                </a:cubicBezTo>
              </a:path>
            </a:pathLst>
          </a:cu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56" name="Google Shape;156;p26"/>
          <p:cNvSpPr txBox="1"/>
          <p:nvPr/>
        </p:nvSpPr>
        <p:spPr>
          <a:xfrm>
            <a:off x="1161600" y="3789775"/>
            <a:ext cx="2562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Disturbance Frequency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7" name="Google Shape;157;p26"/>
          <p:cNvSpPr txBox="1"/>
          <p:nvPr/>
        </p:nvSpPr>
        <p:spPr>
          <a:xfrm rot="-5400000">
            <a:off x="-492600" y="2440375"/>
            <a:ext cx="221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</a:t>
            </a:r>
            <a:r>
              <a:rPr lang="en" sz="1800">
                <a:solidFill>
                  <a:schemeClr val="dk2"/>
                </a:solidFill>
              </a:rPr>
              <a:t> Richness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58" name="Google Shape;158;p26"/>
          <p:cNvCxnSpPr/>
          <p:nvPr/>
        </p:nvCxnSpPr>
        <p:spPr>
          <a:xfrm flipH="1" rot="10800000">
            <a:off x="4039275" y="2222075"/>
            <a:ext cx="843000" cy="1340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59" name="Google Shape;159;p26"/>
          <p:cNvCxnSpPr/>
          <p:nvPr/>
        </p:nvCxnSpPr>
        <p:spPr>
          <a:xfrm flipH="1" rot="10800000">
            <a:off x="1013200" y="2255700"/>
            <a:ext cx="278100" cy="1137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60" name="Google Shape;160;p26"/>
          <p:cNvSpPr txBox="1"/>
          <p:nvPr/>
        </p:nvSpPr>
        <p:spPr>
          <a:xfrm>
            <a:off x="4595600" y="1766750"/>
            <a:ext cx="108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Only good colonizers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61" name="Google Shape;161;p26"/>
          <p:cNvSpPr txBox="1"/>
          <p:nvPr/>
        </p:nvSpPr>
        <p:spPr>
          <a:xfrm>
            <a:off x="920475" y="1766750"/>
            <a:ext cx="108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Only good competitors</a:t>
            </a:r>
            <a:endParaRPr sz="1000">
              <a:solidFill>
                <a:schemeClr val="dk2"/>
              </a:solidFill>
            </a:endParaRPr>
          </a:p>
        </p:txBody>
      </p:sp>
      <p:cxnSp>
        <p:nvCxnSpPr>
          <p:cNvPr id="162" name="Google Shape;162;p26"/>
          <p:cNvCxnSpPr/>
          <p:nvPr/>
        </p:nvCxnSpPr>
        <p:spPr>
          <a:xfrm flipH="1" rot="10800000">
            <a:off x="2456950" y="1935450"/>
            <a:ext cx="132600" cy="621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63" name="Google Shape;163;p26"/>
          <p:cNvSpPr txBox="1"/>
          <p:nvPr/>
        </p:nvSpPr>
        <p:spPr>
          <a:xfrm>
            <a:off x="1974125" y="1470650"/>
            <a:ext cx="2115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Good colonizers and good competitors in different patches</a:t>
            </a:r>
            <a:endParaRPr sz="1000">
              <a:solidFill>
                <a:schemeClr val="dk2"/>
              </a:solidFill>
            </a:endParaRPr>
          </a:p>
        </p:txBody>
      </p:sp>
      <p:grpSp>
        <p:nvGrpSpPr>
          <p:cNvPr id="164" name="Google Shape;164;p26"/>
          <p:cNvGrpSpPr/>
          <p:nvPr/>
        </p:nvGrpSpPr>
        <p:grpSpPr>
          <a:xfrm>
            <a:off x="5371100" y="2421603"/>
            <a:ext cx="3011074" cy="2373719"/>
            <a:chOff x="72487" y="1568750"/>
            <a:chExt cx="4499513" cy="3311550"/>
          </a:xfrm>
        </p:grpSpPr>
        <p:grpSp>
          <p:nvGrpSpPr>
            <p:cNvPr id="165" name="Google Shape;165;p26"/>
            <p:cNvGrpSpPr/>
            <p:nvPr/>
          </p:nvGrpSpPr>
          <p:grpSpPr>
            <a:xfrm>
              <a:off x="1227600" y="1568750"/>
              <a:ext cx="3344400" cy="2144400"/>
              <a:chOff x="1002925" y="1440975"/>
              <a:chExt cx="3344400" cy="2144400"/>
            </a:xfrm>
          </p:grpSpPr>
          <p:cxnSp>
            <p:nvCxnSpPr>
              <p:cNvPr id="166" name="Google Shape;166;p26"/>
              <p:cNvCxnSpPr/>
              <p:nvPr/>
            </p:nvCxnSpPr>
            <p:spPr>
              <a:xfrm>
                <a:off x="1002925" y="1440975"/>
                <a:ext cx="9900" cy="2140800"/>
              </a:xfrm>
              <a:prstGeom prst="straightConnector1">
                <a:avLst/>
              </a:prstGeom>
              <a:noFill/>
              <a:ln cap="flat" cmpd="sng" w="38100">
                <a:solidFill>
                  <a:srgbClr val="595959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67" name="Google Shape;167;p26"/>
              <p:cNvCxnSpPr/>
              <p:nvPr/>
            </p:nvCxnSpPr>
            <p:spPr>
              <a:xfrm flipH="1" rot="10800000">
                <a:off x="1002925" y="3581775"/>
                <a:ext cx="3344400" cy="3600"/>
              </a:xfrm>
              <a:prstGeom prst="straightConnector1">
                <a:avLst/>
              </a:prstGeom>
              <a:noFill/>
              <a:ln cap="flat" cmpd="sng" w="38100">
                <a:solidFill>
                  <a:srgbClr val="595959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sp>
          <p:nvSpPr>
            <p:cNvPr id="168" name="Google Shape;168;p26"/>
            <p:cNvSpPr txBox="1"/>
            <p:nvPr/>
          </p:nvSpPr>
          <p:spPr>
            <a:xfrm>
              <a:off x="1819500" y="3849500"/>
              <a:ext cx="2160600" cy="103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595959"/>
                  </a:solidFill>
                </a:rPr>
                <a:t>Competitive Ability</a:t>
              </a:r>
              <a:endParaRPr sz="1800">
                <a:solidFill>
                  <a:srgbClr val="595959"/>
                </a:solidFill>
              </a:endParaRPr>
            </a:p>
          </p:txBody>
        </p:sp>
        <p:sp>
          <p:nvSpPr>
            <p:cNvPr id="169" name="Google Shape;169;p26"/>
            <p:cNvSpPr txBox="1"/>
            <p:nvPr/>
          </p:nvSpPr>
          <p:spPr>
            <a:xfrm rot="-5400000">
              <a:off x="-455813" y="2147544"/>
              <a:ext cx="2160600" cy="110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595959"/>
                  </a:solidFill>
                </a:rPr>
                <a:t>Dispersal Ability</a:t>
              </a:r>
              <a:endParaRPr sz="1800">
                <a:solidFill>
                  <a:srgbClr val="595959"/>
                </a:solidFill>
              </a:endParaRPr>
            </a:p>
          </p:txBody>
        </p:sp>
        <p:cxnSp>
          <p:nvCxnSpPr>
            <p:cNvPr id="170" name="Google Shape;170;p26"/>
            <p:cNvCxnSpPr/>
            <p:nvPr/>
          </p:nvCxnSpPr>
          <p:spPr>
            <a:xfrm>
              <a:off x="1396225" y="1619250"/>
              <a:ext cx="2985300" cy="2032800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Disturbance and Coexistence</a:t>
            </a:r>
            <a:endParaRPr/>
          </a:p>
        </p:txBody>
      </p:sp>
      <p:sp>
        <p:nvSpPr>
          <p:cNvPr id="176" name="Google Shape;176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 may read or hear someone say something like: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“Disturbance promotes coexistence by reducing competition”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This is NOT TRUE!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Coexistence is only promoted when species are impacted </a:t>
            </a:r>
            <a:r>
              <a:rPr lang="en"/>
              <a:t>differently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Needs to increase intraspecific competition relative to interspecific competition</a:t>
            </a:r>
            <a:endParaRPr/>
          </a:p>
        </p:txBody>
      </p:sp>
      <p:pic>
        <p:nvPicPr>
          <p:cNvPr id="177" name="Google Shape;177;p27"/>
          <p:cNvPicPr preferRelativeResize="0"/>
          <p:nvPr/>
        </p:nvPicPr>
        <p:blipFill rotWithShape="1">
          <a:blip r:embed="rId3">
            <a:alphaModFix/>
          </a:blip>
          <a:srcRect b="27596" l="21680" r="20888" t="26125"/>
          <a:stretch/>
        </p:blipFill>
        <p:spPr>
          <a:xfrm>
            <a:off x="6525901" y="601850"/>
            <a:ext cx="2618102" cy="11867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Temporal Variation and Coexistence</a:t>
            </a:r>
            <a:endParaRPr/>
          </a:p>
        </p:txBody>
      </p:sp>
      <p:sp>
        <p:nvSpPr>
          <p:cNvPr id="183" name="Google Shape;183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Temporal and spatial variation can interact to allow coexistence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Other fluctuation-dependent coexistence mechanisms: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Storage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Relative non-linearity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Relative Nonlinearity of competition</a:t>
            </a:r>
            <a:endParaRPr/>
          </a:p>
        </p:txBody>
      </p:sp>
      <p:grpSp>
        <p:nvGrpSpPr>
          <p:cNvPr id="189" name="Google Shape;189;p29"/>
          <p:cNvGrpSpPr/>
          <p:nvPr/>
        </p:nvGrpSpPr>
        <p:grpSpPr>
          <a:xfrm>
            <a:off x="745925" y="1555525"/>
            <a:ext cx="3092100" cy="2156700"/>
            <a:chOff x="517325" y="2088925"/>
            <a:chExt cx="3092100" cy="2156700"/>
          </a:xfrm>
        </p:grpSpPr>
        <p:cxnSp>
          <p:nvCxnSpPr>
            <p:cNvPr id="190" name="Google Shape;190;p29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1" name="Google Shape;191;p29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92" name="Google Shape;192;p29"/>
          <p:cNvSpPr txBox="1"/>
          <p:nvPr/>
        </p:nvSpPr>
        <p:spPr>
          <a:xfrm>
            <a:off x="788975" y="3808025"/>
            <a:ext cx="2847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Relative</a:t>
            </a:r>
            <a:r>
              <a:rPr lang="en" sz="1800">
                <a:solidFill>
                  <a:schemeClr val="dk2"/>
                </a:solidFill>
              </a:rPr>
              <a:t> dominance at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high</a:t>
            </a:r>
            <a:r>
              <a:rPr lang="en" sz="1800">
                <a:solidFill>
                  <a:schemeClr val="dk2"/>
                </a:solidFill>
              </a:rPr>
              <a:t> resource values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93" name="Google Shape;193;p29"/>
          <p:cNvCxnSpPr/>
          <p:nvPr/>
        </p:nvCxnSpPr>
        <p:spPr>
          <a:xfrm>
            <a:off x="861100" y="1640950"/>
            <a:ext cx="2775000" cy="1942500"/>
          </a:xfrm>
          <a:prstGeom prst="straightConnector1">
            <a:avLst/>
          </a:prstGeom>
          <a:noFill/>
          <a:ln cap="flat" cmpd="sng" w="38100">
            <a:solidFill>
              <a:srgbClr val="99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4" name="Google Shape;194;p29"/>
          <p:cNvSpPr txBox="1"/>
          <p:nvPr/>
        </p:nvSpPr>
        <p:spPr>
          <a:xfrm rot="-5400000">
            <a:off x="-868075" y="2102375"/>
            <a:ext cx="264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Relative</a:t>
            </a:r>
            <a:r>
              <a:rPr lang="en" sz="1800">
                <a:solidFill>
                  <a:schemeClr val="dk2"/>
                </a:solidFill>
              </a:rPr>
              <a:t> dominance at 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low</a:t>
            </a:r>
            <a:r>
              <a:rPr lang="en" sz="1800">
                <a:solidFill>
                  <a:schemeClr val="dk2"/>
                </a:solidFill>
              </a:rPr>
              <a:t> resource values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Relative Nonlinearity of competition</a:t>
            </a:r>
            <a:endParaRPr/>
          </a:p>
        </p:txBody>
      </p:sp>
      <p:grpSp>
        <p:nvGrpSpPr>
          <p:cNvPr id="200" name="Google Shape;200;p30"/>
          <p:cNvGrpSpPr/>
          <p:nvPr/>
        </p:nvGrpSpPr>
        <p:grpSpPr>
          <a:xfrm>
            <a:off x="745925" y="1555525"/>
            <a:ext cx="3092100" cy="2156700"/>
            <a:chOff x="517325" y="2088925"/>
            <a:chExt cx="3092100" cy="2156700"/>
          </a:xfrm>
        </p:grpSpPr>
        <p:cxnSp>
          <p:nvCxnSpPr>
            <p:cNvPr id="201" name="Google Shape;201;p30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3" name="Google Shape;203;p30"/>
          <p:cNvSpPr txBox="1"/>
          <p:nvPr/>
        </p:nvSpPr>
        <p:spPr>
          <a:xfrm>
            <a:off x="788975" y="3808025"/>
            <a:ext cx="2847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Relative</a:t>
            </a:r>
            <a:r>
              <a:rPr lang="en" sz="1800">
                <a:solidFill>
                  <a:schemeClr val="dk2"/>
                </a:solidFill>
              </a:rPr>
              <a:t> dominance at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high</a:t>
            </a:r>
            <a:r>
              <a:rPr lang="en" sz="1800">
                <a:solidFill>
                  <a:schemeClr val="dk2"/>
                </a:solidFill>
              </a:rPr>
              <a:t> resource values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04" name="Google Shape;204;p30"/>
          <p:cNvCxnSpPr/>
          <p:nvPr/>
        </p:nvCxnSpPr>
        <p:spPr>
          <a:xfrm>
            <a:off x="861100" y="1640950"/>
            <a:ext cx="2775000" cy="1942500"/>
          </a:xfrm>
          <a:prstGeom prst="straightConnector1">
            <a:avLst/>
          </a:prstGeom>
          <a:noFill/>
          <a:ln cap="flat" cmpd="sng" w="38100">
            <a:solidFill>
              <a:srgbClr val="99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5" name="Google Shape;205;p30"/>
          <p:cNvSpPr txBox="1"/>
          <p:nvPr/>
        </p:nvSpPr>
        <p:spPr>
          <a:xfrm rot="-5400000">
            <a:off x="-868075" y="2102375"/>
            <a:ext cx="264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Relative</a:t>
            </a:r>
            <a:r>
              <a:rPr lang="en" sz="1800">
                <a:solidFill>
                  <a:schemeClr val="dk2"/>
                </a:solidFill>
              </a:rPr>
              <a:t> dominance at 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low</a:t>
            </a:r>
            <a:r>
              <a:rPr lang="en" sz="1800">
                <a:solidFill>
                  <a:schemeClr val="dk2"/>
                </a:solidFill>
              </a:rPr>
              <a:t> resource values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206" name="Google Shape;206;p30"/>
          <p:cNvGrpSpPr/>
          <p:nvPr/>
        </p:nvGrpSpPr>
        <p:grpSpPr>
          <a:xfrm>
            <a:off x="5622725" y="1555525"/>
            <a:ext cx="3092100" cy="2156700"/>
            <a:chOff x="517325" y="2088925"/>
            <a:chExt cx="3092100" cy="2156700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9" name="Google Shape;209;p30"/>
          <p:cNvSpPr txBox="1"/>
          <p:nvPr/>
        </p:nvSpPr>
        <p:spPr>
          <a:xfrm>
            <a:off x="5665775" y="3808025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Resource availability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0" name="Google Shape;210;p30"/>
          <p:cNvSpPr txBox="1"/>
          <p:nvPr/>
        </p:nvSpPr>
        <p:spPr>
          <a:xfrm rot="-5400000">
            <a:off x="4641875" y="2340900"/>
            <a:ext cx="15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Growth rate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1" name="Google Shape;211;p30"/>
          <p:cNvSpPr/>
          <p:nvPr/>
        </p:nvSpPr>
        <p:spPr>
          <a:xfrm>
            <a:off x="6480975" y="1770050"/>
            <a:ext cx="1696539" cy="1805800"/>
          </a:xfrm>
          <a:custGeom>
            <a:rect b="b" l="l" r="r" t="t"/>
            <a:pathLst>
              <a:path extrusionOk="0" h="72232" w="95647">
                <a:moveTo>
                  <a:pt x="0" y="72232"/>
                </a:moveTo>
                <a:cubicBezTo>
                  <a:pt x="2778" y="65882"/>
                  <a:pt x="7012" y="44782"/>
                  <a:pt x="16669" y="34132"/>
                </a:cubicBezTo>
                <a:cubicBezTo>
                  <a:pt x="26326" y="23483"/>
                  <a:pt x="44781" y="14024"/>
                  <a:pt x="57944" y="8335"/>
                </a:cubicBezTo>
                <a:cubicBezTo>
                  <a:pt x="71107" y="2646"/>
                  <a:pt x="89363" y="1389"/>
                  <a:pt x="95647" y="0"/>
                </a:cubicBezTo>
              </a:path>
            </a:pathLst>
          </a:custGeom>
          <a:noFill/>
          <a:ln cap="flat" cmpd="sng" w="28575">
            <a:solidFill>
              <a:srgbClr val="B6D7A8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2" name="Google Shape;212;p30"/>
          <p:cNvSpPr/>
          <p:nvPr/>
        </p:nvSpPr>
        <p:spPr>
          <a:xfrm>
            <a:off x="5947575" y="2464600"/>
            <a:ext cx="2230010" cy="1187494"/>
          </a:xfrm>
          <a:custGeom>
            <a:rect b="b" l="l" r="r" t="t"/>
            <a:pathLst>
              <a:path extrusionOk="0" h="72232" w="95647">
                <a:moveTo>
                  <a:pt x="0" y="72232"/>
                </a:moveTo>
                <a:cubicBezTo>
                  <a:pt x="2778" y="65882"/>
                  <a:pt x="7012" y="44782"/>
                  <a:pt x="16669" y="34132"/>
                </a:cubicBezTo>
                <a:cubicBezTo>
                  <a:pt x="26326" y="23483"/>
                  <a:pt x="44781" y="14024"/>
                  <a:pt x="57944" y="8335"/>
                </a:cubicBezTo>
                <a:cubicBezTo>
                  <a:pt x="71107" y="2646"/>
                  <a:pt x="89363" y="1389"/>
                  <a:pt x="95647" y="0"/>
                </a:cubicBezTo>
              </a:path>
            </a:pathLst>
          </a:custGeom>
          <a:noFill/>
          <a:ln cap="flat" cmpd="sng" w="28575">
            <a:solidFill>
              <a:srgbClr val="F6B26B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3" name="Google Shape;213;p30"/>
          <p:cNvSpPr/>
          <p:nvPr/>
        </p:nvSpPr>
        <p:spPr>
          <a:xfrm>
            <a:off x="6938175" y="1261950"/>
            <a:ext cx="1239346" cy="2313952"/>
          </a:xfrm>
          <a:custGeom>
            <a:rect b="b" l="l" r="r" t="t"/>
            <a:pathLst>
              <a:path extrusionOk="0" h="72232" w="95647">
                <a:moveTo>
                  <a:pt x="0" y="72232"/>
                </a:moveTo>
                <a:cubicBezTo>
                  <a:pt x="2778" y="65882"/>
                  <a:pt x="7012" y="44782"/>
                  <a:pt x="16669" y="34132"/>
                </a:cubicBezTo>
                <a:cubicBezTo>
                  <a:pt x="26326" y="23483"/>
                  <a:pt x="44781" y="14024"/>
                  <a:pt x="57944" y="8335"/>
                </a:cubicBezTo>
                <a:cubicBezTo>
                  <a:pt x="71107" y="2646"/>
                  <a:pt x="89363" y="1389"/>
                  <a:pt x="95647" y="0"/>
                </a:cubicBezTo>
              </a:path>
            </a:pathLst>
          </a:custGeom>
          <a:noFill/>
          <a:ln cap="flat" cmpd="sng" w="28575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Relative Nonlinearity of competition</a:t>
            </a:r>
            <a:endParaRPr/>
          </a:p>
        </p:txBody>
      </p:sp>
      <p:grpSp>
        <p:nvGrpSpPr>
          <p:cNvPr id="219" name="Google Shape;219;p31"/>
          <p:cNvGrpSpPr/>
          <p:nvPr/>
        </p:nvGrpSpPr>
        <p:grpSpPr>
          <a:xfrm>
            <a:off x="745920" y="1555602"/>
            <a:ext cx="7620171" cy="2119605"/>
            <a:chOff x="517325" y="2088925"/>
            <a:chExt cx="3092100" cy="2156700"/>
          </a:xfrm>
        </p:grpSpPr>
        <p:cxnSp>
          <p:nvCxnSpPr>
            <p:cNvPr id="220" name="Google Shape;220;p31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21" name="Google Shape;221;p31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22" name="Google Shape;222;p31"/>
          <p:cNvSpPr txBox="1"/>
          <p:nvPr/>
        </p:nvSpPr>
        <p:spPr>
          <a:xfrm>
            <a:off x="788975" y="3808025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Time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3" name="Google Shape;223;p31"/>
          <p:cNvSpPr txBox="1"/>
          <p:nvPr/>
        </p:nvSpPr>
        <p:spPr>
          <a:xfrm rot="-5400000">
            <a:off x="-917375" y="2252975"/>
            <a:ext cx="264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Resource Availability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4" name="Google Shape;224;p31"/>
          <p:cNvSpPr/>
          <p:nvPr/>
        </p:nvSpPr>
        <p:spPr>
          <a:xfrm>
            <a:off x="984250" y="1691060"/>
            <a:ext cx="7620000" cy="1448400"/>
          </a:xfrm>
          <a:custGeom>
            <a:rect b="b" l="l" r="r" t="t"/>
            <a:pathLst>
              <a:path extrusionOk="0" h="57936" w="304800">
                <a:moveTo>
                  <a:pt x="0" y="13082"/>
                </a:moveTo>
                <a:cubicBezTo>
                  <a:pt x="6019" y="20557"/>
                  <a:pt x="23085" y="58061"/>
                  <a:pt x="36116" y="57929"/>
                </a:cubicBezTo>
                <a:cubicBezTo>
                  <a:pt x="49147" y="57797"/>
                  <a:pt x="63367" y="13083"/>
                  <a:pt x="78184" y="12289"/>
                </a:cubicBezTo>
                <a:cubicBezTo>
                  <a:pt x="93001" y="11495"/>
                  <a:pt x="109207" y="52704"/>
                  <a:pt x="125016" y="53167"/>
                </a:cubicBezTo>
                <a:cubicBezTo>
                  <a:pt x="140825" y="53630"/>
                  <a:pt x="159477" y="15927"/>
                  <a:pt x="173037" y="15067"/>
                </a:cubicBezTo>
                <a:cubicBezTo>
                  <a:pt x="186597" y="14207"/>
                  <a:pt x="193410" y="48602"/>
                  <a:pt x="206375" y="48007"/>
                </a:cubicBezTo>
                <a:cubicBezTo>
                  <a:pt x="219340" y="47412"/>
                  <a:pt x="239646" y="12421"/>
                  <a:pt x="250825" y="11495"/>
                </a:cubicBezTo>
                <a:cubicBezTo>
                  <a:pt x="262004" y="10569"/>
                  <a:pt x="266039" y="44171"/>
                  <a:pt x="273447" y="42451"/>
                </a:cubicBezTo>
                <a:cubicBezTo>
                  <a:pt x="280855" y="40731"/>
                  <a:pt x="290050" y="6269"/>
                  <a:pt x="295275" y="1176"/>
                </a:cubicBezTo>
                <a:cubicBezTo>
                  <a:pt x="300501" y="-3917"/>
                  <a:pt x="303213" y="10106"/>
                  <a:pt x="304800" y="11892"/>
                </a:cubicBezTo>
              </a:path>
            </a:pathLst>
          </a:cu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Relative Nonlinearity of competition</a:t>
            </a:r>
            <a:endParaRPr/>
          </a:p>
        </p:txBody>
      </p:sp>
      <p:grpSp>
        <p:nvGrpSpPr>
          <p:cNvPr id="230" name="Google Shape;230;p32"/>
          <p:cNvGrpSpPr/>
          <p:nvPr/>
        </p:nvGrpSpPr>
        <p:grpSpPr>
          <a:xfrm>
            <a:off x="745920" y="1555602"/>
            <a:ext cx="7620171" cy="2119605"/>
            <a:chOff x="517325" y="2088925"/>
            <a:chExt cx="3092100" cy="2156700"/>
          </a:xfrm>
        </p:grpSpPr>
        <p:cxnSp>
          <p:nvCxnSpPr>
            <p:cNvPr id="231" name="Google Shape;231;p32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2" name="Google Shape;232;p32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33" name="Google Shape;233;p32"/>
          <p:cNvSpPr txBox="1"/>
          <p:nvPr/>
        </p:nvSpPr>
        <p:spPr>
          <a:xfrm>
            <a:off x="788975" y="3808025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Time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4" name="Google Shape;234;p32"/>
          <p:cNvSpPr txBox="1"/>
          <p:nvPr/>
        </p:nvSpPr>
        <p:spPr>
          <a:xfrm rot="-5400000">
            <a:off x="-917375" y="2252975"/>
            <a:ext cx="264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Resource Availability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5" name="Google Shape;235;p32"/>
          <p:cNvSpPr/>
          <p:nvPr/>
        </p:nvSpPr>
        <p:spPr>
          <a:xfrm>
            <a:off x="984250" y="1691060"/>
            <a:ext cx="7620000" cy="1448400"/>
          </a:xfrm>
          <a:custGeom>
            <a:rect b="b" l="l" r="r" t="t"/>
            <a:pathLst>
              <a:path extrusionOk="0" h="57936" w="304800">
                <a:moveTo>
                  <a:pt x="0" y="13082"/>
                </a:moveTo>
                <a:cubicBezTo>
                  <a:pt x="6019" y="20557"/>
                  <a:pt x="23085" y="58061"/>
                  <a:pt x="36116" y="57929"/>
                </a:cubicBezTo>
                <a:cubicBezTo>
                  <a:pt x="49147" y="57797"/>
                  <a:pt x="63367" y="13083"/>
                  <a:pt x="78184" y="12289"/>
                </a:cubicBezTo>
                <a:cubicBezTo>
                  <a:pt x="93001" y="11495"/>
                  <a:pt x="109207" y="52704"/>
                  <a:pt x="125016" y="53167"/>
                </a:cubicBezTo>
                <a:cubicBezTo>
                  <a:pt x="140825" y="53630"/>
                  <a:pt x="159477" y="15927"/>
                  <a:pt x="173037" y="15067"/>
                </a:cubicBezTo>
                <a:cubicBezTo>
                  <a:pt x="186597" y="14207"/>
                  <a:pt x="193410" y="48602"/>
                  <a:pt x="206375" y="48007"/>
                </a:cubicBezTo>
                <a:cubicBezTo>
                  <a:pt x="219340" y="47412"/>
                  <a:pt x="239646" y="12421"/>
                  <a:pt x="250825" y="11495"/>
                </a:cubicBezTo>
                <a:cubicBezTo>
                  <a:pt x="262004" y="10569"/>
                  <a:pt x="266039" y="44171"/>
                  <a:pt x="273447" y="42451"/>
                </a:cubicBezTo>
                <a:cubicBezTo>
                  <a:pt x="280855" y="40731"/>
                  <a:pt x="290050" y="6269"/>
                  <a:pt x="295275" y="1176"/>
                </a:cubicBezTo>
                <a:cubicBezTo>
                  <a:pt x="300501" y="-3917"/>
                  <a:pt x="303213" y="10106"/>
                  <a:pt x="304800" y="11892"/>
                </a:cubicBezTo>
              </a:path>
            </a:pathLst>
          </a:cu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36" name="Google Shape;236;p32"/>
          <p:cNvSpPr/>
          <p:nvPr/>
        </p:nvSpPr>
        <p:spPr>
          <a:xfrm rot="-8992804">
            <a:off x="25928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2"/>
          <p:cNvSpPr/>
          <p:nvPr/>
        </p:nvSpPr>
        <p:spPr>
          <a:xfrm rot="1806979">
            <a:off x="15079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32"/>
          <p:cNvSpPr/>
          <p:nvPr/>
        </p:nvSpPr>
        <p:spPr>
          <a:xfrm rot="1806979">
            <a:off x="18889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32"/>
          <p:cNvSpPr/>
          <p:nvPr/>
        </p:nvSpPr>
        <p:spPr>
          <a:xfrm rot="-8992804">
            <a:off x="30500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2"/>
          <p:cNvSpPr/>
          <p:nvPr/>
        </p:nvSpPr>
        <p:spPr>
          <a:xfrm rot="-8992804">
            <a:off x="48788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2"/>
          <p:cNvSpPr/>
          <p:nvPr/>
        </p:nvSpPr>
        <p:spPr>
          <a:xfrm rot="-8992804">
            <a:off x="53360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32"/>
          <p:cNvSpPr/>
          <p:nvPr/>
        </p:nvSpPr>
        <p:spPr>
          <a:xfrm rot="-8992804">
            <a:off x="6783860" y="16782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32"/>
          <p:cNvSpPr/>
          <p:nvPr/>
        </p:nvSpPr>
        <p:spPr>
          <a:xfrm rot="-8992804">
            <a:off x="7241060" y="16782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2"/>
          <p:cNvSpPr/>
          <p:nvPr/>
        </p:nvSpPr>
        <p:spPr>
          <a:xfrm rot="-8992804">
            <a:off x="8003060" y="1449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32"/>
          <p:cNvSpPr/>
          <p:nvPr/>
        </p:nvSpPr>
        <p:spPr>
          <a:xfrm rot="-8992804">
            <a:off x="8460260" y="1449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2"/>
          <p:cNvSpPr/>
          <p:nvPr/>
        </p:nvSpPr>
        <p:spPr>
          <a:xfrm rot="1806979">
            <a:off x="38701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2"/>
          <p:cNvSpPr/>
          <p:nvPr/>
        </p:nvSpPr>
        <p:spPr>
          <a:xfrm rot="1806979">
            <a:off x="42511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32"/>
          <p:cNvSpPr/>
          <p:nvPr/>
        </p:nvSpPr>
        <p:spPr>
          <a:xfrm rot="1806979">
            <a:off x="5851303" y="30511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32"/>
          <p:cNvSpPr/>
          <p:nvPr/>
        </p:nvSpPr>
        <p:spPr>
          <a:xfrm rot="1806979">
            <a:off x="6232303" y="30511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2"/>
          <p:cNvSpPr/>
          <p:nvPr/>
        </p:nvSpPr>
        <p:spPr>
          <a:xfrm rot="1806979">
            <a:off x="7527703" y="28987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2"/>
          <p:cNvSpPr/>
          <p:nvPr/>
        </p:nvSpPr>
        <p:spPr>
          <a:xfrm rot="1806979">
            <a:off x="7908703" y="28987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2"/>
          <p:cNvSpPr/>
          <p:nvPr/>
        </p:nvSpPr>
        <p:spPr>
          <a:xfrm rot="1806979">
            <a:off x="2879503" y="21367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2"/>
          <p:cNvSpPr/>
          <p:nvPr/>
        </p:nvSpPr>
        <p:spPr>
          <a:xfrm rot="-8992804">
            <a:off x="6021860" y="3278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 rot="-8992804">
            <a:off x="7698260" y="32022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2"/>
          <p:cNvSpPr/>
          <p:nvPr/>
        </p:nvSpPr>
        <p:spPr>
          <a:xfrm rot="1806979">
            <a:off x="6460903" y="3355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2"/>
          <p:cNvSpPr/>
          <p:nvPr/>
        </p:nvSpPr>
        <p:spPr>
          <a:xfrm rot="1806979">
            <a:off x="5165503" y="15271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32"/>
          <p:cNvSpPr/>
          <p:nvPr/>
        </p:nvSpPr>
        <p:spPr>
          <a:xfrm rot="1806979">
            <a:off x="7070503" y="1450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2"/>
          <p:cNvSpPr/>
          <p:nvPr/>
        </p:nvSpPr>
        <p:spPr>
          <a:xfrm rot="1806979">
            <a:off x="8289703" y="1831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2"/>
          <p:cNvSpPr/>
          <p:nvPr/>
        </p:nvSpPr>
        <p:spPr>
          <a:xfrm rot="-8992804">
            <a:off x="2821460" y="1373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32"/>
          <p:cNvSpPr/>
          <p:nvPr/>
        </p:nvSpPr>
        <p:spPr>
          <a:xfrm rot="-8992804">
            <a:off x="4040660" y="3354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2"/>
          <p:cNvSpPr/>
          <p:nvPr/>
        </p:nvSpPr>
        <p:spPr>
          <a:xfrm rot="-8992804">
            <a:off x="1678460" y="3354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32"/>
          <p:cNvSpPr/>
          <p:nvPr/>
        </p:nvSpPr>
        <p:spPr>
          <a:xfrm rot="-8992804">
            <a:off x="8231660" y="1068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2"/>
          <p:cNvSpPr/>
          <p:nvPr/>
        </p:nvSpPr>
        <p:spPr>
          <a:xfrm rot="1806979">
            <a:off x="4403503" y="3355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3"/>
          <p:cNvSpPr txBox="1"/>
          <p:nvPr/>
        </p:nvSpPr>
        <p:spPr>
          <a:xfrm>
            <a:off x="69000" y="4573000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Effect on Resources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69" name="Google Shape;269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Relative Nonlinearity of competition</a:t>
            </a:r>
            <a:endParaRPr/>
          </a:p>
        </p:txBody>
      </p:sp>
      <p:grpSp>
        <p:nvGrpSpPr>
          <p:cNvPr id="270" name="Google Shape;270;p33"/>
          <p:cNvGrpSpPr/>
          <p:nvPr/>
        </p:nvGrpSpPr>
        <p:grpSpPr>
          <a:xfrm>
            <a:off x="745920" y="1555602"/>
            <a:ext cx="7620171" cy="2119605"/>
            <a:chOff x="517325" y="2088925"/>
            <a:chExt cx="3092100" cy="2156700"/>
          </a:xfrm>
        </p:grpSpPr>
        <p:cxnSp>
          <p:nvCxnSpPr>
            <p:cNvPr id="271" name="Google Shape;271;p33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2" name="Google Shape;272;p33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73" name="Google Shape;273;p33"/>
          <p:cNvSpPr txBox="1"/>
          <p:nvPr/>
        </p:nvSpPr>
        <p:spPr>
          <a:xfrm>
            <a:off x="788975" y="3808025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Time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74" name="Google Shape;274;p33"/>
          <p:cNvSpPr txBox="1"/>
          <p:nvPr/>
        </p:nvSpPr>
        <p:spPr>
          <a:xfrm rot="-5400000">
            <a:off x="-917375" y="2252975"/>
            <a:ext cx="264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Resource Availability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75" name="Google Shape;275;p33"/>
          <p:cNvSpPr/>
          <p:nvPr/>
        </p:nvSpPr>
        <p:spPr>
          <a:xfrm>
            <a:off x="984250" y="1691060"/>
            <a:ext cx="7620000" cy="1448400"/>
          </a:xfrm>
          <a:custGeom>
            <a:rect b="b" l="l" r="r" t="t"/>
            <a:pathLst>
              <a:path extrusionOk="0" h="57936" w="304800">
                <a:moveTo>
                  <a:pt x="0" y="13082"/>
                </a:moveTo>
                <a:cubicBezTo>
                  <a:pt x="6019" y="20557"/>
                  <a:pt x="23085" y="58061"/>
                  <a:pt x="36116" y="57929"/>
                </a:cubicBezTo>
                <a:cubicBezTo>
                  <a:pt x="49147" y="57797"/>
                  <a:pt x="63367" y="13083"/>
                  <a:pt x="78184" y="12289"/>
                </a:cubicBezTo>
                <a:cubicBezTo>
                  <a:pt x="93001" y="11495"/>
                  <a:pt x="109207" y="52704"/>
                  <a:pt x="125016" y="53167"/>
                </a:cubicBezTo>
                <a:cubicBezTo>
                  <a:pt x="140825" y="53630"/>
                  <a:pt x="159477" y="15927"/>
                  <a:pt x="173037" y="15067"/>
                </a:cubicBezTo>
                <a:cubicBezTo>
                  <a:pt x="186597" y="14207"/>
                  <a:pt x="193410" y="48602"/>
                  <a:pt x="206375" y="48007"/>
                </a:cubicBezTo>
                <a:cubicBezTo>
                  <a:pt x="219340" y="47412"/>
                  <a:pt x="239646" y="12421"/>
                  <a:pt x="250825" y="11495"/>
                </a:cubicBezTo>
                <a:cubicBezTo>
                  <a:pt x="262004" y="10569"/>
                  <a:pt x="266039" y="44171"/>
                  <a:pt x="273447" y="42451"/>
                </a:cubicBezTo>
                <a:cubicBezTo>
                  <a:pt x="280855" y="40731"/>
                  <a:pt x="290050" y="6269"/>
                  <a:pt x="295275" y="1176"/>
                </a:cubicBezTo>
                <a:cubicBezTo>
                  <a:pt x="300501" y="-3917"/>
                  <a:pt x="303213" y="10106"/>
                  <a:pt x="304800" y="11892"/>
                </a:cubicBezTo>
              </a:path>
            </a:pathLst>
          </a:cu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6" name="Google Shape;276;p33"/>
          <p:cNvSpPr/>
          <p:nvPr/>
        </p:nvSpPr>
        <p:spPr>
          <a:xfrm rot="-8992804">
            <a:off x="25928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3"/>
          <p:cNvSpPr/>
          <p:nvPr/>
        </p:nvSpPr>
        <p:spPr>
          <a:xfrm rot="1806979">
            <a:off x="15079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33"/>
          <p:cNvSpPr/>
          <p:nvPr/>
        </p:nvSpPr>
        <p:spPr>
          <a:xfrm rot="1806979">
            <a:off x="18889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33"/>
          <p:cNvSpPr/>
          <p:nvPr/>
        </p:nvSpPr>
        <p:spPr>
          <a:xfrm rot="-8992804">
            <a:off x="30500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33"/>
          <p:cNvSpPr/>
          <p:nvPr/>
        </p:nvSpPr>
        <p:spPr>
          <a:xfrm rot="-8992804">
            <a:off x="48788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33"/>
          <p:cNvSpPr/>
          <p:nvPr/>
        </p:nvSpPr>
        <p:spPr>
          <a:xfrm rot="-8992804">
            <a:off x="5336060" y="1754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3"/>
          <p:cNvSpPr/>
          <p:nvPr/>
        </p:nvSpPr>
        <p:spPr>
          <a:xfrm rot="-8992804">
            <a:off x="6783860" y="16782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33"/>
          <p:cNvSpPr/>
          <p:nvPr/>
        </p:nvSpPr>
        <p:spPr>
          <a:xfrm rot="-8992804">
            <a:off x="7241060" y="16782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3"/>
          <p:cNvSpPr/>
          <p:nvPr/>
        </p:nvSpPr>
        <p:spPr>
          <a:xfrm rot="-8992804">
            <a:off x="8003060" y="1449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 rot="-8992804">
            <a:off x="8460260" y="1449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33"/>
          <p:cNvSpPr/>
          <p:nvPr/>
        </p:nvSpPr>
        <p:spPr>
          <a:xfrm rot="1806979">
            <a:off x="38701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33"/>
          <p:cNvSpPr/>
          <p:nvPr/>
        </p:nvSpPr>
        <p:spPr>
          <a:xfrm rot="1806979">
            <a:off x="4251103" y="31273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33"/>
          <p:cNvSpPr/>
          <p:nvPr/>
        </p:nvSpPr>
        <p:spPr>
          <a:xfrm rot="1806979">
            <a:off x="5851303" y="30511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33"/>
          <p:cNvSpPr/>
          <p:nvPr/>
        </p:nvSpPr>
        <p:spPr>
          <a:xfrm rot="1806979">
            <a:off x="6232303" y="30511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33"/>
          <p:cNvSpPr/>
          <p:nvPr/>
        </p:nvSpPr>
        <p:spPr>
          <a:xfrm rot="1806979">
            <a:off x="7527703" y="28987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33"/>
          <p:cNvSpPr/>
          <p:nvPr/>
        </p:nvSpPr>
        <p:spPr>
          <a:xfrm rot="1806979">
            <a:off x="7908703" y="28987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33"/>
          <p:cNvSpPr/>
          <p:nvPr/>
        </p:nvSpPr>
        <p:spPr>
          <a:xfrm rot="1806979">
            <a:off x="2879503" y="21367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3"/>
          <p:cNvSpPr/>
          <p:nvPr/>
        </p:nvSpPr>
        <p:spPr>
          <a:xfrm rot="-8992804">
            <a:off x="6021860" y="3278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33"/>
          <p:cNvSpPr/>
          <p:nvPr/>
        </p:nvSpPr>
        <p:spPr>
          <a:xfrm rot="-8992804">
            <a:off x="7698260" y="32022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3"/>
          <p:cNvSpPr/>
          <p:nvPr/>
        </p:nvSpPr>
        <p:spPr>
          <a:xfrm rot="1806979">
            <a:off x="6460903" y="3355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33"/>
          <p:cNvSpPr/>
          <p:nvPr/>
        </p:nvSpPr>
        <p:spPr>
          <a:xfrm rot="1806979">
            <a:off x="5165503" y="15271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3"/>
          <p:cNvSpPr/>
          <p:nvPr/>
        </p:nvSpPr>
        <p:spPr>
          <a:xfrm rot="1806979">
            <a:off x="7070503" y="1450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33"/>
          <p:cNvSpPr/>
          <p:nvPr/>
        </p:nvSpPr>
        <p:spPr>
          <a:xfrm rot="1806979">
            <a:off x="8289703" y="1831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33"/>
          <p:cNvSpPr/>
          <p:nvPr/>
        </p:nvSpPr>
        <p:spPr>
          <a:xfrm rot="-8992804">
            <a:off x="2821460" y="13734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33"/>
          <p:cNvSpPr/>
          <p:nvPr/>
        </p:nvSpPr>
        <p:spPr>
          <a:xfrm rot="-8992804">
            <a:off x="4040660" y="3354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33"/>
          <p:cNvSpPr/>
          <p:nvPr/>
        </p:nvSpPr>
        <p:spPr>
          <a:xfrm rot="-8992804">
            <a:off x="1678460" y="3354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3"/>
          <p:cNvSpPr/>
          <p:nvPr/>
        </p:nvSpPr>
        <p:spPr>
          <a:xfrm rot="-8992804">
            <a:off x="8231660" y="10686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33"/>
          <p:cNvSpPr/>
          <p:nvPr/>
        </p:nvSpPr>
        <p:spPr>
          <a:xfrm rot="-8992804">
            <a:off x="3583460" y="4650077"/>
            <a:ext cx="335385" cy="307550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04" name="Google Shape;304;p33"/>
          <p:cNvCxnSpPr/>
          <p:nvPr/>
        </p:nvCxnSpPr>
        <p:spPr>
          <a:xfrm rot="10800000">
            <a:off x="2857500" y="4429125"/>
            <a:ext cx="0" cy="4068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5" name="Google Shape;305;p33"/>
          <p:cNvCxnSpPr/>
          <p:nvPr/>
        </p:nvCxnSpPr>
        <p:spPr>
          <a:xfrm rot="10800000">
            <a:off x="4076700" y="4429125"/>
            <a:ext cx="0" cy="4068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306" name="Google Shape;306;p33"/>
          <p:cNvSpPr/>
          <p:nvPr/>
        </p:nvSpPr>
        <p:spPr>
          <a:xfrm rot="1806979">
            <a:off x="2498503" y="47275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33"/>
          <p:cNvSpPr/>
          <p:nvPr/>
        </p:nvSpPr>
        <p:spPr>
          <a:xfrm rot="1806979">
            <a:off x="4403503" y="3355951"/>
            <a:ext cx="229593" cy="203248"/>
          </a:xfrm>
          <a:prstGeom prst="pie">
            <a:avLst>
              <a:gd fmla="val 0" name="adj1"/>
              <a:gd fmla="val 18544509" name="adj2"/>
            </a:avLst>
          </a:prstGeom>
          <a:solidFill>
            <a:srgbClr val="9900FF"/>
          </a:solidFill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sp>
        <p:nvSpPr>
          <p:cNvPr id="318" name="Google Shape;318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Species differ in the environment they do best 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they can persist through sub-optimal 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(Note that there is a spatial version of this as well)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grpSp>
        <p:nvGrpSpPr>
          <p:cNvPr id="324" name="Google Shape;324;p36"/>
          <p:cNvGrpSpPr/>
          <p:nvPr/>
        </p:nvGrpSpPr>
        <p:grpSpPr>
          <a:xfrm>
            <a:off x="745925" y="1555525"/>
            <a:ext cx="3092100" cy="2156700"/>
            <a:chOff x="517325" y="2088925"/>
            <a:chExt cx="3092100" cy="2156700"/>
          </a:xfrm>
        </p:grpSpPr>
        <p:cxnSp>
          <p:nvCxnSpPr>
            <p:cNvPr id="325" name="Google Shape;325;p36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26" name="Google Shape;326;p36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27" name="Google Shape;327;p36"/>
          <p:cNvSpPr txBox="1"/>
          <p:nvPr/>
        </p:nvSpPr>
        <p:spPr>
          <a:xfrm>
            <a:off x="788975" y="3808025"/>
            <a:ext cx="318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Tolerance to low resources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328" name="Google Shape;328;p36"/>
          <p:cNvCxnSpPr/>
          <p:nvPr/>
        </p:nvCxnSpPr>
        <p:spPr>
          <a:xfrm>
            <a:off x="861100" y="1640950"/>
            <a:ext cx="2775000" cy="1942500"/>
          </a:xfrm>
          <a:prstGeom prst="straightConnector1">
            <a:avLst/>
          </a:prstGeom>
          <a:noFill/>
          <a:ln cap="flat" cmpd="sng" w="38100">
            <a:solidFill>
              <a:srgbClr val="99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9" name="Google Shape;329;p36"/>
          <p:cNvSpPr txBox="1"/>
          <p:nvPr/>
        </p:nvSpPr>
        <p:spPr>
          <a:xfrm rot="-5400000">
            <a:off x="-1006675" y="2240975"/>
            <a:ext cx="264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Relative Growth Rate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grpSp>
        <p:nvGrpSpPr>
          <p:cNvPr id="335" name="Google Shape;335;p37"/>
          <p:cNvGrpSpPr/>
          <p:nvPr/>
        </p:nvGrpSpPr>
        <p:grpSpPr>
          <a:xfrm>
            <a:off x="745924" y="1113148"/>
            <a:ext cx="7620171" cy="1418893"/>
            <a:chOff x="517325" y="2088925"/>
            <a:chExt cx="3092100" cy="2156700"/>
          </a:xfrm>
        </p:grpSpPr>
        <p:cxnSp>
          <p:nvCxnSpPr>
            <p:cNvPr id="336" name="Google Shape;336;p37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37" name="Google Shape;337;p37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38" name="Google Shape;338;p37"/>
          <p:cNvSpPr txBox="1"/>
          <p:nvPr/>
        </p:nvSpPr>
        <p:spPr>
          <a:xfrm>
            <a:off x="745925" y="4665600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Time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39" name="Google Shape;339;p37"/>
          <p:cNvSpPr txBox="1"/>
          <p:nvPr/>
        </p:nvSpPr>
        <p:spPr>
          <a:xfrm rot="-5400000">
            <a:off x="-384850" y="1311875"/>
            <a:ext cx="175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dk2"/>
                </a:solidFill>
              </a:rPr>
              <a:t>Mean Annual Precipitation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340" name="Google Shape;340;p37"/>
          <p:cNvGrpSpPr/>
          <p:nvPr/>
        </p:nvGrpSpPr>
        <p:grpSpPr>
          <a:xfrm>
            <a:off x="745924" y="2652585"/>
            <a:ext cx="7620171" cy="870013"/>
            <a:chOff x="517325" y="2088925"/>
            <a:chExt cx="3092100" cy="2156700"/>
          </a:xfrm>
        </p:grpSpPr>
        <p:cxnSp>
          <p:nvCxnSpPr>
            <p:cNvPr id="341" name="Google Shape;341;p37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2" name="Google Shape;342;p37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343" name="Google Shape;343;p37"/>
          <p:cNvGrpSpPr/>
          <p:nvPr/>
        </p:nvGrpSpPr>
        <p:grpSpPr>
          <a:xfrm>
            <a:off x="745924" y="3795585"/>
            <a:ext cx="7620171" cy="870013"/>
            <a:chOff x="517325" y="2088925"/>
            <a:chExt cx="3092100" cy="2156700"/>
          </a:xfrm>
        </p:grpSpPr>
        <p:cxnSp>
          <p:nvCxnSpPr>
            <p:cNvPr id="344" name="Google Shape;344;p37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5" name="Google Shape;345;p37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46" name="Google Shape;346;p37"/>
          <p:cNvSpPr txBox="1"/>
          <p:nvPr/>
        </p:nvSpPr>
        <p:spPr>
          <a:xfrm rot="-5400000">
            <a:off x="9925" y="2799275"/>
            <a:ext cx="94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Adults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47" name="Google Shape;347;p37"/>
          <p:cNvSpPr txBox="1"/>
          <p:nvPr/>
        </p:nvSpPr>
        <p:spPr>
          <a:xfrm rot="-5400000">
            <a:off x="9925" y="3942275"/>
            <a:ext cx="94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Seeds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48" name="Google Shape;348;p37"/>
          <p:cNvSpPr/>
          <p:nvPr/>
        </p:nvSpPr>
        <p:spPr>
          <a:xfrm>
            <a:off x="1103300" y="1859350"/>
            <a:ext cx="595200" cy="672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37"/>
          <p:cNvSpPr/>
          <p:nvPr/>
        </p:nvSpPr>
        <p:spPr>
          <a:xfrm>
            <a:off x="1941500" y="1740300"/>
            <a:ext cx="595200" cy="7920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37"/>
          <p:cNvSpPr/>
          <p:nvPr/>
        </p:nvSpPr>
        <p:spPr>
          <a:xfrm>
            <a:off x="2779700" y="2395150"/>
            <a:ext cx="595200" cy="1371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37"/>
          <p:cNvSpPr/>
          <p:nvPr/>
        </p:nvSpPr>
        <p:spPr>
          <a:xfrm>
            <a:off x="3694100" y="805625"/>
            <a:ext cx="595200" cy="1726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7"/>
          <p:cNvSpPr/>
          <p:nvPr/>
        </p:nvSpPr>
        <p:spPr>
          <a:xfrm>
            <a:off x="4608500" y="728275"/>
            <a:ext cx="595200" cy="1803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37"/>
          <p:cNvSpPr/>
          <p:nvPr/>
        </p:nvSpPr>
        <p:spPr>
          <a:xfrm>
            <a:off x="5522900" y="2028025"/>
            <a:ext cx="595200" cy="5040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37"/>
          <p:cNvSpPr/>
          <p:nvPr/>
        </p:nvSpPr>
        <p:spPr>
          <a:xfrm>
            <a:off x="6513500" y="1859250"/>
            <a:ext cx="595200" cy="672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37"/>
          <p:cNvSpPr/>
          <p:nvPr/>
        </p:nvSpPr>
        <p:spPr>
          <a:xfrm>
            <a:off x="7504100" y="1740150"/>
            <a:ext cx="595200" cy="7920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6" name="Google Shape;35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100" y="27426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9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5100" y="2895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00" y="2514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6100" y="2895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4700" y="2514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0900" y="2895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7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7700" y="27426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70100" y="29712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46300" y="26664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98700" y="28950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7700" y="30474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4700" y="28188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9500" y="26664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57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05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67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53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15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6300" y="26664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373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35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21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83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325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08300" y="25902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13100" y="28188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1700" y="25140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46500" y="28950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3500" y="2742675"/>
            <a:ext cx="672900" cy="67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7"/>
          <p:cNvSpPr/>
          <p:nvPr/>
        </p:nvSpPr>
        <p:spPr>
          <a:xfrm>
            <a:off x="40163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37"/>
          <p:cNvSpPr/>
          <p:nvPr/>
        </p:nvSpPr>
        <p:spPr>
          <a:xfrm>
            <a:off x="8159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37"/>
          <p:cNvSpPr/>
          <p:nvPr/>
        </p:nvSpPr>
        <p:spPr>
          <a:xfrm>
            <a:off x="1044575" y="4181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37"/>
          <p:cNvSpPr/>
          <p:nvPr/>
        </p:nvSpPr>
        <p:spPr>
          <a:xfrm>
            <a:off x="14255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7"/>
          <p:cNvSpPr/>
          <p:nvPr/>
        </p:nvSpPr>
        <p:spPr>
          <a:xfrm>
            <a:off x="27971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37"/>
          <p:cNvSpPr/>
          <p:nvPr/>
        </p:nvSpPr>
        <p:spPr>
          <a:xfrm>
            <a:off x="4321175" y="3876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37"/>
          <p:cNvSpPr/>
          <p:nvPr/>
        </p:nvSpPr>
        <p:spPr>
          <a:xfrm>
            <a:off x="4321175" y="4181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37"/>
          <p:cNvSpPr/>
          <p:nvPr/>
        </p:nvSpPr>
        <p:spPr>
          <a:xfrm>
            <a:off x="45497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37"/>
          <p:cNvSpPr/>
          <p:nvPr/>
        </p:nvSpPr>
        <p:spPr>
          <a:xfrm>
            <a:off x="4625975" y="4029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37"/>
          <p:cNvSpPr/>
          <p:nvPr/>
        </p:nvSpPr>
        <p:spPr>
          <a:xfrm>
            <a:off x="48545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37"/>
          <p:cNvSpPr/>
          <p:nvPr/>
        </p:nvSpPr>
        <p:spPr>
          <a:xfrm>
            <a:off x="3940175" y="36480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37"/>
          <p:cNvSpPr/>
          <p:nvPr/>
        </p:nvSpPr>
        <p:spPr>
          <a:xfrm>
            <a:off x="3178175" y="38004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37"/>
          <p:cNvSpPr/>
          <p:nvPr/>
        </p:nvSpPr>
        <p:spPr>
          <a:xfrm>
            <a:off x="3940175" y="4105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37"/>
          <p:cNvSpPr/>
          <p:nvPr/>
        </p:nvSpPr>
        <p:spPr>
          <a:xfrm>
            <a:off x="3178175" y="4105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37"/>
          <p:cNvSpPr/>
          <p:nvPr/>
        </p:nvSpPr>
        <p:spPr>
          <a:xfrm>
            <a:off x="2949575" y="42576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37"/>
          <p:cNvSpPr/>
          <p:nvPr/>
        </p:nvSpPr>
        <p:spPr>
          <a:xfrm>
            <a:off x="2797175" y="3724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37"/>
          <p:cNvSpPr/>
          <p:nvPr/>
        </p:nvSpPr>
        <p:spPr>
          <a:xfrm>
            <a:off x="3025775" y="35718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37"/>
          <p:cNvSpPr/>
          <p:nvPr/>
        </p:nvSpPr>
        <p:spPr>
          <a:xfrm>
            <a:off x="1958975" y="42576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37"/>
          <p:cNvSpPr/>
          <p:nvPr/>
        </p:nvSpPr>
        <p:spPr>
          <a:xfrm>
            <a:off x="916550" y="4309238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7"/>
          <p:cNvSpPr/>
          <p:nvPr/>
        </p:nvSpPr>
        <p:spPr>
          <a:xfrm>
            <a:off x="5845175" y="44100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37"/>
          <p:cNvSpPr/>
          <p:nvPr/>
        </p:nvSpPr>
        <p:spPr>
          <a:xfrm>
            <a:off x="4930775" y="3876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37"/>
          <p:cNvSpPr/>
          <p:nvPr/>
        </p:nvSpPr>
        <p:spPr>
          <a:xfrm>
            <a:off x="5235575" y="3800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37"/>
          <p:cNvSpPr/>
          <p:nvPr/>
        </p:nvSpPr>
        <p:spPr>
          <a:xfrm>
            <a:off x="5235575" y="41052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37"/>
          <p:cNvSpPr/>
          <p:nvPr/>
        </p:nvSpPr>
        <p:spPr>
          <a:xfrm>
            <a:off x="5464175" y="4257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37"/>
          <p:cNvSpPr/>
          <p:nvPr/>
        </p:nvSpPr>
        <p:spPr>
          <a:xfrm>
            <a:off x="55403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37"/>
          <p:cNvSpPr/>
          <p:nvPr/>
        </p:nvSpPr>
        <p:spPr>
          <a:xfrm>
            <a:off x="5768975" y="4257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37"/>
          <p:cNvSpPr/>
          <p:nvPr/>
        </p:nvSpPr>
        <p:spPr>
          <a:xfrm>
            <a:off x="4854575" y="35718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37"/>
          <p:cNvSpPr/>
          <p:nvPr/>
        </p:nvSpPr>
        <p:spPr>
          <a:xfrm>
            <a:off x="4854575" y="40290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37"/>
          <p:cNvSpPr/>
          <p:nvPr/>
        </p:nvSpPr>
        <p:spPr>
          <a:xfrm>
            <a:off x="59213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37"/>
          <p:cNvSpPr/>
          <p:nvPr/>
        </p:nvSpPr>
        <p:spPr>
          <a:xfrm>
            <a:off x="6226175" y="3876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37"/>
          <p:cNvSpPr/>
          <p:nvPr/>
        </p:nvSpPr>
        <p:spPr>
          <a:xfrm>
            <a:off x="6226175" y="4181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37"/>
          <p:cNvSpPr/>
          <p:nvPr/>
        </p:nvSpPr>
        <p:spPr>
          <a:xfrm>
            <a:off x="64547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37"/>
          <p:cNvSpPr/>
          <p:nvPr/>
        </p:nvSpPr>
        <p:spPr>
          <a:xfrm>
            <a:off x="6530975" y="4029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37"/>
          <p:cNvSpPr/>
          <p:nvPr/>
        </p:nvSpPr>
        <p:spPr>
          <a:xfrm>
            <a:off x="67595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37"/>
          <p:cNvSpPr/>
          <p:nvPr/>
        </p:nvSpPr>
        <p:spPr>
          <a:xfrm>
            <a:off x="6073775" y="37029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37"/>
          <p:cNvSpPr/>
          <p:nvPr/>
        </p:nvSpPr>
        <p:spPr>
          <a:xfrm>
            <a:off x="5845175" y="4105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37"/>
          <p:cNvSpPr/>
          <p:nvPr/>
        </p:nvSpPr>
        <p:spPr>
          <a:xfrm>
            <a:off x="7064375" y="4029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37"/>
          <p:cNvSpPr/>
          <p:nvPr/>
        </p:nvSpPr>
        <p:spPr>
          <a:xfrm>
            <a:off x="73691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37"/>
          <p:cNvSpPr/>
          <p:nvPr/>
        </p:nvSpPr>
        <p:spPr>
          <a:xfrm>
            <a:off x="7369175" y="4257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7"/>
          <p:cNvSpPr/>
          <p:nvPr/>
        </p:nvSpPr>
        <p:spPr>
          <a:xfrm>
            <a:off x="7597775" y="4410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7673975" y="41052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37"/>
          <p:cNvSpPr/>
          <p:nvPr/>
        </p:nvSpPr>
        <p:spPr>
          <a:xfrm>
            <a:off x="7902575" y="4410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7"/>
          <p:cNvSpPr/>
          <p:nvPr/>
        </p:nvSpPr>
        <p:spPr>
          <a:xfrm>
            <a:off x="7978775" y="41814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37"/>
          <p:cNvSpPr/>
          <p:nvPr/>
        </p:nvSpPr>
        <p:spPr>
          <a:xfrm>
            <a:off x="6988175" y="41814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37"/>
          <p:cNvSpPr/>
          <p:nvPr/>
        </p:nvSpPr>
        <p:spPr>
          <a:xfrm>
            <a:off x="62261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37"/>
          <p:cNvSpPr/>
          <p:nvPr/>
        </p:nvSpPr>
        <p:spPr>
          <a:xfrm>
            <a:off x="6530975" y="3724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37"/>
          <p:cNvSpPr/>
          <p:nvPr/>
        </p:nvSpPr>
        <p:spPr>
          <a:xfrm>
            <a:off x="67595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37"/>
          <p:cNvSpPr/>
          <p:nvPr/>
        </p:nvSpPr>
        <p:spPr>
          <a:xfrm>
            <a:off x="66833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37"/>
          <p:cNvSpPr/>
          <p:nvPr/>
        </p:nvSpPr>
        <p:spPr>
          <a:xfrm>
            <a:off x="72929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37"/>
          <p:cNvSpPr/>
          <p:nvPr/>
        </p:nvSpPr>
        <p:spPr>
          <a:xfrm>
            <a:off x="7597775" y="3800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37"/>
          <p:cNvSpPr/>
          <p:nvPr/>
        </p:nvSpPr>
        <p:spPr>
          <a:xfrm>
            <a:off x="78263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37"/>
          <p:cNvSpPr/>
          <p:nvPr/>
        </p:nvSpPr>
        <p:spPr>
          <a:xfrm>
            <a:off x="79787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37"/>
          <p:cNvSpPr/>
          <p:nvPr/>
        </p:nvSpPr>
        <p:spPr>
          <a:xfrm>
            <a:off x="80549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37"/>
          <p:cNvSpPr/>
          <p:nvPr/>
        </p:nvSpPr>
        <p:spPr>
          <a:xfrm>
            <a:off x="73691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37"/>
          <p:cNvSpPr/>
          <p:nvPr/>
        </p:nvSpPr>
        <p:spPr>
          <a:xfrm>
            <a:off x="9683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37"/>
          <p:cNvSpPr/>
          <p:nvPr/>
        </p:nvSpPr>
        <p:spPr>
          <a:xfrm>
            <a:off x="1120775" y="3800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37"/>
          <p:cNvSpPr/>
          <p:nvPr/>
        </p:nvSpPr>
        <p:spPr>
          <a:xfrm>
            <a:off x="14255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7"/>
          <p:cNvSpPr/>
          <p:nvPr/>
        </p:nvSpPr>
        <p:spPr>
          <a:xfrm>
            <a:off x="1349375" y="42576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7"/>
          <p:cNvSpPr/>
          <p:nvPr/>
        </p:nvSpPr>
        <p:spPr>
          <a:xfrm>
            <a:off x="1730375" y="4029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37"/>
          <p:cNvSpPr/>
          <p:nvPr/>
        </p:nvSpPr>
        <p:spPr>
          <a:xfrm>
            <a:off x="1730375" y="3724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37"/>
          <p:cNvSpPr/>
          <p:nvPr/>
        </p:nvSpPr>
        <p:spPr>
          <a:xfrm>
            <a:off x="2035175" y="38766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37"/>
          <p:cNvSpPr/>
          <p:nvPr/>
        </p:nvSpPr>
        <p:spPr>
          <a:xfrm>
            <a:off x="2187575" y="4105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37"/>
          <p:cNvSpPr/>
          <p:nvPr/>
        </p:nvSpPr>
        <p:spPr>
          <a:xfrm>
            <a:off x="21875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37"/>
          <p:cNvSpPr/>
          <p:nvPr/>
        </p:nvSpPr>
        <p:spPr>
          <a:xfrm>
            <a:off x="2339975" y="3800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37"/>
          <p:cNvSpPr/>
          <p:nvPr/>
        </p:nvSpPr>
        <p:spPr>
          <a:xfrm>
            <a:off x="2568575" y="42576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37"/>
          <p:cNvSpPr/>
          <p:nvPr/>
        </p:nvSpPr>
        <p:spPr>
          <a:xfrm>
            <a:off x="30257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37"/>
          <p:cNvSpPr/>
          <p:nvPr/>
        </p:nvSpPr>
        <p:spPr>
          <a:xfrm>
            <a:off x="3482975" y="4181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37"/>
          <p:cNvSpPr/>
          <p:nvPr/>
        </p:nvSpPr>
        <p:spPr>
          <a:xfrm>
            <a:off x="44735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7"/>
          <p:cNvSpPr/>
          <p:nvPr/>
        </p:nvSpPr>
        <p:spPr>
          <a:xfrm>
            <a:off x="54641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7"/>
          <p:cNvSpPr/>
          <p:nvPr/>
        </p:nvSpPr>
        <p:spPr>
          <a:xfrm>
            <a:off x="3559175" y="3724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grpSp>
        <p:nvGrpSpPr>
          <p:cNvPr id="462" name="Google Shape;462;p38"/>
          <p:cNvGrpSpPr/>
          <p:nvPr/>
        </p:nvGrpSpPr>
        <p:grpSpPr>
          <a:xfrm>
            <a:off x="745924" y="1113148"/>
            <a:ext cx="7620171" cy="1418893"/>
            <a:chOff x="517325" y="2088925"/>
            <a:chExt cx="3092100" cy="2156700"/>
          </a:xfrm>
        </p:grpSpPr>
        <p:cxnSp>
          <p:nvCxnSpPr>
            <p:cNvPr id="463" name="Google Shape;463;p38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38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65" name="Google Shape;465;p38"/>
          <p:cNvSpPr txBox="1"/>
          <p:nvPr/>
        </p:nvSpPr>
        <p:spPr>
          <a:xfrm>
            <a:off x="745925" y="4665600"/>
            <a:ext cx="284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Time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66" name="Google Shape;466;p38"/>
          <p:cNvSpPr txBox="1"/>
          <p:nvPr/>
        </p:nvSpPr>
        <p:spPr>
          <a:xfrm rot="-5400000">
            <a:off x="-384850" y="1311875"/>
            <a:ext cx="175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Mean Annual Precipitation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467" name="Google Shape;467;p38"/>
          <p:cNvGrpSpPr/>
          <p:nvPr/>
        </p:nvGrpSpPr>
        <p:grpSpPr>
          <a:xfrm>
            <a:off x="745924" y="2652585"/>
            <a:ext cx="7620171" cy="870013"/>
            <a:chOff x="517325" y="2088925"/>
            <a:chExt cx="3092100" cy="2156700"/>
          </a:xfrm>
        </p:grpSpPr>
        <p:cxnSp>
          <p:nvCxnSpPr>
            <p:cNvPr id="468" name="Google Shape;468;p38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9" name="Google Shape;469;p38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470" name="Google Shape;470;p38"/>
          <p:cNvGrpSpPr/>
          <p:nvPr/>
        </p:nvGrpSpPr>
        <p:grpSpPr>
          <a:xfrm>
            <a:off x="745924" y="3795585"/>
            <a:ext cx="7620171" cy="870013"/>
            <a:chOff x="517325" y="2088925"/>
            <a:chExt cx="3092100" cy="2156700"/>
          </a:xfrm>
        </p:grpSpPr>
        <p:cxnSp>
          <p:nvCxnSpPr>
            <p:cNvPr id="471" name="Google Shape;471;p38"/>
            <p:cNvCxnSpPr/>
            <p:nvPr/>
          </p:nvCxnSpPr>
          <p:spPr>
            <a:xfrm>
              <a:off x="517325" y="4245625"/>
              <a:ext cx="3092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2" name="Google Shape;472;p38"/>
            <p:cNvCxnSpPr/>
            <p:nvPr/>
          </p:nvCxnSpPr>
          <p:spPr>
            <a:xfrm flipH="1" rot="10800000">
              <a:off x="517325" y="2088925"/>
              <a:ext cx="3900" cy="2156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73" name="Google Shape;473;p38"/>
          <p:cNvSpPr txBox="1"/>
          <p:nvPr/>
        </p:nvSpPr>
        <p:spPr>
          <a:xfrm rot="-5400000">
            <a:off x="9925" y="2799275"/>
            <a:ext cx="94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Adults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74" name="Google Shape;474;p38"/>
          <p:cNvSpPr txBox="1"/>
          <p:nvPr/>
        </p:nvSpPr>
        <p:spPr>
          <a:xfrm rot="-5400000">
            <a:off x="9925" y="3942275"/>
            <a:ext cx="94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Seeds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75" name="Google Shape;475;p38"/>
          <p:cNvSpPr/>
          <p:nvPr/>
        </p:nvSpPr>
        <p:spPr>
          <a:xfrm>
            <a:off x="1103300" y="1859350"/>
            <a:ext cx="595200" cy="672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38"/>
          <p:cNvSpPr/>
          <p:nvPr/>
        </p:nvSpPr>
        <p:spPr>
          <a:xfrm>
            <a:off x="1941500" y="1740300"/>
            <a:ext cx="595200" cy="7920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38"/>
          <p:cNvSpPr/>
          <p:nvPr/>
        </p:nvSpPr>
        <p:spPr>
          <a:xfrm>
            <a:off x="2779700" y="2395150"/>
            <a:ext cx="595200" cy="1371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38"/>
          <p:cNvSpPr/>
          <p:nvPr/>
        </p:nvSpPr>
        <p:spPr>
          <a:xfrm>
            <a:off x="3694100" y="805625"/>
            <a:ext cx="595200" cy="1726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38"/>
          <p:cNvSpPr/>
          <p:nvPr/>
        </p:nvSpPr>
        <p:spPr>
          <a:xfrm>
            <a:off x="4608500" y="728275"/>
            <a:ext cx="595200" cy="1803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38"/>
          <p:cNvSpPr/>
          <p:nvPr/>
        </p:nvSpPr>
        <p:spPr>
          <a:xfrm>
            <a:off x="5522900" y="2028025"/>
            <a:ext cx="595200" cy="5040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8"/>
          <p:cNvSpPr/>
          <p:nvPr/>
        </p:nvSpPr>
        <p:spPr>
          <a:xfrm>
            <a:off x="6513500" y="1859250"/>
            <a:ext cx="595200" cy="672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8"/>
          <p:cNvSpPr/>
          <p:nvPr/>
        </p:nvSpPr>
        <p:spPr>
          <a:xfrm>
            <a:off x="7504100" y="1740150"/>
            <a:ext cx="595200" cy="7920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83" name="Google Shape;48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100" y="27426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9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5100" y="2895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" name="Google Shape;48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00" y="2514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6100" y="2895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4700" y="2514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0900" y="28950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7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7700" y="27426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70100" y="29712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46300" y="26664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98700" y="28950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5" name="Google Shape;495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7700" y="3047475"/>
            <a:ext cx="202801" cy="3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6" name="Google Shape;49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4700" y="28188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9500" y="26664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57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05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67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53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15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6300" y="26664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373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" name="Google Shape;50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35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2100" y="2590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83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8" name="Google Shape;50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32500" y="2971275"/>
            <a:ext cx="461700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9" name="Google Shape;509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08300" y="25902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13100" y="28188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1700" y="25140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46500" y="2895075"/>
            <a:ext cx="672900" cy="67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3" name="Google Shape;513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3500" y="2742675"/>
            <a:ext cx="672900" cy="672900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38"/>
          <p:cNvSpPr/>
          <p:nvPr/>
        </p:nvSpPr>
        <p:spPr>
          <a:xfrm>
            <a:off x="40163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38"/>
          <p:cNvSpPr/>
          <p:nvPr/>
        </p:nvSpPr>
        <p:spPr>
          <a:xfrm>
            <a:off x="8159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38"/>
          <p:cNvSpPr/>
          <p:nvPr/>
        </p:nvSpPr>
        <p:spPr>
          <a:xfrm>
            <a:off x="1044575" y="4181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38"/>
          <p:cNvSpPr/>
          <p:nvPr/>
        </p:nvSpPr>
        <p:spPr>
          <a:xfrm>
            <a:off x="14255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8" name="Google Shape;518;p38"/>
          <p:cNvSpPr/>
          <p:nvPr/>
        </p:nvSpPr>
        <p:spPr>
          <a:xfrm>
            <a:off x="27971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38"/>
          <p:cNvSpPr/>
          <p:nvPr/>
        </p:nvSpPr>
        <p:spPr>
          <a:xfrm>
            <a:off x="4321175" y="3876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38"/>
          <p:cNvSpPr/>
          <p:nvPr/>
        </p:nvSpPr>
        <p:spPr>
          <a:xfrm>
            <a:off x="4321175" y="4181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38"/>
          <p:cNvSpPr/>
          <p:nvPr/>
        </p:nvSpPr>
        <p:spPr>
          <a:xfrm>
            <a:off x="45497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8"/>
          <p:cNvSpPr/>
          <p:nvPr/>
        </p:nvSpPr>
        <p:spPr>
          <a:xfrm>
            <a:off x="4625975" y="4029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38"/>
          <p:cNvSpPr/>
          <p:nvPr/>
        </p:nvSpPr>
        <p:spPr>
          <a:xfrm>
            <a:off x="48545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8"/>
          <p:cNvSpPr/>
          <p:nvPr/>
        </p:nvSpPr>
        <p:spPr>
          <a:xfrm>
            <a:off x="3940175" y="36480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38"/>
          <p:cNvSpPr/>
          <p:nvPr/>
        </p:nvSpPr>
        <p:spPr>
          <a:xfrm>
            <a:off x="3178175" y="38004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8"/>
          <p:cNvSpPr/>
          <p:nvPr/>
        </p:nvSpPr>
        <p:spPr>
          <a:xfrm>
            <a:off x="3940175" y="4105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8"/>
          <p:cNvSpPr/>
          <p:nvPr/>
        </p:nvSpPr>
        <p:spPr>
          <a:xfrm>
            <a:off x="3178175" y="4105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38"/>
          <p:cNvSpPr/>
          <p:nvPr/>
        </p:nvSpPr>
        <p:spPr>
          <a:xfrm>
            <a:off x="2949575" y="42576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38"/>
          <p:cNvSpPr/>
          <p:nvPr/>
        </p:nvSpPr>
        <p:spPr>
          <a:xfrm>
            <a:off x="2797175" y="3724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38"/>
          <p:cNvSpPr/>
          <p:nvPr/>
        </p:nvSpPr>
        <p:spPr>
          <a:xfrm>
            <a:off x="3025775" y="35718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38"/>
          <p:cNvSpPr/>
          <p:nvPr/>
        </p:nvSpPr>
        <p:spPr>
          <a:xfrm>
            <a:off x="1958975" y="42576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38"/>
          <p:cNvSpPr/>
          <p:nvPr/>
        </p:nvSpPr>
        <p:spPr>
          <a:xfrm>
            <a:off x="916550" y="4309238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38"/>
          <p:cNvSpPr/>
          <p:nvPr/>
        </p:nvSpPr>
        <p:spPr>
          <a:xfrm>
            <a:off x="5845175" y="44100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38"/>
          <p:cNvSpPr/>
          <p:nvPr/>
        </p:nvSpPr>
        <p:spPr>
          <a:xfrm>
            <a:off x="4930775" y="3876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38"/>
          <p:cNvSpPr/>
          <p:nvPr/>
        </p:nvSpPr>
        <p:spPr>
          <a:xfrm>
            <a:off x="5235575" y="3800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8"/>
          <p:cNvSpPr/>
          <p:nvPr/>
        </p:nvSpPr>
        <p:spPr>
          <a:xfrm>
            <a:off x="5235575" y="41052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8"/>
          <p:cNvSpPr/>
          <p:nvPr/>
        </p:nvSpPr>
        <p:spPr>
          <a:xfrm>
            <a:off x="5464175" y="4257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38"/>
          <p:cNvSpPr/>
          <p:nvPr/>
        </p:nvSpPr>
        <p:spPr>
          <a:xfrm>
            <a:off x="55403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8"/>
          <p:cNvSpPr/>
          <p:nvPr/>
        </p:nvSpPr>
        <p:spPr>
          <a:xfrm>
            <a:off x="5768975" y="4257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8"/>
          <p:cNvSpPr/>
          <p:nvPr/>
        </p:nvSpPr>
        <p:spPr>
          <a:xfrm>
            <a:off x="4854575" y="35718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38"/>
          <p:cNvSpPr/>
          <p:nvPr/>
        </p:nvSpPr>
        <p:spPr>
          <a:xfrm>
            <a:off x="4854575" y="40290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38"/>
          <p:cNvSpPr/>
          <p:nvPr/>
        </p:nvSpPr>
        <p:spPr>
          <a:xfrm>
            <a:off x="59213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38"/>
          <p:cNvSpPr/>
          <p:nvPr/>
        </p:nvSpPr>
        <p:spPr>
          <a:xfrm>
            <a:off x="6226175" y="3876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38"/>
          <p:cNvSpPr/>
          <p:nvPr/>
        </p:nvSpPr>
        <p:spPr>
          <a:xfrm>
            <a:off x="6226175" y="41814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38"/>
          <p:cNvSpPr/>
          <p:nvPr/>
        </p:nvSpPr>
        <p:spPr>
          <a:xfrm>
            <a:off x="64547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8"/>
          <p:cNvSpPr/>
          <p:nvPr/>
        </p:nvSpPr>
        <p:spPr>
          <a:xfrm>
            <a:off x="6530975" y="4029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8"/>
          <p:cNvSpPr/>
          <p:nvPr/>
        </p:nvSpPr>
        <p:spPr>
          <a:xfrm>
            <a:off x="6759575" y="4333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8"/>
          <p:cNvSpPr/>
          <p:nvPr/>
        </p:nvSpPr>
        <p:spPr>
          <a:xfrm>
            <a:off x="6073775" y="37029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38"/>
          <p:cNvSpPr/>
          <p:nvPr/>
        </p:nvSpPr>
        <p:spPr>
          <a:xfrm>
            <a:off x="5845175" y="41052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38"/>
          <p:cNvSpPr/>
          <p:nvPr/>
        </p:nvSpPr>
        <p:spPr>
          <a:xfrm>
            <a:off x="7064375" y="4029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38"/>
          <p:cNvSpPr/>
          <p:nvPr/>
        </p:nvSpPr>
        <p:spPr>
          <a:xfrm>
            <a:off x="7369175" y="39528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38"/>
          <p:cNvSpPr/>
          <p:nvPr/>
        </p:nvSpPr>
        <p:spPr>
          <a:xfrm>
            <a:off x="7369175" y="42576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38"/>
          <p:cNvSpPr/>
          <p:nvPr/>
        </p:nvSpPr>
        <p:spPr>
          <a:xfrm>
            <a:off x="7597775" y="4410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38"/>
          <p:cNvSpPr/>
          <p:nvPr/>
        </p:nvSpPr>
        <p:spPr>
          <a:xfrm>
            <a:off x="7673975" y="41052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38"/>
          <p:cNvSpPr/>
          <p:nvPr/>
        </p:nvSpPr>
        <p:spPr>
          <a:xfrm>
            <a:off x="7902575" y="4410075"/>
            <a:ext cx="196800" cy="208500"/>
          </a:xfrm>
          <a:prstGeom prst="ellipse">
            <a:avLst/>
          </a:prstGeom>
          <a:solidFill>
            <a:srgbClr val="DCE67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8"/>
          <p:cNvSpPr/>
          <p:nvPr/>
        </p:nvSpPr>
        <p:spPr>
          <a:xfrm>
            <a:off x="7978775" y="41814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8"/>
          <p:cNvSpPr/>
          <p:nvPr/>
        </p:nvSpPr>
        <p:spPr>
          <a:xfrm>
            <a:off x="6988175" y="4181475"/>
            <a:ext cx="196800" cy="208500"/>
          </a:xfrm>
          <a:prstGeom prst="ellipse">
            <a:avLst/>
          </a:prstGeom>
          <a:solidFill>
            <a:srgbClr val="5F680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8"/>
          <p:cNvSpPr/>
          <p:nvPr/>
        </p:nvSpPr>
        <p:spPr>
          <a:xfrm>
            <a:off x="62261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38"/>
          <p:cNvSpPr/>
          <p:nvPr/>
        </p:nvSpPr>
        <p:spPr>
          <a:xfrm>
            <a:off x="6530975" y="3724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38"/>
          <p:cNvSpPr/>
          <p:nvPr/>
        </p:nvSpPr>
        <p:spPr>
          <a:xfrm>
            <a:off x="67595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38"/>
          <p:cNvSpPr/>
          <p:nvPr/>
        </p:nvSpPr>
        <p:spPr>
          <a:xfrm>
            <a:off x="66833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8"/>
          <p:cNvSpPr/>
          <p:nvPr/>
        </p:nvSpPr>
        <p:spPr>
          <a:xfrm>
            <a:off x="72929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38"/>
          <p:cNvSpPr/>
          <p:nvPr/>
        </p:nvSpPr>
        <p:spPr>
          <a:xfrm>
            <a:off x="7597775" y="3800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38"/>
          <p:cNvSpPr/>
          <p:nvPr/>
        </p:nvSpPr>
        <p:spPr>
          <a:xfrm>
            <a:off x="78263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38"/>
          <p:cNvSpPr/>
          <p:nvPr/>
        </p:nvSpPr>
        <p:spPr>
          <a:xfrm>
            <a:off x="79787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38"/>
          <p:cNvSpPr/>
          <p:nvPr/>
        </p:nvSpPr>
        <p:spPr>
          <a:xfrm>
            <a:off x="80549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38"/>
          <p:cNvSpPr/>
          <p:nvPr/>
        </p:nvSpPr>
        <p:spPr>
          <a:xfrm>
            <a:off x="73691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8"/>
          <p:cNvSpPr/>
          <p:nvPr/>
        </p:nvSpPr>
        <p:spPr>
          <a:xfrm>
            <a:off x="9683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38"/>
          <p:cNvSpPr/>
          <p:nvPr/>
        </p:nvSpPr>
        <p:spPr>
          <a:xfrm>
            <a:off x="1120775" y="3800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8"/>
          <p:cNvSpPr/>
          <p:nvPr/>
        </p:nvSpPr>
        <p:spPr>
          <a:xfrm>
            <a:off x="14255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38"/>
          <p:cNvSpPr/>
          <p:nvPr/>
        </p:nvSpPr>
        <p:spPr>
          <a:xfrm>
            <a:off x="1349375" y="42576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38"/>
          <p:cNvSpPr/>
          <p:nvPr/>
        </p:nvSpPr>
        <p:spPr>
          <a:xfrm>
            <a:off x="1730375" y="4029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38"/>
          <p:cNvSpPr/>
          <p:nvPr/>
        </p:nvSpPr>
        <p:spPr>
          <a:xfrm>
            <a:off x="1730375" y="3724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38"/>
          <p:cNvSpPr/>
          <p:nvPr/>
        </p:nvSpPr>
        <p:spPr>
          <a:xfrm>
            <a:off x="2035175" y="38766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38"/>
          <p:cNvSpPr/>
          <p:nvPr/>
        </p:nvSpPr>
        <p:spPr>
          <a:xfrm>
            <a:off x="2187575" y="4105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38"/>
          <p:cNvSpPr/>
          <p:nvPr/>
        </p:nvSpPr>
        <p:spPr>
          <a:xfrm>
            <a:off x="21875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38"/>
          <p:cNvSpPr/>
          <p:nvPr/>
        </p:nvSpPr>
        <p:spPr>
          <a:xfrm>
            <a:off x="2339975" y="3800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38"/>
          <p:cNvSpPr/>
          <p:nvPr/>
        </p:nvSpPr>
        <p:spPr>
          <a:xfrm>
            <a:off x="2568575" y="42576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38"/>
          <p:cNvSpPr/>
          <p:nvPr/>
        </p:nvSpPr>
        <p:spPr>
          <a:xfrm>
            <a:off x="3025775" y="3952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38"/>
          <p:cNvSpPr/>
          <p:nvPr/>
        </p:nvSpPr>
        <p:spPr>
          <a:xfrm>
            <a:off x="3482975" y="41814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38"/>
          <p:cNvSpPr/>
          <p:nvPr/>
        </p:nvSpPr>
        <p:spPr>
          <a:xfrm>
            <a:off x="4473575" y="36480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38"/>
          <p:cNvSpPr/>
          <p:nvPr/>
        </p:nvSpPr>
        <p:spPr>
          <a:xfrm>
            <a:off x="5464175" y="35718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38"/>
          <p:cNvSpPr/>
          <p:nvPr/>
        </p:nvSpPr>
        <p:spPr>
          <a:xfrm>
            <a:off x="3559175" y="3724275"/>
            <a:ext cx="196800" cy="208500"/>
          </a:xfrm>
          <a:prstGeom prst="ellipse">
            <a:avLst/>
          </a:prstGeom>
          <a:solidFill>
            <a:srgbClr val="E6B37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84" name="Google Shape;584;p38"/>
          <p:cNvCxnSpPr/>
          <p:nvPr/>
        </p:nvCxnSpPr>
        <p:spPr>
          <a:xfrm rot="10800000">
            <a:off x="6044400" y="827500"/>
            <a:ext cx="545700" cy="2053800"/>
          </a:xfrm>
          <a:prstGeom prst="straightConnector1">
            <a:avLst/>
          </a:prstGeom>
          <a:noFill/>
          <a:ln cap="flat" cmpd="sng" w="28575">
            <a:solidFill>
              <a:srgbClr val="98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585" name="Google Shape;585;p38"/>
          <p:cNvSpPr txBox="1"/>
          <p:nvPr/>
        </p:nvSpPr>
        <p:spPr>
          <a:xfrm>
            <a:off x="5391725" y="193475"/>
            <a:ext cx="1256100" cy="10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600">
                <a:solidFill>
                  <a:srgbClr val="980000"/>
                </a:solidFill>
              </a:rPr>
              <a:t>α</a:t>
            </a:r>
            <a:r>
              <a:rPr b="1" baseline="-25000" lang="en" sz="2600">
                <a:solidFill>
                  <a:srgbClr val="980000"/>
                </a:solidFill>
              </a:rPr>
              <a:t>ii</a:t>
            </a:r>
            <a:r>
              <a:rPr b="1" lang="en" sz="2600">
                <a:solidFill>
                  <a:srgbClr val="980000"/>
                </a:solidFill>
              </a:rPr>
              <a:t> &gt; α</a:t>
            </a:r>
            <a:r>
              <a:rPr b="1" baseline="-25000" lang="en" sz="2600">
                <a:solidFill>
                  <a:srgbClr val="980000"/>
                </a:solidFill>
              </a:rPr>
              <a:t>ji</a:t>
            </a:r>
            <a:endParaRPr b="1" baseline="-25000" sz="26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pic>
        <p:nvPicPr>
          <p:cNvPr id="591" name="Google Shape;591;p39"/>
          <p:cNvPicPr preferRelativeResize="0"/>
          <p:nvPr/>
        </p:nvPicPr>
        <p:blipFill rotWithShape="1">
          <a:blip r:embed="rId3">
            <a:alphaModFix/>
          </a:blip>
          <a:srcRect b="47137" l="17128" r="23951" t="25712"/>
          <a:stretch/>
        </p:blipFill>
        <p:spPr>
          <a:xfrm>
            <a:off x="2561825" y="138175"/>
            <a:ext cx="3393274" cy="8795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pic>
        <p:nvPicPr>
          <p:cNvPr id="597" name="Google Shape;59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168337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8" name="Google Shape;598;p40"/>
          <p:cNvPicPr preferRelativeResize="0"/>
          <p:nvPr/>
        </p:nvPicPr>
        <p:blipFill rotWithShape="1">
          <a:blip r:embed="rId4">
            <a:alphaModFix/>
          </a:blip>
          <a:srcRect b="47137" l="17128" r="23951" t="25712"/>
          <a:stretch/>
        </p:blipFill>
        <p:spPr>
          <a:xfrm>
            <a:off x="2561825" y="138175"/>
            <a:ext cx="3393274" cy="8795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pic>
        <p:nvPicPr>
          <p:cNvPr id="604" name="Google Shape;60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168337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7100" y="46400"/>
            <a:ext cx="2910299" cy="5018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1"/>
          <p:cNvPicPr preferRelativeResize="0"/>
          <p:nvPr/>
        </p:nvPicPr>
        <p:blipFill rotWithShape="1">
          <a:blip r:embed="rId5">
            <a:alphaModFix/>
          </a:blip>
          <a:srcRect b="47137" l="17128" r="23951" t="25712"/>
          <a:stretch/>
        </p:blipFill>
        <p:spPr>
          <a:xfrm>
            <a:off x="2561825" y="138175"/>
            <a:ext cx="3393274" cy="8795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 Effect</a:t>
            </a:r>
            <a:endParaRPr/>
          </a:p>
        </p:txBody>
      </p:sp>
      <p:pic>
        <p:nvPicPr>
          <p:cNvPr id="612" name="Google Shape;612;p42"/>
          <p:cNvPicPr preferRelativeResize="0"/>
          <p:nvPr/>
        </p:nvPicPr>
        <p:blipFill rotWithShape="1">
          <a:blip r:embed="rId3">
            <a:alphaModFix/>
          </a:blip>
          <a:srcRect b="0" l="0" r="46265" t="0"/>
          <a:stretch/>
        </p:blipFill>
        <p:spPr>
          <a:xfrm>
            <a:off x="152400" y="1170125"/>
            <a:ext cx="3560373" cy="38209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13" name="Google Shape;613;p42"/>
          <p:cNvPicPr preferRelativeResize="0"/>
          <p:nvPr/>
        </p:nvPicPr>
        <p:blipFill rotWithShape="1">
          <a:blip r:embed="rId4">
            <a:alphaModFix/>
          </a:blip>
          <a:srcRect b="47137" l="17128" r="23951" t="25712"/>
          <a:stretch/>
        </p:blipFill>
        <p:spPr>
          <a:xfrm>
            <a:off x="2561825" y="138175"/>
            <a:ext cx="3393274" cy="8795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Regime Shifts and Alternative Stable States</a:t>
            </a:r>
            <a:endParaRPr/>
          </a:p>
        </p:txBody>
      </p:sp>
      <p:sp>
        <p:nvSpPr>
          <p:cNvPr id="619" name="Google Shape;619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Stable States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Different communities, same environment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Perturbations may cause a shift from one to the other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Regime Shifts and Alternative Stable States</a:t>
            </a:r>
            <a:endParaRPr/>
          </a:p>
        </p:txBody>
      </p:sp>
      <p:pic>
        <p:nvPicPr>
          <p:cNvPr id="625" name="Google Shape;62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525019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4"/>
          <p:cNvPicPr preferRelativeResize="0"/>
          <p:nvPr/>
        </p:nvPicPr>
        <p:blipFill rotWithShape="1">
          <a:blip r:embed="rId4">
            <a:alphaModFix/>
          </a:blip>
          <a:srcRect b="49473" l="37239" r="19156" t="19789"/>
          <a:stretch/>
        </p:blipFill>
        <p:spPr>
          <a:xfrm>
            <a:off x="6935525" y="0"/>
            <a:ext cx="2208475" cy="8757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Regime Shifts and Alternative Stable States</a:t>
            </a:r>
            <a:endParaRPr/>
          </a:p>
        </p:txBody>
      </p:sp>
      <p:pic>
        <p:nvPicPr>
          <p:cNvPr id="632" name="Google Shape;632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70125"/>
            <a:ext cx="9144000" cy="236456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33" name="Google Shape;633;p45"/>
          <p:cNvPicPr preferRelativeResize="0"/>
          <p:nvPr/>
        </p:nvPicPr>
        <p:blipFill rotWithShape="1">
          <a:blip r:embed="rId4">
            <a:alphaModFix/>
          </a:blip>
          <a:srcRect b="57227" l="20279" r="21581" t="22101"/>
          <a:stretch/>
        </p:blipFill>
        <p:spPr>
          <a:xfrm>
            <a:off x="3827725" y="4080250"/>
            <a:ext cx="5316274" cy="10632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Regime Shifts and Alternative Stable States</a:t>
            </a:r>
            <a:endParaRPr/>
          </a:p>
        </p:txBody>
      </p:sp>
      <p:pic>
        <p:nvPicPr>
          <p:cNvPr id="639" name="Google Shape;63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70125"/>
            <a:ext cx="9144000" cy="36076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0" name="Google Shape;640;p46"/>
          <p:cNvPicPr preferRelativeResize="0"/>
          <p:nvPr/>
        </p:nvPicPr>
        <p:blipFill rotWithShape="1">
          <a:blip r:embed="rId4">
            <a:alphaModFix/>
          </a:blip>
          <a:srcRect b="55286" l="17254" r="41079" t="16827"/>
          <a:stretch/>
        </p:blipFill>
        <p:spPr>
          <a:xfrm>
            <a:off x="6869075" y="14175"/>
            <a:ext cx="2274926" cy="8564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Regime Shifts and Alternative Stable States</a:t>
            </a:r>
            <a:endParaRPr/>
          </a:p>
        </p:txBody>
      </p:sp>
      <p:pic>
        <p:nvPicPr>
          <p:cNvPr id="646" name="Google Shape;646;p47"/>
          <p:cNvPicPr preferRelativeResize="0"/>
          <p:nvPr/>
        </p:nvPicPr>
        <p:blipFill rotWithShape="1">
          <a:blip r:embed="rId3">
            <a:alphaModFix/>
          </a:blip>
          <a:srcRect b="0" l="0" r="72360" t="0"/>
          <a:stretch/>
        </p:blipFill>
        <p:spPr>
          <a:xfrm>
            <a:off x="0" y="1170125"/>
            <a:ext cx="2527450" cy="36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47" name="Google Shape;647;p47"/>
          <p:cNvPicPr preferRelativeResize="0"/>
          <p:nvPr/>
        </p:nvPicPr>
        <p:blipFill rotWithShape="1">
          <a:blip r:embed="rId4">
            <a:alphaModFix/>
          </a:blip>
          <a:srcRect b="55286" l="17254" r="41079" t="16827"/>
          <a:stretch/>
        </p:blipFill>
        <p:spPr>
          <a:xfrm>
            <a:off x="6869075" y="14175"/>
            <a:ext cx="2274926" cy="8564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48" name="Google Shape;648;p47"/>
          <p:cNvSpPr txBox="1"/>
          <p:nvPr/>
        </p:nvSpPr>
        <p:spPr>
          <a:xfrm>
            <a:off x="2992625" y="1388875"/>
            <a:ext cx="5708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 switch from forest to savannah has big implications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Different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Different carbon sequestration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Impacts on global climate models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Regime Shifts and Alternative Stable States</a:t>
            </a:r>
            <a:endParaRPr/>
          </a:p>
        </p:txBody>
      </p:sp>
      <p:sp>
        <p:nvSpPr>
          <p:cNvPr id="654" name="Google Shape;654;p48"/>
          <p:cNvSpPr txBox="1"/>
          <p:nvPr/>
        </p:nvSpPr>
        <p:spPr>
          <a:xfrm>
            <a:off x="600300" y="1211675"/>
            <a:ext cx="5708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Will shifts be gradual or abrupt?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Gradual gives us time to act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Abrupt may leave us scrambling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of change</a:t>
            </a:r>
            <a:endParaRPr/>
          </a:p>
        </p:txBody>
      </p:sp>
      <p:sp>
        <p:nvSpPr>
          <p:cNvPr id="660" name="Google Shape;660;p49"/>
          <p:cNvSpPr txBox="1"/>
          <p:nvPr/>
        </p:nvSpPr>
        <p:spPr>
          <a:xfrm>
            <a:off x="135150" y="1422100"/>
            <a:ext cx="85947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Approach: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When will species be exposed to novel conditions?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Compared species’ historical climates to projected future climates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Asked when species will be exposed to new climates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Novel isn’t necessarily bad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But it does mean we don’t KNOW a species can survive it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High </a:t>
            </a:r>
            <a:r>
              <a:rPr lang="en" sz="1800">
                <a:solidFill>
                  <a:schemeClr val="dk2"/>
                </a:solidFill>
              </a:rPr>
              <a:t>sensitivity</a:t>
            </a:r>
            <a:r>
              <a:rPr lang="en" sz="1800">
                <a:solidFill>
                  <a:schemeClr val="dk2"/>
                </a:solidFill>
              </a:rPr>
              <a:t>, low specificity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Make few assumptions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61" name="Google Shape;661;p49"/>
          <p:cNvPicPr preferRelativeResize="0"/>
          <p:nvPr/>
        </p:nvPicPr>
        <p:blipFill rotWithShape="1">
          <a:blip r:embed="rId3">
            <a:alphaModFix/>
          </a:blip>
          <a:srcRect b="46191" l="34882" r="15865" t="18127"/>
          <a:stretch/>
        </p:blipFill>
        <p:spPr>
          <a:xfrm>
            <a:off x="5654501" y="0"/>
            <a:ext cx="3489499" cy="1422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of change</a:t>
            </a:r>
            <a:endParaRPr/>
          </a:p>
        </p:txBody>
      </p:sp>
      <p:pic>
        <p:nvPicPr>
          <p:cNvPr id="667" name="Google Shape;66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4374" y="0"/>
            <a:ext cx="3749625" cy="51435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8" name="Google Shape;668;p50"/>
          <p:cNvSpPr txBox="1"/>
          <p:nvPr/>
        </p:nvSpPr>
        <p:spPr>
          <a:xfrm>
            <a:off x="135150" y="1422100"/>
            <a:ext cx="4098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Abrupt onsets of exposure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69" name="Google Shape;669;p50"/>
          <p:cNvPicPr preferRelativeResize="0"/>
          <p:nvPr/>
        </p:nvPicPr>
        <p:blipFill rotWithShape="1">
          <a:blip r:embed="rId4">
            <a:alphaModFix/>
          </a:blip>
          <a:srcRect b="46191" l="34882" r="15865" t="18127"/>
          <a:stretch/>
        </p:blipFill>
        <p:spPr>
          <a:xfrm>
            <a:off x="1" y="3721400"/>
            <a:ext cx="3489499" cy="1422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of change</a:t>
            </a:r>
            <a:endParaRPr/>
          </a:p>
        </p:txBody>
      </p:sp>
      <p:sp>
        <p:nvSpPr>
          <p:cNvPr id="675" name="Google Shape;675;p51"/>
          <p:cNvSpPr txBox="1"/>
          <p:nvPr/>
        </p:nvSpPr>
        <p:spPr>
          <a:xfrm>
            <a:off x="135150" y="1422100"/>
            <a:ext cx="4098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Abrupt onsets of exposure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Driven by realized niches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76" name="Google Shape;676;p51"/>
          <p:cNvPicPr preferRelativeResize="0"/>
          <p:nvPr/>
        </p:nvPicPr>
        <p:blipFill rotWithShape="1">
          <a:blip r:embed="rId3">
            <a:alphaModFix/>
          </a:blip>
          <a:srcRect b="46191" l="34882" r="15865" t="18127"/>
          <a:stretch/>
        </p:blipFill>
        <p:spPr>
          <a:xfrm>
            <a:off x="1" y="3721400"/>
            <a:ext cx="3489499" cy="1422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77" name="Google Shape;677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38923" y="46075"/>
            <a:ext cx="5105076" cy="504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of change</a:t>
            </a:r>
            <a:endParaRPr/>
          </a:p>
        </p:txBody>
      </p:sp>
      <p:grpSp>
        <p:nvGrpSpPr>
          <p:cNvPr id="683" name="Google Shape;683;p52"/>
          <p:cNvGrpSpPr/>
          <p:nvPr/>
        </p:nvGrpSpPr>
        <p:grpSpPr>
          <a:xfrm>
            <a:off x="844934" y="1555142"/>
            <a:ext cx="6245572" cy="2702484"/>
            <a:chOff x="844375" y="1946400"/>
            <a:chExt cx="3213900" cy="1767600"/>
          </a:xfrm>
        </p:grpSpPr>
        <p:cxnSp>
          <p:nvCxnSpPr>
            <p:cNvPr id="684" name="Google Shape;684;p52"/>
            <p:cNvCxnSpPr/>
            <p:nvPr/>
          </p:nvCxnSpPr>
          <p:spPr>
            <a:xfrm>
              <a:off x="844375" y="1946400"/>
              <a:ext cx="0" cy="17640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5" name="Google Shape;685;p52"/>
            <p:cNvCxnSpPr/>
            <p:nvPr/>
          </p:nvCxnSpPr>
          <p:spPr>
            <a:xfrm flipH="1">
              <a:off x="844375" y="3710400"/>
              <a:ext cx="3213900" cy="3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686" name="Google Shape;686;p52"/>
          <p:cNvSpPr txBox="1"/>
          <p:nvPr/>
        </p:nvSpPr>
        <p:spPr>
          <a:xfrm>
            <a:off x="2648250" y="4311325"/>
            <a:ext cx="280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Realized thermal niche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87" name="Google Shape;687;p52"/>
          <p:cNvSpPr txBox="1"/>
          <p:nvPr/>
        </p:nvSpPr>
        <p:spPr>
          <a:xfrm rot="-5400000">
            <a:off x="-647700" y="2818675"/>
            <a:ext cx="252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Density of Grid cells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88" name="Google Shape;688;p52"/>
          <p:cNvSpPr txBox="1"/>
          <p:nvPr/>
        </p:nvSpPr>
        <p:spPr>
          <a:xfrm>
            <a:off x="6676500" y="4344550"/>
            <a:ext cx="9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hot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89" name="Google Shape;689;p52"/>
          <p:cNvSpPr txBox="1"/>
          <p:nvPr/>
        </p:nvSpPr>
        <p:spPr>
          <a:xfrm>
            <a:off x="844950" y="4344550"/>
            <a:ext cx="9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cold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90" name="Google Shape;690;p52"/>
          <p:cNvSpPr/>
          <p:nvPr/>
        </p:nvSpPr>
        <p:spPr>
          <a:xfrm>
            <a:off x="888250" y="2153100"/>
            <a:ext cx="6091619" cy="1990664"/>
          </a:xfrm>
          <a:custGeom>
            <a:rect b="b" l="l" r="r" t="t"/>
            <a:pathLst>
              <a:path extrusionOk="0" h="76564" w="228600">
                <a:moveTo>
                  <a:pt x="0" y="75794"/>
                </a:moveTo>
                <a:cubicBezTo>
                  <a:pt x="24809" y="74613"/>
                  <a:pt x="112823" y="81331"/>
                  <a:pt x="148856" y="68705"/>
                </a:cubicBezTo>
                <a:cubicBezTo>
                  <a:pt x="184889" y="56079"/>
                  <a:pt x="202905" y="-554"/>
                  <a:pt x="216196" y="37"/>
                </a:cubicBezTo>
                <a:cubicBezTo>
                  <a:pt x="229487" y="628"/>
                  <a:pt x="226533" y="60215"/>
                  <a:pt x="228600" y="72250"/>
                </a:cubicBezTo>
              </a:path>
            </a:pathLst>
          </a:custGeom>
          <a:noFill/>
          <a:ln cap="flat" cmpd="sng" w="38100">
            <a:solidFill>
              <a:srgbClr val="B45F06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691" name="Google Shape;691;p52"/>
          <p:cNvSpPr txBox="1"/>
          <p:nvPr/>
        </p:nvSpPr>
        <p:spPr>
          <a:xfrm>
            <a:off x="3812225" y="500525"/>
            <a:ext cx="420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Note: x-axis is reversed from previous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of change</a:t>
            </a:r>
            <a:endParaRPr/>
          </a:p>
        </p:txBody>
      </p:sp>
      <p:grpSp>
        <p:nvGrpSpPr>
          <p:cNvPr id="697" name="Google Shape;697;p53"/>
          <p:cNvGrpSpPr/>
          <p:nvPr/>
        </p:nvGrpSpPr>
        <p:grpSpPr>
          <a:xfrm>
            <a:off x="844934" y="1555142"/>
            <a:ext cx="6245572" cy="2702484"/>
            <a:chOff x="844375" y="1946400"/>
            <a:chExt cx="3213900" cy="1767600"/>
          </a:xfrm>
        </p:grpSpPr>
        <p:cxnSp>
          <p:nvCxnSpPr>
            <p:cNvPr id="698" name="Google Shape;698;p53"/>
            <p:cNvCxnSpPr/>
            <p:nvPr/>
          </p:nvCxnSpPr>
          <p:spPr>
            <a:xfrm>
              <a:off x="844375" y="1946400"/>
              <a:ext cx="0" cy="17640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9" name="Google Shape;699;p53"/>
            <p:cNvCxnSpPr/>
            <p:nvPr/>
          </p:nvCxnSpPr>
          <p:spPr>
            <a:xfrm flipH="1">
              <a:off x="844375" y="3710400"/>
              <a:ext cx="3213900" cy="3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00" name="Google Shape;700;p53"/>
          <p:cNvSpPr txBox="1"/>
          <p:nvPr/>
        </p:nvSpPr>
        <p:spPr>
          <a:xfrm>
            <a:off x="2648250" y="4311325"/>
            <a:ext cx="280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Realized thermal niche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01" name="Google Shape;701;p53"/>
          <p:cNvSpPr txBox="1"/>
          <p:nvPr/>
        </p:nvSpPr>
        <p:spPr>
          <a:xfrm rot="-5400000">
            <a:off x="-647700" y="2818675"/>
            <a:ext cx="252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Density of Grid cells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02" name="Google Shape;702;p53"/>
          <p:cNvSpPr txBox="1"/>
          <p:nvPr/>
        </p:nvSpPr>
        <p:spPr>
          <a:xfrm>
            <a:off x="6676500" y="4344550"/>
            <a:ext cx="9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hot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03" name="Google Shape;703;p53"/>
          <p:cNvSpPr txBox="1"/>
          <p:nvPr/>
        </p:nvSpPr>
        <p:spPr>
          <a:xfrm>
            <a:off x="844950" y="4344550"/>
            <a:ext cx="956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cold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04" name="Google Shape;704;p53"/>
          <p:cNvSpPr/>
          <p:nvPr/>
        </p:nvSpPr>
        <p:spPr>
          <a:xfrm>
            <a:off x="888250" y="2153100"/>
            <a:ext cx="6091619" cy="1990664"/>
          </a:xfrm>
          <a:custGeom>
            <a:rect b="b" l="l" r="r" t="t"/>
            <a:pathLst>
              <a:path extrusionOk="0" h="76564" w="228600">
                <a:moveTo>
                  <a:pt x="0" y="75794"/>
                </a:moveTo>
                <a:cubicBezTo>
                  <a:pt x="24809" y="74613"/>
                  <a:pt x="112823" y="81331"/>
                  <a:pt x="148856" y="68705"/>
                </a:cubicBezTo>
                <a:cubicBezTo>
                  <a:pt x="184889" y="56079"/>
                  <a:pt x="202905" y="-554"/>
                  <a:pt x="216196" y="37"/>
                </a:cubicBezTo>
                <a:cubicBezTo>
                  <a:pt x="229487" y="628"/>
                  <a:pt x="226533" y="60215"/>
                  <a:pt x="228600" y="72250"/>
                </a:cubicBezTo>
              </a:path>
            </a:pathLst>
          </a:custGeom>
          <a:noFill/>
          <a:ln cap="flat" cmpd="sng" w="38100">
            <a:solidFill>
              <a:srgbClr val="B45F06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705" name="Google Shape;705;p53"/>
          <p:cNvCxnSpPr/>
          <p:nvPr/>
        </p:nvCxnSpPr>
        <p:spPr>
          <a:xfrm>
            <a:off x="6300225" y="3105600"/>
            <a:ext cx="963600" cy="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6" name="Google Shape;706;p53"/>
          <p:cNvSpPr txBox="1"/>
          <p:nvPr/>
        </p:nvSpPr>
        <p:spPr>
          <a:xfrm>
            <a:off x="888250" y="1909450"/>
            <a:ext cx="5708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-Most species are biased towards the warm end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-Warm end has abrupt limit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-Minor shift pushes into novel climate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of change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5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Relatively slow increases in climate may cause sudden risks to species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Need ways of identifying when exposure to new climate is a risk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 2023 and 2024, many species were exposed to novel temperatures</a:t>
            </a:r>
            <a:endParaRPr/>
          </a:p>
          <a:p>
            <a:pPr indent="-317500" lvl="1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Need to understand which species were impacted and which weren’t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ideas</a:t>
            </a:r>
            <a:endParaRPr/>
          </a:p>
        </p:txBody>
      </p:sp>
      <p:sp>
        <p:nvSpPr>
          <p:cNvPr id="718" name="Google Shape;718;p5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Succession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Intermediate disturbance hypothesis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Temporal variation and coexistence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Alternative Stable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Slow change but rapid exposure to new conditions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Students present something!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