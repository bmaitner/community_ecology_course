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3cbe2306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3cbe2306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3cbe2306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3cbe2306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3cbe2306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3cbe2306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3cbe2306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3cbe2306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3cbe2306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3cbe2306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3cbe2306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33cbe2306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3cbe2306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33cbe2306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3cbe2306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3cbe2306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3cbe2306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3cbe2306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3cbe2306d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3cbe2306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3cbe2306d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3cbe2306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3cbe2306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33cbe2306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s-shaped curve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3cbe2306d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33cbe2306d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3cbe2306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33cbe2306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33cbe2306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33cbe2306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3cbe2306d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33cbe2306d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33cbe2306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33cbe2306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33cbe2306d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33cbe2306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3cbe2306d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33cbe2306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33cbe2306d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33cbe2306d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3cbe2306d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33cbe2306d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3cbe2306d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33cbe2306d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33cbe2306d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33cbe2306d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33cbe2306d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33cbe2306d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33cbe2306d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33cbe2306d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33cbe2306d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33cbe2306d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33cbe2306d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33cbe2306d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33cbe2306d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33cbe2306d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33cbe2306d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33cbe2306d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33cbe2306d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33cbe2306d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33cbe2306d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33cbe2306d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33cbe2306d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33cbe2306d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33cbe2306d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33cbe2306d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33cbe2306d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33cbe2306d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33cbe2306d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33cbe2306d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33cbe2306d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33cbe2306d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33cbe2306d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33cbe2306d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33cbe2306d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33cbe2306d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33cbe2306d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33cbe2306d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33cbe2306d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33cbe2306d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33cbe2306d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33cbe2306d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33cbe2306d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33cbe2306d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33cbe2306d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33cbe2306d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33cbe2306d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33cbe2306d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33cbe2306d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33cbe2306d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Larger sea urchins = more impact, less risk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33cbe2306d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33cbe2306d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Larger sea urchins = more impact, less risk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33cbe2306d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33cbe2306d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Larger sea urchins = more impact, less risk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33cbe2306d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33cbe2306d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Larger sea urchins = more impact, less risk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Predator-Prey Interactions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Quiz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Predator-Prey Interactions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We’re going to start by focusing on one-predator, one-prey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(note this is relatively </a:t>
            </a:r>
            <a:r>
              <a:rPr lang="en"/>
              <a:t>rare</a:t>
            </a:r>
            <a:r>
              <a:rPr lang="en"/>
              <a:t> in nature)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way of quantifying predation is with the feedinging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	Feeding rate = # prey </a:t>
            </a:r>
            <a:r>
              <a:rPr lang="en"/>
              <a:t>eaten per unit time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way of quantifying predation is with the feedinging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	Feeding rate = # prey eaten per unit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might imagine this as something like: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	Feeding rate = aN</a:t>
            </a:r>
            <a:endParaRPr b="1"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= attack rate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N= # prey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I functional response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358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Feeding rate = aN</a:t>
            </a:r>
            <a:endParaRPr b="1"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= attack rate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N= # prey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1" y="198900"/>
            <a:ext cx="4477126" cy="4320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I functional response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358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Feeding rate = aN</a:t>
            </a:r>
            <a:endParaRPr b="1"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= attack rate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N= # prey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 realistic in most scenarios!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1" y="198900"/>
            <a:ext cx="4477126" cy="4320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II Functional Response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634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Predators can only eat so quickly!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Feeding rate = 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= attack rate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 = # prey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/>
        </p:nvSpPr>
        <p:spPr>
          <a:xfrm>
            <a:off x="2747175" y="1797750"/>
            <a:ext cx="47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II Functional Response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634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Predators can only eat so quickly!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Feeding rate = 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= attack rate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 = # prey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 = handling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/>
        </p:nvSpPr>
        <p:spPr>
          <a:xfrm>
            <a:off x="2747175" y="1797750"/>
            <a:ext cx="47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aN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2" name="Google Shape;102;p20"/>
          <p:cNvCxnSpPr/>
          <p:nvPr/>
        </p:nvCxnSpPr>
        <p:spPr>
          <a:xfrm>
            <a:off x="2568775" y="2303175"/>
            <a:ext cx="1070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20"/>
          <p:cNvSpPr txBox="1"/>
          <p:nvPr/>
        </p:nvSpPr>
        <p:spPr>
          <a:xfrm>
            <a:off x="2568775" y="2331150"/>
            <a:ext cx="99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+ ahN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II Functional Response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634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Predators can only eat so quickly!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Feeding rate = 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= attack rate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 = # prey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 = handling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/>
        </p:nvSpPr>
        <p:spPr>
          <a:xfrm>
            <a:off x="2747175" y="1797750"/>
            <a:ext cx="47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aN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1" name="Google Shape;111;p21"/>
          <p:cNvCxnSpPr/>
          <p:nvPr/>
        </p:nvCxnSpPr>
        <p:spPr>
          <a:xfrm>
            <a:off x="2568775" y="2303175"/>
            <a:ext cx="1070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21"/>
          <p:cNvSpPr txBox="1"/>
          <p:nvPr/>
        </p:nvSpPr>
        <p:spPr>
          <a:xfrm>
            <a:off x="2568775" y="2331150"/>
            <a:ext cx="99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+ ahN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5" y="959525"/>
            <a:ext cx="4027671" cy="388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II Functional Response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634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Predators can only eat so quickly!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Feeding rate = 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= attack rate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 = # prey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 = handling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 txBox="1"/>
          <p:nvPr/>
        </p:nvSpPr>
        <p:spPr>
          <a:xfrm>
            <a:off x="2747175" y="1797750"/>
            <a:ext cx="47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aN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21" name="Google Shape;121;p22"/>
          <p:cNvCxnSpPr/>
          <p:nvPr/>
        </p:nvCxnSpPr>
        <p:spPr>
          <a:xfrm>
            <a:off x="2568775" y="2303175"/>
            <a:ext cx="1070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22"/>
          <p:cNvSpPr txBox="1"/>
          <p:nvPr/>
        </p:nvSpPr>
        <p:spPr>
          <a:xfrm>
            <a:off x="2568775" y="2331150"/>
            <a:ext cx="99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+ ahN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5" y="959525"/>
            <a:ext cx="4027671" cy="388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2"/>
          <p:cNvSpPr txBox="1"/>
          <p:nvPr/>
        </p:nvSpPr>
        <p:spPr>
          <a:xfrm>
            <a:off x="6077050" y="202175"/>
            <a:ext cx="30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Maximum feeding rate is 1/h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25" name="Google Shape;125;p22"/>
          <p:cNvCxnSpPr/>
          <p:nvPr/>
        </p:nvCxnSpPr>
        <p:spPr>
          <a:xfrm>
            <a:off x="8088875" y="667950"/>
            <a:ext cx="237900" cy="45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III Functional Response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634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… but what if predators ignore prey at low densities?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Feeding rate = 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 = # prey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 = 1/handling time = max. </a:t>
            </a:r>
            <a:r>
              <a:rPr lang="en"/>
              <a:t>f</a:t>
            </a:r>
            <a:r>
              <a:rPr lang="en"/>
              <a:t>eeding rate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 = 1/attack rate * handling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 txBox="1"/>
          <p:nvPr/>
        </p:nvSpPr>
        <p:spPr>
          <a:xfrm>
            <a:off x="2747175" y="1797750"/>
            <a:ext cx="68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30000" lang="en" sz="1800">
                <a:solidFill>
                  <a:schemeClr val="dk2"/>
                </a:solidFill>
              </a:rPr>
              <a:t>2</a:t>
            </a:r>
            <a:endParaRPr baseline="30000" sz="1800">
              <a:solidFill>
                <a:schemeClr val="dk2"/>
              </a:solidFill>
            </a:endParaRPr>
          </a:p>
        </p:txBody>
      </p:sp>
      <p:cxnSp>
        <p:nvCxnSpPr>
          <p:cNvPr id="133" name="Google Shape;133;p23"/>
          <p:cNvCxnSpPr/>
          <p:nvPr/>
        </p:nvCxnSpPr>
        <p:spPr>
          <a:xfrm>
            <a:off x="2568775" y="2303175"/>
            <a:ext cx="1070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23"/>
          <p:cNvSpPr txBox="1"/>
          <p:nvPr/>
        </p:nvSpPr>
        <p:spPr>
          <a:xfrm>
            <a:off x="2568775" y="2331150"/>
            <a:ext cx="99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30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+ N</a:t>
            </a:r>
            <a:r>
              <a:rPr baseline="30000" lang="en" sz="1800">
                <a:solidFill>
                  <a:schemeClr val="dk2"/>
                </a:solidFill>
              </a:rPr>
              <a:t>2</a:t>
            </a:r>
            <a:endParaRPr baseline="30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III Functional Response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634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 but what if predators ignore prey at low densities?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Feeding rate = 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 = # prey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 = 1/handling time = max. feeding rate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 = 1/attack rate * handling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 txBox="1"/>
          <p:nvPr/>
        </p:nvSpPr>
        <p:spPr>
          <a:xfrm>
            <a:off x="2747175" y="1797750"/>
            <a:ext cx="68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cN</a:t>
            </a:r>
            <a:r>
              <a:rPr baseline="30000" lang="en" sz="1800">
                <a:solidFill>
                  <a:schemeClr val="dk2"/>
                </a:solidFill>
              </a:rPr>
              <a:t>2</a:t>
            </a:r>
            <a:endParaRPr baseline="30000" sz="1800">
              <a:solidFill>
                <a:schemeClr val="dk2"/>
              </a:solidFill>
            </a:endParaRPr>
          </a:p>
        </p:txBody>
      </p:sp>
      <p:cxnSp>
        <p:nvCxnSpPr>
          <p:cNvPr id="142" name="Google Shape;142;p24"/>
          <p:cNvCxnSpPr/>
          <p:nvPr/>
        </p:nvCxnSpPr>
        <p:spPr>
          <a:xfrm>
            <a:off x="2568775" y="2303175"/>
            <a:ext cx="1070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24"/>
          <p:cNvSpPr txBox="1"/>
          <p:nvPr/>
        </p:nvSpPr>
        <p:spPr>
          <a:xfrm>
            <a:off x="2568775" y="2331150"/>
            <a:ext cx="99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30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+ N</a:t>
            </a:r>
            <a:r>
              <a:rPr baseline="30000" lang="en" sz="1800">
                <a:solidFill>
                  <a:schemeClr val="dk2"/>
                </a:solidFill>
              </a:rPr>
              <a:t>2</a:t>
            </a:r>
            <a:endParaRPr baseline="30000" sz="1800">
              <a:solidFill>
                <a:schemeClr val="dk2"/>
              </a:solidFill>
            </a:endParaRPr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1950" y="1462875"/>
            <a:ext cx="3688675" cy="35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III Functional Response</a:t>
            </a:r>
            <a:endParaRPr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152475"/>
            <a:ext cx="634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 but what if predators ignore prey at low densities?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Feeding rate = 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 = # prey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 = 1/handling time = max. feeding rate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 = 1/attack rate * handling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747175" y="1797750"/>
            <a:ext cx="68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cN</a:t>
            </a:r>
            <a:r>
              <a:rPr baseline="30000" lang="en" sz="1800">
                <a:solidFill>
                  <a:schemeClr val="dk2"/>
                </a:solidFill>
              </a:rPr>
              <a:t>2</a:t>
            </a:r>
            <a:endParaRPr baseline="30000" sz="1800">
              <a:solidFill>
                <a:schemeClr val="dk2"/>
              </a:solidFill>
            </a:endParaRPr>
          </a:p>
        </p:txBody>
      </p:sp>
      <p:cxnSp>
        <p:nvCxnSpPr>
          <p:cNvPr id="152" name="Google Shape;152;p25"/>
          <p:cNvCxnSpPr/>
          <p:nvPr/>
        </p:nvCxnSpPr>
        <p:spPr>
          <a:xfrm>
            <a:off x="2568775" y="2303175"/>
            <a:ext cx="1070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p25"/>
          <p:cNvSpPr txBox="1"/>
          <p:nvPr/>
        </p:nvSpPr>
        <p:spPr>
          <a:xfrm>
            <a:off x="2568775" y="2331150"/>
            <a:ext cx="99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30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+ N</a:t>
            </a:r>
            <a:r>
              <a:rPr baseline="30000" lang="en" sz="1800">
                <a:solidFill>
                  <a:schemeClr val="dk2"/>
                </a:solidFill>
              </a:rPr>
              <a:t>2</a:t>
            </a:r>
            <a:endParaRPr baseline="30000" sz="1800">
              <a:solidFill>
                <a:schemeClr val="dk2"/>
              </a:solidFill>
            </a:endParaRPr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1950" y="1462875"/>
            <a:ext cx="3688675" cy="35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5"/>
          <p:cNvSpPr txBox="1"/>
          <p:nvPr/>
        </p:nvSpPr>
        <p:spPr>
          <a:xfrm>
            <a:off x="6077050" y="583175"/>
            <a:ext cx="30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Maximum feeding rate is 1/h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56" name="Google Shape;156;p25"/>
          <p:cNvCxnSpPr/>
          <p:nvPr/>
        </p:nvCxnSpPr>
        <p:spPr>
          <a:xfrm>
            <a:off x="8088875" y="1048950"/>
            <a:ext cx="237900" cy="45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Lotka-Volterra</a:t>
            </a:r>
            <a:endParaRPr/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We’ve </a:t>
            </a:r>
            <a:r>
              <a:rPr lang="en"/>
              <a:t>covered</a:t>
            </a:r>
            <a:r>
              <a:rPr lang="en"/>
              <a:t> different ways that prey density impacts consumption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BUT we haven’t yet talked about how the </a:t>
            </a:r>
            <a:r>
              <a:rPr lang="en"/>
              <a:t>populations</a:t>
            </a:r>
            <a:r>
              <a:rPr lang="en"/>
              <a:t> are impacted by this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Lotka-Volterra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We’ve covered different ways that prey density impacts consumption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BUT we haven’t yet talked about how the populations are impacted by this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Lotka-Volterra model is a simple model of predation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Good starting point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Lotka-Volterra</a:t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152475"/>
            <a:ext cx="365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dN/dt = rN − aNP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 = number prey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= number of predator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 = prey per-capita growth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a= predator per-capita attack rate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Lotka-Volterra</a:t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311700" y="1152475"/>
            <a:ext cx="365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dN/dt = rN − aNP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 = number prey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= number of predator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 = prey per-capita growth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a= predator per-capita attack rate</a:t>
            </a:r>
            <a:endParaRPr/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4121700" y="1152475"/>
            <a:ext cx="365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dP/dt = faNP - qP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</a:t>
            </a:r>
            <a:r>
              <a:rPr lang="en"/>
              <a:t> = predator efficiency of converting prey to more predators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q</a:t>
            </a:r>
            <a:r>
              <a:rPr lang="en"/>
              <a:t> = predator per-capita mortality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Lotka-Volterra</a:t>
            </a:r>
            <a:endParaRPr/>
          </a:p>
        </p:txBody>
      </p:sp>
      <p:pic>
        <p:nvPicPr>
          <p:cNvPr id="187" name="Google Shape;1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Lotka-Volterra</a:t>
            </a:r>
            <a:endParaRPr/>
          </a:p>
        </p:txBody>
      </p:sp>
      <p:pic>
        <p:nvPicPr>
          <p:cNvPr id="193" name="Google Shape;1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4217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Lotka-Volterra</a:t>
            </a:r>
            <a:endParaRPr/>
          </a:p>
        </p:txBody>
      </p:sp>
      <p:sp>
        <p:nvSpPr>
          <p:cNvPr id="200" name="Google Shape;200;p32"/>
          <p:cNvSpPr txBox="1"/>
          <p:nvPr/>
        </p:nvSpPr>
        <p:spPr>
          <a:xfrm>
            <a:off x="646150" y="1381500"/>
            <a:ext cx="6332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Oscillations of predator and prey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Oscillations can increase or decrease over time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Can also have stable oscillations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Can easily get one species going to (or below) zero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Lotka-Volterra</a:t>
            </a:r>
            <a:endParaRPr/>
          </a:p>
        </p:txBody>
      </p:sp>
      <p:sp>
        <p:nvSpPr>
          <p:cNvPr id="206" name="Google Shape;206;p33"/>
          <p:cNvSpPr txBox="1"/>
          <p:nvPr/>
        </p:nvSpPr>
        <p:spPr>
          <a:xfrm>
            <a:off x="646150" y="1381500"/>
            <a:ext cx="5708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Very basic model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Ignores self-limitation by prey or predator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Type I functional response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Lotka-Volterra</a:t>
            </a:r>
            <a:endParaRPr/>
          </a:p>
        </p:txBody>
      </p:sp>
      <p:sp>
        <p:nvSpPr>
          <p:cNvPr id="212" name="Google Shape;212;p34"/>
          <p:cNvSpPr txBox="1"/>
          <p:nvPr/>
        </p:nvSpPr>
        <p:spPr>
          <a:xfrm>
            <a:off x="646150" y="1381500"/>
            <a:ext cx="5708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Very basic model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Ignores self-limitation by prey or predator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Type I functional response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Can modify by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adding in prey density dependence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Using a Type II predator response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>
            <p:ph idx="1" type="body"/>
          </p:nvPr>
        </p:nvSpPr>
        <p:spPr>
          <a:xfrm>
            <a:off x="4121700" y="1152475"/>
            <a:ext cx="365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dP/dt =    faNP      - qP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 = predator efficiency of converting prey to more predators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 = predator per-capita mortality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90000"/>
                </a:solidFill>
              </a:rPr>
              <a:t>h</a:t>
            </a:r>
            <a:r>
              <a:rPr lang="en">
                <a:solidFill>
                  <a:srgbClr val="990000"/>
                </a:solidFill>
              </a:rPr>
              <a:t> = handling time</a:t>
            </a:r>
            <a:endParaRPr>
              <a:solidFill>
                <a:srgbClr val="990000"/>
              </a:solidFill>
            </a:endParaRPr>
          </a:p>
        </p:txBody>
      </p:sp>
      <p:sp>
        <p:nvSpPr>
          <p:cNvPr id="218" name="Google Shape;218;p35"/>
          <p:cNvSpPr txBox="1"/>
          <p:nvPr/>
        </p:nvSpPr>
        <p:spPr>
          <a:xfrm>
            <a:off x="4937325" y="1450900"/>
            <a:ext cx="11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0000"/>
                </a:solidFill>
              </a:rPr>
              <a:t>1 + ahN</a:t>
            </a:r>
            <a:endParaRPr b="1" sz="1800">
              <a:solidFill>
                <a:srgbClr val="990000"/>
              </a:solidFill>
            </a:endParaRPr>
          </a:p>
        </p:txBody>
      </p:sp>
      <p:sp>
        <p:nvSpPr>
          <p:cNvPr id="219" name="Google Shape;21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Rosenzweig-MacArthur</a:t>
            </a:r>
            <a:endParaRPr/>
          </a:p>
        </p:txBody>
      </p:sp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311700" y="1152475"/>
            <a:ext cx="365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dN/dt = rN</a:t>
            </a:r>
            <a:r>
              <a:rPr b="1" lang="en">
                <a:solidFill>
                  <a:srgbClr val="980000"/>
                </a:solidFill>
              </a:rPr>
              <a:t>(1- (N/k) )</a:t>
            </a:r>
            <a:r>
              <a:rPr b="1" lang="en"/>
              <a:t> − aNP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 = number prey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= number of predator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 = prey per-capita growth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a= predator per-capita attack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90000"/>
                </a:solidFill>
              </a:rPr>
              <a:t>k= carrying capacity</a:t>
            </a:r>
            <a:endParaRPr>
              <a:solidFill>
                <a:srgbClr val="990000"/>
              </a:solidFill>
            </a:endParaRPr>
          </a:p>
        </p:txBody>
      </p:sp>
      <p:cxnSp>
        <p:nvCxnSpPr>
          <p:cNvPr id="221" name="Google Shape;221;p35"/>
          <p:cNvCxnSpPr/>
          <p:nvPr/>
        </p:nvCxnSpPr>
        <p:spPr>
          <a:xfrm>
            <a:off x="5036475" y="1500425"/>
            <a:ext cx="941400" cy="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idx="1" type="body"/>
          </p:nvPr>
        </p:nvSpPr>
        <p:spPr>
          <a:xfrm>
            <a:off x="4121700" y="1152475"/>
            <a:ext cx="365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dP/dt =    faNP      - qP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990000"/>
              </a:solidFill>
            </a:endParaRPr>
          </a:p>
        </p:txBody>
      </p:sp>
      <p:sp>
        <p:nvSpPr>
          <p:cNvPr id="227" name="Google Shape;227;p36"/>
          <p:cNvSpPr txBox="1"/>
          <p:nvPr/>
        </p:nvSpPr>
        <p:spPr>
          <a:xfrm>
            <a:off x="4937325" y="1450900"/>
            <a:ext cx="11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0000"/>
                </a:solidFill>
              </a:rPr>
              <a:t>1 + ahN</a:t>
            </a:r>
            <a:endParaRPr b="1" sz="1800">
              <a:solidFill>
                <a:srgbClr val="990000"/>
              </a:solidFill>
            </a:endParaRPr>
          </a:p>
        </p:txBody>
      </p:sp>
      <p:sp>
        <p:nvSpPr>
          <p:cNvPr id="228" name="Google Shape;22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Rosenzweig-MacArthur</a:t>
            </a:r>
            <a:endParaRPr/>
          </a:p>
        </p:txBody>
      </p:sp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311700" y="1152475"/>
            <a:ext cx="365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dN/dt = rN</a:t>
            </a:r>
            <a:r>
              <a:rPr b="1" lang="en">
                <a:solidFill>
                  <a:srgbClr val="980000"/>
                </a:solidFill>
              </a:rPr>
              <a:t>(1- (N/k) )</a:t>
            </a:r>
            <a:r>
              <a:rPr b="1" lang="en"/>
              <a:t> − aNP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990000"/>
              </a:solidFill>
            </a:endParaRPr>
          </a:p>
        </p:txBody>
      </p:sp>
      <p:cxnSp>
        <p:nvCxnSpPr>
          <p:cNvPr id="230" name="Google Shape;230;p36"/>
          <p:cNvCxnSpPr/>
          <p:nvPr/>
        </p:nvCxnSpPr>
        <p:spPr>
          <a:xfrm>
            <a:off x="5036475" y="1500425"/>
            <a:ext cx="941400" cy="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1" name="Google Shape;23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746" y="1912600"/>
            <a:ext cx="3347956" cy="323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3275" y="1912600"/>
            <a:ext cx="3347950" cy="3230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idx="1" type="body"/>
          </p:nvPr>
        </p:nvSpPr>
        <p:spPr>
          <a:xfrm>
            <a:off x="4121700" y="1152475"/>
            <a:ext cx="365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dP/dt =    faNP      - qP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990000"/>
              </a:solidFill>
            </a:endParaRPr>
          </a:p>
        </p:txBody>
      </p:sp>
      <p:sp>
        <p:nvSpPr>
          <p:cNvPr id="238" name="Google Shape;238;p37"/>
          <p:cNvSpPr txBox="1"/>
          <p:nvPr/>
        </p:nvSpPr>
        <p:spPr>
          <a:xfrm>
            <a:off x="4937325" y="1450900"/>
            <a:ext cx="11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0000"/>
                </a:solidFill>
              </a:rPr>
              <a:t>1 + ahN</a:t>
            </a:r>
            <a:endParaRPr b="1" sz="1800">
              <a:solidFill>
                <a:srgbClr val="990000"/>
              </a:solidFill>
            </a:endParaRPr>
          </a:p>
        </p:txBody>
      </p:sp>
      <p:sp>
        <p:nvSpPr>
          <p:cNvPr id="239" name="Google Shape;23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Rosenzweig-MacArthur</a:t>
            </a:r>
            <a:endParaRPr/>
          </a:p>
        </p:txBody>
      </p:sp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311700" y="1152475"/>
            <a:ext cx="365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dN/dt = rN</a:t>
            </a:r>
            <a:r>
              <a:rPr b="1" lang="en">
                <a:solidFill>
                  <a:srgbClr val="980000"/>
                </a:solidFill>
              </a:rPr>
              <a:t>(1- (N/k) )</a:t>
            </a:r>
            <a:r>
              <a:rPr b="1" lang="en"/>
              <a:t> − aNP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990000"/>
              </a:solidFill>
            </a:endParaRPr>
          </a:p>
        </p:txBody>
      </p:sp>
      <p:cxnSp>
        <p:nvCxnSpPr>
          <p:cNvPr id="241" name="Google Shape;241;p37"/>
          <p:cNvCxnSpPr/>
          <p:nvPr/>
        </p:nvCxnSpPr>
        <p:spPr>
          <a:xfrm>
            <a:off x="5036475" y="1500425"/>
            <a:ext cx="941400" cy="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37"/>
          <p:cNvSpPr txBox="1"/>
          <p:nvPr/>
        </p:nvSpPr>
        <p:spPr>
          <a:xfrm>
            <a:off x="556975" y="2114875"/>
            <a:ext cx="721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By adding in a bit more realism, coexistence is easier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</a:t>
            </a:r>
            <a:r>
              <a:rPr lang="en"/>
              <a:t>modifications</a:t>
            </a:r>
            <a:r>
              <a:rPr lang="en"/>
              <a:t> to Lotka-Volterra</a:t>
            </a:r>
            <a:endParaRPr/>
          </a:p>
        </p:txBody>
      </p:sp>
      <p:sp>
        <p:nvSpPr>
          <p:cNvPr id="248" name="Google Shape;24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LV is based on predator-prey interactions, but can be modified!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Herbivory</a:t>
            </a:r>
            <a:endParaRPr b="1"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Whole individuals aren’t eaten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Model is re-framed in terms of biomass rather than individuals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modifications to Lotka-Volterra</a:t>
            </a:r>
            <a:endParaRPr/>
          </a:p>
        </p:txBody>
      </p:sp>
      <p:sp>
        <p:nvSpPr>
          <p:cNvPr id="254" name="Google Shape;25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LV is based on predator-prey interactions, but can be modified!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Herbivory</a:t>
            </a:r>
            <a:endParaRPr b="1"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Whole individuals aren’t eaten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Model is re-framed in terms of biomass rather than individuals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	Disease</a:t>
            </a:r>
            <a:endParaRPr b="1"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Model can likewise be modified to focus on disease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Alternatively, it can handle </a:t>
            </a:r>
            <a:r>
              <a:rPr lang="en"/>
              <a:t>disease</a:t>
            </a:r>
            <a:r>
              <a:rPr lang="en"/>
              <a:t> AND e.g., predation, herbivory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Prey</a:t>
            </a:r>
            <a:endParaRPr/>
          </a:p>
        </p:txBody>
      </p:sp>
      <p:sp>
        <p:nvSpPr>
          <p:cNvPr id="260" name="Google Shape;260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We’ve been assuming 1 predator, 1 prey systems.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happens when you have multiple prey?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Foraging Theory</a:t>
            </a:r>
            <a:endParaRPr/>
          </a:p>
        </p:txBody>
      </p:sp>
      <p:sp>
        <p:nvSpPr>
          <p:cNvPr id="266" name="Google Shape;266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Predators often have options!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What are some of the reasons why predators might select different prey?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Foraging Theory</a:t>
            </a:r>
            <a:endParaRPr/>
          </a:p>
        </p:txBody>
      </p:sp>
      <p:sp>
        <p:nvSpPr>
          <p:cNvPr id="272" name="Google Shape;272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Predators often have options!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What are some of the reasons why predators might select different prey?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Availability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Energy content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Safety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 (to catch, eat, etc.)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Diet Model</a:t>
            </a:r>
            <a:endParaRPr/>
          </a:p>
        </p:txBody>
      </p:sp>
      <p:grpSp>
        <p:nvGrpSpPr>
          <p:cNvPr id="278" name="Google Shape;278;p43"/>
          <p:cNvGrpSpPr/>
          <p:nvPr/>
        </p:nvGrpSpPr>
        <p:grpSpPr>
          <a:xfrm>
            <a:off x="1191225" y="1741200"/>
            <a:ext cx="2338850" cy="910325"/>
            <a:chOff x="1191225" y="1741200"/>
            <a:chExt cx="2338850" cy="910325"/>
          </a:xfrm>
        </p:grpSpPr>
        <p:sp>
          <p:nvSpPr>
            <p:cNvPr id="279" name="Google Shape;279;p43"/>
            <p:cNvSpPr txBox="1"/>
            <p:nvPr/>
          </p:nvSpPr>
          <p:spPr>
            <a:xfrm>
              <a:off x="1191225" y="1777925"/>
              <a:ext cx="416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2000">
                  <a:solidFill>
                    <a:schemeClr val="dk2"/>
                  </a:solidFill>
                </a:rPr>
                <a:t>E</a:t>
              </a:r>
              <a:endParaRPr i="1" sz="2000">
                <a:solidFill>
                  <a:schemeClr val="dk2"/>
                </a:solidFill>
              </a:endParaRPr>
            </a:p>
          </p:txBody>
        </p:sp>
        <p:sp>
          <p:nvSpPr>
            <p:cNvPr id="280" name="Google Shape;280;p43"/>
            <p:cNvSpPr txBox="1"/>
            <p:nvPr/>
          </p:nvSpPr>
          <p:spPr>
            <a:xfrm>
              <a:off x="1191225" y="2082725"/>
              <a:ext cx="416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2000">
                  <a:solidFill>
                    <a:schemeClr val="dk2"/>
                  </a:solidFill>
                </a:rPr>
                <a:t>T</a:t>
              </a:r>
              <a:endParaRPr i="1" sz="2000">
                <a:solidFill>
                  <a:schemeClr val="dk2"/>
                </a:solidFill>
              </a:endParaRPr>
            </a:p>
          </p:txBody>
        </p:sp>
        <p:sp>
          <p:nvSpPr>
            <p:cNvPr id="281" name="Google Shape;281;p43"/>
            <p:cNvSpPr txBox="1"/>
            <p:nvPr/>
          </p:nvSpPr>
          <p:spPr>
            <a:xfrm>
              <a:off x="1547850" y="1930025"/>
              <a:ext cx="356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chemeClr val="dk2"/>
                  </a:solidFill>
                </a:rPr>
                <a:t>=</a:t>
              </a:r>
              <a:endParaRPr b="1" sz="2200">
                <a:solidFill>
                  <a:schemeClr val="dk2"/>
                </a:solidFill>
              </a:endParaRPr>
            </a:p>
          </p:txBody>
        </p:sp>
        <p:cxnSp>
          <p:nvCxnSpPr>
            <p:cNvPr id="282" name="Google Shape;282;p43"/>
            <p:cNvCxnSpPr/>
            <p:nvPr/>
          </p:nvCxnSpPr>
          <p:spPr>
            <a:xfrm rot="10800000">
              <a:off x="1218525" y="2160575"/>
              <a:ext cx="277500" cy="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3" name="Google Shape;283;p43"/>
            <p:cNvSpPr txBox="1"/>
            <p:nvPr/>
          </p:nvSpPr>
          <p:spPr>
            <a:xfrm>
              <a:off x="2111800" y="1741200"/>
              <a:ext cx="1071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</a:rPr>
                <a:t>𝛴</a:t>
              </a:r>
              <a:r>
                <a:rPr baseline="-25000" i="1" lang="en" sz="2000">
                  <a:solidFill>
                    <a:schemeClr val="dk2"/>
                  </a:solidFill>
                </a:rPr>
                <a:t>i</a:t>
              </a:r>
              <a:r>
                <a:rPr baseline="30000" i="1" lang="en" sz="2000">
                  <a:solidFill>
                    <a:schemeClr val="dk2"/>
                  </a:solidFill>
                </a:rPr>
                <a:t>k </a:t>
              </a:r>
              <a:r>
                <a:rPr lang="en" sz="2000">
                  <a:solidFill>
                    <a:schemeClr val="dk2"/>
                  </a:solidFill>
                </a:rPr>
                <a:t>𝜆</a:t>
              </a:r>
              <a:r>
                <a:rPr baseline="-25000" i="1" lang="en" sz="2000">
                  <a:solidFill>
                    <a:schemeClr val="dk2"/>
                  </a:solidFill>
                </a:rPr>
                <a:t>i</a:t>
              </a:r>
              <a:r>
                <a:rPr i="1" lang="en" sz="2000">
                  <a:solidFill>
                    <a:schemeClr val="dk2"/>
                  </a:solidFill>
                </a:rPr>
                <a:t>E</a:t>
              </a:r>
              <a:r>
                <a:rPr baseline="-25000" i="1" lang="en" sz="2000">
                  <a:solidFill>
                    <a:schemeClr val="dk2"/>
                  </a:solidFill>
                </a:rPr>
                <a:t>i</a:t>
              </a:r>
              <a:r>
                <a:rPr i="1" lang="en" sz="2000">
                  <a:solidFill>
                    <a:schemeClr val="dk2"/>
                  </a:solidFill>
                </a:rPr>
                <a:t>p</a:t>
              </a:r>
              <a:r>
                <a:rPr baseline="-25000" i="1" lang="en" sz="2000">
                  <a:solidFill>
                    <a:schemeClr val="dk2"/>
                  </a:solidFill>
                </a:rPr>
                <a:t>i</a:t>
              </a:r>
              <a:endParaRPr baseline="-25000" i="1" sz="2000">
                <a:solidFill>
                  <a:schemeClr val="dk2"/>
                </a:solidFill>
              </a:endParaRPr>
            </a:p>
          </p:txBody>
        </p:sp>
        <p:sp>
          <p:nvSpPr>
            <p:cNvPr id="284" name="Google Shape;284;p43"/>
            <p:cNvSpPr txBox="1"/>
            <p:nvPr/>
          </p:nvSpPr>
          <p:spPr>
            <a:xfrm>
              <a:off x="1953225" y="2158925"/>
              <a:ext cx="1549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</a:rPr>
                <a:t>1 + </a:t>
              </a:r>
              <a:r>
                <a:rPr lang="en" sz="2000">
                  <a:solidFill>
                    <a:schemeClr val="dk2"/>
                  </a:solidFill>
                </a:rPr>
                <a:t>𝛴</a:t>
              </a:r>
              <a:r>
                <a:rPr baseline="-25000" i="1" lang="en" sz="2000">
                  <a:solidFill>
                    <a:schemeClr val="dk2"/>
                  </a:solidFill>
                </a:rPr>
                <a:t>i</a:t>
              </a:r>
              <a:r>
                <a:rPr baseline="30000" i="1" lang="en" sz="2000">
                  <a:solidFill>
                    <a:schemeClr val="dk2"/>
                  </a:solidFill>
                </a:rPr>
                <a:t>k </a:t>
              </a:r>
              <a:r>
                <a:rPr lang="en" sz="2000">
                  <a:solidFill>
                    <a:schemeClr val="dk2"/>
                  </a:solidFill>
                </a:rPr>
                <a:t>𝜆</a:t>
              </a:r>
              <a:r>
                <a:rPr baseline="-25000" i="1" lang="en" sz="2000">
                  <a:solidFill>
                    <a:schemeClr val="dk2"/>
                  </a:solidFill>
                </a:rPr>
                <a:t>i</a:t>
              </a:r>
              <a:r>
                <a:rPr i="1" lang="en" sz="2000">
                  <a:solidFill>
                    <a:schemeClr val="dk2"/>
                  </a:solidFill>
                </a:rPr>
                <a:t>h</a:t>
              </a:r>
              <a:r>
                <a:rPr baseline="-25000" i="1" lang="en" sz="2000">
                  <a:solidFill>
                    <a:schemeClr val="dk2"/>
                  </a:solidFill>
                </a:rPr>
                <a:t>i</a:t>
              </a:r>
              <a:r>
                <a:rPr i="1" lang="en" sz="2000">
                  <a:solidFill>
                    <a:schemeClr val="dk2"/>
                  </a:solidFill>
                </a:rPr>
                <a:t>p</a:t>
              </a:r>
              <a:r>
                <a:rPr baseline="-25000" i="1" lang="en" sz="2000">
                  <a:solidFill>
                    <a:schemeClr val="dk2"/>
                  </a:solidFill>
                </a:rPr>
                <a:t>i</a:t>
              </a:r>
              <a:endParaRPr baseline="-25000" i="1" sz="2000">
                <a:solidFill>
                  <a:schemeClr val="dk2"/>
                </a:solidFill>
              </a:endParaRPr>
            </a:p>
          </p:txBody>
        </p:sp>
        <p:cxnSp>
          <p:nvCxnSpPr>
            <p:cNvPr id="285" name="Google Shape;285;p43"/>
            <p:cNvCxnSpPr/>
            <p:nvPr/>
          </p:nvCxnSpPr>
          <p:spPr>
            <a:xfrm flipH="1">
              <a:off x="1980575" y="2233800"/>
              <a:ext cx="1549500" cy="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6" name="Google Shape;286;p43"/>
          <p:cNvSpPr txBox="1"/>
          <p:nvPr/>
        </p:nvSpPr>
        <p:spPr>
          <a:xfrm>
            <a:off x="4572000" y="608500"/>
            <a:ext cx="3824100" cy="4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E/T = energy gained per unit time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𝜆</a:t>
            </a:r>
            <a:r>
              <a:rPr baseline="-25000" i="1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# prey species </a:t>
            </a:r>
            <a:r>
              <a:rPr i="1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encountered per unit time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E</a:t>
            </a:r>
            <a:r>
              <a:rPr baseline="-25000" i="1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energy gain from prey species </a:t>
            </a:r>
            <a:r>
              <a:rPr i="1" lang="en" sz="1800">
                <a:solidFill>
                  <a:schemeClr val="dk2"/>
                </a:solidFill>
              </a:rPr>
              <a:t>i</a:t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p</a:t>
            </a:r>
            <a:r>
              <a:rPr baseline="-25000" i="1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probability of pursuit, capture of species </a:t>
            </a:r>
            <a:r>
              <a:rPr i="1" lang="en" sz="1800">
                <a:solidFill>
                  <a:schemeClr val="dk2"/>
                </a:solidFill>
              </a:rPr>
              <a:t>i</a:t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2"/>
                </a:solidFill>
              </a:rPr>
              <a:t>h</a:t>
            </a:r>
            <a:r>
              <a:rPr baseline="-25000" i="1" lang="en" sz="2000">
                <a:solidFill>
                  <a:schemeClr val="dk2"/>
                </a:solidFill>
              </a:rPr>
              <a:t>i </a:t>
            </a:r>
            <a:r>
              <a:rPr lang="en" sz="1800">
                <a:solidFill>
                  <a:schemeClr val="dk2"/>
                </a:solidFill>
              </a:rPr>
              <a:t>= handling time of prey species </a:t>
            </a:r>
            <a:r>
              <a:rPr i="1" lang="en" sz="1800">
                <a:solidFill>
                  <a:schemeClr val="dk2"/>
                </a:solidFill>
              </a:rPr>
              <a:t>i</a:t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Diet Model</a:t>
            </a:r>
            <a:endParaRPr/>
          </a:p>
        </p:txBody>
      </p:sp>
      <p:sp>
        <p:nvSpPr>
          <p:cNvPr id="292" name="Google Shape;292;p44"/>
          <p:cNvSpPr txBox="1"/>
          <p:nvPr/>
        </p:nvSpPr>
        <p:spPr>
          <a:xfrm>
            <a:off x="1191225" y="1777925"/>
            <a:ext cx="41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2"/>
                </a:solidFill>
              </a:rPr>
              <a:t>E</a:t>
            </a:r>
            <a:endParaRPr i="1" sz="2000">
              <a:solidFill>
                <a:schemeClr val="dk2"/>
              </a:solidFill>
            </a:endParaRPr>
          </a:p>
        </p:txBody>
      </p:sp>
      <p:sp>
        <p:nvSpPr>
          <p:cNvPr id="293" name="Google Shape;293;p44"/>
          <p:cNvSpPr txBox="1"/>
          <p:nvPr/>
        </p:nvSpPr>
        <p:spPr>
          <a:xfrm>
            <a:off x="1191225" y="2082725"/>
            <a:ext cx="41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2"/>
                </a:solidFill>
              </a:rPr>
              <a:t>T</a:t>
            </a:r>
            <a:endParaRPr i="1" sz="2000">
              <a:solidFill>
                <a:schemeClr val="dk2"/>
              </a:solidFill>
            </a:endParaRPr>
          </a:p>
        </p:txBody>
      </p:sp>
      <p:sp>
        <p:nvSpPr>
          <p:cNvPr id="294" name="Google Shape;294;p44"/>
          <p:cNvSpPr txBox="1"/>
          <p:nvPr/>
        </p:nvSpPr>
        <p:spPr>
          <a:xfrm>
            <a:off x="1547850" y="1930025"/>
            <a:ext cx="35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</a:rPr>
              <a:t>=</a:t>
            </a:r>
            <a:endParaRPr b="1" sz="2200">
              <a:solidFill>
                <a:schemeClr val="dk2"/>
              </a:solidFill>
            </a:endParaRPr>
          </a:p>
        </p:txBody>
      </p:sp>
      <p:cxnSp>
        <p:nvCxnSpPr>
          <p:cNvPr id="295" name="Google Shape;295;p44"/>
          <p:cNvCxnSpPr/>
          <p:nvPr/>
        </p:nvCxnSpPr>
        <p:spPr>
          <a:xfrm rot="10800000">
            <a:off x="1218525" y="2160575"/>
            <a:ext cx="277500" cy="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44"/>
          <p:cNvSpPr txBox="1"/>
          <p:nvPr/>
        </p:nvSpPr>
        <p:spPr>
          <a:xfrm>
            <a:off x="2111800" y="1741200"/>
            <a:ext cx="107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𝛴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baseline="30000" i="1" lang="en" sz="2000">
                <a:solidFill>
                  <a:schemeClr val="dk2"/>
                </a:solidFill>
              </a:rPr>
              <a:t>k </a:t>
            </a:r>
            <a:r>
              <a:rPr lang="en" sz="2000">
                <a:solidFill>
                  <a:schemeClr val="dk2"/>
                </a:solidFill>
              </a:rPr>
              <a:t>𝜆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i="1" lang="en" sz="2000">
                <a:solidFill>
                  <a:schemeClr val="dk2"/>
                </a:solidFill>
              </a:rPr>
              <a:t>E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i="1" lang="en" sz="2000">
                <a:solidFill>
                  <a:schemeClr val="dk2"/>
                </a:solidFill>
              </a:rPr>
              <a:t>p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endParaRPr baseline="-25000" i="1" sz="2000">
              <a:solidFill>
                <a:schemeClr val="dk2"/>
              </a:solidFill>
            </a:endParaRPr>
          </a:p>
        </p:txBody>
      </p:sp>
      <p:sp>
        <p:nvSpPr>
          <p:cNvPr id="297" name="Google Shape;297;p44"/>
          <p:cNvSpPr txBox="1"/>
          <p:nvPr/>
        </p:nvSpPr>
        <p:spPr>
          <a:xfrm>
            <a:off x="1953225" y="2158925"/>
            <a:ext cx="154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1 + 𝛴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baseline="30000" i="1" lang="en" sz="2000">
                <a:solidFill>
                  <a:schemeClr val="dk2"/>
                </a:solidFill>
              </a:rPr>
              <a:t>k </a:t>
            </a:r>
            <a:r>
              <a:rPr lang="en" sz="2000">
                <a:solidFill>
                  <a:schemeClr val="dk2"/>
                </a:solidFill>
              </a:rPr>
              <a:t>𝜆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i="1" lang="en" sz="2000">
                <a:solidFill>
                  <a:schemeClr val="dk2"/>
                </a:solidFill>
              </a:rPr>
              <a:t>h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i="1" lang="en" sz="2000">
                <a:solidFill>
                  <a:schemeClr val="dk2"/>
                </a:solidFill>
              </a:rPr>
              <a:t>p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endParaRPr baseline="-25000" i="1" sz="2000">
              <a:solidFill>
                <a:schemeClr val="dk2"/>
              </a:solidFill>
            </a:endParaRPr>
          </a:p>
        </p:txBody>
      </p:sp>
      <p:cxnSp>
        <p:nvCxnSpPr>
          <p:cNvPr id="298" name="Google Shape;298;p44"/>
          <p:cNvCxnSpPr/>
          <p:nvPr/>
        </p:nvCxnSpPr>
        <p:spPr>
          <a:xfrm flipH="1">
            <a:off x="1980575" y="2233800"/>
            <a:ext cx="1549500" cy="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44"/>
          <p:cNvSpPr txBox="1"/>
          <p:nvPr/>
        </p:nvSpPr>
        <p:spPr>
          <a:xfrm>
            <a:off x="0" y="3452875"/>
            <a:ext cx="38241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E/T = energy gained per unit time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𝜆</a:t>
            </a:r>
            <a:r>
              <a:rPr baseline="-25000" i="1" lang="en" sz="900">
                <a:solidFill>
                  <a:schemeClr val="dk2"/>
                </a:solidFill>
              </a:rPr>
              <a:t>i</a:t>
            </a:r>
            <a:r>
              <a:rPr lang="en" sz="900">
                <a:solidFill>
                  <a:schemeClr val="dk2"/>
                </a:solidFill>
              </a:rPr>
              <a:t> = # prey species </a:t>
            </a:r>
            <a:r>
              <a:rPr i="1" lang="en" sz="900">
                <a:solidFill>
                  <a:schemeClr val="dk2"/>
                </a:solidFill>
              </a:rPr>
              <a:t>i</a:t>
            </a:r>
            <a:r>
              <a:rPr lang="en" sz="900">
                <a:solidFill>
                  <a:schemeClr val="dk2"/>
                </a:solidFill>
              </a:rPr>
              <a:t> encountered per unit time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2"/>
                </a:solidFill>
              </a:rPr>
              <a:t>E</a:t>
            </a:r>
            <a:r>
              <a:rPr baseline="-25000" i="1" lang="en" sz="900">
                <a:solidFill>
                  <a:schemeClr val="dk2"/>
                </a:solidFill>
              </a:rPr>
              <a:t>i</a:t>
            </a:r>
            <a:r>
              <a:rPr lang="en" sz="900">
                <a:solidFill>
                  <a:schemeClr val="dk2"/>
                </a:solidFill>
              </a:rPr>
              <a:t> = energy gain from prey species </a:t>
            </a:r>
            <a:r>
              <a:rPr i="1" lang="en" sz="900">
                <a:solidFill>
                  <a:schemeClr val="dk2"/>
                </a:solidFill>
              </a:rPr>
              <a:t>i</a:t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2"/>
                </a:solidFill>
              </a:rPr>
              <a:t>p</a:t>
            </a:r>
            <a:r>
              <a:rPr baseline="-25000" i="1" lang="en" sz="900">
                <a:solidFill>
                  <a:schemeClr val="dk2"/>
                </a:solidFill>
              </a:rPr>
              <a:t>i</a:t>
            </a:r>
            <a:r>
              <a:rPr lang="en" sz="900">
                <a:solidFill>
                  <a:schemeClr val="dk2"/>
                </a:solidFill>
              </a:rPr>
              <a:t> = probability of pursuit, capture of species </a:t>
            </a:r>
            <a:r>
              <a:rPr i="1" lang="en" sz="900">
                <a:solidFill>
                  <a:schemeClr val="dk2"/>
                </a:solidFill>
              </a:rPr>
              <a:t>i</a:t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2"/>
                </a:solidFill>
              </a:rPr>
              <a:t>h</a:t>
            </a:r>
            <a:r>
              <a:rPr baseline="-25000" i="1" lang="en" sz="1100">
                <a:solidFill>
                  <a:schemeClr val="dk2"/>
                </a:solidFill>
              </a:rPr>
              <a:t>i </a:t>
            </a:r>
            <a:r>
              <a:rPr lang="en" sz="900">
                <a:solidFill>
                  <a:schemeClr val="dk2"/>
                </a:solidFill>
              </a:rPr>
              <a:t>= handling time of prey species </a:t>
            </a:r>
            <a:r>
              <a:rPr i="1" lang="en" sz="900">
                <a:solidFill>
                  <a:schemeClr val="dk2"/>
                </a:solidFill>
              </a:rPr>
              <a:t>i</a:t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00" name="Google Shape;300;p44"/>
          <p:cNvCxnSpPr/>
          <p:nvPr/>
        </p:nvCxnSpPr>
        <p:spPr>
          <a:xfrm flipH="1" rot="10800000">
            <a:off x="2915650" y="1262600"/>
            <a:ext cx="891900" cy="57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1" name="Google Shape;301;p44"/>
          <p:cNvCxnSpPr/>
          <p:nvPr/>
        </p:nvCxnSpPr>
        <p:spPr>
          <a:xfrm>
            <a:off x="3068050" y="2599400"/>
            <a:ext cx="1175700" cy="6156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02" name="Google Shape;302;p44"/>
          <p:cNvSpPr txBox="1"/>
          <p:nvPr/>
        </p:nvSpPr>
        <p:spPr>
          <a:xfrm>
            <a:off x="4640050" y="876075"/>
            <a:ext cx="3575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Handling time slows things down, so prey with high h values should only be eaten in they have a high E value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Diet Model</a:t>
            </a:r>
            <a:endParaRPr/>
          </a:p>
        </p:txBody>
      </p:sp>
      <p:sp>
        <p:nvSpPr>
          <p:cNvPr id="308" name="Google Shape;308;p45"/>
          <p:cNvSpPr txBox="1"/>
          <p:nvPr/>
        </p:nvSpPr>
        <p:spPr>
          <a:xfrm>
            <a:off x="1191225" y="1777925"/>
            <a:ext cx="41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2"/>
                </a:solidFill>
              </a:rPr>
              <a:t>E</a:t>
            </a:r>
            <a:endParaRPr i="1" sz="2000">
              <a:solidFill>
                <a:schemeClr val="dk2"/>
              </a:solidFill>
            </a:endParaRPr>
          </a:p>
        </p:txBody>
      </p:sp>
      <p:sp>
        <p:nvSpPr>
          <p:cNvPr id="309" name="Google Shape;309;p45"/>
          <p:cNvSpPr txBox="1"/>
          <p:nvPr/>
        </p:nvSpPr>
        <p:spPr>
          <a:xfrm>
            <a:off x="1191225" y="2082725"/>
            <a:ext cx="41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2"/>
                </a:solidFill>
              </a:rPr>
              <a:t>T</a:t>
            </a:r>
            <a:endParaRPr i="1" sz="2000">
              <a:solidFill>
                <a:schemeClr val="dk2"/>
              </a:solidFill>
            </a:endParaRPr>
          </a:p>
        </p:txBody>
      </p:sp>
      <p:sp>
        <p:nvSpPr>
          <p:cNvPr id="310" name="Google Shape;310;p45"/>
          <p:cNvSpPr txBox="1"/>
          <p:nvPr/>
        </p:nvSpPr>
        <p:spPr>
          <a:xfrm>
            <a:off x="1547850" y="1930025"/>
            <a:ext cx="35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</a:rPr>
              <a:t>=</a:t>
            </a:r>
            <a:endParaRPr b="1" sz="2200">
              <a:solidFill>
                <a:schemeClr val="dk2"/>
              </a:solidFill>
            </a:endParaRPr>
          </a:p>
        </p:txBody>
      </p:sp>
      <p:cxnSp>
        <p:nvCxnSpPr>
          <p:cNvPr id="311" name="Google Shape;311;p45"/>
          <p:cNvCxnSpPr/>
          <p:nvPr/>
        </p:nvCxnSpPr>
        <p:spPr>
          <a:xfrm rot="10800000">
            <a:off x="1218525" y="2160575"/>
            <a:ext cx="277500" cy="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45"/>
          <p:cNvSpPr txBox="1"/>
          <p:nvPr/>
        </p:nvSpPr>
        <p:spPr>
          <a:xfrm>
            <a:off x="2111800" y="1741200"/>
            <a:ext cx="107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𝛴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baseline="30000" i="1" lang="en" sz="2000">
                <a:solidFill>
                  <a:schemeClr val="dk2"/>
                </a:solidFill>
              </a:rPr>
              <a:t>k </a:t>
            </a:r>
            <a:r>
              <a:rPr lang="en" sz="2000">
                <a:solidFill>
                  <a:schemeClr val="dk2"/>
                </a:solidFill>
              </a:rPr>
              <a:t>𝜆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i="1" lang="en" sz="2000">
                <a:solidFill>
                  <a:schemeClr val="dk2"/>
                </a:solidFill>
              </a:rPr>
              <a:t>E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i="1" lang="en" sz="2000">
                <a:solidFill>
                  <a:schemeClr val="dk2"/>
                </a:solidFill>
              </a:rPr>
              <a:t>p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endParaRPr baseline="-25000" i="1" sz="2000">
              <a:solidFill>
                <a:schemeClr val="dk2"/>
              </a:solidFill>
            </a:endParaRPr>
          </a:p>
        </p:txBody>
      </p:sp>
      <p:sp>
        <p:nvSpPr>
          <p:cNvPr id="313" name="Google Shape;313;p45"/>
          <p:cNvSpPr txBox="1"/>
          <p:nvPr/>
        </p:nvSpPr>
        <p:spPr>
          <a:xfrm>
            <a:off x="1953225" y="2158925"/>
            <a:ext cx="154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1 + 𝛴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baseline="30000" i="1" lang="en" sz="2000">
                <a:solidFill>
                  <a:schemeClr val="dk2"/>
                </a:solidFill>
              </a:rPr>
              <a:t>k </a:t>
            </a:r>
            <a:r>
              <a:rPr lang="en" sz="2000">
                <a:solidFill>
                  <a:schemeClr val="dk2"/>
                </a:solidFill>
              </a:rPr>
              <a:t>𝜆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i="1" lang="en" sz="2000">
                <a:solidFill>
                  <a:schemeClr val="dk2"/>
                </a:solidFill>
              </a:rPr>
              <a:t>h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i="1" lang="en" sz="2000">
                <a:solidFill>
                  <a:schemeClr val="dk2"/>
                </a:solidFill>
              </a:rPr>
              <a:t>p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endParaRPr baseline="-25000" i="1" sz="2000">
              <a:solidFill>
                <a:schemeClr val="dk2"/>
              </a:solidFill>
            </a:endParaRPr>
          </a:p>
        </p:txBody>
      </p:sp>
      <p:cxnSp>
        <p:nvCxnSpPr>
          <p:cNvPr id="314" name="Google Shape;314;p45"/>
          <p:cNvCxnSpPr/>
          <p:nvPr/>
        </p:nvCxnSpPr>
        <p:spPr>
          <a:xfrm flipH="1">
            <a:off x="1980575" y="2233800"/>
            <a:ext cx="1549500" cy="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45"/>
          <p:cNvSpPr txBox="1"/>
          <p:nvPr/>
        </p:nvSpPr>
        <p:spPr>
          <a:xfrm>
            <a:off x="0" y="3452875"/>
            <a:ext cx="38241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E/T = energy gained per unit time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𝜆</a:t>
            </a:r>
            <a:r>
              <a:rPr baseline="-25000" i="1" lang="en" sz="900">
                <a:solidFill>
                  <a:schemeClr val="dk2"/>
                </a:solidFill>
              </a:rPr>
              <a:t>i</a:t>
            </a:r>
            <a:r>
              <a:rPr lang="en" sz="900">
                <a:solidFill>
                  <a:schemeClr val="dk2"/>
                </a:solidFill>
              </a:rPr>
              <a:t> = # prey species </a:t>
            </a:r>
            <a:r>
              <a:rPr i="1" lang="en" sz="900">
                <a:solidFill>
                  <a:schemeClr val="dk2"/>
                </a:solidFill>
              </a:rPr>
              <a:t>i</a:t>
            </a:r>
            <a:r>
              <a:rPr lang="en" sz="900">
                <a:solidFill>
                  <a:schemeClr val="dk2"/>
                </a:solidFill>
              </a:rPr>
              <a:t> encountered per unit time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2"/>
                </a:solidFill>
              </a:rPr>
              <a:t>E</a:t>
            </a:r>
            <a:r>
              <a:rPr baseline="-25000" i="1" lang="en" sz="900">
                <a:solidFill>
                  <a:schemeClr val="dk2"/>
                </a:solidFill>
              </a:rPr>
              <a:t>i</a:t>
            </a:r>
            <a:r>
              <a:rPr lang="en" sz="900">
                <a:solidFill>
                  <a:schemeClr val="dk2"/>
                </a:solidFill>
              </a:rPr>
              <a:t> = energy gain from prey species </a:t>
            </a:r>
            <a:r>
              <a:rPr i="1" lang="en" sz="900">
                <a:solidFill>
                  <a:schemeClr val="dk2"/>
                </a:solidFill>
              </a:rPr>
              <a:t>i</a:t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2"/>
                </a:solidFill>
              </a:rPr>
              <a:t>p</a:t>
            </a:r>
            <a:r>
              <a:rPr baseline="-25000" i="1" lang="en" sz="900">
                <a:solidFill>
                  <a:schemeClr val="dk2"/>
                </a:solidFill>
              </a:rPr>
              <a:t>i</a:t>
            </a:r>
            <a:r>
              <a:rPr lang="en" sz="900">
                <a:solidFill>
                  <a:schemeClr val="dk2"/>
                </a:solidFill>
              </a:rPr>
              <a:t> = probability of pursuit, capture of species </a:t>
            </a:r>
            <a:r>
              <a:rPr i="1" lang="en" sz="900">
                <a:solidFill>
                  <a:schemeClr val="dk2"/>
                </a:solidFill>
              </a:rPr>
              <a:t>i</a:t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2"/>
                </a:solidFill>
              </a:rPr>
              <a:t>h</a:t>
            </a:r>
            <a:r>
              <a:rPr baseline="-25000" i="1" lang="en" sz="1100">
                <a:solidFill>
                  <a:schemeClr val="dk2"/>
                </a:solidFill>
              </a:rPr>
              <a:t>i </a:t>
            </a:r>
            <a:r>
              <a:rPr lang="en" sz="900">
                <a:solidFill>
                  <a:schemeClr val="dk2"/>
                </a:solidFill>
              </a:rPr>
              <a:t>= handling time of prey species </a:t>
            </a:r>
            <a:r>
              <a:rPr i="1" lang="en" sz="900">
                <a:solidFill>
                  <a:schemeClr val="dk2"/>
                </a:solidFill>
              </a:rPr>
              <a:t>i</a:t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16" name="Google Shape;316;p45"/>
          <p:cNvCxnSpPr/>
          <p:nvPr/>
        </p:nvCxnSpPr>
        <p:spPr>
          <a:xfrm flipH="1" rot="10800000">
            <a:off x="3084125" y="1338363"/>
            <a:ext cx="891900" cy="57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7" name="Google Shape;317;p45"/>
          <p:cNvCxnSpPr/>
          <p:nvPr/>
        </p:nvCxnSpPr>
        <p:spPr>
          <a:xfrm>
            <a:off x="3277350" y="2651525"/>
            <a:ext cx="1175700" cy="6156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18" name="Google Shape;318;p45"/>
          <p:cNvSpPr txBox="1"/>
          <p:nvPr/>
        </p:nvSpPr>
        <p:spPr>
          <a:xfrm>
            <a:off x="4640050" y="876075"/>
            <a:ext cx="3575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Can increase E/T by improving capture rates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But only if the E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:h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ratio is profitable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Diet Model</a:t>
            </a:r>
            <a:endParaRPr/>
          </a:p>
        </p:txBody>
      </p:sp>
      <p:sp>
        <p:nvSpPr>
          <p:cNvPr id="324" name="Google Shape;324;p46"/>
          <p:cNvSpPr txBox="1"/>
          <p:nvPr/>
        </p:nvSpPr>
        <p:spPr>
          <a:xfrm>
            <a:off x="1191225" y="1777925"/>
            <a:ext cx="41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2"/>
                </a:solidFill>
              </a:rPr>
              <a:t>E</a:t>
            </a:r>
            <a:endParaRPr i="1" sz="2000">
              <a:solidFill>
                <a:schemeClr val="dk2"/>
              </a:solidFill>
            </a:endParaRPr>
          </a:p>
        </p:txBody>
      </p:sp>
      <p:sp>
        <p:nvSpPr>
          <p:cNvPr id="325" name="Google Shape;325;p46"/>
          <p:cNvSpPr txBox="1"/>
          <p:nvPr/>
        </p:nvSpPr>
        <p:spPr>
          <a:xfrm>
            <a:off x="1191225" y="2082725"/>
            <a:ext cx="41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2"/>
                </a:solidFill>
              </a:rPr>
              <a:t>T</a:t>
            </a:r>
            <a:endParaRPr i="1" sz="2000">
              <a:solidFill>
                <a:schemeClr val="dk2"/>
              </a:solidFill>
            </a:endParaRPr>
          </a:p>
        </p:txBody>
      </p:sp>
      <p:sp>
        <p:nvSpPr>
          <p:cNvPr id="326" name="Google Shape;326;p46"/>
          <p:cNvSpPr txBox="1"/>
          <p:nvPr/>
        </p:nvSpPr>
        <p:spPr>
          <a:xfrm>
            <a:off x="1547850" y="1930025"/>
            <a:ext cx="35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</a:rPr>
              <a:t>=</a:t>
            </a:r>
            <a:endParaRPr b="1" sz="2200">
              <a:solidFill>
                <a:schemeClr val="dk2"/>
              </a:solidFill>
            </a:endParaRPr>
          </a:p>
        </p:txBody>
      </p:sp>
      <p:cxnSp>
        <p:nvCxnSpPr>
          <p:cNvPr id="327" name="Google Shape;327;p46"/>
          <p:cNvCxnSpPr/>
          <p:nvPr/>
        </p:nvCxnSpPr>
        <p:spPr>
          <a:xfrm rot="10800000">
            <a:off x="1218525" y="2160575"/>
            <a:ext cx="277500" cy="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46"/>
          <p:cNvSpPr txBox="1"/>
          <p:nvPr/>
        </p:nvSpPr>
        <p:spPr>
          <a:xfrm>
            <a:off x="2111800" y="1741200"/>
            <a:ext cx="107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𝛴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baseline="30000" i="1" lang="en" sz="2000">
                <a:solidFill>
                  <a:schemeClr val="dk2"/>
                </a:solidFill>
              </a:rPr>
              <a:t>k </a:t>
            </a:r>
            <a:r>
              <a:rPr lang="en" sz="2000">
                <a:solidFill>
                  <a:schemeClr val="dk2"/>
                </a:solidFill>
              </a:rPr>
              <a:t>𝜆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i="1" lang="en" sz="2000">
                <a:solidFill>
                  <a:schemeClr val="dk2"/>
                </a:solidFill>
              </a:rPr>
              <a:t>E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i="1" lang="en" sz="2000">
                <a:solidFill>
                  <a:schemeClr val="dk2"/>
                </a:solidFill>
              </a:rPr>
              <a:t>p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endParaRPr baseline="-25000" i="1" sz="2000">
              <a:solidFill>
                <a:schemeClr val="dk2"/>
              </a:solidFill>
            </a:endParaRPr>
          </a:p>
        </p:txBody>
      </p:sp>
      <p:sp>
        <p:nvSpPr>
          <p:cNvPr id="329" name="Google Shape;329;p46"/>
          <p:cNvSpPr txBox="1"/>
          <p:nvPr/>
        </p:nvSpPr>
        <p:spPr>
          <a:xfrm>
            <a:off x="1953225" y="2158925"/>
            <a:ext cx="154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1 + 𝛴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baseline="30000" i="1" lang="en" sz="2000">
                <a:solidFill>
                  <a:schemeClr val="dk2"/>
                </a:solidFill>
              </a:rPr>
              <a:t>k </a:t>
            </a:r>
            <a:r>
              <a:rPr lang="en" sz="2000">
                <a:solidFill>
                  <a:schemeClr val="dk2"/>
                </a:solidFill>
              </a:rPr>
              <a:t>𝜆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i="1" lang="en" sz="2000">
                <a:solidFill>
                  <a:schemeClr val="dk2"/>
                </a:solidFill>
              </a:rPr>
              <a:t>h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i="1" lang="en" sz="2000">
                <a:solidFill>
                  <a:schemeClr val="dk2"/>
                </a:solidFill>
              </a:rPr>
              <a:t>p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endParaRPr baseline="-25000" i="1" sz="2000">
              <a:solidFill>
                <a:schemeClr val="dk2"/>
              </a:solidFill>
            </a:endParaRPr>
          </a:p>
        </p:txBody>
      </p:sp>
      <p:cxnSp>
        <p:nvCxnSpPr>
          <p:cNvPr id="330" name="Google Shape;330;p46"/>
          <p:cNvCxnSpPr/>
          <p:nvPr/>
        </p:nvCxnSpPr>
        <p:spPr>
          <a:xfrm flipH="1">
            <a:off x="1980575" y="2233800"/>
            <a:ext cx="1549500" cy="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46"/>
          <p:cNvSpPr txBox="1"/>
          <p:nvPr/>
        </p:nvSpPr>
        <p:spPr>
          <a:xfrm>
            <a:off x="0" y="3452875"/>
            <a:ext cx="38241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E/T = energy gained per unit time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𝜆</a:t>
            </a:r>
            <a:r>
              <a:rPr baseline="-25000" i="1" lang="en" sz="900">
                <a:solidFill>
                  <a:schemeClr val="dk2"/>
                </a:solidFill>
              </a:rPr>
              <a:t>i</a:t>
            </a:r>
            <a:r>
              <a:rPr lang="en" sz="900">
                <a:solidFill>
                  <a:schemeClr val="dk2"/>
                </a:solidFill>
              </a:rPr>
              <a:t> = # prey species </a:t>
            </a:r>
            <a:r>
              <a:rPr i="1" lang="en" sz="900">
                <a:solidFill>
                  <a:schemeClr val="dk2"/>
                </a:solidFill>
              </a:rPr>
              <a:t>i</a:t>
            </a:r>
            <a:r>
              <a:rPr lang="en" sz="900">
                <a:solidFill>
                  <a:schemeClr val="dk2"/>
                </a:solidFill>
              </a:rPr>
              <a:t> encountered per unit time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2"/>
                </a:solidFill>
              </a:rPr>
              <a:t>E</a:t>
            </a:r>
            <a:r>
              <a:rPr baseline="-25000" i="1" lang="en" sz="900">
                <a:solidFill>
                  <a:schemeClr val="dk2"/>
                </a:solidFill>
              </a:rPr>
              <a:t>i</a:t>
            </a:r>
            <a:r>
              <a:rPr lang="en" sz="900">
                <a:solidFill>
                  <a:schemeClr val="dk2"/>
                </a:solidFill>
              </a:rPr>
              <a:t> = energy gain from prey species </a:t>
            </a:r>
            <a:r>
              <a:rPr i="1" lang="en" sz="900">
                <a:solidFill>
                  <a:schemeClr val="dk2"/>
                </a:solidFill>
              </a:rPr>
              <a:t>i</a:t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2"/>
                </a:solidFill>
              </a:rPr>
              <a:t>p</a:t>
            </a:r>
            <a:r>
              <a:rPr baseline="-25000" i="1" lang="en" sz="900">
                <a:solidFill>
                  <a:schemeClr val="dk2"/>
                </a:solidFill>
              </a:rPr>
              <a:t>i</a:t>
            </a:r>
            <a:r>
              <a:rPr lang="en" sz="900">
                <a:solidFill>
                  <a:schemeClr val="dk2"/>
                </a:solidFill>
              </a:rPr>
              <a:t> = probability of pursuit, capture of species </a:t>
            </a:r>
            <a:r>
              <a:rPr i="1" lang="en" sz="900">
                <a:solidFill>
                  <a:schemeClr val="dk2"/>
                </a:solidFill>
              </a:rPr>
              <a:t>i</a:t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2"/>
                </a:solidFill>
              </a:rPr>
              <a:t>h</a:t>
            </a:r>
            <a:r>
              <a:rPr baseline="-25000" i="1" lang="en" sz="1100">
                <a:solidFill>
                  <a:schemeClr val="dk2"/>
                </a:solidFill>
              </a:rPr>
              <a:t>i </a:t>
            </a:r>
            <a:r>
              <a:rPr lang="en" sz="900">
                <a:solidFill>
                  <a:schemeClr val="dk2"/>
                </a:solidFill>
              </a:rPr>
              <a:t>= handling time of prey species </a:t>
            </a:r>
            <a:r>
              <a:rPr i="1" lang="en" sz="900">
                <a:solidFill>
                  <a:schemeClr val="dk2"/>
                </a:solidFill>
              </a:rPr>
              <a:t>i</a:t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32" name="Google Shape;332;p46"/>
          <p:cNvCxnSpPr/>
          <p:nvPr/>
        </p:nvCxnSpPr>
        <p:spPr>
          <a:xfrm>
            <a:off x="3138625" y="2537025"/>
            <a:ext cx="1175700" cy="6156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33" name="Google Shape;333;p46"/>
          <p:cNvSpPr txBox="1"/>
          <p:nvPr/>
        </p:nvSpPr>
        <p:spPr>
          <a:xfrm>
            <a:off x="4640050" y="876075"/>
            <a:ext cx="357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Reducing handling time improves E/T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Diet Model</a:t>
            </a:r>
            <a:endParaRPr/>
          </a:p>
        </p:txBody>
      </p:sp>
      <p:sp>
        <p:nvSpPr>
          <p:cNvPr id="339" name="Google Shape;339;p47"/>
          <p:cNvSpPr txBox="1"/>
          <p:nvPr/>
        </p:nvSpPr>
        <p:spPr>
          <a:xfrm>
            <a:off x="1191225" y="1777925"/>
            <a:ext cx="41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2"/>
                </a:solidFill>
              </a:rPr>
              <a:t>E</a:t>
            </a:r>
            <a:endParaRPr i="1" sz="2000">
              <a:solidFill>
                <a:schemeClr val="dk2"/>
              </a:solidFill>
            </a:endParaRPr>
          </a:p>
        </p:txBody>
      </p:sp>
      <p:sp>
        <p:nvSpPr>
          <p:cNvPr id="340" name="Google Shape;340;p47"/>
          <p:cNvSpPr txBox="1"/>
          <p:nvPr/>
        </p:nvSpPr>
        <p:spPr>
          <a:xfrm>
            <a:off x="1191225" y="2082725"/>
            <a:ext cx="41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2"/>
                </a:solidFill>
              </a:rPr>
              <a:t>T</a:t>
            </a:r>
            <a:endParaRPr i="1" sz="2000">
              <a:solidFill>
                <a:schemeClr val="dk2"/>
              </a:solidFill>
            </a:endParaRPr>
          </a:p>
        </p:txBody>
      </p:sp>
      <p:sp>
        <p:nvSpPr>
          <p:cNvPr id="341" name="Google Shape;341;p47"/>
          <p:cNvSpPr txBox="1"/>
          <p:nvPr/>
        </p:nvSpPr>
        <p:spPr>
          <a:xfrm>
            <a:off x="1547850" y="1930025"/>
            <a:ext cx="35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</a:rPr>
              <a:t>=</a:t>
            </a:r>
            <a:endParaRPr b="1" sz="2200">
              <a:solidFill>
                <a:schemeClr val="dk2"/>
              </a:solidFill>
            </a:endParaRPr>
          </a:p>
        </p:txBody>
      </p:sp>
      <p:cxnSp>
        <p:nvCxnSpPr>
          <p:cNvPr id="342" name="Google Shape;342;p47"/>
          <p:cNvCxnSpPr/>
          <p:nvPr/>
        </p:nvCxnSpPr>
        <p:spPr>
          <a:xfrm rot="10800000">
            <a:off x="1218525" y="2160575"/>
            <a:ext cx="277500" cy="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47"/>
          <p:cNvSpPr txBox="1"/>
          <p:nvPr/>
        </p:nvSpPr>
        <p:spPr>
          <a:xfrm>
            <a:off x="2111800" y="1741200"/>
            <a:ext cx="107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𝛴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baseline="30000" i="1" lang="en" sz="2000">
                <a:solidFill>
                  <a:schemeClr val="dk2"/>
                </a:solidFill>
              </a:rPr>
              <a:t>k </a:t>
            </a:r>
            <a:r>
              <a:rPr lang="en" sz="2000">
                <a:solidFill>
                  <a:schemeClr val="dk2"/>
                </a:solidFill>
              </a:rPr>
              <a:t>𝜆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i="1" lang="en" sz="2000">
                <a:solidFill>
                  <a:schemeClr val="dk2"/>
                </a:solidFill>
              </a:rPr>
              <a:t>E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i="1" lang="en" sz="2000">
                <a:solidFill>
                  <a:schemeClr val="dk2"/>
                </a:solidFill>
              </a:rPr>
              <a:t>p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endParaRPr baseline="-25000" i="1" sz="2000">
              <a:solidFill>
                <a:schemeClr val="dk2"/>
              </a:solidFill>
            </a:endParaRPr>
          </a:p>
        </p:txBody>
      </p:sp>
      <p:sp>
        <p:nvSpPr>
          <p:cNvPr id="344" name="Google Shape;344;p47"/>
          <p:cNvSpPr txBox="1"/>
          <p:nvPr/>
        </p:nvSpPr>
        <p:spPr>
          <a:xfrm>
            <a:off x="1953225" y="2158925"/>
            <a:ext cx="154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1 + 𝛴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baseline="30000" i="1" lang="en" sz="2000">
                <a:solidFill>
                  <a:schemeClr val="dk2"/>
                </a:solidFill>
              </a:rPr>
              <a:t>k </a:t>
            </a:r>
            <a:r>
              <a:rPr lang="en" sz="2000">
                <a:solidFill>
                  <a:schemeClr val="dk2"/>
                </a:solidFill>
              </a:rPr>
              <a:t>𝜆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i="1" lang="en" sz="2000">
                <a:solidFill>
                  <a:schemeClr val="dk2"/>
                </a:solidFill>
              </a:rPr>
              <a:t>h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r>
              <a:rPr i="1" lang="en" sz="2000">
                <a:solidFill>
                  <a:schemeClr val="dk2"/>
                </a:solidFill>
              </a:rPr>
              <a:t>p</a:t>
            </a:r>
            <a:r>
              <a:rPr baseline="-25000" i="1" lang="en" sz="2000">
                <a:solidFill>
                  <a:schemeClr val="dk2"/>
                </a:solidFill>
              </a:rPr>
              <a:t>i</a:t>
            </a:r>
            <a:endParaRPr baseline="-25000" i="1" sz="2000">
              <a:solidFill>
                <a:schemeClr val="dk2"/>
              </a:solidFill>
            </a:endParaRPr>
          </a:p>
        </p:txBody>
      </p:sp>
      <p:cxnSp>
        <p:nvCxnSpPr>
          <p:cNvPr id="345" name="Google Shape;345;p47"/>
          <p:cNvCxnSpPr/>
          <p:nvPr/>
        </p:nvCxnSpPr>
        <p:spPr>
          <a:xfrm flipH="1">
            <a:off x="1980575" y="2233800"/>
            <a:ext cx="1549500" cy="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47"/>
          <p:cNvSpPr txBox="1"/>
          <p:nvPr/>
        </p:nvSpPr>
        <p:spPr>
          <a:xfrm>
            <a:off x="0" y="3452875"/>
            <a:ext cx="38241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E/T = energy gained per unit time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𝜆</a:t>
            </a:r>
            <a:r>
              <a:rPr baseline="-25000" i="1" lang="en" sz="900">
                <a:solidFill>
                  <a:schemeClr val="dk2"/>
                </a:solidFill>
              </a:rPr>
              <a:t>i</a:t>
            </a:r>
            <a:r>
              <a:rPr lang="en" sz="900">
                <a:solidFill>
                  <a:schemeClr val="dk2"/>
                </a:solidFill>
              </a:rPr>
              <a:t> = # prey species </a:t>
            </a:r>
            <a:r>
              <a:rPr i="1" lang="en" sz="900">
                <a:solidFill>
                  <a:schemeClr val="dk2"/>
                </a:solidFill>
              </a:rPr>
              <a:t>i</a:t>
            </a:r>
            <a:r>
              <a:rPr lang="en" sz="900">
                <a:solidFill>
                  <a:schemeClr val="dk2"/>
                </a:solidFill>
              </a:rPr>
              <a:t> encountered per unit time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2"/>
                </a:solidFill>
              </a:rPr>
              <a:t>E</a:t>
            </a:r>
            <a:r>
              <a:rPr baseline="-25000" i="1" lang="en" sz="900">
                <a:solidFill>
                  <a:schemeClr val="dk2"/>
                </a:solidFill>
              </a:rPr>
              <a:t>i</a:t>
            </a:r>
            <a:r>
              <a:rPr lang="en" sz="900">
                <a:solidFill>
                  <a:schemeClr val="dk2"/>
                </a:solidFill>
              </a:rPr>
              <a:t> = energy gain from prey species </a:t>
            </a:r>
            <a:r>
              <a:rPr i="1" lang="en" sz="900">
                <a:solidFill>
                  <a:schemeClr val="dk2"/>
                </a:solidFill>
              </a:rPr>
              <a:t>i</a:t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2"/>
                </a:solidFill>
              </a:rPr>
              <a:t>p</a:t>
            </a:r>
            <a:r>
              <a:rPr baseline="-25000" i="1" lang="en" sz="900">
                <a:solidFill>
                  <a:schemeClr val="dk2"/>
                </a:solidFill>
              </a:rPr>
              <a:t>i</a:t>
            </a:r>
            <a:r>
              <a:rPr lang="en" sz="900">
                <a:solidFill>
                  <a:schemeClr val="dk2"/>
                </a:solidFill>
              </a:rPr>
              <a:t> = probability of pursuit, capture of species </a:t>
            </a:r>
            <a:r>
              <a:rPr i="1" lang="en" sz="900">
                <a:solidFill>
                  <a:schemeClr val="dk2"/>
                </a:solidFill>
              </a:rPr>
              <a:t>i</a:t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2"/>
                </a:solidFill>
              </a:rPr>
              <a:t>h</a:t>
            </a:r>
            <a:r>
              <a:rPr baseline="-25000" i="1" lang="en" sz="1100">
                <a:solidFill>
                  <a:schemeClr val="dk2"/>
                </a:solidFill>
              </a:rPr>
              <a:t>i </a:t>
            </a:r>
            <a:r>
              <a:rPr lang="en" sz="900">
                <a:solidFill>
                  <a:schemeClr val="dk2"/>
                </a:solidFill>
              </a:rPr>
              <a:t>= handling time of prey species </a:t>
            </a:r>
            <a:r>
              <a:rPr i="1" lang="en" sz="900">
                <a:solidFill>
                  <a:schemeClr val="dk2"/>
                </a:solidFill>
              </a:rPr>
              <a:t>i</a:t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7" name="Google Shape;347;p47"/>
          <p:cNvSpPr txBox="1"/>
          <p:nvPr/>
        </p:nvSpPr>
        <p:spPr>
          <a:xfrm>
            <a:off x="4164350" y="876075"/>
            <a:ext cx="405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Overall, a relatively simple model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BUT it makes testable </a:t>
            </a:r>
            <a:r>
              <a:rPr lang="en" sz="1800">
                <a:solidFill>
                  <a:schemeClr val="dk2"/>
                </a:solidFill>
              </a:rPr>
              <a:t>predictions</a:t>
            </a:r>
            <a:r>
              <a:rPr lang="en" sz="1800">
                <a:solidFill>
                  <a:schemeClr val="dk2"/>
                </a:solidFill>
              </a:rPr>
              <a:t>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the Optimal Diet Model</a:t>
            </a:r>
            <a:endParaRPr/>
          </a:p>
        </p:txBody>
      </p:sp>
      <p:pic>
        <p:nvPicPr>
          <p:cNvPr id="353" name="Google Shape;353;p48"/>
          <p:cNvPicPr preferRelativeResize="0"/>
          <p:nvPr/>
        </p:nvPicPr>
        <p:blipFill rotWithShape="1">
          <a:blip r:embed="rId3">
            <a:alphaModFix/>
          </a:blip>
          <a:srcRect b="12509" l="49722" r="21535" t="20055"/>
          <a:stretch/>
        </p:blipFill>
        <p:spPr>
          <a:xfrm>
            <a:off x="210075" y="1104025"/>
            <a:ext cx="2923598" cy="38585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54" name="Google Shape;354;p48"/>
          <p:cNvPicPr preferRelativeResize="0"/>
          <p:nvPr/>
        </p:nvPicPr>
        <p:blipFill rotWithShape="1">
          <a:blip r:embed="rId4">
            <a:alphaModFix/>
          </a:blip>
          <a:srcRect b="52034" l="21296" r="27460" t="23570"/>
          <a:stretch/>
        </p:blipFill>
        <p:spPr>
          <a:xfrm>
            <a:off x="4986900" y="3888825"/>
            <a:ext cx="4009598" cy="10737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5" name="Google Shape;355;p48"/>
          <p:cNvSpPr txBox="1"/>
          <p:nvPr/>
        </p:nvSpPr>
        <p:spPr>
          <a:xfrm>
            <a:off x="6067150" y="1059425"/>
            <a:ext cx="2259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Predators: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Class I = biggest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Class IV = smallest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6" name="Google Shape;356;p48"/>
          <p:cNvSpPr txBox="1"/>
          <p:nvPr/>
        </p:nvSpPr>
        <p:spPr>
          <a:xfrm>
            <a:off x="3252575" y="1183325"/>
            <a:ext cx="161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Low Prey Density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7" name="Google Shape;357;p48"/>
          <p:cNvSpPr txBox="1"/>
          <p:nvPr/>
        </p:nvSpPr>
        <p:spPr>
          <a:xfrm>
            <a:off x="3252575" y="4155125"/>
            <a:ext cx="161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High Prey</a:t>
            </a:r>
            <a:r>
              <a:rPr lang="en" sz="1800">
                <a:solidFill>
                  <a:schemeClr val="dk2"/>
                </a:solidFill>
              </a:rPr>
              <a:t> Density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8" name="Google Shape;358;p48"/>
          <p:cNvSpPr txBox="1"/>
          <p:nvPr/>
        </p:nvSpPr>
        <p:spPr>
          <a:xfrm>
            <a:off x="6186075" y="2253625"/>
            <a:ext cx="298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White: prey eaten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highlight>
                  <a:srgbClr val="D9D9D9"/>
                </a:highlight>
              </a:rPr>
              <a:t>Grey</a:t>
            </a:r>
            <a:r>
              <a:rPr lang="en" sz="1800">
                <a:solidFill>
                  <a:schemeClr val="dk2"/>
                </a:solidFill>
              </a:rPr>
              <a:t>: null expectation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Foraging Theory</a:t>
            </a:r>
            <a:endParaRPr/>
          </a:p>
        </p:txBody>
      </p:sp>
      <p:sp>
        <p:nvSpPr>
          <p:cNvPr id="364" name="Google Shape;364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Predators also often have an option of WHERE they forage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Foraging Theory</a:t>
            </a:r>
            <a:endParaRPr/>
          </a:p>
        </p:txBody>
      </p:sp>
      <p:sp>
        <p:nvSpPr>
          <p:cNvPr id="370" name="Google Shape;370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Predators also often have an option of WHERE they forage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Marginal Value Theorem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Choice to stay or leave depends on:</a:t>
            </a:r>
            <a:endParaRPr/>
          </a:p>
          <a:p>
            <a:pPr indent="-342900" lvl="0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Rate of gain of resources</a:t>
            </a:r>
            <a:endParaRPr/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resource amount per patch</a:t>
            </a:r>
            <a:endParaRPr/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Travel time between patches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Marginal Value</a:t>
            </a:r>
            <a:endParaRPr/>
          </a:p>
        </p:txBody>
      </p:sp>
      <p:pic>
        <p:nvPicPr>
          <p:cNvPr id="376" name="Google Shape;376;p51"/>
          <p:cNvPicPr preferRelativeResize="0"/>
          <p:nvPr/>
        </p:nvPicPr>
        <p:blipFill rotWithShape="1">
          <a:blip r:embed="rId3">
            <a:alphaModFix/>
          </a:blip>
          <a:srcRect b="0" l="28233" r="0" t="0"/>
          <a:stretch/>
        </p:blipFill>
        <p:spPr>
          <a:xfrm>
            <a:off x="212601" y="1071025"/>
            <a:ext cx="6343552" cy="363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51"/>
          <p:cNvSpPr txBox="1"/>
          <p:nvPr/>
        </p:nvSpPr>
        <p:spPr>
          <a:xfrm>
            <a:off x="0" y="4835700"/>
            <a:ext cx="570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33333"/>
                </a:solidFill>
                <a:highlight>
                  <a:srgbClr val="FFFFFF"/>
                </a:highlight>
              </a:rPr>
              <a:t>King, Andrew J. et al. Current Biology, Volume 32, Issue 12, R680 - R683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378" name="Google Shape;378;p51"/>
          <p:cNvCxnSpPr/>
          <p:nvPr/>
        </p:nvCxnSpPr>
        <p:spPr>
          <a:xfrm>
            <a:off x="6503200" y="1500425"/>
            <a:ext cx="5550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79" name="Google Shape;379;p51"/>
          <p:cNvSpPr txBox="1"/>
          <p:nvPr/>
        </p:nvSpPr>
        <p:spPr>
          <a:xfrm>
            <a:off x="6955800" y="1232850"/>
            <a:ext cx="218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Rate of energy gain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E/T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Marginal Value</a:t>
            </a:r>
            <a:endParaRPr/>
          </a:p>
        </p:txBody>
      </p:sp>
      <p:sp>
        <p:nvSpPr>
          <p:cNvPr id="385" name="Google Shape;385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with Optimal Foraging, the marginal value theorem has received support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… and not just with animals!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Marginal Value in Plants</a:t>
            </a:r>
            <a:endParaRPr/>
          </a:p>
        </p:txBody>
      </p:sp>
      <p:pic>
        <p:nvPicPr>
          <p:cNvPr id="391" name="Google Shape;39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258195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53"/>
          <p:cNvSpPr txBox="1"/>
          <p:nvPr/>
        </p:nvSpPr>
        <p:spPr>
          <a:xfrm>
            <a:off x="6222000" y="2815900"/>
            <a:ext cx="292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Root length is </a:t>
            </a:r>
            <a:r>
              <a:rPr lang="en" sz="1800">
                <a:solidFill>
                  <a:schemeClr val="dk2"/>
                </a:solidFill>
              </a:rPr>
              <a:t>analogous</a:t>
            </a:r>
            <a:r>
              <a:rPr lang="en" sz="1800">
                <a:solidFill>
                  <a:schemeClr val="dk2"/>
                </a:solidFill>
              </a:rPr>
              <a:t> to time foraging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93" name="Google Shape;393;p53"/>
          <p:cNvPicPr preferRelativeResize="0"/>
          <p:nvPr/>
        </p:nvPicPr>
        <p:blipFill rotWithShape="1">
          <a:blip r:embed="rId4">
            <a:alphaModFix/>
          </a:blip>
          <a:srcRect b="59877" l="20967" r="22239" t="24207"/>
          <a:stretch/>
        </p:blipFill>
        <p:spPr>
          <a:xfrm>
            <a:off x="4492726" y="243650"/>
            <a:ext cx="4470490" cy="704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Marginal Value in Plants</a:t>
            </a:r>
            <a:endParaRPr/>
          </a:p>
        </p:txBody>
      </p:sp>
      <p:pic>
        <p:nvPicPr>
          <p:cNvPr id="399" name="Google Shape;39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55725"/>
            <a:ext cx="3655773" cy="223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5775" y="988650"/>
            <a:ext cx="4985824" cy="3875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4"/>
          <p:cNvPicPr preferRelativeResize="0"/>
          <p:nvPr/>
        </p:nvPicPr>
        <p:blipFill rotWithShape="1">
          <a:blip r:embed="rId5">
            <a:alphaModFix/>
          </a:blip>
          <a:srcRect b="59877" l="20967" r="22239" t="24207"/>
          <a:stretch/>
        </p:blipFill>
        <p:spPr>
          <a:xfrm>
            <a:off x="4492726" y="243650"/>
            <a:ext cx="4470490" cy="704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Non-consumptive Effects</a:t>
            </a:r>
            <a:endParaRPr/>
          </a:p>
        </p:txBody>
      </p:sp>
      <p:sp>
        <p:nvSpPr>
          <p:cNvPr id="407" name="Google Shape;407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Predators can also have impacts on prey other than eating them!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Can you think of examples?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Non-consumptive Effects</a:t>
            </a:r>
            <a:endParaRPr/>
          </a:p>
        </p:txBody>
      </p:sp>
      <p:sp>
        <p:nvSpPr>
          <p:cNvPr id="413" name="Google Shape;413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Predators can also have impacts on prey other than eating them!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Can you think of examples?</a:t>
            </a:r>
            <a:endParaRPr/>
          </a:p>
          <a:p>
            <a:pPr indent="-342900" lvl="0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Stress</a:t>
            </a:r>
            <a:endParaRPr/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Life history changes</a:t>
            </a:r>
            <a:endParaRPr/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Habitat usage</a:t>
            </a:r>
            <a:endParaRPr/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Behavioral changes</a:t>
            </a:r>
            <a:endParaRPr/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Morphology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Nonconsumptive Effects</a:t>
            </a:r>
            <a:endParaRPr/>
          </a:p>
        </p:txBody>
      </p:sp>
      <p:pic>
        <p:nvPicPr>
          <p:cNvPr id="419" name="Google Shape;41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682891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57"/>
          <p:cNvPicPr preferRelativeResize="0"/>
          <p:nvPr/>
        </p:nvPicPr>
        <p:blipFill rotWithShape="1">
          <a:blip r:embed="rId4">
            <a:alphaModFix/>
          </a:blip>
          <a:srcRect b="53833" l="24714" r="23289" t="20929"/>
          <a:stretch/>
        </p:blipFill>
        <p:spPr>
          <a:xfrm>
            <a:off x="5416312" y="0"/>
            <a:ext cx="3727690" cy="1017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Nonconsumptive Effects</a:t>
            </a:r>
            <a:endParaRPr/>
          </a:p>
        </p:txBody>
      </p:sp>
      <p:pic>
        <p:nvPicPr>
          <p:cNvPr id="426" name="Google Shape;42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682891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8041" y="1652925"/>
            <a:ext cx="6003912" cy="2855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58"/>
          <p:cNvPicPr preferRelativeResize="0"/>
          <p:nvPr/>
        </p:nvPicPr>
        <p:blipFill rotWithShape="1">
          <a:blip r:embed="rId5">
            <a:alphaModFix/>
          </a:blip>
          <a:srcRect b="53833" l="24714" r="23289" t="20929"/>
          <a:stretch/>
        </p:blipFill>
        <p:spPr>
          <a:xfrm>
            <a:off x="5416312" y="0"/>
            <a:ext cx="3727690" cy="1017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Nonconsumptive Effects</a:t>
            </a:r>
            <a:endParaRPr/>
          </a:p>
        </p:txBody>
      </p:sp>
      <p:pic>
        <p:nvPicPr>
          <p:cNvPr id="434" name="Google Shape;43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0341" y="1130475"/>
            <a:ext cx="5074811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59"/>
          <p:cNvPicPr preferRelativeResize="0"/>
          <p:nvPr/>
        </p:nvPicPr>
        <p:blipFill rotWithShape="1">
          <a:blip r:embed="rId4">
            <a:alphaModFix/>
          </a:blip>
          <a:srcRect b="53833" l="24714" r="23289" t="20929"/>
          <a:stretch/>
        </p:blipFill>
        <p:spPr>
          <a:xfrm>
            <a:off x="5416312" y="0"/>
            <a:ext cx="3727690" cy="1017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Nonconsumptive Effects</a:t>
            </a:r>
            <a:endParaRPr/>
          </a:p>
        </p:txBody>
      </p:sp>
      <p:pic>
        <p:nvPicPr>
          <p:cNvPr id="441" name="Google Shape;44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0341" y="1130475"/>
            <a:ext cx="5074811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60"/>
          <p:cNvPicPr preferRelativeResize="0"/>
          <p:nvPr/>
        </p:nvPicPr>
        <p:blipFill rotWithShape="1">
          <a:blip r:embed="rId4">
            <a:alphaModFix/>
          </a:blip>
          <a:srcRect b="0" l="58692" r="489" t="0"/>
          <a:stretch/>
        </p:blipFill>
        <p:spPr>
          <a:xfrm>
            <a:off x="81300" y="1771187"/>
            <a:ext cx="3399250" cy="265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60"/>
          <p:cNvPicPr preferRelativeResize="0"/>
          <p:nvPr/>
        </p:nvPicPr>
        <p:blipFill rotWithShape="1">
          <a:blip r:embed="rId5">
            <a:alphaModFix/>
          </a:blip>
          <a:srcRect b="53833" l="24714" r="23289" t="20929"/>
          <a:stretch/>
        </p:blipFill>
        <p:spPr>
          <a:xfrm>
            <a:off x="5416312" y="0"/>
            <a:ext cx="3727690" cy="1017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Nonconsumptive Effects</a:t>
            </a:r>
            <a:endParaRPr/>
          </a:p>
        </p:txBody>
      </p:sp>
      <p:pic>
        <p:nvPicPr>
          <p:cNvPr id="449" name="Google Shape;44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3629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61"/>
          <p:cNvPicPr preferRelativeResize="0"/>
          <p:nvPr/>
        </p:nvPicPr>
        <p:blipFill rotWithShape="1">
          <a:blip r:embed="rId4">
            <a:alphaModFix/>
          </a:blip>
          <a:srcRect b="53833" l="24714" r="23289" t="20929"/>
          <a:stretch/>
        </p:blipFill>
        <p:spPr>
          <a:xfrm>
            <a:off x="5416312" y="0"/>
            <a:ext cx="3727690" cy="1017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Competition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