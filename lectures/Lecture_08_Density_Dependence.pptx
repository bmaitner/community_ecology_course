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8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47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d8981be03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d8981be03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2d8ee6e36d0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2d8ee6e36d0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d8ee6e36d0_0_1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d8ee6e36d0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d8ee6e36d0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d8ee6e36d0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d8ee6e36d0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d8ee6e36d0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d8ee6e36d0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2d8ee6e36d0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2d8ee6e36d0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2d8ee6e36d0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d8ee6e36d0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d8ee6e36d0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d8ee6e36d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d8ee6e36d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2d8ee6e36d0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2d8ee6e36d0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d8ee6e36d0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2d8ee6e36d0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d8ee6e36d0_0_1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d8ee6e36d0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d8ee6e36d0_0_1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2d8ee6e36d0_0_1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d8ee6e36d0_0_2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2d8ee6e36d0_0_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2d8ee6e36d0_0_2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2d8ee6e36d0_0_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d8ee6e36d0_0_2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2d8ee6e36d0_0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8ee6e36d0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2d8ee6e36d0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d8ee6e36d0_0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2d8ee6e36d0_0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d8ee6e36d0_0_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2d8ee6e36d0_0_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2d8ee6e36d0_0_2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2d8ee6e36d0_0_2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d8ee6e36d0_0_2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2d8ee6e36d0_0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2d8ee6e36d0_0_2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2d8ee6e36d0_0_2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2d8ee6e36d0_0_2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2d8ee6e36d0_0_2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d8ee6e36d0_0_3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2d8ee6e36d0_0_3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d8ee6e36d0_0_2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2d8ee6e36d0_0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d8ee6e36d0_0_3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2d8ee6e36d0_0_3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d8ee6e36d0_0_3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d8ee6e36d0_0_3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2d8ee6e36d0_0_3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2d8ee6e36d0_0_3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2d8ee6e36d0_0_3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2d8ee6e36d0_0_3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2d8ee6e36d0_0_3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2d8ee6e36d0_0_3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d8ee6e36d0_0_3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2d8ee6e36d0_0_3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d8ee6e36d0_0_3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d8ee6e36d0_0_3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2d8ee6e36d0_0_3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2d8ee6e36d0_0_3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2d8ee6e36d0_0_3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2d8ee6e36d0_0_3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d8ee6e36d0_0_3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2d8ee6e36d0_0_3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2d8ee6e36d0_0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2d8ee6e36d0_0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d8ee6e36d0_0_4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d8ee6e36d0_0_4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2d8ee6e36d0_0_4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2d8ee6e36d0_0_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2d8ee6e36d0_0_4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2d8ee6e36d0_0_4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d8ee6e36d0_0_4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2d8ee6e36d0_0_4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d8ee6e36d0_0_4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2d8ee6e36d0_0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2d8ee6e36d0_0_4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2d8ee6e36d0_0_4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2d8ee6e36d0_0_4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2d8ee6e36d0_0_4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2d8ee6e36d0_0_4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2d8ee6e36d0_0_4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d8ee6e36d0_0_4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d8ee6e36d0_0_4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2d8ee6e36d0_0_4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2d8ee6e36d0_0_4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d8ee6e36d0_0_5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d8ee6e36d0_0_5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d8981be037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d8981be037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5.png"/><Relationship Id="rId4" Type="http://schemas.openxmlformats.org/officeDocument/2006/relationships/image" Target="../media/image2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0.png"/><Relationship Id="rId4" Type="http://schemas.openxmlformats.org/officeDocument/2006/relationships/image" Target="../media/image21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2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0.png"/><Relationship Id="rId4" Type="http://schemas.openxmlformats.org/officeDocument/2006/relationships/image" Target="../media/image2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Relationship Id="rId4" Type="http://schemas.openxmlformats.org/officeDocument/2006/relationships/image" Target="../media/image24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Relationship Id="rId4" Type="http://schemas.openxmlformats.org/officeDocument/2006/relationships/image" Target="../media/image18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3.png"/><Relationship Id="rId4" Type="http://schemas.openxmlformats.org/officeDocument/2006/relationships/image" Target="../media/image18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3.png"/><Relationship Id="rId4" Type="http://schemas.openxmlformats.org/officeDocument/2006/relationships/image" Target="../media/image18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115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Density Dependence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389575"/>
            <a:ext cx="8520600" cy="24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Quiz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Project 2: Species Interactions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Population growth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Density Dependence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2: Species Interactions: Due Feb 28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 1: Select type(s) of species interactions relevant for your study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Step 2: Find and read 10-20 relevant papers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Step 3: Write around 3 pages about it (double spaced)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	~ Pages 1-2: Focus on interactions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	~ Page 3: Focus on impact of interactions on diversity patterns</a:t>
            </a:r>
            <a:endParaRPr/>
          </a:p>
          <a:p>
            <a:pPr indent="45720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Introduction format, references don’t count against page limit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2: Species Interactions: Due Feb 28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Potential things to include:</a:t>
            </a:r>
            <a:endParaRPr/>
          </a:p>
          <a:p>
            <a:pPr indent="-342900" lvl="0" marL="9144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Predation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Competition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Mutualism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Coexistence (with linkages to e.g., predation, </a:t>
            </a:r>
            <a:r>
              <a:rPr lang="en"/>
              <a:t>competition</a:t>
            </a:r>
            <a:r>
              <a:rPr lang="en"/>
              <a:t>, etc.)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things are tested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Gaps in our knowledge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Spatial variation in interaction strength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2: Species Interactions: Due Feb 28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500">
                <a:solidFill>
                  <a:schemeClr val="dk1"/>
                </a:solidFill>
              </a:rPr>
              <a:t>Grade Breakdown:	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At least ten papers were referenced in the text		 				30%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One or more interaction types were discussed						30%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Impact of the interaction on diversity patterns was discussed			20%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One or more additional aspects (e.g., testing, competition) discussed		10%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Writing quality												10%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Up to 10% will be deducted for excessive length						-10%</a:t>
            </a:r>
            <a:endParaRPr sz="2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2: Species Interactions: Due Feb 28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dk1"/>
                </a:solidFill>
              </a:rPr>
              <a:t>Questions?</a:t>
            </a:r>
            <a:endParaRPr sz="3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Population Growth</a:t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Population Growth</a:t>
            </a:r>
            <a:endParaRPr/>
          </a:p>
        </p:txBody>
      </p:sp>
      <p:sp>
        <p:nvSpPr>
          <p:cNvPr id="91" name="Google Shape;91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Thomas Malthus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Economist who is critical for ecology and evolution</a:t>
            </a:r>
            <a:endParaRPr/>
          </a:p>
        </p:txBody>
      </p:sp>
      <p:pic>
        <p:nvPicPr>
          <p:cNvPr id="92" name="Google Shape;9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0850" y="241825"/>
            <a:ext cx="2071450" cy="25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9"/>
          <p:cNvSpPr txBox="1"/>
          <p:nvPr/>
        </p:nvSpPr>
        <p:spPr>
          <a:xfrm>
            <a:off x="0" y="4830900"/>
            <a:ext cx="8976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By John Linnell -https://wellcomecollection.org/works/f4ep87xc CC-BY-4.0, CC BY 4.0, https://commons.wikimedia.org/w/index.php?curid=38203021</a:t>
            </a:r>
            <a:endParaRPr sz="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Population Growth</a:t>
            </a:r>
            <a:endParaRPr/>
          </a:p>
        </p:txBody>
      </p:sp>
      <p:sp>
        <p:nvSpPr>
          <p:cNvPr id="99" name="Google Shape;99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Thomas Malthus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Economist who is critical for ecology and evolution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Focused on population growth</a:t>
            </a:r>
            <a:endParaRPr/>
          </a:p>
        </p:txBody>
      </p:sp>
      <p:pic>
        <p:nvPicPr>
          <p:cNvPr id="100" name="Google Shape;10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0850" y="241825"/>
            <a:ext cx="2071450" cy="25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0"/>
          <p:cNvSpPr txBox="1"/>
          <p:nvPr/>
        </p:nvSpPr>
        <p:spPr>
          <a:xfrm>
            <a:off x="0" y="4830900"/>
            <a:ext cx="8976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By John Linnell -https://wellcomecollection.org/works/f4ep87xc CC-BY-4.0, CC BY 4.0, https://commons.wikimedia.org/w/index.php?curid=38203021</a:t>
            </a:r>
            <a:endParaRPr sz="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Population Growth</a:t>
            </a:r>
            <a:endParaRPr/>
          </a:p>
        </p:txBody>
      </p:sp>
      <p:sp>
        <p:nvSpPr>
          <p:cNvPr id="107" name="Google Shape;107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Thomas Malthus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Economist who is critical for ecology and evolution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Focused on population growth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Inspired the Exponential (a.k.a. Malthusian) Growth Model</a:t>
            </a:r>
            <a:endParaRPr/>
          </a:p>
          <a:p>
            <a:pPr indent="457200" lvl="0" marL="9144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N</a:t>
            </a:r>
            <a:r>
              <a:rPr baseline="-25000" lang="en" sz="2100"/>
              <a:t>t</a:t>
            </a:r>
            <a:r>
              <a:rPr lang="en" sz="2100"/>
              <a:t> = N</a:t>
            </a:r>
            <a:r>
              <a:rPr baseline="-25000" lang="en" sz="2100"/>
              <a:t>0</a:t>
            </a:r>
            <a:r>
              <a:rPr i="1" lang="en" sz="2100"/>
              <a:t>e</a:t>
            </a:r>
            <a:r>
              <a:rPr baseline="30000" i="1" lang="en" sz="2100"/>
              <a:t>rt</a:t>
            </a:r>
            <a:endParaRPr baseline="30000" i="1" sz="2100"/>
          </a:p>
        </p:txBody>
      </p:sp>
      <p:pic>
        <p:nvPicPr>
          <p:cNvPr id="108" name="Google Shape;10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0850" y="241825"/>
            <a:ext cx="2071450" cy="25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1"/>
          <p:cNvSpPr txBox="1"/>
          <p:nvPr/>
        </p:nvSpPr>
        <p:spPr>
          <a:xfrm>
            <a:off x="0" y="4830900"/>
            <a:ext cx="8976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By John Linnell -https://wellcomecollection.org/works/f4ep87xc CC-BY-4.0, CC BY 4.0, https://commons.wikimedia.org/w/index.php?curid=38203021</a:t>
            </a:r>
            <a:endParaRPr sz="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Population Growth</a:t>
            </a:r>
            <a:endParaRPr/>
          </a:p>
        </p:txBody>
      </p:sp>
      <p:sp>
        <p:nvSpPr>
          <p:cNvPr id="115" name="Google Shape;115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Thomas Malthus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Economist who is critical for ecology and evolution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Focused on population growth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Inspired the Exponential (a.k.a. Malthusian) Growth Model</a:t>
            </a:r>
            <a:endParaRPr/>
          </a:p>
          <a:p>
            <a:pPr indent="45720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N</a:t>
            </a:r>
            <a:r>
              <a:rPr baseline="-25000" lang="en" sz="2100"/>
              <a:t>t</a:t>
            </a:r>
            <a:r>
              <a:rPr lang="en" sz="2100"/>
              <a:t> = N</a:t>
            </a:r>
            <a:r>
              <a:rPr baseline="-25000" lang="en" sz="2100"/>
              <a:t>0</a:t>
            </a:r>
            <a:r>
              <a:rPr i="1" lang="en" sz="2100"/>
              <a:t>e</a:t>
            </a:r>
            <a:r>
              <a:rPr baseline="30000" i="1" lang="en" sz="2100"/>
              <a:t>rt</a:t>
            </a:r>
            <a:endParaRPr baseline="30000" i="1" sz="2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00"/>
              <a:t>N</a:t>
            </a:r>
            <a:r>
              <a:rPr baseline="-25000" lang="en" sz="1700"/>
              <a:t>t</a:t>
            </a:r>
            <a:r>
              <a:rPr lang="en" sz="1700"/>
              <a:t> = # at time t, </a:t>
            </a:r>
            <a:endParaRPr sz="17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N</a:t>
            </a:r>
            <a:r>
              <a:rPr baseline="-25000" lang="en" sz="1700"/>
              <a:t>0</a:t>
            </a:r>
            <a:r>
              <a:rPr lang="en" sz="1700"/>
              <a:t>= initial population size, </a:t>
            </a:r>
            <a:endParaRPr sz="17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r = intrinsic population growth rate</a:t>
            </a:r>
            <a:endParaRPr sz="17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t </a:t>
            </a:r>
            <a:r>
              <a:rPr lang="en" sz="1700"/>
              <a:t>= time</a:t>
            </a:r>
            <a:endParaRPr sz="1700"/>
          </a:p>
        </p:txBody>
      </p:sp>
      <p:pic>
        <p:nvPicPr>
          <p:cNvPr id="116" name="Google Shape;11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0850" y="241825"/>
            <a:ext cx="2071450" cy="25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2"/>
          <p:cNvSpPr txBox="1"/>
          <p:nvPr/>
        </p:nvSpPr>
        <p:spPr>
          <a:xfrm>
            <a:off x="0" y="4830900"/>
            <a:ext cx="8976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By John Linnell -https://wellcomecollection.org/works/f4ep87xc CC-BY-4.0, CC BY 4.0, https://commons.wikimedia.org/w/index.php?curid=38203021</a:t>
            </a:r>
            <a:endParaRPr sz="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Exponential Growth</a:t>
            </a:r>
            <a:endParaRPr/>
          </a:p>
        </p:txBody>
      </p:sp>
      <p:sp>
        <p:nvSpPr>
          <p:cNvPr id="123" name="Google Shape;123;p23"/>
          <p:cNvSpPr txBox="1"/>
          <p:nvPr>
            <p:ph idx="1" type="body"/>
          </p:nvPr>
        </p:nvSpPr>
        <p:spPr>
          <a:xfrm>
            <a:off x="311700" y="1152475"/>
            <a:ext cx="1342200" cy="68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100"/>
              <a:t>N</a:t>
            </a:r>
            <a:r>
              <a:rPr baseline="-25000" lang="en" sz="2100"/>
              <a:t>t</a:t>
            </a:r>
            <a:r>
              <a:rPr lang="en" sz="2100"/>
              <a:t> = N</a:t>
            </a:r>
            <a:r>
              <a:rPr baseline="-25000" lang="en" sz="2100"/>
              <a:t>0</a:t>
            </a:r>
            <a:r>
              <a:rPr i="1" lang="en" sz="2100"/>
              <a:t>e</a:t>
            </a:r>
            <a:r>
              <a:rPr baseline="30000" i="1" lang="en" sz="2100"/>
              <a:t>rt</a:t>
            </a:r>
            <a:endParaRPr/>
          </a:p>
        </p:txBody>
      </p:sp>
      <p:pic>
        <p:nvPicPr>
          <p:cNvPr id="124" name="Google Shape;12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81277" y="1117825"/>
            <a:ext cx="2419075" cy="23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3"/>
          <p:cNvSpPr txBox="1"/>
          <p:nvPr/>
        </p:nvSpPr>
        <p:spPr>
          <a:xfrm>
            <a:off x="7424300" y="3820850"/>
            <a:ext cx="111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lang="en" sz="1800">
                <a:solidFill>
                  <a:schemeClr val="dk2"/>
                </a:solidFill>
              </a:rPr>
              <a:t> = 0.5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26" name="Google Shape;126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95925" y="1117826"/>
            <a:ext cx="2419075" cy="233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/>
          <p:nvPr/>
        </p:nvSpPr>
        <p:spPr>
          <a:xfrm>
            <a:off x="4909700" y="3820850"/>
            <a:ext cx="111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0.0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28" name="Google Shape;128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71201" y="1117825"/>
            <a:ext cx="2419075" cy="233449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3"/>
          <p:cNvSpPr txBox="1"/>
          <p:nvPr/>
        </p:nvSpPr>
        <p:spPr>
          <a:xfrm>
            <a:off x="2318900" y="3820850"/>
            <a:ext cx="111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-0.5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Exponential Growth</a:t>
            </a:r>
            <a:endParaRPr/>
          </a:p>
        </p:txBody>
      </p:sp>
      <p:sp>
        <p:nvSpPr>
          <p:cNvPr id="135" name="Google Shape;135;p24"/>
          <p:cNvSpPr txBox="1"/>
          <p:nvPr>
            <p:ph idx="1" type="body"/>
          </p:nvPr>
        </p:nvSpPr>
        <p:spPr>
          <a:xfrm>
            <a:off x="311700" y="1152475"/>
            <a:ext cx="1342200" cy="68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100"/>
              <a:t>N</a:t>
            </a:r>
            <a:r>
              <a:rPr baseline="-25000" lang="en" sz="2100"/>
              <a:t>t</a:t>
            </a:r>
            <a:r>
              <a:rPr lang="en" sz="2100"/>
              <a:t> = N</a:t>
            </a:r>
            <a:r>
              <a:rPr baseline="-25000" lang="en" sz="2100"/>
              <a:t>0</a:t>
            </a:r>
            <a:r>
              <a:rPr i="1" lang="en" sz="2100"/>
              <a:t>e</a:t>
            </a:r>
            <a:r>
              <a:rPr baseline="30000" i="1" lang="en" sz="2100"/>
              <a:t>rt</a:t>
            </a:r>
            <a:endParaRPr/>
          </a:p>
        </p:txBody>
      </p:sp>
      <p:pic>
        <p:nvPicPr>
          <p:cNvPr id="136" name="Google Shape;13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66499" y="1086025"/>
            <a:ext cx="3079100" cy="29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4"/>
          <p:cNvSpPr txBox="1"/>
          <p:nvPr/>
        </p:nvSpPr>
        <p:spPr>
          <a:xfrm>
            <a:off x="4013550" y="4125775"/>
            <a:ext cx="111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0.5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38" name="Google Shape;13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7032" y="1101000"/>
            <a:ext cx="3010243" cy="2904999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4"/>
          <p:cNvSpPr txBox="1"/>
          <p:nvPr/>
        </p:nvSpPr>
        <p:spPr>
          <a:xfrm>
            <a:off x="7339450" y="4089275"/>
            <a:ext cx="111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1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Exponential Growth</a:t>
            </a:r>
            <a:endParaRPr/>
          </a:p>
        </p:txBody>
      </p:sp>
      <p:sp>
        <p:nvSpPr>
          <p:cNvPr id="145" name="Google Shape;145;p25"/>
          <p:cNvSpPr txBox="1"/>
          <p:nvPr>
            <p:ph idx="1" type="body"/>
          </p:nvPr>
        </p:nvSpPr>
        <p:spPr>
          <a:xfrm>
            <a:off x="311700" y="1152475"/>
            <a:ext cx="8520600" cy="19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What is the growth rate for a population that doubles every 20 years?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N</a:t>
            </a:r>
            <a:r>
              <a:rPr baseline="-25000" lang="en" sz="2100"/>
              <a:t>t</a:t>
            </a:r>
            <a:r>
              <a:rPr lang="en" sz="2100"/>
              <a:t> = N</a:t>
            </a:r>
            <a:r>
              <a:rPr baseline="-25000" lang="en" sz="2100"/>
              <a:t>0</a:t>
            </a:r>
            <a:r>
              <a:rPr i="1" lang="en" sz="2100"/>
              <a:t>e</a:t>
            </a:r>
            <a:r>
              <a:rPr baseline="30000" i="1" lang="en" sz="2100"/>
              <a:t>rt</a:t>
            </a:r>
            <a:endParaRPr baseline="30000" sz="2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Exponential Growth</a:t>
            </a:r>
            <a:endParaRPr/>
          </a:p>
        </p:txBody>
      </p:sp>
      <p:sp>
        <p:nvSpPr>
          <p:cNvPr id="151" name="Google Shape;151;p26"/>
          <p:cNvSpPr txBox="1"/>
          <p:nvPr>
            <p:ph idx="1" type="body"/>
          </p:nvPr>
        </p:nvSpPr>
        <p:spPr>
          <a:xfrm>
            <a:off x="311700" y="1152475"/>
            <a:ext cx="8520600" cy="19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What is the growth rate for a population that doubles every 20 years?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N</a:t>
            </a:r>
            <a:r>
              <a:rPr baseline="-25000" lang="en" sz="2100"/>
              <a:t>t</a:t>
            </a:r>
            <a:r>
              <a:rPr lang="en" sz="2100"/>
              <a:t> = N</a:t>
            </a:r>
            <a:r>
              <a:rPr baseline="-25000" lang="en" sz="2100"/>
              <a:t>0</a:t>
            </a:r>
            <a:r>
              <a:rPr i="1" lang="en" sz="2100"/>
              <a:t>e</a:t>
            </a:r>
            <a:r>
              <a:rPr baseline="30000" i="1" lang="en" sz="2100"/>
              <a:t>rt</a:t>
            </a:r>
            <a:endParaRPr baseline="30000" i="1" sz="2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2=1*e</a:t>
            </a:r>
            <a:r>
              <a:rPr baseline="30000" lang="en" sz="2100"/>
              <a:t>r*20</a:t>
            </a:r>
            <a:endParaRPr baseline="30000" sz="2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Exponential Growth</a:t>
            </a:r>
            <a:endParaRPr/>
          </a:p>
        </p:txBody>
      </p:sp>
      <p:sp>
        <p:nvSpPr>
          <p:cNvPr id="157" name="Google Shape;157;p27"/>
          <p:cNvSpPr txBox="1"/>
          <p:nvPr>
            <p:ph idx="1" type="body"/>
          </p:nvPr>
        </p:nvSpPr>
        <p:spPr>
          <a:xfrm>
            <a:off x="311700" y="1152475"/>
            <a:ext cx="8520600" cy="26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What is the growth rate for a population that doubles every 20 years?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N</a:t>
            </a:r>
            <a:r>
              <a:rPr baseline="-25000" lang="en" sz="2100"/>
              <a:t>t</a:t>
            </a:r>
            <a:r>
              <a:rPr lang="en" sz="2100"/>
              <a:t> = N</a:t>
            </a:r>
            <a:r>
              <a:rPr baseline="-25000" lang="en" sz="2100"/>
              <a:t>0</a:t>
            </a:r>
            <a:r>
              <a:rPr i="1" lang="en" sz="2100"/>
              <a:t>e</a:t>
            </a:r>
            <a:r>
              <a:rPr baseline="30000" i="1" lang="en" sz="2100"/>
              <a:t>rt</a:t>
            </a:r>
            <a:endParaRPr baseline="30000" i="1"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2=1*e</a:t>
            </a:r>
            <a:r>
              <a:rPr baseline="30000" lang="en" sz="2100"/>
              <a:t>r*20</a:t>
            </a:r>
            <a:endParaRPr baseline="30000" sz="2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ln(2)=20r</a:t>
            </a:r>
            <a:endParaRPr sz="2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Exponential Growth</a:t>
            </a:r>
            <a:endParaRPr/>
          </a:p>
        </p:txBody>
      </p:sp>
      <p:sp>
        <p:nvSpPr>
          <p:cNvPr id="163" name="Google Shape;163;p28"/>
          <p:cNvSpPr txBox="1"/>
          <p:nvPr>
            <p:ph idx="1" type="body"/>
          </p:nvPr>
        </p:nvSpPr>
        <p:spPr>
          <a:xfrm>
            <a:off x="311700" y="1152475"/>
            <a:ext cx="8520600" cy="372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What is the growth rate for a population that doubles every 20 years?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N</a:t>
            </a:r>
            <a:r>
              <a:rPr baseline="-25000" lang="en" sz="2100"/>
              <a:t>t</a:t>
            </a:r>
            <a:r>
              <a:rPr lang="en" sz="2100"/>
              <a:t> = N</a:t>
            </a:r>
            <a:r>
              <a:rPr baseline="-25000" lang="en" sz="2100"/>
              <a:t>0</a:t>
            </a:r>
            <a:r>
              <a:rPr i="1" lang="en" sz="2100"/>
              <a:t>e</a:t>
            </a:r>
            <a:r>
              <a:rPr baseline="30000" i="1" lang="en" sz="2100"/>
              <a:t>rt</a:t>
            </a:r>
            <a:endParaRPr baseline="30000" i="1"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2=1*e</a:t>
            </a:r>
            <a:r>
              <a:rPr baseline="30000" lang="en" sz="2100"/>
              <a:t>r*20</a:t>
            </a:r>
            <a:endParaRPr baseline="30000"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ln(2)=20r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r</a:t>
            </a:r>
            <a:r>
              <a:rPr lang="en" sz="2100"/>
              <a:t> = </a:t>
            </a:r>
            <a:r>
              <a:rPr lang="en" sz="2100"/>
              <a:t>ln(2)/20 = 0.03465736</a:t>
            </a:r>
            <a:endParaRPr sz="2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Exponential Growth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1152475"/>
            <a:ext cx="8520600" cy="372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Our book gives 20,000 humans as an estimate for 70k bce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	Assuming </a:t>
            </a:r>
            <a:r>
              <a:rPr lang="en" sz="2100"/>
              <a:t>populations doubled in ~ 20 years…</a:t>
            </a:r>
            <a:endParaRPr sz="2100"/>
          </a:p>
        </p:txBody>
      </p:sp>
      <p:pic>
        <p:nvPicPr>
          <p:cNvPr id="170" name="Google Shape;17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850" y="2079750"/>
            <a:ext cx="2955824" cy="285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Exponential Growth</a:t>
            </a:r>
            <a:endParaRPr/>
          </a:p>
        </p:txBody>
      </p:sp>
      <p:sp>
        <p:nvSpPr>
          <p:cNvPr id="176" name="Google Shape;176;p30"/>
          <p:cNvSpPr txBox="1"/>
          <p:nvPr>
            <p:ph idx="1" type="body"/>
          </p:nvPr>
        </p:nvSpPr>
        <p:spPr>
          <a:xfrm>
            <a:off x="311700" y="1152475"/>
            <a:ext cx="8520600" cy="372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Our book gives 20,000 humans as an estimate for 70k bce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	Assuming populations doubled in ~ 20 years…</a:t>
            </a:r>
            <a:endParaRPr sz="2100"/>
          </a:p>
        </p:txBody>
      </p:sp>
      <p:pic>
        <p:nvPicPr>
          <p:cNvPr id="177" name="Google Shape;177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850" y="2079750"/>
            <a:ext cx="2955824" cy="285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89445" y="2108288"/>
            <a:ext cx="2896705" cy="2795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Exponential Growth</a:t>
            </a:r>
            <a:endParaRPr/>
          </a:p>
        </p:txBody>
      </p:sp>
      <p:sp>
        <p:nvSpPr>
          <p:cNvPr id="184" name="Google Shape;184;p31"/>
          <p:cNvSpPr txBox="1"/>
          <p:nvPr>
            <p:ph idx="1" type="body"/>
          </p:nvPr>
        </p:nvSpPr>
        <p:spPr>
          <a:xfrm>
            <a:off x="311700" y="1152475"/>
            <a:ext cx="8520600" cy="372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Our book gives 20,000 humans as an estimate for 70k bce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	Assuming populations doubled in ~ 20 years…</a:t>
            </a:r>
            <a:endParaRPr sz="2100"/>
          </a:p>
        </p:txBody>
      </p:sp>
      <p:pic>
        <p:nvPicPr>
          <p:cNvPr id="185" name="Google Shape;185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850" y="2079750"/>
            <a:ext cx="2955824" cy="285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89445" y="2108288"/>
            <a:ext cx="2896705" cy="2795425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31"/>
          <p:cNvSpPr txBox="1"/>
          <p:nvPr/>
        </p:nvSpPr>
        <p:spPr>
          <a:xfrm>
            <a:off x="6461900" y="2342575"/>
            <a:ext cx="2704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9900FF"/>
                </a:solidFill>
              </a:rPr>
              <a:t>Obviously, 400 billion humans is unrealistic…</a:t>
            </a:r>
            <a:endParaRPr sz="1800">
              <a:solidFill>
                <a:srgbClr val="9900FF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Density Dependence</a:t>
            </a:r>
            <a:endParaRPr/>
          </a:p>
        </p:txBody>
      </p:sp>
      <p:sp>
        <p:nvSpPr>
          <p:cNvPr id="193" name="Google Shape;193;p3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populations increase, growth rates decrease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What factors drive this?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Density Dependence</a:t>
            </a:r>
            <a:endParaRPr/>
          </a:p>
        </p:txBody>
      </p:sp>
      <p:sp>
        <p:nvSpPr>
          <p:cNvPr id="199" name="Google Shape;199;p3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populations increase, growth rates decrease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What factors drive this?</a:t>
            </a:r>
            <a:endParaRPr/>
          </a:p>
          <a:p>
            <a:pPr indent="-342900" lvl="0" marL="9144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Competition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Aggression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Disease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Predation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Accumulation of waste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Density Dependence</a:t>
            </a:r>
            <a:endParaRPr/>
          </a:p>
        </p:txBody>
      </p:sp>
      <p:sp>
        <p:nvSpPr>
          <p:cNvPr id="205" name="Google Shape;205;p3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populations increase, growth rates decrease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	Creates a feedback between population size and growth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	Often modelled using a logistic growth model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5"/>
          <p:cNvSpPr txBox="1"/>
          <p:nvPr/>
        </p:nvSpPr>
        <p:spPr>
          <a:xfrm>
            <a:off x="1122725" y="2340900"/>
            <a:ext cx="1971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(</a:t>
            </a:r>
            <a:r>
              <a:rPr lang="en" sz="1800">
                <a:solidFill>
                  <a:schemeClr val="dk2"/>
                </a:solidFill>
              </a:rPr>
              <a:t>K - N</a:t>
            </a:r>
            <a:r>
              <a:rPr baseline="-25000" lang="en" sz="1800">
                <a:solidFill>
                  <a:schemeClr val="dk2"/>
                </a:solidFill>
              </a:rPr>
              <a:t>0</a:t>
            </a:r>
            <a:r>
              <a:rPr lang="en" sz="1800">
                <a:solidFill>
                  <a:schemeClr val="dk2"/>
                </a:solidFill>
              </a:rPr>
              <a:t>)e</a:t>
            </a:r>
            <a:r>
              <a:rPr baseline="30000" lang="en" sz="1800">
                <a:solidFill>
                  <a:schemeClr val="dk2"/>
                </a:solidFill>
              </a:rPr>
              <a:t>-rt</a:t>
            </a:r>
            <a:r>
              <a:rPr lang="en" sz="1800">
                <a:solidFill>
                  <a:schemeClr val="dk2"/>
                </a:solidFill>
              </a:rPr>
              <a:t> + N</a:t>
            </a:r>
            <a:r>
              <a:rPr baseline="-25000"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11" name="Google Shape;211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Logistic Growth</a:t>
            </a:r>
            <a:endParaRPr/>
          </a:p>
        </p:txBody>
      </p:sp>
      <p:sp>
        <p:nvSpPr>
          <p:cNvPr id="212" name="Google Shape;212;p35"/>
          <p:cNvSpPr txBox="1"/>
          <p:nvPr/>
        </p:nvSpPr>
        <p:spPr>
          <a:xfrm>
            <a:off x="350825" y="2097375"/>
            <a:ext cx="5225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t</a:t>
            </a:r>
            <a:r>
              <a:rPr lang="en" sz="1800">
                <a:solidFill>
                  <a:schemeClr val="dk2"/>
                </a:solidFill>
              </a:rPr>
              <a:t> = N</a:t>
            </a:r>
            <a:r>
              <a:rPr baseline="-25000"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13" name="Google Shape;213;p35"/>
          <p:cNvSpPr txBox="1"/>
          <p:nvPr/>
        </p:nvSpPr>
        <p:spPr>
          <a:xfrm>
            <a:off x="1735625" y="1909175"/>
            <a:ext cx="33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14" name="Google Shape;214;p35"/>
          <p:cNvCxnSpPr/>
          <p:nvPr/>
        </p:nvCxnSpPr>
        <p:spPr>
          <a:xfrm>
            <a:off x="1179225" y="2370875"/>
            <a:ext cx="17541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5" name="Google Shape;215;p35"/>
          <p:cNvSpPr txBox="1"/>
          <p:nvPr/>
        </p:nvSpPr>
        <p:spPr>
          <a:xfrm>
            <a:off x="76200" y="3048000"/>
            <a:ext cx="37641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N</a:t>
            </a:r>
            <a:r>
              <a:rPr baseline="-25000" lang="en" sz="1700">
                <a:solidFill>
                  <a:schemeClr val="dk2"/>
                </a:solidFill>
              </a:rPr>
              <a:t>t</a:t>
            </a:r>
            <a:r>
              <a:rPr lang="en" sz="1700">
                <a:solidFill>
                  <a:schemeClr val="dk2"/>
                </a:solidFill>
              </a:rPr>
              <a:t> = # at time t, 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N</a:t>
            </a:r>
            <a:r>
              <a:rPr baseline="-25000" lang="en" sz="1700">
                <a:solidFill>
                  <a:schemeClr val="dk2"/>
                </a:solidFill>
              </a:rPr>
              <a:t>0</a:t>
            </a:r>
            <a:r>
              <a:rPr lang="en" sz="1700">
                <a:solidFill>
                  <a:schemeClr val="dk2"/>
                </a:solidFill>
              </a:rPr>
              <a:t>= initial population size, 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r = intrinsic population growth rate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700">
                <a:solidFill>
                  <a:schemeClr val="dk2"/>
                </a:solidFill>
              </a:rPr>
              <a:t>t </a:t>
            </a:r>
            <a:r>
              <a:rPr lang="en" sz="1700">
                <a:solidFill>
                  <a:schemeClr val="dk2"/>
                </a:solidFill>
              </a:rPr>
              <a:t>= time</a:t>
            </a:r>
            <a:endParaRPr/>
          </a:p>
        </p:txBody>
      </p:sp>
      <p:sp>
        <p:nvSpPr>
          <p:cNvPr id="216" name="Google Shape;216;p35"/>
          <p:cNvSpPr txBox="1"/>
          <p:nvPr/>
        </p:nvSpPr>
        <p:spPr>
          <a:xfrm>
            <a:off x="18575" y="4189125"/>
            <a:ext cx="3764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K = carrying capacity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/>
        </p:nvSpPr>
        <p:spPr>
          <a:xfrm>
            <a:off x="1122725" y="2340900"/>
            <a:ext cx="1971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(K - N</a:t>
            </a:r>
            <a:r>
              <a:rPr baseline="-25000" lang="en" sz="1800">
                <a:solidFill>
                  <a:schemeClr val="dk2"/>
                </a:solidFill>
              </a:rPr>
              <a:t>0</a:t>
            </a:r>
            <a:r>
              <a:rPr lang="en" sz="1800">
                <a:solidFill>
                  <a:schemeClr val="dk2"/>
                </a:solidFill>
              </a:rPr>
              <a:t>)e</a:t>
            </a:r>
            <a:r>
              <a:rPr baseline="30000" lang="en" sz="1800">
                <a:solidFill>
                  <a:schemeClr val="dk2"/>
                </a:solidFill>
              </a:rPr>
              <a:t>-rt</a:t>
            </a:r>
            <a:r>
              <a:rPr lang="en" sz="1800">
                <a:solidFill>
                  <a:schemeClr val="dk2"/>
                </a:solidFill>
              </a:rPr>
              <a:t> + N</a:t>
            </a:r>
            <a:r>
              <a:rPr baseline="-25000"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22" name="Google Shape;222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Logistic Growth</a:t>
            </a:r>
            <a:endParaRPr/>
          </a:p>
        </p:txBody>
      </p:sp>
      <p:sp>
        <p:nvSpPr>
          <p:cNvPr id="223" name="Google Shape;223;p36"/>
          <p:cNvSpPr txBox="1"/>
          <p:nvPr/>
        </p:nvSpPr>
        <p:spPr>
          <a:xfrm>
            <a:off x="350825" y="2097375"/>
            <a:ext cx="5225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t</a:t>
            </a:r>
            <a:r>
              <a:rPr lang="en" sz="1800">
                <a:solidFill>
                  <a:schemeClr val="dk2"/>
                </a:solidFill>
              </a:rPr>
              <a:t> = N</a:t>
            </a:r>
            <a:r>
              <a:rPr baseline="-25000"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24" name="Google Shape;224;p36"/>
          <p:cNvSpPr txBox="1"/>
          <p:nvPr/>
        </p:nvSpPr>
        <p:spPr>
          <a:xfrm>
            <a:off x="1735625" y="1909175"/>
            <a:ext cx="33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25" name="Google Shape;225;p36"/>
          <p:cNvCxnSpPr/>
          <p:nvPr/>
        </p:nvCxnSpPr>
        <p:spPr>
          <a:xfrm>
            <a:off x="1179225" y="2370875"/>
            <a:ext cx="17541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6" name="Google Shape;226;p36"/>
          <p:cNvSpPr txBox="1"/>
          <p:nvPr/>
        </p:nvSpPr>
        <p:spPr>
          <a:xfrm>
            <a:off x="76200" y="3048000"/>
            <a:ext cx="37641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N</a:t>
            </a:r>
            <a:r>
              <a:rPr baseline="-25000" lang="en" sz="1700">
                <a:solidFill>
                  <a:schemeClr val="dk2"/>
                </a:solidFill>
              </a:rPr>
              <a:t>t</a:t>
            </a:r>
            <a:r>
              <a:rPr lang="en" sz="1700">
                <a:solidFill>
                  <a:schemeClr val="dk2"/>
                </a:solidFill>
              </a:rPr>
              <a:t> = # at time t, 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N</a:t>
            </a:r>
            <a:r>
              <a:rPr baseline="-25000" lang="en" sz="1700">
                <a:solidFill>
                  <a:schemeClr val="dk2"/>
                </a:solidFill>
              </a:rPr>
              <a:t>0</a:t>
            </a:r>
            <a:r>
              <a:rPr lang="en" sz="1700">
                <a:solidFill>
                  <a:schemeClr val="dk2"/>
                </a:solidFill>
              </a:rPr>
              <a:t>= initial population size, 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r = intrinsic population growth rate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700">
                <a:solidFill>
                  <a:schemeClr val="dk2"/>
                </a:solidFill>
              </a:rPr>
              <a:t>t </a:t>
            </a:r>
            <a:r>
              <a:rPr lang="en" sz="1700">
                <a:solidFill>
                  <a:schemeClr val="dk2"/>
                </a:solidFill>
              </a:rPr>
              <a:t>= time</a:t>
            </a:r>
            <a:endParaRPr/>
          </a:p>
        </p:txBody>
      </p:sp>
      <p:sp>
        <p:nvSpPr>
          <p:cNvPr id="227" name="Google Shape;227;p36"/>
          <p:cNvSpPr txBox="1"/>
          <p:nvPr/>
        </p:nvSpPr>
        <p:spPr>
          <a:xfrm>
            <a:off x="18575" y="4189125"/>
            <a:ext cx="3764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K = carrying capacity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/>
          <p:nvPr/>
        </p:nvSpPr>
        <p:spPr>
          <a:xfrm>
            <a:off x="1122725" y="2340900"/>
            <a:ext cx="1971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(K - N</a:t>
            </a:r>
            <a:r>
              <a:rPr baseline="-25000" lang="en" sz="1800">
                <a:solidFill>
                  <a:schemeClr val="dk2"/>
                </a:solidFill>
              </a:rPr>
              <a:t>0</a:t>
            </a:r>
            <a:r>
              <a:rPr lang="en" sz="1800">
                <a:solidFill>
                  <a:schemeClr val="dk2"/>
                </a:solidFill>
              </a:rPr>
              <a:t>)e</a:t>
            </a:r>
            <a:r>
              <a:rPr baseline="30000" lang="en" sz="1800">
                <a:solidFill>
                  <a:schemeClr val="dk2"/>
                </a:solidFill>
              </a:rPr>
              <a:t>-rt</a:t>
            </a:r>
            <a:r>
              <a:rPr lang="en" sz="1800">
                <a:solidFill>
                  <a:schemeClr val="dk2"/>
                </a:solidFill>
              </a:rPr>
              <a:t> + N</a:t>
            </a:r>
            <a:r>
              <a:rPr baseline="-25000"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33" name="Google Shape;233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Logistic Growth</a:t>
            </a:r>
            <a:endParaRPr/>
          </a:p>
        </p:txBody>
      </p:sp>
      <p:sp>
        <p:nvSpPr>
          <p:cNvPr id="234" name="Google Shape;234;p37"/>
          <p:cNvSpPr txBox="1"/>
          <p:nvPr/>
        </p:nvSpPr>
        <p:spPr>
          <a:xfrm>
            <a:off x="350825" y="2097375"/>
            <a:ext cx="5225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t</a:t>
            </a:r>
            <a:r>
              <a:rPr lang="en" sz="1800">
                <a:solidFill>
                  <a:schemeClr val="dk2"/>
                </a:solidFill>
              </a:rPr>
              <a:t> = N</a:t>
            </a:r>
            <a:r>
              <a:rPr baseline="-25000"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35" name="Google Shape;235;p37"/>
          <p:cNvSpPr txBox="1"/>
          <p:nvPr/>
        </p:nvSpPr>
        <p:spPr>
          <a:xfrm>
            <a:off x="1735625" y="1909175"/>
            <a:ext cx="33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36" name="Google Shape;236;p37"/>
          <p:cNvCxnSpPr/>
          <p:nvPr/>
        </p:nvCxnSpPr>
        <p:spPr>
          <a:xfrm>
            <a:off x="1179225" y="2370875"/>
            <a:ext cx="17541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7"/>
          <p:cNvSpPr txBox="1"/>
          <p:nvPr/>
        </p:nvSpPr>
        <p:spPr>
          <a:xfrm>
            <a:off x="76200" y="3048000"/>
            <a:ext cx="37641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N</a:t>
            </a:r>
            <a:r>
              <a:rPr baseline="-25000" lang="en" sz="1700">
                <a:solidFill>
                  <a:schemeClr val="dk2"/>
                </a:solidFill>
              </a:rPr>
              <a:t>t</a:t>
            </a:r>
            <a:r>
              <a:rPr lang="en" sz="1700">
                <a:solidFill>
                  <a:schemeClr val="dk2"/>
                </a:solidFill>
              </a:rPr>
              <a:t> = # at time t, 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N</a:t>
            </a:r>
            <a:r>
              <a:rPr baseline="-25000" lang="en" sz="1700">
                <a:solidFill>
                  <a:schemeClr val="dk2"/>
                </a:solidFill>
              </a:rPr>
              <a:t>0</a:t>
            </a:r>
            <a:r>
              <a:rPr lang="en" sz="1700">
                <a:solidFill>
                  <a:schemeClr val="dk2"/>
                </a:solidFill>
              </a:rPr>
              <a:t>= initial population size, 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r = intrinsic population growth rate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700">
                <a:solidFill>
                  <a:schemeClr val="dk2"/>
                </a:solidFill>
              </a:rPr>
              <a:t>t </a:t>
            </a:r>
            <a:r>
              <a:rPr lang="en" sz="1700">
                <a:solidFill>
                  <a:schemeClr val="dk2"/>
                </a:solidFill>
              </a:rPr>
              <a:t>= time</a:t>
            </a:r>
            <a:endParaRPr/>
          </a:p>
        </p:txBody>
      </p:sp>
      <p:sp>
        <p:nvSpPr>
          <p:cNvPr id="238" name="Google Shape;238;p37"/>
          <p:cNvSpPr txBox="1"/>
          <p:nvPr/>
        </p:nvSpPr>
        <p:spPr>
          <a:xfrm>
            <a:off x="76200" y="4125775"/>
            <a:ext cx="3764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K = carrying capacity</a:t>
            </a:r>
            <a:endParaRPr/>
          </a:p>
        </p:txBody>
      </p:sp>
      <p:sp>
        <p:nvSpPr>
          <p:cNvPr id="239" name="Google Shape;239;p37"/>
          <p:cNvSpPr txBox="1"/>
          <p:nvPr/>
        </p:nvSpPr>
        <p:spPr>
          <a:xfrm>
            <a:off x="4189125" y="2861300"/>
            <a:ext cx="1527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 = 100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lang="en" sz="1800">
                <a:solidFill>
                  <a:schemeClr val="dk2"/>
                </a:solidFill>
              </a:rPr>
              <a:t> = 0.5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40" name="Google Shape;24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89925" y="198225"/>
            <a:ext cx="2754526" cy="26582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8450" y="198225"/>
            <a:ext cx="2754525" cy="265820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/>
          <p:nvPr/>
        </p:nvSpPr>
        <p:spPr>
          <a:xfrm>
            <a:off x="7237125" y="2861300"/>
            <a:ext cx="1527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 = 150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0.5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/>
        </p:nvSpPr>
        <p:spPr>
          <a:xfrm>
            <a:off x="1122725" y="2340900"/>
            <a:ext cx="1971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(K - N</a:t>
            </a:r>
            <a:r>
              <a:rPr baseline="-25000" lang="en" sz="1800">
                <a:solidFill>
                  <a:schemeClr val="dk2"/>
                </a:solidFill>
              </a:rPr>
              <a:t>0</a:t>
            </a:r>
            <a:r>
              <a:rPr lang="en" sz="1800">
                <a:solidFill>
                  <a:schemeClr val="dk2"/>
                </a:solidFill>
              </a:rPr>
              <a:t>)e</a:t>
            </a:r>
            <a:r>
              <a:rPr baseline="30000" lang="en" sz="1800">
                <a:solidFill>
                  <a:schemeClr val="dk2"/>
                </a:solidFill>
              </a:rPr>
              <a:t>-rt</a:t>
            </a:r>
            <a:r>
              <a:rPr lang="en" sz="1800">
                <a:solidFill>
                  <a:schemeClr val="dk2"/>
                </a:solidFill>
              </a:rPr>
              <a:t> + N</a:t>
            </a:r>
            <a:r>
              <a:rPr baseline="-25000"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48" name="Google Shape;248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Logistic Growth</a:t>
            </a:r>
            <a:endParaRPr/>
          </a:p>
        </p:txBody>
      </p:sp>
      <p:sp>
        <p:nvSpPr>
          <p:cNvPr id="249" name="Google Shape;249;p38"/>
          <p:cNvSpPr txBox="1"/>
          <p:nvPr/>
        </p:nvSpPr>
        <p:spPr>
          <a:xfrm>
            <a:off x="350825" y="2097375"/>
            <a:ext cx="5225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</a:t>
            </a:r>
            <a:r>
              <a:rPr baseline="-25000" lang="en" sz="1800">
                <a:solidFill>
                  <a:schemeClr val="dk2"/>
                </a:solidFill>
              </a:rPr>
              <a:t>t</a:t>
            </a:r>
            <a:r>
              <a:rPr lang="en" sz="1800">
                <a:solidFill>
                  <a:schemeClr val="dk2"/>
                </a:solidFill>
              </a:rPr>
              <a:t> = N</a:t>
            </a:r>
            <a:r>
              <a:rPr baseline="-25000" lang="en" sz="1800">
                <a:solidFill>
                  <a:schemeClr val="dk2"/>
                </a:solidFill>
              </a:rPr>
              <a:t>0</a:t>
            </a:r>
            <a:endParaRPr baseline="-25000" sz="1800">
              <a:solidFill>
                <a:schemeClr val="dk2"/>
              </a:solidFill>
            </a:endParaRPr>
          </a:p>
        </p:txBody>
      </p:sp>
      <p:sp>
        <p:nvSpPr>
          <p:cNvPr id="250" name="Google Shape;250;p38"/>
          <p:cNvSpPr txBox="1"/>
          <p:nvPr/>
        </p:nvSpPr>
        <p:spPr>
          <a:xfrm>
            <a:off x="1735625" y="1909175"/>
            <a:ext cx="33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51" name="Google Shape;251;p38"/>
          <p:cNvCxnSpPr/>
          <p:nvPr/>
        </p:nvCxnSpPr>
        <p:spPr>
          <a:xfrm>
            <a:off x="1179225" y="2370875"/>
            <a:ext cx="17541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8"/>
          <p:cNvSpPr txBox="1"/>
          <p:nvPr/>
        </p:nvSpPr>
        <p:spPr>
          <a:xfrm>
            <a:off x="76200" y="3048000"/>
            <a:ext cx="37641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N</a:t>
            </a:r>
            <a:r>
              <a:rPr baseline="-25000" lang="en" sz="1700">
                <a:solidFill>
                  <a:schemeClr val="dk2"/>
                </a:solidFill>
              </a:rPr>
              <a:t>t</a:t>
            </a:r>
            <a:r>
              <a:rPr lang="en" sz="1700">
                <a:solidFill>
                  <a:schemeClr val="dk2"/>
                </a:solidFill>
              </a:rPr>
              <a:t> = # at time t, 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N</a:t>
            </a:r>
            <a:r>
              <a:rPr baseline="-25000" lang="en" sz="1700">
                <a:solidFill>
                  <a:schemeClr val="dk2"/>
                </a:solidFill>
              </a:rPr>
              <a:t>0</a:t>
            </a:r>
            <a:r>
              <a:rPr lang="en" sz="1700">
                <a:solidFill>
                  <a:schemeClr val="dk2"/>
                </a:solidFill>
              </a:rPr>
              <a:t>= initial population size, 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r = intrinsic population growth rate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700">
                <a:solidFill>
                  <a:schemeClr val="dk2"/>
                </a:solidFill>
              </a:rPr>
              <a:t>t </a:t>
            </a:r>
            <a:r>
              <a:rPr lang="en" sz="1700">
                <a:solidFill>
                  <a:schemeClr val="dk2"/>
                </a:solidFill>
              </a:rPr>
              <a:t>= time</a:t>
            </a:r>
            <a:endParaRPr/>
          </a:p>
        </p:txBody>
      </p:sp>
      <p:sp>
        <p:nvSpPr>
          <p:cNvPr id="253" name="Google Shape;253;p38"/>
          <p:cNvSpPr txBox="1"/>
          <p:nvPr/>
        </p:nvSpPr>
        <p:spPr>
          <a:xfrm>
            <a:off x="76200" y="4125775"/>
            <a:ext cx="3764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K = carrying capacity</a:t>
            </a:r>
            <a:endParaRPr/>
          </a:p>
        </p:txBody>
      </p:sp>
      <p:sp>
        <p:nvSpPr>
          <p:cNvPr id="254" name="Google Shape;254;p38"/>
          <p:cNvSpPr txBox="1"/>
          <p:nvPr/>
        </p:nvSpPr>
        <p:spPr>
          <a:xfrm>
            <a:off x="4189125" y="2861300"/>
            <a:ext cx="1527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 = 100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0.5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55" name="Google Shape;255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89925" y="198225"/>
            <a:ext cx="2754526" cy="26582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8450" y="198225"/>
            <a:ext cx="2754525" cy="26582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38"/>
          <p:cNvSpPr txBox="1"/>
          <p:nvPr/>
        </p:nvSpPr>
        <p:spPr>
          <a:xfrm>
            <a:off x="7237125" y="2861300"/>
            <a:ext cx="1527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 = 150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 = 0.5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58" name="Google Shape;258;p38"/>
          <p:cNvSpPr txBox="1"/>
          <p:nvPr/>
        </p:nvSpPr>
        <p:spPr>
          <a:xfrm>
            <a:off x="4221550" y="3817800"/>
            <a:ext cx="4722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K controls maximum population size, that is, the carrying capacity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Assumptions of Logistic Growth</a:t>
            </a:r>
            <a:endParaRPr/>
          </a:p>
        </p:txBody>
      </p:sp>
      <p:sp>
        <p:nvSpPr>
          <p:cNvPr id="264" name="Google Shape;264;p3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Makes some assumptions, which are unlikely to hold: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Per capita growth rate is a linear function of the number of individuals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Changes to growth rate are instantaneous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External environment doesn’t matter (e.g., resources, climate)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All individuals are equivalent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use logistic growth?</a:t>
            </a:r>
            <a:endParaRPr/>
          </a:p>
        </p:txBody>
      </p:sp>
      <p:sp>
        <p:nvSpPr>
          <p:cNvPr id="270" name="Google Shape;270;p4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Given the unrealistic assumptions, why use it?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Good starting point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Can add other features to 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Often best to start with a simple model and only add parameters as needed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Useful as a tool for thinking about population dynamics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Causes of Density dependence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Earlier we discussed some factors that could lead to density dependence.</a:t>
            </a:r>
            <a:endParaRPr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Lots of focus on competition</a:t>
            </a:r>
            <a:endParaRPr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But, as we discussed, other </a:t>
            </a:r>
            <a:r>
              <a:rPr lang="en"/>
              <a:t>factors</a:t>
            </a:r>
            <a:r>
              <a:rPr lang="en"/>
              <a:t> can play a role!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Janzen-Connell Hypothesis</a:t>
            </a:r>
            <a:endParaRPr/>
          </a:p>
        </p:txBody>
      </p:sp>
      <p:sp>
        <p:nvSpPr>
          <p:cNvPr id="282" name="Google Shape;282;p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Focuses on specialist natural enemies (e.g., herbivores, pathogens)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impact of enemies is related to distance to others of your species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So, as an area </a:t>
            </a:r>
            <a:r>
              <a:rPr lang="en"/>
              <a:t>fills</a:t>
            </a:r>
            <a:r>
              <a:rPr lang="en"/>
              <a:t> up, there are fewer places free of enemies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Thus, </a:t>
            </a:r>
            <a:r>
              <a:rPr lang="en"/>
              <a:t>populations</a:t>
            </a:r>
            <a:r>
              <a:rPr lang="en"/>
              <a:t> are kept in check by enemies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Janzen-Connell Hypothesis</a:t>
            </a:r>
            <a:endParaRPr/>
          </a:p>
        </p:txBody>
      </p:sp>
      <p:pic>
        <p:nvPicPr>
          <p:cNvPr id="288" name="Google Shape;28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250" y="1160700"/>
            <a:ext cx="4630257" cy="38209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43"/>
          <p:cNvPicPr preferRelativeResize="0"/>
          <p:nvPr/>
        </p:nvPicPr>
        <p:blipFill rotWithShape="1">
          <a:blip r:embed="rId4">
            <a:alphaModFix/>
          </a:blip>
          <a:srcRect b="45633" l="12227" r="39249" t="23854"/>
          <a:stretch/>
        </p:blipFill>
        <p:spPr>
          <a:xfrm>
            <a:off x="4971850" y="445025"/>
            <a:ext cx="3705974" cy="13108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Janzen-Connell Hypothesis</a:t>
            </a:r>
            <a:endParaRPr/>
          </a:p>
        </p:txBody>
      </p:sp>
      <p:pic>
        <p:nvPicPr>
          <p:cNvPr id="295" name="Google Shape;29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4236125" cy="3820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44"/>
          <p:cNvPicPr preferRelativeResize="0"/>
          <p:nvPr/>
        </p:nvPicPr>
        <p:blipFill rotWithShape="1">
          <a:blip r:embed="rId4">
            <a:alphaModFix/>
          </a:blip>
          <a:srcRect b="45633" l="12227" r="39249" t="23854"/>
          <a:stretch/>
        </p:blipFill>
        <p:spPr>
          <a:xfrm>
            <a:off x="4971850" y="445025"/>
            <a:ext cx="3705974" cy="13108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Positive density dependence?</a:t>
            </a:r>
            <a:endParaRPr/>
          </a:p>
        </p:txBody>
      </p:sp>
      <p:sp>
        <p:nvSpPr>
          <p:cNvPr id="302" name="Google Shape;302;p4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might the growth rate of a species INCREASE with population size?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Positive density dependence?</a:t>
            </a:r>
            <a:endParaRPr/>
          </a:p>
        </p:txBody>
      </p:sp>
      <p:sp>
        <p:nvSpPr>
          <p:cNvPr id="308" name="Google Shape;308;p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might the growth rate of a species INCREASE with population size?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Ease of finding a mate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Predator defense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Offspring </a:t>
            </a:r>
            <a:r>
              <a:rPr lang="en"/>
              <a:t>survival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Greater foraging efficiency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Environmental modification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Some of these are particularly important for social species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Allee Effects</a:t>
            </a:r>
            <a:endParaRPr/>
          </a:p>
        </p:txBody>
      </p:sp>
      <p:sp>
        <p:nvSpPr>
          <p:cNvPr id="314" name="Google Shape;314;p4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Positive relationship between growth rate and population size</a:t>
            </a:r>
            <a:endParaRPr/>
          </a:p>
        </p:txBody>
      </p:sp>
      <p:pic>
        <p:nvPicPr>
          <p:cNvPr id="315" name="Google Shape;315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074" y="1654125"/>
            <a:ext cx="2276575" cy="3253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47"/>
          <p:cNvPicPr preferRelativeResize="0"/>
          <p:nvPr/>
        </p:nvPicPr>
        <p:blipFill rotWithShape="1">
          <a:blip r:embed="rId4">
            <a:alphaModFix/>
          </a:blip>
          <a:srcRect b="37129" l="13019" r="42269" t="33221"/>
          <a:stretch/>
        </p:blipFill>
        <p:spPr>
          <a:xfrm>
            <a:off x="3150152" y="4021224"/>
            <a:ext cx="1870901" cy="6978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Allee Effects</a:t>
            </a:r>
            <a:endParaRPr/>
          </a:p>
        </p:txBody>
      </p:sp>
      <p:sp>
        <p:nvSpPr>
          <p:cNvPr id="322" name="Google Shape;322;p4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Positive relationship between growth rate and population size</a:t>
            </a:r>
            <a:endParaRPr/>
          </a:p>
        </p:txBody>
      </p:sp>
      <p:pic>
        <p:nvPicPr>
          <p:cNvPr id="323" name="Google Shape;323;p48"/>
          <p:cNvPicPr preferRelativeResize="0"/>
          <p:nvPr/>
        </p:nvPicPr>
        <p:blipFill rotWithShape="1">
          <a:blip r:embed="rId3">
            <a:alphaModFix/>
          </a:blip>
          <a:srcRect b="47304" l="50000" r="0" t="0"/>
          <a:stretch/>
        </p:blipFill>
        <p:spPr>
          <a:xfrm>
            <a:off x="431925" y="1640925"/>
            <a:ext cx="3919399" cy="35025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48"/>
          <p:cNvPicPr preferRelativeResize="0"/>
          <p:nvPr/>
        </p:nvPicPr>
        <p:blipFill rotWithShape="1">
          <a:blip r:embed="rId4">
            <a:alphaModFix/>
          </a:blip>
          <a:srcRect b="49571" l="25166" r="27286" t="21861"/>
          <a:stretch/>
        </p:blipFill>
        <p:spPr>
          <a:xfrm>
            <a:off x="4424875" y="1774750"/>
            <a:ext cx="4347552" cy="14693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Allee Effects</a:t>
            </a:r>
            <a:endParaRPr/>
          </a:p>
        </p:txBody>
      </p:sp>
      <p:pic>
        <p:nvPicPr>
          <p:cNvPr id="330" name="Google Shape;330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3371445" cy="38209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Google Shape;331;p49"/>
          <p:cNvPicPr preferRelativeResize="0"/>
          <p:nvPr/>
        </p:nvPicPr>
        <p:blipFill rotWithShape="1">
          <a:blip r:embed="rId4">
            <a:alphaModFix/>
          </a:blip>
          <a:srcRect b="37129" l="13019" r="42269" t="33221"/>
          <a:stretch/>
        </p:blipFill>
        <p:spPr>
          <a:xfrm>
            <a:off x="5349100" y="249000"/>
            <a:ext cx="3665952" cy="1367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Allee Effects</a:t>
            </a:r>
            <a:endParaRPr/>
          </a:p>
        </p:txBody>
      </p:sp>
      <p:pic>
        <p:nvPicPr>
          <p:cNvPr id="337" name="Google Shape;337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4098" y="133138"/>
            <a:ext cx="2452924" cy="487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50"/>
          <p:cNvPicPr preferRelativeResize="0"/>
          <p:nvPr/>
        </p:nvPicPr>
        <p:blipFill rotWithShape="1">
          <a:blip r:embed="rId4">
            <a:alphaModFix/>
          </a:blip>
          <a:srcRect b="37129" l="13019" r="42269" t="33221"/>
          <a:stretch/>
        </p:blipFill>
        <p:spPr>
          <a:xfrm>
            <a:off x="5349100" y="249000"/>
            <a:ext cx="3665952" cy="1367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Allee Effects</a:t>
            </a:r>
            <a:endParaRPr/>
          </a:p>
        </p:txBody>
      </p:sp>
      <p:pic>
        <p:nvPicPr>
          <p:cNvPr id="344" name="Google Shape;344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54400" y="116950"/>
            <a:ext cx="2423149" cy="4928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51"/>
          <p:cNvPicPr preferRelativeResize="0"/>
          <p:nvPr/>
        </p:nvPicPr>
        <p:blipFill rotWithShape="1">
          <a:blip r:embed="rId4">
            <a:alphaModFix/>
          </a:blip>
          <a:srcRect b="37129" l="13019" r="42269" t="33221"/>
          <a:stretch/>
        </p:blipFill>
        <p:spPr>
          <a:xfrm>
            <a:off x="5349100" y="249000"/>
            <a:ext cx="3665952" cy="1367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Density Dependence and Rarity</a:t>
            </a:r>
            <a:endParaRPr/>
          </a:p>
        </p:txBody>
      </p:sp>
      <p:sp>
        <p:nvSpPr>
          <p:cNvPr id="351" name="Google Shape;351;p5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Remember SADs?</a:t>
            </a:r>
            <a:endParaRPr/>
          </a:p>
        </p:txBody>
      </p:sp>
      <p:pic>
        <p:nvPicPr>
          <p:cNvPr id="352" name="Google Shape;352;p52"/>
          <p:cNvPicPr preferRelativeResize="0"/>
          <p:nvPr/>
        </p:nvPicPr>
        <p:blipFill rotWithShape="1">
          <a:blip r:embed="rId3">
            <a:alphaModFix/>
          </a:blip>
          <a:srcRect b="63121" l="27776" r="0" t="8651"/>
          <a:stretch/>
        </p:blipFill>
        <p:spPr>
          <a:xfrm>
            <a:off x="190275" y="1628025"/>
            <a:ext cx="6352051" cy="3212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52"/>
          <p:cNvPicPr preferRelativeResize="0"/>
          <p:nvPr/>
        </p:nvPicPr>
        <p:blipFill rotWithShape="1">
          <a:blip r:embed="rId4">
            <a:alphaModFix/>
          </a:blip>
          <a:srcRect b="72636" l="28682" r="3492" t="6554"/>
          <a:stretch/>
        </p:blipFill>
        <p:spPr>
          <a:xfrm>
            <a:off x="6136175" y="3660925"/>
            <a:ext cx="2696126" cy="1070326"/>
          </a:xfrm>
          <a:prstGeom prst="rect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Density Dependence and Rarity</a:t>
            </a:r>
            <a:endParaRPr/>
          </a:p>
        </p:txBody>
      </p:sp>
      <p:sp>
        <p:nvSpPr>
          <p:cNvPr id="359" name="Google Shape;359;p5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Remember SADs?</a:t>
            </a:r>
            <a:endParaRPr/>
          </a:p>
        </p:txBody>
      </p:sp>
      <p:pic>
        <p:nvPicPr>
          <p:cNvPr id="360" name="Google Shape;360;p53"/>
          <p:cNvPicPr preferRelativeResize="0"/>
          <p:nvPr/>
        </p:nvPicPr>
        <p:blipFill rotWithShape="1">
          <a:blip r:embed="rId3">
            <a:alphaModFix/>
          </a:blip>
          <a:srcRect b="73484" l="27776" r="48201" t="10207"/>
          <a:stretch/>
        </p:blipFill>
        <p:spPr>
          <a:xfrm>
            <a:off x="190275" y="1805025"/>
            <a:ext cx="3542776" cy="3112148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53"/>
          <p:cNvPicPr preferRelativeResize="0"/>
          <p:nvPr/>
        </p:nvPicPr>
        <p:blipFill rotWithShape="1">
          <a:blip r:embed="rId4">
            <a:alphaModFix/>
          </a:blip>
          <a:srcRect b="72636" l="28682" r="3492" t="6554"/>
          <a:stretch/>
        </p:blipFill>
        <p:spPr>
          <a:xfrm>
            <a:off x="6136175" y="3660925"/>
            <a:ext cx="2696126" cy="1070326"/>
          </a:xfrm>
          <a:prstGeom prst="rect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Density Dependence and Rarity</a:t>
            </a:r>
            <a:endParaRPr/>
          </a:p>
        </p:txBody>
      </p:sp>
      <p:sp>
        <p:nvSpPr>
          <p:cNvPr id="367" name="Google Shape;367;p5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Remember SADs?</a:t>
            </a:r>
            <a:endParaRPr/>
          </a:p>
        </p:txBody>
      </p:sp>
      <p:pic>
        <p:nvPicPr>
          <p:cNvPr id="368" name="Google Shape;368;p54"/>
          <p:cNvPicPr preferRelativeResize="0"/>
          <p:nvPr/>
        </p:nvPicPr>
        <p:blipFill rotWithShape="1">
          <a:blip r:embed="rId3">
            <a:alphaModFix/>
          </a:blip>
          <a:srcRect b="73484" l="27776" r="48201" t="10207"/>
          <a:stretch/>
        </p:blipFill>
        <p:spPr>
          <a:xfrm>
            <a:off x="190275" y="1805025"/>
            <a:ext cx="3542776" cy="3112148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54"/>
          <p:cNvPicPr preferRelativeResize="0"/>
          <p:nvPr/>
        </p:nvPicPr>
        <p:blipFill rotWithShape="1">
          <a:blip r:embed="rId4">
            <a:alphaModFix/>
          </a:blip>
          <a:srcRect b="72636" l="28682" r="3492" t="6554"/>
          <a:stretch/>
        </p:blipFill>
        <p:spPr>
          <a:xfrm>
            <a:off x="6136175" y="3660925"/>
            <a:ext cx="2696126" cy="1070326"/>
          </a:xfrm>
          <a:prstGeom prst="rect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70" name="Google Shape;370;p54"/>
          <p:cNvSpPr txBox="1"/>
          <p:nvPr/>
        </p:nvSpPr>
        <p:spPr>
          <a:xfrm>
            <a:off x="3906200" y="1152475"/>
            <a:ext cx="4828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Differences driven by density dependences?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Density Dependence and Rarity</a:t>
            </a:r>
            <a:endParaRPr/>
          </a:p>
        </p:txBody>
      </p:sp>
      <p:sp>
        <p:nvSpPr>
          <p:cNvPr id="376" name="Google Shape;376;p55"/>
          <p:cNvSpPr txBox="1"/>
          <p:nvPr>
            <p:ph idx="1" type="body"/>
          </p:nvPr>
        </p:nvSpPr>
        <p:spPr>
          <a:xfrm>
            <a:off x="311700" y="1152475"/>
            <a:ext cx="4613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Rare species should experience stronger density dependence than common species </a:t>
            </a:r>
            <a:endParaRPr/>
          </a:p>
        </p:txBody>
      </p:sp>
      <p:pic>
        <p:nvPicPr>
          <p:cNvPr id="377" name="Google Shape;377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226663"/>
            <a:ext cx="4283799" cy="326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55"/>
          <p:cNvPicPr preferRelativeResize="0"/>
          <p:nvPr/>
        </p:nvPicPr>
        <p:blipFill rotWithShape="1">
          <a:blip r:embed="rId4">
            <a:alphaModFix/>
          </a:blip>
          <a:srcRect b="44435" l="11861" r="40077" t="24982"/>
          <a:stretch/>
        </p:blipFill>
        <p:spPr>
          <a:xfrm>
            <a:off x="170250" y="3530125"/>
            <a:ext cx="3843475" cy="13757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Density Dependence and Rarity</a:t>
            </a:r>
            <a:endParaRPr/>
          </a:p>
        </p:txBody>
      </p:sp>
      <p:sp>
        <p:nvSpPr>
          <p:cNvPr id="384" name="Google Shape;384;p56"/>
          <p:cNvSpPr txBox="1"/>
          <p:nvPr>
            <p:ph idx="1" type="body"/>
          </p:nvPr>
        </p:nvSpPr>
        <p:spPr>
          <a:xfrm>
            <a:off x="311700" y="1152475"/>
            <a:ext cx="4613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Rare </a:t>
            </a:r>
            <a:r>
              <a:rPr lang="en"/>
              <a:t>species</a:t>
            </a:r>
            <a:r>
              <a:rPr lang="en"/>
              <a:t> should </a:t>
            </a:r>
            <a:r>
              <a:rPr lang="en"/>
              <a:t>experience stronger density dependence than common species</a:t>
            </a:r>
            <a:r>
              <a:rPr lang="en"/>
              <a:t> </a:t>
            </a:r>
            <a:endParaRPr/>
          </a:p>
        </p:txBody>
      </p:sp>
      <p:pic>
        <p:nvPicPr>
          <p:cNvPr id="385" name="Google Shape;385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41075" y="107500"/>
            <a:ext cx="3591225" cy="48002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56"/>
          <p:cNvPicPr preferRelativeResize="0"/>
          <p:nvPr/>
        </p:nvPicPr>
        <p:blipFill rotWithShape="1">
          <a:blip r:embed="rId4">
            <a:alphaModFix/>
          </a:blip>
          <a:srcRect b="44435" l="11861" r="40077" t="24982"/>
          <a:stretch/>
        </p:blipFill>
        <p:spPr>
          <a:xfrm>
            <a:off x="170250" y="3530125"/>
            <a:ext cx="3843475" cy="13757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Density Dependence and Rarity</a:t>
            </a:r>
            <a:endParaRPr/>
          </a:p>
        </p:txBody>
      </p:sp>
      <p:sp>
        <p:nvSpPr>
          <p:cNvPr id="392" name="Google Shape;392;p5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Hypothesized that differences in density dependence may help buffer rare </a:t>
            </a:r>
            <a:r>
              <a:rPr lang="en"/>
              <a:t>species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Essentially improve growth rates when rare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Small drop in population size is a big increase in growth rate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Density dependence and richness</a:t>
            </a:r>
            <a:endParaRPr/>
          </a:p>
        </p:txBody>
      </p:sp>
      <p:sp>
        <p:nvSpPr>
          <p:cNvPr id="398" name="Google Shape;398;p5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there is variation in density dependence, does this impact richness?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More DD, smaller populations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Smaller populations, more species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Density dependence and richness</a:t>
            </a:r>
            <a:endParaRPr/>
          </a:p>
        </p:txBody>
      </p:sp>
      <p:pic>
        <p:nvPicPr>
          <p:cNvPr id="404" name="Google Shape;404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100" y="924900"/>
            <a:ext cx="4046127" cy="4107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05" name="Google Shape;405;p59"/>
          <p:cNvPicPr preferRelativeResize="0"/>
          <p:nvPr/>
        </p:nvPicPr>
        <p:blipFill rotWithShape="1">
          <a:blip r:embed="rId4">
            <a:alphaModFix/>
          </a:blip>
          <a:srcRect b="22699" l="19090" r="40675" t="17107"/>
          <a:stretch/>
        </p:blipFill>
        <p:spPr>
          <a:xfrm>
            <a:off x="5462275" y="1222500"/>
            <a:ext cx="3206424" cy="26984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class: Predator-Prey Interactions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