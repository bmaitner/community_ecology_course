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74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80" Type="http://schemas.openxmlformats.org/officeDocument/2006/relationships/slide" Target="slides/slide75.xml"/><Relationship Id="rId81" Type="http://schemas.openxmlformats.org/officeDocument/2006/relationships/slide" Target="slides/slide7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73" Type="http://schemas.openxmlformats.org/officeDocument/2006/relationships/slide" Target="slides/slide68.xml"/><Relationship Id="rId72" Type="http://schemas.openxmlformats.org/officeDocument/2006/relationships/slide" Target="slides/slide67.xml"/><Relationship Id="rId31" Type="http://schemas.openxmlformats.org/officeDocument/2006/relationships/slide" Target="slides/slide26.xml"/><Relationship Id="rId75" Type="http://schemas.openxmlformats.org/officeDocument/2006/relationships/slide" Target="slides/slide70.xml"/><Relationship Id="rId30" Type="http://schemas.openxmlformats.org/officeDocument/2006/relationships/slide" Target="slides/slide25.xml"/><Relationship Id="rId74" Type="http://schemas.openxmlformats.org/officeDocument/2006/relationships/slide" Target="slides/slide69.xml"/><Relationship Id="rId33" Type="http://schemas.openxmlformats.org/officeDocument/2006/relationships/slide" Target="slides/slide28.xml"/><Relationship Id="rId77" Type="http://schemas.openxmlformats.org/officeDocument/2006/relationships/slide" Target="slides/slide72.xml"/><Relationship Id="rId32" Type="http://schemas.openxmlformats.org/officeDocument/2006/relationships/slide" Target="slides/slide27.xml"/><Relationship Id="rId76" Type="http://schemas.openxmlformats.org/officeDocument/2006/relationships/slide" Target="slides/slide71.xml"/><Relationship Id="rId35" Type="http://schemas.openxmlformats.org/officeDocument/2006/relationships/slide" Target="slides/slide30.xml"/><Relationship Id="rId79" Type="http://schemas.openxmlformats.org/officeDocument/2006/relationships/slide" Target="slides/slide74.xml"/><Relationship Id="rId34" Type="http://schemas.openxmlformats.org/officeDocument/2006/relationships/slide" Target="slides/slide29.xml"/><Relationship Id="rId78" Type="http://schemas.openxmlformats.org/officeDocument/2006/relationships/slide" Target="slides/slide73.xml"/><Relationship Id="rId71" Type="http://schemas.openxmlformats.org/officeDocument/2006/relationships/slide" Target="slides/slide66.xml"/><Relationship Id="rId70" Type="http://schemas.openxmlformats.org/officeDocument/2006/relationships/slide" Target="slides/slide65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slide" Target="slides/slide57.xml"/><Relationship Id="rId61" Type="http://schemas.openxmlformats.org/officeDocument/2006/relationships/slide" Target="slides/slide56.xml"/><Relationship Id="rId20" Type="http://schemas.openxmlformats.org/officeDocument/2006/relationships/slide" Target="slides/slide15.xml"/><Relationship Id="rId64" Type="http://schemas.openxmlformats.org/officeDocument/2006/relationships/slide" Target="slides/slide59.xml"/><Relationship Id="rId63" Type="http://schemas.openxmlformats.org/officeDocument/2006/relationships/slide" Target="slides/slide58.xml"/><Relationship Id="rId22" Type="http://schemas.openxmlformats.org/officeDocument/2006/relationships/slide" Target="slides/slide17.xml"/><Relationship Id="rId66" Type="http://schemas.openxmlformats.org/officeDocument/2006/relationships/slide" Target="slides/slide61.xml"/><Relationship Id="rId21" Type="http://schemas.openxmlformats.org/officeDocument/2006/relationships/slide" Target="slides/slide16.xml"/><Relationship Id="rId65" Type="http://schemas.openxmlformats.org/officeDocument/2006/relationships/slide" Target="slides/slide60.xml"/><Relationship Id="rId24" Type="http://schemas.openxmlformats.org/officeDocument/2006/relationships/slide" Target="slides/slide19.xml"/><Relationship Id="rId68" Type="http://schemas.openxmlformats.org/officeDocument/2006/relationships/slide" Target="slides/slide63.xml"/><Relationship Id="rId23" Type="http://schemas.openxmlformats.org/officeDocument/2006/relationships/slide" Target="slides/slide18.xml"/><Relationship Id="rId67" Type="http://schemas.openxmlformats.org/officeDocument/2006/relationships/slide" Target="slides/slide62.xml"/><Relationship Id="rId60" Type="http://schemas.openxmlformats.org/officeDocument/2006/relationships/slide" Target="slides/slide55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69" Type="http://schemas.openxmlformats.org/officeDocument/2006/relationships/slide" Target="slides/slide64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schemas.openxmlformats.org/officeDocument/2006/relationships/slide" Target="slides/slide54.xml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d8981be037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d8981be037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c806b7f2c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c806b7f2c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2d9408ed0b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2d9408ed0b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33cbe2306d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33cbe2306d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d9408ed0b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d9408ed0b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806b7f2c1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806b7f2c1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2d9408ed0b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2d9408ed0b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d9408ed0bf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2d9408ed0bf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d9408ed0bf_0_1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2d9408ed0bf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d9408ed0bf_0_1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2d9408ed0bf_0_1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d9408ed0bf_0_2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2d9408ed0bf_0_2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2d9408ed0bf_0_2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2d9408ed0bf_0_2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d9408ed0bf_0_2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2d9408ed0bf_0_2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2d9408ed0bf_0_2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2d9408ed0bf_0_2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2d9408ed0bf_0_2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2d9408ed0bf_0_2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d9408ed0bf_0_3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d9408ed0bf_0_3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d9408ed0bf_0_3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2d9408ed0bf_0_3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Define where species grow/shrink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2d9408ed0bf_0_3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2d9408ed0bf_0_3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Define where species grow/shrink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2d9408ed0bf_0_3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2d9408ed0bf_0_3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Define where species grow/shrink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d9408ed0bf_0_3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2d9408ed0bf_0_3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Define where species grow/shrink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2d9408ed0bf_0_4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2d9408ed0bf_0_4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Define where species grow/shrink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2d9408ed0bf_0_4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2d9408ed0bf_0_4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Define where species grow/shrink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2d9408ed0bf_0_4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2d9408ed0bf_0_4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Define where species grow/shrink</a:t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2d9408ed0bf_0_4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4" name="Google Shape;364;g2d9408ed0bf_0_4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Define where species grow/shrink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2d9408ed0bf_0_4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8" name="Google Shape;378;g2d9408ed0bf_0_4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Define where species grow/shrink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2d9408ed0bf_0_4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2d9408ed0bf_0_4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Define where species grow/shrink</a:t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d9408ed0bf_0_5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d9408ed0bf_0_5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Define where species grow/shrink</a:t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d9408ed0bf_0_5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d9408ed0bf_0_5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2d9408ed0bf_0_5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2d9408ed0bf_0_5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g2d9408ed0bf_0_9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5" name="Google Shape;465;g2d9408ed0bf_0_9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 capita growth rate </a:t>
            </a:r>
            <a:r>
              <a:rPr lang="en"/>
              <a:t>needs</a:t>
            </a:r>
            <a:r>
              <a:rPr lang="en"/>
              <a:t> to be positive.  N1 ~ 0, since its invading.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2d9408ed0bf_0_9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1" name="Google Shape;481;g2d9408ed0bf_0_9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2d9408ed0bf_0_9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1" name="Google Shape;491;g2d9408ed0bf_0_9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2d9408ed0bf_0_11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1" name="Google Shape;501;g2d9408ed0bf_0_1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2d9408ed0bf_0_10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0" name="Google Shape;520;g2d9408ed0bf_0_10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 equilibrium, dN2/dt =0.  Since we’re talking invasion, N1 = 0</a:t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2d9408ed0bf_0_10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2d9408ed0bf_0_10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g2d9408ed0bf_0_10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6" name="Google Shape;546;g2d9408ed0bf_0_1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g2d9408ed0bf_0_10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9" name="Google Shape;559;g2d9408ed0bf_0_10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2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2d9408ed0bf_0_10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4" name="Google Shape;574;g2d9408ed0bf_0_10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2d9408ed0bf_0_11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9" name="Google Shape;589;g2d9408ed0bf_0_11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2d9408ed0bf_0_10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5" name="Google Shape;605;g2d9408ed0bf_0_10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2d9408ed0bf_0_1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2d9408ed0bf_0_1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g2d9408ed0bf_0_5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9" name="Google Shape;629;g2d9408ed0bf_0_5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5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g2d9408ed0bf_0_6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7" name="Google Shape;637;g2d9408ed0bf_0_6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2d9408ed0bf_0_6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5" name="Google Shape;645;g2d9408ed0bf_0_6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g2d9408ed0bf_0_5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5" name="Google Shape;655;g2d9408ed0bf_0_5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2d9408ed0bf_0_6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1" name="Google Shape;661;g2d9408ed0bf_0_6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6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2d9408ed0bf_0_6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2d9408ed0bf_0_6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2d9408ed0bf_0_6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7" name="Google Shape;677;g2d9408ed0bf_0_6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d9408ed0bf_0_6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7" name="Google Shape;687;g2d9408ed0bf_0_6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g2d9408ed0bf_0_6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9" name="Google Shape;699;g2d9408ed0bf_0_6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g2d9408ed0bf_0_7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2" name="Google Shape;712;g2d9408ed0bf_0_7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2d9408ed0bf_0_6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5" name="Google Shape;725;g2d9408ed0bf_0_6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2d9408ed0bf_0_6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2d9408ed0bf_0_6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2d9408ed0bf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2d9408ed0bf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g2d9408ed0bf_0_6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4" name="Google Shape;744;g2d9408ed0bf_0_6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0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2d9408ed0bf_0_7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2" name="Google Shape;752;g2d9408ed0bf_0_7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2d9408ed0bf_0_7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2d9408ed0bf_0_7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g2d9408ed0bf_0_7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3" name="Google Shape;783;g2d9408ed0bf_0_7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d9408ed0bf_0_7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d9408ed0bf_0_7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d9408ed0bf_0_7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d9408ed0bf_0_7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5" name="Shape 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Google Shape;816;g2d9408ed0bf_0_8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7" name="Google Shape;817;g2d9408ed0bf_0_8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g2d9408ed0bf_0_8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9" name="Google Shape;829;g2d9408ed0bf_0_8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9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g2d9408ed0bf_0_8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1" name="Google Shape;841;g2d9408ed0bf_0_8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1" name="Shape 8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Google Shape;852;g2d9408ed0bf_0_8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3" name="Google Shape;853;g2d9408ed0bf_0_8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g2d9408ed0bf_0_8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9" name="Google Shape;859;g2d9408ed0bf_0_8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3" name="Shape 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Google Shape;864;g2d9408ed0bf_0_8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5" name="Google Shape;865;g2d9408ed0bf_0_8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9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Google Shape;870;g2d9408ed0bf_0_8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1" name="Google Shape;871;g2d9408ed0bf_0_8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5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Google Shape;876;g2d9408ed0bf_0_8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7" name="Google Shape;877;g2d9408ed0bf_0_8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g2d9408ed0bf_0_8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6" name="Google Shape;886;g2d9408ed0bf_0_8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6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g2d9408ed0bf_0_8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8" name="Google Shape;898;g2d9408ed0bf_0_8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d9408ed0bf_0_8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d9408ed0bf_0_8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2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g2d9408ed0bf_0_9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4" name="Google Shape;924;g2d9408ed0bf_0_9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0" name="Shape 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Google Shape;941;g2d9408ed0bf_0_9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2" name="Google Shape;942;g2d9408ed0bf_0_9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9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g3c806b7f2c1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1" name="Google Shape;961;g3c806b7f2c1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1" name="Shape 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Google Shape;972;g2d9408ed0bf_0_9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3" name="Google Shape;973;g2d9408ed0bf_0_9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7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Google Shape;978;g2d8981be037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9" name="Google Shape;979;g2d8981be037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8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8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8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8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6.png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6.png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0" y="744575"/>
            <a:ext cx="8520600" cy="115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Competition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389575"/>
            <a:ext cx="8520600" cy="243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Today’s Agenda: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-406400" lvl="0" marL="457200" rtl="0" algn="ctr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Quiz</a:t>
            </a:r>
            <a:endParaRPr/>
          </a:p>
          <a:p>
            <a:pPr indent="-406400" lvl="0" marL="457200" rtl="0" algn="ctr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Predator-Prey Interactions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Interspecific Competition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What do we mean when we say that two species compete?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Interspecific Competition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Occurs when one species limits the growth rate of another through: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Reducing resource availability (exploitative/resource competition)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Interspecific </a:t>
            </a:r>
            <a:r>
              <a:rPr lang="en"/>
              <a:t>Competition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Occurs when one species limits the growth rate of another through: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Reducing resource availability (exploitative/resource competition)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Reducing access to resources (interference/contest competition)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Interspecific </a:t>
            </a:r>
            <a:r>
              <a:rPr lang="en"/>
              <a:t>Competition</a:t>
            </a:r>
            <a:endParaRPr/>
          </a:p>
        </p:txBody>
      </p:sp>
      <p:sp>
        <p:nvSpPr>
          <p:cNvPr id="79" name="Google Shape;79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Occurs when one species limits the growth rate of another through: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Reducing resource availability (exploitative/resource competition)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Reducing access to resources (interference/contest competition)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Increasing shared predators (apparent competition)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Interspecific Competition</a:t>
            </a:r>
            <a:endParaRPr/>
          </a:p>
        </p:txBody>
      </p:sp>
      <p:sp>
        <p:nvSpPr>
          <p:cNvPr id="85" name="Google Shape;85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Occurs when one species limits the growth rate of another through: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Reducing resource availability (exploitative/resource competition)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Reducing access to resources (interference/contest competition)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Increasing shared predators (apparent competition)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>
                <a:solidFill>
                  <a:srgbClr val="980000"/>
                </a:solidFill>
              </a:rPr>
              <a:t>Can anyone think of examples of any of these?</a:t>
            </a:r>
            <a:endParaRPr b="1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Modelling Competition</a:t>
            </a:r>
            <a:endParaRPr/>
          </a:p>
        </p:txBody>
      </p:sp>
      <p:sp>
        <p:nvSpPr>
          <p:cNvPr id="91" name="Google Shape;91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Lotka-Volterra models again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Modelling Competition</a:t>
            </a:r>
            <a:endParaRPr/>
          </a:p>
        </p:txBody>
      </p:sp>
      <p:sp>
        <p:nvSpPr>
          <p:cNvPr id="97" name="Google Shape;97;p20"/>
          <p:cNvSpPr txBox="1"/>
          <p:nvPr/>
        </p:nvSpPr>
        <p:spPr>
          <a:xfrm>
            <a:off x="319125" y="16193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98" name="Google Shape;98;p20"/>
          <p:cNvSpPr txBox="1"/>
          <p:nvPr/>
        </p:nvSpPr>
        <p:spPr>
          <a:xfrm>
            <a:off x="319125" y="20765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dt</a:t>
            </a:r>
            <a:endParaRPr baseline="-25000" sz="1800">
              <a:solidFill>
                <a:schemeClr val="dk2"/>
              </a:solidFill>
            </a:endParaRPr>
          </a:p>
        </p:txBody>
      </p:sp>
      <p:cxnSp>
        <p:nvCxnSpPr>
          <p:cNvPr id="99" name="Google Shape;99;p20"/>
          <p:cNvCxnSpPr/>
          <p:nvPr/>
        </p:nvCxnSpPr>
        <p:spPr>
          <a:xfrm>
            <a:off x="242925" y="2078800"/>
            <a:ext cx="7632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0" name="Google Shape;100;p20"/>
          <p:cNvSpPr txBox="1"/>
          <p:nvPr/>
        </p:nvSpPr>
        <p:spPr>
          <a:xfrm>
            <a:off x="1006125" y="1847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01" name="Google Shape;101;p20"/>
          <p:cNvSpPr txBox="1"/>
          <p:nvPr/>
        </p:nvSpPr>
        <p:spPr>
          <a:xfrm>
            <a:off x="1362825" y="18479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102" name="Google Shape;102;p20"/>
          <p:cNvSpPr/>
          <p:nvPr/>
        </p:nvSpPr>
        <p:spPr>
          <a:xfrm>
            <a:off x="1920875" y="1603150"/>
            <a:ext cx="1942500" cy="951300"/>
          </a:xfrm>
          <a:prstGeom prst="bracketPair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20"/>
          <p:cNvSpPr txBox="1"/>
          <p:nvPr/>
        </p:nvSpPr>
        <p:spPr>
          <a:xfrm>
            <a:off x="2019975" y="1622425"/>
            <a:ext cx="189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 - N</a:t>
            </a:r>
            <a:r>
              <a:rPr baseline="-25000" lang="en" sz="1800">
                <a:solidFill>
                  <a:schemeClr val="dk2"/>
                </a:solidFill>
              </a:rPr>
              <a:t>1 </a:t>
            </a:r>
            <a:r>
              <a:rPr lang="en" sz="1800">
                <a:solidFill>
                  <a:schemeClr val="dk2"/>
                </a:solidFill>
              </a:rPr>
              <a:t>- 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baseline="-25000" sz="1800">
              <a:solidFill>
                <a:schemeClr val="dk2"/>
              </a:solidFill>
            </a:endParaRPr>
          </a:p>
        </p:txBody>
      </p:sp>
      <p:cxnSp>
        <p:nvCxnSpPr>
          <p:cNvPr id="104" name="Google Shape;104;p20"/>
          <p:cNvCxnSpPr/>
          <p:nvPr/>
        </p:nvCxnSpPr>
        <p:spPr>
          <a:xfrm flipH="1" rot="10800000">
            <a:off x="1995525" y="2075200"/>
            <a:ext cx="1560600" cy="3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5" name="Google Shape;105;p20"/>
          <p:cNvSpPr txBox="1"/>
          <p:nvPr/>
        </p:nvSpPr>
        <p:spPr>
          <a:xfrm>
            <a:off x="2558925" y="2076550"/>
            <a:ext cx="42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06" name="Google Shape;106;p20"/>
          <p:cNvSpPr txBox="1"/>
          <p:nvPr/>
        </p:nvSpPr>
        <p:spPr>
          <a:xfrm>
            <a:off x="269575" y="2927525"/>
            <a:ext cx="46875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/dT = rate of change in 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 = carrying capacity of species 1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 = # species 1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 </a:t>
            </a:r>
            <a:r>
              <a:rPr lang="en" sz="1800">
                <a:solidFill>
                  <a:schemeClr val="dk2"/>
                </a:solidFill>
              </a:rPr>
              <a:t>= # species 2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r>
              <a:rPr lang="en" sz="1800">
                <a:solidFill>
                  <a:schemeClr val="dk2"/>
                </a:solidFill>
              </a:rPr>
              <a:t> = relative impact of sp. 2 on sp. 1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 = growth rate of species 1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Modelling Competition</a:t>
            </a:r>
            <a:endParaRPr/>
          </a:p>
        </p:txBody>
      </p:sp>
      <p:sp>
        <p:nvSpPr>
          <p:cNvPr id="112" name="Google Shape;112;p21"/>
          <p:cNvSpPr txBox="1"/>
          <p:nvPr/>
        </p:nvSpPr>
        <p:spPr>
          <a:xfrm>
            <a:off x="319125" y="16193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113" name="Google Shape;113;p21"/>
          <p:cNvSpPr txBox="1"/>
          <p:nvPr/>
        </p:nvSpPr>
        <p:spPr>
          <a:xfrm>
            <a:off x="319125" y="20765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dt</a:t>
            </a:r>
            <a:endParaRPr baseline="-25000" sz="1800">
              <a:solidFill>
                <a:schemeClr val="dk2"/>
              </a:solidFill>
            </a:endParaRPr>
          </a:p>
        </p:txBody>
      </p:sp>
      <p:cxnSp>
        <p:nvCxnSpPr>
          <p:cNvPr id="114" name="Google Shape;114;p21"/>
          <p:cNvCxnSpPr/>
          <p:nvPr/>
        </p:nvCxnSpPr>
        <p:spPr>
          <a:xfrm>
            <a:off x="242925" y="2078800"/>
            <a:ext cx="7632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5" name="Google Shape;115;p21"/>
          <p:cNvSpPr txBox="1"/>
          <p:nvPr/>
        </p:nvSpPr>
        <p:spPr>
          <a:xfrm>
            <a:off x="1006125" y="1847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16" name="Google Shape;116;p21"/>
          <p:cNvSpPr txBox="1"/>
          <p:nvPr/>
        </p:nvSpPr>
        <p:spPr>
          <a:xfrm>
            <a:off x="1362825" y="18479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117" name="Google Shape;117;p21"/>
          <p:cNvSpPr/>
          <p:nvPr/>
        </p:nvSpPr>
        <p:spPr>
          <a:xfrm>
            <a:off x="1920875" y="1603150"/>
            <a:ext cx="1942500" cy="951300"/>
          </a:xfrm>
          <a:prstGeom prst="bracketPair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21"/>
          <p:cNvSpPr txBox="1"/>
          <p:nvPr/>
        </p:nvSpPr>
        <p:spPr>
          <a:xfrm>
            <a:off x="2019975" y="1622425"/>
            <a:ext cx="189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 - N</a:t>
            </a:r>
            <a:r>
              <a:rPr baseline="-25000" lang="en" sz="1800">
                <a:solidFill>
                  <a:schemeClr val="dk2"/>
                </a:solidFill>
              </a:rPr>
              <a:t>1 </a:t>
            </a:r>
            <a:r>
              <a:rPr lang="en" sz="1800">
                <a:solidFill>
                  <a:schemeClr val="dk2"/>
                </a:solidFill>
              </a:rPr>
              <a:t>- 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baseline="-25000" sz="1800">
              <a:solidFill>
                <a:schemeClr val="dk2"/>
              </a:solidFill>
            </a:endParaRPr>
          </a:p>
        </p:txBody>
      </p:sp>
      <p:cxnSp>
        <p:nvCxnSpPr>
          <p:cNvPr id="119" name="Google Shape;119;p21"/>
          <p:cNvCxnSpPr/>
          <p:nvPr/>
        </p:nvCxnSpPr>
        <p:spPr>
          <a:xfrm flipH="1" rot="10800000">
            <a:off x="1995525" y="2075200"/>
            <a:ext cx="1560600" cy="3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0" name="Google Shape;120;p21"/>
          <p:cNvSpPr txBox="1"/>
          <p:nvPr/>
        </p:nvSpPr>
        <p:spPr>
          <a:xfrm>
            <a:off x="2558925" y="2076550"/>
            <a:ext cx="42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1" name="Google Shape;121;p21"/>
          <p:cNvSpPr txBox="1"/>
          <p:nvPr/>
        </p:nvSpPr>
        <p:spPr>
          <a:xfrm>
            <a:off x="269575" y="2927525"/>
            <a:ext cx="46875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/dT = rate of change in 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 = carrying capacity of species 1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 = # species 1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 </a:t>
            </a:r>
            <a:r>
              <a:rPr lang="en" sz="1800">
                <a:solidFill>
                  <a:schemeClr val="dk2"/>
                </a:solidFill>
              </a:rPr>
              <a:t>= # species 2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r>
              <a:rPr lang="en" sz="1800">
                <a:solidFill>
                  <a:schemeClr val="dk2"/>
                </a:solidFill>
              </a:rPr>
              <a:t> = relative impact of sp. 2 on sp. 1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 = growth rate of species 1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2" name="Google Shape;122;p21"/>
          <p:cNvSpPr txBox="1"/>
          <p:nvPr/>
        </p:nvSpPr>
        <p:spPr>
          <a:xfrm>
            <a:off x="5424525" y="16193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123" name="Google Shape;123;p21"/>
          <p:cNvSpPr txBox="1"/>
          <p:nvPr/>
        </p:nvSpPr>
        <p:spPr>
          <a:xfrm>
            <a:off x="5424525" y="20765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dt</a:t>
            </a:r>
            <a:endParaRPr baseline="-25000" sz="1800">
              <a:solidFill>
                <a:schemeClr val="dk2"/>
              </a:solidFill>
            </a:endParaRPr>
          </a:p>
        </p:txBody>
      </p:sp>
      <p:cxnSp>
        <p:nvCxnSpPr>
          <p:cNvPr id="124" name="Google Shape;124;p21"/>
          <p:cNvCxnSpPr/>
          <p:nvPr/>
        </p:nvCxnSpPr>
        <p:spPr>
          <a:xfrm>
            <a:off x="5348325" y="2078800"/>
            <a:ext cx="7632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5" name="Google Shape;125;p21"/>
          <p:cNvSpPr txBox="1"/>
          <p:nvPr/>
        </p:nvSpPr>
        <p:spPr>
          <a:xfrm>
            <a:off x="6111525" y="1847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6" name="Google Shape;126;p21"/>
          <p:cNvSpPr txBox="1"/>
          <p:nvPr/>
        </p:nvSpPr>
        <p:spPr>
          <a:xfrm>
            <a:off x="6468225" y="18479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127" name="Google Shape;127;p21"/>
          <p:cNvSpPr/>
          <p:nvPr/>
        </p:nvSpPr>
        <p:spPr>
          <a:xfrm>
            <a:off x="7026275" y="1603150"/>
            <a:ext cx="1942500" cy="951300"/>
          </a:xfrm>
          <a:prstGeom prst="bracketPair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21"/>
          <p:cNvSpPr txBox="1"/>
          <p:nvPr/>
        </p:nvSpPr>
        <p:spPr>
          <a:xfrm>
            <a:off x="7125375" y="1622425"/>
            <a:ext cx="189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 - N</a:t>
            </a:r>
            <a:r>
              <a:rPr baseline="-25000" lang="en" sz="1800">
                <a:solidFill>
                  <a:schemeClr val="dk2"/>
                </a:solidFill>
              </a:rPr>
              <a:t>2 </a:t>
            </a:r>
            <a:r>
              <a:rPr lang="en" sz="1800">
                <a:solidFill>
                  <a:schemeClr val="dk2"/>
                </a:solidFill>
              </a:rPr>
              <a:t>- α</a:t>
            </a:r>
            <a:r>
              <a:rPr baseline="-25000" lang="en" sz="1800">
                <a:solidFill>
                  <a:schemeClr val="dk2"/>
                </a:solidFill>
              </a:rPr>
              <a:t>21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</p:txBody>
      </p:sp>
      <p:cxnSp>
        <p:nvCxnSpPr>
          <p:cNvPr id="129" name="Google Shape;129;p21"/>
          <p:cNvCxnSpPr/>
          <p:nvPr/>
        </p:nvCxnSpPr>
        <p:spPr>
          <a:xfrm flipH="1" rot="10800000">
            <a:off x="7100925" y="2075200"/>
            <a:ext cx="1560600" cy="3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0" name="Google Shape;130;p21"/>
          <p:cNvSpPr txBox="1"/>
          <p:nvPr/>
        </p:nvSpPr>
        <p:spPr>
          <a:xfrm>
            <a:off x="7664325" y="2076550"/>
            <a:ext cx="42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31" name="Google Shape;131;p21"/>
          <p:cNvSpPr txBox="1"/>
          <p:nvPr/>
        </p:nvSpPr>
        <p:spPr>
          <a:xfrm>
            <a:off x="4917775" y="2927525"/>
            <a:ext cx="46875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/dT = rate of change in 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baseline="-25000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 = carrying capacity of species 2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21</a:t>
            </a:r>
            <a:r>
              <a:rPr lang="en" sz="1800">
                <a:solidFill>
                  <a:schemeClr val="dk2"/>
                </a:solidFill>
              </a:rPr>
              <a:t> = relative impact of sp. 1 on sp. 2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 = growth rate of species 2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Modelling Competition</a:t>
            </a:r>
            <a:endParaRPr/>
          </a:p>
        </p:txBody>
      </p:sp>
      <p:sp>
        <p:nvSpPr>
          <p:cNvPr id="137" name="Google Shape;137;p22"/>
          <p:cNvSpPr txBox="1"/>
          <p:nvPr/>
        </p:nvSpPr>
        <p:spPr>
          <a:xfrm>
            <a:off x="319125" y="16193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138" name="Google Shape;138;p22"/>
          <p:cNvSpPr txBox="1"/>
          <p:nvPr/>
        </p:nvSpPr>
        <p:spPr>
          <a:xfrm>
            <a:off x="319125" y="20765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dt</a:t>
            </a:r>
            <a:endParaRPr baseline="-25000" sz="1800">
              <a:solidFill>
                <a:schemeClr val="dk2"/>
              </a:solidFill>
            </a:endParaRPr>
          </a:p>
        </p:txBody>
      </p:sp>
      <p:cxnSp>
        <p:nvCxnSpPr>
          <p:cNvPr id="139" name="Google Shape;139;p22"/>
          <p:cNvCxnSpPr/>
          <p:nvPr/>
        </p:nvCxnSpPr>
        <p:spPr>
          <a:xfrm>
            <a:off x="242925" y="2078800"/>
            <a:ext cx="7632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0" name="Google Shape;140;p22"/>
          <p:cNvSpPr txBox="1"/>
          <p:nvPr/>
        </p:nvSpPr>
        <p:spPr>
          <a:xfrm>
            <a:off x="1006125" y="1847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41" name="Google Shape;141;p22"/>
          <p:cNvSpPr txBox="1"/>
          <p:nvPr/>
        </p:nvSpPr>
        <p:spPr>
          <a:xfrm>
            <a:off x="1362825" y="18479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142" name="Google Shape;142;p22"/>
          <p:cNvSpPr/>
          <p:nvPr/>
        </p:nvSpPr>
        <p:spPr>
          <a:xfrm>
            <a:off x="1920875" y="1603150"/>
            <a:ext cx="1942500" cy="951300"/>
          </a:xfrm>
          <a:prstGeom prst="bracketPair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2"/>
          <p:cNvSpPr txBox="1"/>
          <p:nvPr/>
        </p:nvSpPr>
        <p:spPr>
          <a:xfrm>
            <a:off x="2019975" y="1622425"/>
            <a:ext cx="189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 - N</a:t>
            </a:r>
            <a:r>
              <a:rPr baseline="-25000" lang="en" sz="1800">
                <a:solidFill>
                  <a:schemeClr val="dk2"/>
                </a:solidFill>
              </a:rPr>
              <a:t>1 </a:t>
            </a:r>
            <a:r>
              <a:rPr lang="en" sz="1800">
                <a:solidFill>
                  <a:schemeClr val="dk2"/>
                </a:solidFill>
              </a:rPr>
              <a:t>- 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baseline="-25000" sz="1800">
              <a:solidFill>
                <a:schemeClr val="dk2"/>
              </a:solidFill>
            </a:endParaRPr>
          </a:p>
        </p:txBody>
      </p:sp>
      <p:cxnSp>
        <p:nvCxnSpPr>
          <p:cNvPr id="144" name="Google Shape;144;p22"/>
          <p:cNvCxnSpPr/>
          <p:nvPr/>
        </p:nvCxnSpPr>
        <p:spPr>
          <a:xfrm flipH="1" rot="10800000">
            <a:off x="1995525" y="2075200"/>
            <a:ext cx="1560600" cy="3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5" name="Google Shape;145;p22"/>
          <p:cNvSpPr txBox="1"/>
          <p:nvPr/>
        </p:nvSpPr>
        <p:spPr>
          <a:xfrm>
            <a:off x="2558925" y="2076550"/>
            <a:ext cx="42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46" name="Google Shape;146;p22"/>
          <p:cNvSpPr txBox="1"/>
          <p:nvPr/>
        </p:nvSpPr>
        <p:spPr>
          <a:xfrm>
            <a:off x="5424525" y="16193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147" name="Google Shape;147;p22"/>
          <p:cNvSpPr txBox="1"/>
          <p:nvPr/>
        </p:nvSpPr>
        <p:spPr>
          <a:xfrm>
            <a:off x="5424525" y="20765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dt</a:t>
            </a:r>
            <a:endParaRPr baseline="-25000" sz="1800">
              <a:solidFill>
                <a:schemeClr val="dk2"/>
              </a:solidFill>
            </a:endParaRPr>
          </a:p>
        </p:txBody>
      </p:sp>
      <p:cxnSp>
        <p:nvCxnSpPr>
          <p:cNvPr id="148" name="Google Shape;148;p22"/>
          <p:cNvCxnSpPr/>
          <p:nvPr/>
        </p:nvCxnSpPr>
        <p:spPr>
          <a:xfrm>
            <a:off x="5348325" y="2078800"/>
            <a:ext cx="7632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9" name="Google Shape;149;p22"/>
          <p:cNvSpPr txBox="1"/>
          <p:nvPr/>
        </p:nvSpPr>
        <p:spPr>
          <a:xfrm>
            <a:off x="6111525" y="1847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50" name="Google Shape;150;p22"/>
          <p:cNvSpPr txBox="1"/>
          <p:nvPr/>
        </p:nvSpPr>
        <p:spPr>
          <a:xfrm>
            <a:off x="6468225" y="18479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151" name="Google Shape;151;p22"/>
          <p:cNvSpPr/>
          <p:nvPr/>
        </p:nvSpPr>
        <p:spPr>
          <a:xfrm>
            <a:off x="7026275" y="1603150"/>
            <a:ext cx="1942500" cy="951300"/>
          </a:xfrm>
          <a:prstGeom prst="bracketPair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22"/>
          <p:cNvSpPr txBox="1"/>
          <p:nvPr/>
        </p:nvSpPr>
        <p:spPr>
          <a:xfrm>
            <a:off x="7125375" y="1622425"/>
            <a:ext cx="189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 - N</a:t>
            </a:r>
            <a:r>
              <a:rPr baseline="-25000" lang="en" sz="1800">
                <a:solidFill>
                  <a:schemeClr val="dk2"/>
                </a:solidFill>
              </a:rPr>
              <a:t>2 </a:t>
            </a:r>
            <a:r>
              <a:rPr lang="en" sz="1800">
                <a:solidFill>
                  <a:schemeClr val="dk2"/>
                </a:solidFill>
              </a:rPr>
              <a:t>- α</a:t>
            </a:r>
            <a:r>
              <a:rPr baseline="-25000" lang="en" sz="1800">
                <a:solidFill>
                  <a:schemeClr val="dk2"/>
                </a:solidFill>
              </a:rPr>
              <a:t>21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</p:txBody>
      </p:sp>
      <p:cxnSp>
        <p:nvCxnSpPr>
          <p:cNvPr id="153" name="Google Shape;153;p22"/>
          <p:cNvCxnSpPr/>
          <p:nvPr/>
        </p:nvCxnSpPr>
        <p:spPr>
          <a:xfrm flipH="1" rot="10800000">
            <a:off x="7100925" y="2075200"/>
            <a:ext cx="1560600" cy="3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4" name="Google Shape;154;p22"/>
          <p:cNvSpPr txBox="1"/>
          <p:nvPr/>
        </p:nvSpPr>
        <p:spPr>
          <a:xfrm>
            <a:off x="7664325" y="2076550"/>
            <a:ext cx="42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155" name="Google Shape;155;p22"/>
          <p:cNvCxnSpPr>
            <a:stCxn id="143" idx="0"/>
            <a:endCxn id="136" idx="2"/>
          </p:cNvCxnSpPr>
          <p:nvPr/>
        </p:nvCxnSpPr>
        <p:spPr>
          <a:xfrm flipH="1" rot="10800000">
            <a:off x="2966475" y="1017625"/>
            <a:ext cx="1605600" cy="604800"/>
          </a:xfrm>
          <a:prstGeom prst="straightConnector1">
            <a:avLst/>
          </a:prstGeom>
          <a:noFill/>
          <a:ln cap="flat" cmpd="sng" w="9525">
            <a:solidFill>
              <a:srgbClr val="980000"/>
            </a:solidFill>
            <a:prstDash val="solid"/>
            <a:round/>
            <a:headEnd len="med" w="med" type="triangle"/>
            <a:tailEnd len="med" w="med" type="none"/>
          </a:ln>
        </p:spPr>
      </p:cxnSp>
      <p:cxnSp>
        <p:nvCxnSpPr>
          <p:cNvPr id="156" name="Google Shape;156;p22"/>
          <p:cNvCxnSpPr/>
          <p:nvPr/>
        </p:nvCxnSpPr>
        <p:spPr>
          <a:xfrm rot="10800000">
            <a:off x="5631225" y="965175"/>
            <a:ext cx="2459400" cy="722100"/>
          </a:xfrm>
          <a:prstGeom prst="straightConnector1">
            <a:avLst/>
          </a:prstGeom>
          <a:noFill/>
          <a:ln cap="flat" cmpd="sng" w="9525">
            <a:solidFill>
              <a:srgbClr val="980000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157" name="Google Shape;157;p22"/>
          <p:cNvSpPr txBox="1"/>
          <p:nvPr/>
        </p:nvSpPr>
        <p:spPr>
          <a:xfrm>
            <a:off x="4203675" y="445025"/>
            <a:ext cx="3052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980000"/>
                </a:solidFill>
              </a:rPr>
              <a:t>α</a:t>
            </a:r>
            <a:r>
              <a:rPr baseline="-25000" lang="en" sz="1800">
                <a:solidFill>
                  <a:srgbClr val="980000"/>
                </a:solidFill>
              </a:rPr>
              <a:t>ij</a:t>
            </a:r>
            <a:r>
              <a:rPr lang="en" sz="1800">
                <a:solidFill>
                  <a:srgbClr val="980000"/>
                </a:solidFill>
              </a:rPr>
              <a:t> = competition coefficient</a:t>
            </a:r>
            <a:endParaRPr sz="1800">
              <a:solidFill>
                <a:srgbClr val="980000"/>
              </a:solidFill>
            </a:endParaRPr>
          </a:p>
        </p:txBody>
      </p:sp>
      <p:sp>
        <p:nvSpPr>
          <p:cNvPr id="158" name="Google Shape;158;p22"/>
          <p:cNvSpPr txBox="1"/>
          <p:nvPr/>
        </p:nvSpPr>
        <p:spPr>
          <a:xfrm>
            <a:off x="269575" y="2927525"/>
            <a:ext cx="46875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/dT = rate of change in 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 = carrying capacity of species 1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 = # species 1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 </a:t>
            </a:r>
            <a:r>
              <a:rPr lang="en" sz="1800">
                <a:solidFill>
                  <a:schemeClr val="dk2"/>
                </a:solidFill>
              </a:rPr>
              <a:t>= # species 2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r>
              <a:rPr lang="en" sz="1800">
                <a:solidFill>
                  <a:schemeClr val="dk2"/>
                </a:solidFill>
              </a:rPr>
              <a:t> = relative impact of sp. 2 on sp. 1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 = growth rate of species 1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59" name="Google Shape;159;p22"/>
          <p:cNvSpPr txBox="1"/>
          <p:nvPr/>
        </p:nvSpPr>
        <p:spPr>
          <a:xfrm>
            <a:off x="4917775" y="2927525"/>
            <a:ext cx="46875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/dT = rate of change in 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baseline="-25000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 = carrying capacity of species 2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21</a:t>
            </a:r>
            <a:r>
              <a:rPr lang="en" sz="1800">
                <a:solidFill>
                  <a:schemeClr val="dk2"/>
                </a:solidFill>
              </a:rPr>
              <a:t> = relative impact of sp. 1 on sp. 2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 = growth rate of species 2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Zero Net Growth Isoclines (ZNGIs)</a:t>
            </a:r>
            <a:endParaRPr/>
          </a:p>
        </p:txBody>
      </p:sp>
      <p:sp>
        <p:nvSpPr>
          <p:cNvPr id="165" name="Google Shape;165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ask under what conditions populations are stable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These are isoclines of zero net growth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Set net growth to zero and solve for N1</a:t>
            </a:r>
            <a:endParaRPr baseline="-2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Zero Net Growth Isoclines (ZNGIs)</a:t>
            </a:r>
            <a:endParaRPr/>
          </a:p>
        </p:txBody>
      </p:sp>
      <p:sp>
        <p:nvSpPr>
          <p:cNvPr id="171" name="Google Shape;171;p24"/>
          <p:cNvSpPr txBox="1"/>
          <p:nvPr/>
        </p:nvSpPr>
        <p:spPr>
          <a:xfrm>
            <a:off x="319125" y="16193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172" name="Google Shape;172;p24"/>
          <p:cNvSpPr txBox="1"/>
          <p:nvPr/>
        </p:nvSpPr>
        <p:spPr>
          <a:xfrm>
            <a:off x="319125" y="20765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dt</a:t>
            </a:r>
            <a:endParaRPr baseline="-25000" sz="1800">
              <a:solidFill>
                <a:schemeClr val="dk2"/>
              </a:solidFill>
            </a:endParaRPr>
          </a:p>
        </p:txBody>
      </p:sp>
      <p:cxnSp>
        <p:nvCxnSpPr>
          <p:cNvPr id="173" name="Google Shape;173;p24"/>
          <p:cNvCxnSpPr/>
          <p:nvPr/>
        </p:nvCxnSpPr>
        <p:spPr>
          <a:xfrm>
            <a:off x="242925" y="2078800"/>
            <a:ext cx="7632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4" name="Google Shape;174;p24"/>
          <p:cNvSpPr txBox="1"/>
          <p:nvPr/>
        </p:nvSpPr>
        <p:spPr>
          <a:xfrm>
            <a:off x="1006125" y="1847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75" name="Google Shape;175;p24"/>
          <p:cNvSpPr txBox="1"/>
          <p:nvPr/>
        </p:nvSpPr>
        <p:spPr>
          <a:xfrm>
            <a:off x="1362825" y="18479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176" name="Google Shape;176;p24"/>
          <p:cNvSpPr/>
          <p:nvPr/>
        </p:nvSpPr>
        <p:spPr>
          <a:xfrm>
            <a:off x="1920875" y="1603150"/>
            <a:ext cx="1942500" cy="951300"/>
          </a:xfrm>
          <a:prstGeom prst="bracketPair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24"/>
          <p:cNvSpPr txBox="1"/>
          <p:nvPr/>
        </p:nvSpPr>
        <p:spPr>
          <a:xfrm>
            <a:off x="2019975" y="1622425"/>
            <a:ext cx="189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 - N</a:t>
            </a:r>
            <a:r>
              <a:rPr baseline="-25000" lang="en" sz="1800">
                <a:solidFill>
                  <a:schemeClr val="dk2"/>
                </a:solidFill>
              </a:rPr>
              <a:t>1 </a:t>
            </a:r>
            <a:r>
              <a:rPr lang="en" sz="1800">
                <a:solidFill>
                  <a:schemeClr val="dk2"/>
                </a:solidFill>
              </a:rPr>
              <a:t>- 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baseline="-25000" sz="1800">
              <a:solidFill>
                <a:schemeClr val="dk2"/>
              </a:solidFill>
            </a:endParaRPr>
          </a:p>
        </p:txBody>
      </p:sp>
      <p:cxnSp>
        <p:nvCxnSpPr>
          <p:cNvPr id="178" name="Google Shape;178;p24"/>
          <p:cNvCxnSpPr/>
          <p:nvPr/>
        </p:nvCxnSpPr>
        <p:spPr>
          <a:xfrm flipH="1" rot="10800000">
            <a:off x="1995525" y="2075200"/>
            <a:ext cx="1560600" cy="3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9" name="Google Shape;179;p24"/>
          <p:cNvSpPr txBox="1"/>
          <p:nvPr/>
        </p:nvSpPr>
        <p:spPr>
          <a:xfrm>
            <a:off x="2558925" y="2076550"/>
            <a:ext cx="42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80" name="Google Shape;180;p24"/>
          <p:cNvSpPr txBox="1"/>
          <p:nvPr/>
        </p:nvSpPr>
        <p:spPr>
          <a:xfrm>
            <a:off x="5424525" y="16193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181" name="Google Shape;181;p24"/>
          <p:cNvSpPr txBox="1"/>
          <p:nvPr/>
        </p:nvSpPr>
        <p:spPr>
          <a:xfrm>
            <a:off x="5424525" y="20765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dt</a:t>
            </a:r>
            <a:endParaRPr baseline="-25000" sz="1800">
              <a:solidFill>
                <a:schemeClr val="dk2"/>
              </a:solidFill>
            </a:endParaRPr>
          </a:p>
        </p:txBody>
      </p:sp>
      <p:cxnSp>
        <p:nvCxnSpPr>
          <p:cNvPr id="182" name="Google Shape;182;p24"/>
          <p:cNvCxnSpPr/>
          <p:nvPr/>
        </p:nvCxnSpPr>
        <p:spPr>
          <a:xfrm>
            <a:off x="5348325" y="2078800"/>
            <a:ext cx="7632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3" name="Google Shape;183;p24"/>
          <p:cNvSpPr txBox="1"/>
          <p:nvPr/>
        </p:nvSpPr>
        <p:spPr>
          <a:xfrm>
            <a:off x="6111525" y="1847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84" name="Google Shape;184;p24"/>
          <p:cNvSpPr txBox="1"/>
          <p:nvPr/>
        </p:nvSpPr>
        <p:spPr>
          <a:xfrm>
            <a:off x="6468225" y="18479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185" name="Google Shape;185;p24"/>
          <p:cNvSpPr/>
          <p:nvPr/>
        </p:nvSpPr>
        <p:spPr>
          <a:xfrm>
            <a:off x="7026275" y="1603150"/>
            <a:ext cx="1942500" cy="951300"/>
          </a:xfrm>
          <a:prstGeom prst="bracketPair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24"/>
          <p:cNvSpPr txBox="1"/>
          <p:nvPr/>
        </p:nvSpPr>
        <p:spPr>
          <a:xfrm>
            <a:off x="7125375" y="1622425"/>
            <a:ext cx="189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 - N</a:t>
            </a:r>
            <a:r>
              <a:rPr baseline="-25000" lang="en" sz="1800">
                <a:solidFill>
                  <a:schemeClr val="dk2"/>
                </a:solidFill>
              </a:rPr>
              <a:t>2 </a:t>
            </a:r>
            <a:r>
              <a:rPr lang="en" sz="1800">
                <a:solidFill>
                  <a:schemeClr val="dk2"/>
                </a:solidFill>
              </a:rPr>
              <a:t>- α</a:t>
            </a:r>
            <a:r>
              <a:rPr baseline="-25000" lang="en" sz="1800">
                <a:solidFill>
                  <a:schemeClr val="dk2"/>
                </a:solidFill>
              </a:rPr>
              <a:t>21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</p:txBody>
      </p:sp>
      <p:cxnSp>
        <p:nvCxnSpPr>
          <p:cNvPr id="187" name="Google Shape;187;p24"/>
          <p:cNvCxnSpPr/>
          <p:nvPr/>
        </p:nvCxnSpPr>
        <p:spPr>
          <a:xfrm flipH="1" rot="10800000">
            <a:off x="7100925" y="2075200"/>
            <a:ext cx="1560600" cy="3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8" name="Google Shape;188;p24"/>
          <p:cNvSpPr txBox="1"/>
          <p:nvPr/>
        </p:nvSpPr>
        <p:spPr>
          <a:xfrm>
            <a:off x="7664325" y="2076550"/>
            <a:ext cx="42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Zero Net Growth Isoclines (ZNGIs)</a:t>
            </a:r>
            <a:endParaRPr/>
          </a:p>
        </p:txBody>
      </p:sp>
      <p:sp>
        <p:nvSpPr>
          <p:cNvPr id="194" name="Google Shape;194;p25"/>
          <p:cNvSpPr txBox="1"/>
          <p:nvPr/>
        </p:nvSpPr>
        <p:spPr>
          <a:xfrm>
            <a:off x="242925" y="1777925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0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1006125" y="1847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362825" y="18479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197" name="Google Shape;197;p25"/>
          <p:cNvSpPr/>
          <p:nvPr/>
        </p:nvSpPr>
        <p:spPr>
          <a:xfrm>
            <a:off x="1920875" y="1603150"/>
            <a:ext cx="1942500" cy="951300"/>
          </a:xfrm>
          <a:prstGeom prst="bracketPair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25"/>
          <p:cNvSpPr txBox="1"/>
          <p:nvPr/>
        </p:nvSpPr>
        <p:spPr>
          <a:xfrm>
            <a:off x="2019975" y="1622425"/>
            <a:ext cx="189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 - N</a:t>
            </a:r>
            <a:r>
              <a:rPr baseline="-25000" lang="en" sz="1800">
                <a:solidFill>
                  <a:schemeClr val="dk2"/>
                </a:solidFill>
              </a:rPr>
              <a:t>1 </a:t>
            </a:r>
            <a:r>
              <a:rPr lang="en" sz="1800">
                <a:solidFill>
                  <a:schemeClr val="dk2"/>
                </a:solidFill>
              </a:rPr>
              <a:t>- 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baseline="-25000" sz="1800">
              <a:solidFill>
                <a:schemeClr val="dk2"/>
              </a:solidFill>
            </a:endParaRPr>
          </a:p>
        </p:txBody>
      </p:sp>
      <p:cxnSp>
        <p:nvCxnSpPr>
          <p:cNvPr id="199" name="Google Shape;199;p25"/>
          <p:cNvCxnSpPr/>
          <p:nvPr/>
        </p:nvCxnSpPr>
        <p:spPr>
          <a:xfrm flipH="1" rot="10800000">
            <a:off x="1995525" y="2075200"/>
            <a:ext cx="1560600" cy="3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0" name="Google Shape;200;p25"/>
          <p:cNvSpPr txBox="1"/>
          <p:nvPr/>
        </p:nvSpPr>
        <p:spPr>
          <a:xfrm>
            <a:off x="2558925" y="2076550"/>
            <a:ext cx="42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01" name="Google Shape;201;p25"/>
          <p:cNvSpPr txBox="1"/>
          <p:nvPr/>
        </p:nvSpPr>
        <p:spPr>
          <a:xfrm>
            <a:off x="5407050" y="18479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0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02" name="Google Shape;202;p25"/>
          <p:cNvSpPr txBox="1"/>
          <p:nvPr/>
        </p:nvSpPr>
        <p:spPr>
          <a:xfrm>
            <a:off x="6111525" y="1847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03" name="Google Shape;203;p25"/>
          <p:cNvSpPr txBox="1"/>
          <p:nvPr/>
        </p:nvSpPr>
        <p:spPr>
          <a:xfrm>
            <a:off x="6468225" y="18479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7026275" y="1603150"/>
            <a:ext cx="1942500" cy="951300"/>
          </a:xfrm>
          <a:prstGeom prst="bracketPair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25"/>
          <p:cNvSpPr txBox="1"/>
          <p:nvPr/>
        </p:nvSpPr>
        <p:spPr>
          <a:xfrm>
            <a:off x="7125375" y="1622425"/>
            <a:ext cx="189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 - N</a:t>
            </a:r>
            <a:r>
              <a:rPr baseline="-25000" lang="en" sz="1800">
                <a:solidFill>
                  <a:schemeClr val="dk2"/>
                </a:solidFill>
              </a:rPr>
              <a:t>2 </a:t>
            </a:r>
            <a:r>
              <a:rPr lang="en" sz="1800">
                <a:solidFill>
                  <a:schemeClr val="dk2"/>
                </a:solidFill>
              </a:rPr>
              <a:t>- α</a:t>
            </a:r>
            <a:r>
              <a:rPr baseline="-25000" lang="en" sz="1800">
                <a:solidFill>
                  <a:schemeClr val="dk2"/>
                </a:solidFill>
              </a:rPr>
              <a:t>21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</p:txBody>
      </p:sp>
      <p:cxnSp>
        <p:nvCxnSpPr>
          <p:cNvPr id="206" name="Google Shape;206;p25"/>
          <p:cNvCxnSpPr/>
          <p:nvPr/>
        </p:nvCxnSpPr>
        <p:spPr>
          <a:xfrm flipH="1" rot="10800000">
            <a:off x="7100925" y="2075200"/>
            <a:ext cx="1560600" cy="3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7" name="Google Shape;207;p25"/>
          <p:cNvSpPr txBox="1"/>
          <p:nvPr/>
        </p:nvSpPr>
        <p:spPr>
          <a:xfrm>
            <a:off x="7664325" y="2076550"/>
            <a:ext cx="42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Zero Net Growth Isoclines (ZNGIs)</a:t>
            </a:r>
            <a:endParaRPr/>
          </a:p>
        </p:txBody>
      </p:sp>
      <p:sp>
        <p:nvSpPr>
          <p:cNvPr id="213" name="Google Shape;213;p26"/>
          <p:cNvSpPr txBox="1"/>
          <p:nvPr/>
        </p:nvSpPr>
        <p:spPr>
          <a:xfrm>
            <a:off x="242925" y="1777925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0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14" name="Google Shape;214;p26"/>
          <p:cNvSpPr txBox="1"/>
          <p:nvPr/>
        </p:nvSpPr>
        <p:spPr>
          <a:xfrm>
            <a:off x="1006125" y="1847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15" name="Google Shape;215;p26"/>
          <p:cNvSpPr/>
          <p:nvPr/>
        </p:nvSpPr>
        <p:spPr>
          <a:xfrm>
            <a:off x="1920875" y="1603150"/>
            <a:ext cx="1942500" cy="951300"/>
          </a:xfrm>
          <a:prstGeom prst="bracketPair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26"/>
          <p:cNvSpPr txBox="1"/>
          <p:nvPr/>
        </p:nvSpPr>
        <p:spPr>
          <a:xfrm>
            <a:off x="2019975" y="1622425"/>
            <a:ext cx="189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 - N</a:t>
            </a:r>
            <a:r>
              <a:rPr baseline="-25000" lang="en" sz="1800">
                <a:solidFill>
                  <a:schemeClr val="dk2"/>
                </a:solidFill>
              </a:rPr>
              <a:t>1 </a:t>
            </a:r>
            <a:r>
              <a:rPr lang="en" sz="1800">
                <a:solidFill>
                  <a:schemeClr val="dk2"/>
                </a:solidFill>
              </a:rPr>
              <a:t>- 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baseline="-25000" sz="1800">
              <a:solidFill>
                <a:schemeClr val="dk2"/>
              </a:solidFill>
            </a:endParaRPr>
          </a:p>
        </p:txBody>
      </p:sp>
      <p:cxnSp>
        <p:nvCxnSpPr>
          <p:cNvPr id="217" name="Google Shape;217;p26"/>
          <p:cNvCxnSpPr/>
          <p:nvPr/>
        </p:nvCxnSpPr>
        <p:spPr>
          <a:xfrm flipH="1" rot="10800000">
            <a:off x="1995525" y="2075200"/>
            <a:ext cx="1560600" cy="3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8" name="Google Shape;218;p26"/>
          <p:cNvSpPr txBox="1"/>
          <p:nvPr/>
        </p:nvSpPr>
        <p:spPr>
          <a:xfrm>
            <a:off x="2558925" y="2076550"/>
            <a:ext cx="42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19" name="Google Shape;219;p26"/>
          <p:cNvSpPr txBox="1"/>
          <p:nvPr/>
        </p:nvSpPr>
        <p:spPr>
          <a:xfrm>
            <a:off x="5407050" y="18479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0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20" name="Google Shape;220;p26"/>
          <p:cNvSpPr txBox="1"/>
          <p:nvPr/>
        </p:nvSpPr>
        <p:spPr>
          <a:xfrm>
            <a:off x="6111525" y="1847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21" name="Google Shape;221;p26"/>
          <p:cNvSpPr/>
          <p:nvPr/>
        </p:nvSpPr>
        <p:spPr>
          <a:xfrm>
            <a:off x="7026275" y="1603150"/>
            <a:ext cx="1942500" cy="951300"/>
          </a:xfrm>
          <a:prstGeom prst="bracketPair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26"/>
          <p:cNvSpPr txBox="1"/>
          <p:nvPr/>
        </p:nvSpPr>
        <p:spPr>
          <a:xfrm>
            <a:off x="7125375" y="1622425"/>
            <a:ext cx="189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 - N</a:t>
            </a:r>
            <a:r>
              <a:rPr baseline="-25000" lang="en" sz="1800">
                <a:solidFill>
                  <a:schemeClr val="dk2"/>
                </a:solidFill>
              </a:rPr>
              <a:t>2 </a:t>
            </a:r>
            <a:r>
              <a:rPr lang="en" sz="1800">
                <a:solidFill>
                  <a:schemeClr val="dk2"/>
                </a:solidFill>
              </a:rPr>
              <a:t>- α</a:t>
            </a:r>
            <a:r>
              <a:rPr baseline="-25000" lang="en" sz="1800">
                <a:solidFill>
                  <a:schemeClr val="dk2"/>
                </a:solidFill>
              </a:rPr>
              <a:t>21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</p:txBody>
      </p:sp>
      <p:cxnSp>
        <p:nvCxnSpPr>
          <p:cNvPr id="223" name="Google Shape;223;p26"/>
          <p:cNvCxnSpPr/>
          <p:nvPr/>
        </p:nvCxnSpPr>
        <p:spPr>
          <a:xfrm flipH="1" rot="10800000">
            <a:off x="7100925" y="2075200"/>
            <a:ext cx="1560600" cy="3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4" name="Google Shape;224;p26"/>
          <p:cNvSpPr txBox="1"/>
          <p:nvPr/>
        </p:nvSpPr>
        <p:spPr>
          <a:xfrm>
            <a:off x="7664325" y="2076550"/>
            <a:ext cx="42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Zero Net Growth Isoclines (ZNGIs)</a:t>
            </a:r>
            <a:endParaRPr/>
          </a:p>
        </p:txBody>
      </p:sp>
      <p:sp>
        <p:nvSpPr>
          <p:cNvPr id="230" name="Google Shape;230;p27"/>
          <p:cNvSpPr txBox="1"/>
          <p:nvPr/>
        </p:nvSpPr>
        <p:spPr>
          <a:xfrm>
            <a:off x="242925" y="1777925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0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31" name="Google Shape;231;p27"/>
          <p:cNvSpPr txBox="1"/>
          <p:nvPr/>
        </p:nvSpPr>
        <p:spPr>
          <a:xfrm>
            <a:off x="1006125" y="1847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32" name="Google Shape;232;p27"/>
          <p:cNvSpPr txBox="1"/>
          <p:nvPr/>
        </p:nvSpPr>
        <p:spPr>
          <a:xfrm>
            <a:off x="2019975" y="1622425"/>
            <a:ext cx="189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 - N</a:t>
            </a:r>
            <a:r>
              <a:rPr baseline="-25000" lang="en" sz="1800">
                <a:solidFill>
                  <a:schemeClr val="dk2"/>
                </a:solidFill>
              </a:rPr>
              <a:t>1 </a:t>
            </a:r>
            <a:r>
              <a:rPr lang="en" sz="1800">
                <a:solidFill>
                  <a:schemeClr val="dk2"/>
                </a:solidFill>
              </a:rPr>
              <a:t>- 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33" name="Google Shape;233;p27"/>
          <p:cNvSpPr txBox="1"/>
          <p:nvPr/>
        </p:nvSpPr>
        <p:spPr>
          <a:xfrm>
            <a:off x="5407050" y="18479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0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34" name="Google Shape;234;p27"/>
          <p:cNvSpPr txBox="1"/>
          <p:nvPr/>
        </p:nvSpPr>
        <p:spPr>
          <a:xfrm>
            <a:off x="6111525" y="1847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35" name="Google Shape;235;p27"/>
          <p:cNvSpPr txBox="1"/>
          <p:nvPr/>
        </p:nvSpPr>
        <p:spPr>
          <a:xfrm>
            <a:off x="7125375" y="1622425"/>
            <a:ext cx="189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 - N</a:t>
            </a:r>
            <a:r>
              <a:rPr baseline="-25000" lang="en" sz="1800">
                <a:solidFill>
                  <a:schemeClr val="dk2"/>
                </a:solidFill>
              </a:rPr>
              <a:t>2 </a:t>
            </a:r>
            <a:r>
              <a:rPr lang="en" sz="1800">
                <a:solidFill>
                  <a:schemeClr val="dk2"/>
                </a:solidFill>
              </a:rPr>
              <a:t>- α</a:t>
            </a:r>
            <a:r>
              <a:rPr baseline="-25000" lang="en" sz="1800">
                <a:solidFill>
                  <a:schemeClr val="dk2"/>
                </a:solidFill>
              </a:rPr>
              <a:t>21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Zero Net Growth Isoclines (ZNGIs)</a:t>
            </a:r>
            <a:endParaRPr/>
          </a:p>
        </p:txBody>
      </p:sp>
      <p:sp>
        <p:nvSpPr>
          <p:cNvPr id="241" name="Google Shape;241;p28"/>
          <p:cNvSpPr txBox="1"/>
          <p:nvPr/>
        </p:nvSpPr>
        <p:spPr>
          <a:xfrm>
            <a:off x="311700" y="18479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42" name="Google Shape;242;p28"/>
          <p:cNvSpPr txBox="1"/>
          <p:nvPr/>
        </p:nvSpPr>
        <p:spPr>
          <a:xfrm>
            <a:off x="1006125" y="1847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43" name="Google Shape;243;p28"/>
          <p:cNvSpPr txBox="1"/>
          <p:nvPr/>
        </p:nvSpPr>
        <p:spPr>
          <a:xfrm>
            <a:off x="1425350" y="1847950"/>
            <a:ext cx="189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 - 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44" name="Google Shape;244;p28"/>
          <p:cNvSpPr txBox="1"/>
          <p:nvPr/>
        </p:nvSpPr>
        <p:spPr>
          <a:xfrm>
            <a:off x="5407050" y="18479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21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45" name="Google Shape;245;p28"/>
          <p:cNvSpPr txBox="1"/>
          <p:nvPr/>
        </p:nvSpPr>
        <p:spPr>
          <a:xfrm>
            <a:off x="6111525" y="1847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46" name="Google Shape;246;p28"/>
          <p:cNvSpPr txBox="1"/>
          <p:nvPr/>
        </p:nvSpPr>
        <p:spPr>
          <a:xfrm>
            <a:off x="6619925" y="1899925"/>
            <a:ext cx="189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 - 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 </a:t>
            </a:r>
            <a:endParaRPr baseline="-25000"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Zero Net Growth Isoclines (ZNGIs)</a:t>
            </a:r>
            <a:endParaRPr/>
          </a:p>
        </p:txBody>
      </p:sp>
      <p:sp>
        <p:nvSpPr>
          <p:cNvPr id="252" name="Google Shape;252;p29"/>
          <p:cNvSpPr txBox="1"/>
          <p:nvPr/>
        </p:nvSpPr>
        <p:spPr>
          <a:xfrm>
            <a:off x="562725" y="1847950"/>
            <a:ext cx="443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53" name="Google Shape;253;p29"/>
          <p:cNvSpPr txBox="1"/>
          <p:nvPr/>
        </p:nvSpPr>
        <p:spPr>
          <a:xfrm>
            <a:off x="1006125" y="1847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54" name="Google Shape;254;p29"/>
          <p:cNvSpPr txBox="1"/>
          <p:nvPr/>
        </p:nvSpPr>
        <p:spPr>
          <a:xfrm>
            <a:off x="1425350" y="1847950"/>
            <a:ext cx="189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 - 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55" name="Google Shape;255;p29"/>
          <p:cNvSpPr txBox="1"/>
          <p:nvPr/>
        </p:nvSpPr>
        <p:spPr>
          <a:xfrm>
            <a:off x="5704375" y="1847950"/>
            <a:ext cx="497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56" name="Google Shape;256;p29"/>
          <p:cNvSpPr txBox="1"/>
          <p:nvPr/>
        </p:nvSpPr>
        <p:spPr>
          <a:xfrm>
            <a:off x="6111525" y="1847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57" name="Google Shape;257;p29"/>
          <p:cNvSpPr txBox="1"/>
          <p:nvPr/>
        </p:nvSpPr>
        <p:spPr>
          <a:xfrm>
            <a:off x="6543725" y="1595125"/>
            <a:ext cx="189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 - 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 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58" name="Google Shape;258;p29"/>
          <p:cNvSpPr txBox="1"/>
          <p:nvPr/>
        </p:nvSpPr>
        <p:spPr>
          <a:xfrm>
            <a:off x="6700425" y="2100775"/>
            <a:ext cx="497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21</a:t>
            </a:r>
            <a:endParaRPr/>
          </a:p>
        </p:txBody>
      </p:sp>
      <p:cxnSp>
        <p:nvCxnSpPr>
          <p:cNvPr id="259" name="Google Shape;259;p29"/>
          <p:cNvCxnSpPr/>
          <p:nvPr/>
        </p:nvCxnSpPr>
        <p:spPr>
          <a:xfrm>
            <a:off x="6567525" y="2078800"/>
            <a:ext cx="7632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8482" y="2462050"/>
            <a:ext cx="2620682" cy="2529050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Zero Net Growth Isoclines (ZNGIs)</a:t>
            </a:r>
            <a:endParaRPr/>
          </a:p>
        </p:txBody>
      </p:sp>
      <p:sp>
        <p:nvSpPr>
          <p:cNvPr id="266" name="Google Shape;266;p30"/>
          <p:cNvSpPr txBox="1"/>
          <p:nvPr/>
        </p:nvSpPr>
        <p:spPr>
          <a:xfrm>
            <a:off x="562725" y="1847950"/>
            <a:ext cx="443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67" name="Google Shape;267;p30"/>
          <p:cNvSpPr txBox="1"/>
          <p:nvPr/>
        </p:nvSpPr>
        <p:spPr>
          <a:xfrm>
            <a:off x="1006125" y="1847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68" name="Google Shape;268;p30"/>
          <p:cNvSpPr txBox="1"/>
          <p:nvPr/>
        </p:nvSpPr>
        <p:spPr>
          <a:xfrm>
            <a:off x="1425350" y="1847950"/>
            <a:ext cx="189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 - 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69" name="Google Shape;269;p30"/>
          <p:cNvSpPr txBox="1"/>
          <p:nvPr/>
        </p:nvSpPr>
        <p:spPr>
          <a:xfrm>
            <a:off x="5704375" y="1847950"/>
            <a:ext cx="497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70" name="Google Shape;270;p30"/>
          <p:cNvSpPr txBox="1"/>
          <p:nvPr/>
        </p:nvSpPr>
        <p:spPr>
          <a:xfrm>
            <a:off x="6111525" y="1847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71" name="Google Shape;271;p30"/>
          <p:cNvSpPr txBox="1"/>
          <p:nvPr/>
        </p:nvSpPr>
        <p:spPr>
          <a:xfrm>
            <a:off x="6543725" y="1595125"/>
            <a:ext cx="189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 - 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 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72" name="Google Shape;272;p30"/>
          <p:cNvSpPr txBox="1"/>
          <p:nvPr/>
        </p:nvSpPr>
        <p:spPr>
          <a:xfrm>
            <a:off x="6700425" y="2100775"/>
            <a:ext cx="497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21</a:t>
            </a:r>
            <a:endParaRPr/>
          </a:p>
        </p:txBody>
      </p:sp>
      <p:cxnSp>
        <p:nvCxnSpPr>
          <p:cNvPr id="273" name="Google Shape;273;p30"/>
          <p:cNvCxnSpPr/>
          <p:nvPr/>
        </p:nvCxnSpPr>
        <p:spPr>
          <a:xfrm>
            <a:off x="6567525" y="2078800"/>
            <a:ext cx="7632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74" name="Google Shape;274;p30"/>
          <p:cNvSpPr txBox="1"/>
          <p:nvPr/>
        </p:nvSpPr>
        <p:spPr>
          <a:xfrm>
            <a:off x="990238" y="1386250"/>
            <a:ext cx="124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Species 1</a:t>
            </a:r>
            <a:endParaRPr b="1" sz="1800">
              <a:solidFill>
                <a:schemeClr val="dk2"/>
              </a:solidFill>
            </a:endParaRPr>
          </a:p>
        </p:txBody>
      </p:sp>
      <p:cxnSp>
        <p:nvCxnSpPr>
          <p:cNvPr id="275" name="Google Shape;275;p30"/>
          <p:cNvCxnSpPr/>
          <p:nvPr/>
        </p:nvCxnSpPr>
        <p:spPr>
          <a:xfrm rot="10800000">
            <a:off x="1954675" y="4156625"/>
            <a:ext cx="552300" cy="96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76" name="Google Shape;276;p30"/>
          <p:cNvCxnSpPr/>
          <p:nvPr/>
        </p:nvCxnSpPr>
        <p:spPr>
          <a:xfrm>
            <a:off x="621025" y="4213850"/>
            <a:ext cx="647700" cy="96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50965" y="2462050"/>
            <a:ext cx="2560918" cy="2471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8482" y="2462050"/>
            <a:ext cx="2620682" cy="252905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Zero Net Growth Isoclines (ZNGIs)</a:t>
            </a:r>
            <a:endParaRPr/>
          </a:p>
        </p:txBody>
      </p:sp>
      <p:sp>
        <p:nvSpPr>
          <p:cNvPr id="284" name="Google Shape;284;p31"/>
          <p:cNvSpPr txBox="1"/>
          <p:nvPr/>
        </p:nvSpPr>
        <p:spPr>
          <a:xfrm>
            <a:off x="562725" y="1847950"/>
            <a:ext cx="443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85" name="Google Shape;285;p31"/>
          <p:cNvSpPr txBox="1"/>
          <p:nvPr/>
        </p:nvSpPr>
        <p:spPr>
          <a:xfrm>
            <a:off x="1006125" y="1847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86" name="Google Shape;286;p31"/>
          <p:cNvSpPr txBox="1"/>
          <p:nvPr/>
        </p:nvSpPr>
        <p:spPr>
          <a:xfrm>
            <a:off x="1425350" y="1847950"/>
            <a:ext cx="189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 - 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87" name="Google Shape;287;p31"/>
          <p:cNvSpPr txBox="1"/>
          <p:nvPr/>
        </p:nvSpPr>
        <p:spPr>
          <a:xfrm>
            <a:off x="5704375" y="1847950"/>
            <a:ext cx="497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88" name="Google Shape;288;p31"/>
          <p:cNvSpPr txBox="1"/>
          <p:nvPr/>
        </p:nvSpPr>
        <p:spPr>
          <a:xfrm>
            <a:off x="6111525" y="1847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89" name="Google Shape;289;p31"/>
          <p:cNvSpPr txBox="1"/>
          <p:nvPr/>
        </p:nvSpPr>
        <p:spPr>
          <a:xfrm>
            <a:off x="6543725" y="1595125"/>
            <a:ext cx="189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 - 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 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90" name="Google Shape;290;p31"/>
          <p:cNvSpPr txBox="1"/>
          <p:nvPr/>
        </p:nvSpPr>
        <p:spPr>
          <a:xfrm>
            <a:off x="6700425" y="2100775"/>
            <a:ext cx="497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21</a:t>
            </a:r>
            <a:endParaRPr/>
          </a:p>
        </p:txBody>
      </p:sp>
      <p:cxnSp>
        <p:nvCxnSpPr>
          <p:cNvPr id="291" name="Google Shape;291;p31"/>
          <p:cNvCxnSpPr/>
          <p:nvPr/>
        </p:nvCxnSpPr>
        <p:spPr>
          <a:xfrm>
            <a:off x="6567525" y="2078800"/>
            <a:ext cx="7632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2" name="Google Shape;292;p31"/>
          <p:cNvSpPr txBox="1"/>
          <p:nvPr/>
        </p:nvSpPr>
        <p:spPr>
          <a:xfrm>
            <a:off x="990238" y="1386250"/>
            <a:ext cx="124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0000FF"/>
                </a:solidFill>
              </a:rPr>
              <a:t>Species 1</a:t>
            </a:r>
            <a:endParaRPr b="1" sz="1800">
              <a:solidFill>
                <a:srgbClr val="0000FF"/>
              </a:solidFill>
            </a:endParaRPr>
          </a:p>
        </p:txBody>
      </p:sp>
      <p:cxnSp>
        <p:nvCxnSpPr>
          <p:cNvPr id="293" name="Google Shape;293;p31"/>
          <p:cNvCxnSpPr/>
          <p:nvPr/>
        </p:nvCxnSpPr>
        <p:spPr>
          <a:xfrm rot="10800000">
            <a:off x="1954675" y="4156625"/>
            <a:ext cx="552300" cy="96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94" name="Google Shape;294;p31"/>
          <p:cNvCxnSpPr/>
          <p:nvPr/>
        </p:nvCxnSpPr>
        <p:spPr>
          <a:xfrm>
            <a:off x="621025" y="4213850"/>
            <a:ext cx="647700" cy="96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95" name="Google Shape;295;p31"/>
          <p:cNvCxnSpPr/>
          <p:nvPr/>
        </p:nvCxnSpPr>
        <p:spPr>
          <a:xfrm flipH="1" rot="10800000">
            <a:off x="7098025" y="4299575"/>
            <a:ext cx="9600" cy="3048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96" name="Google Shape;296;p31"/>
          <p:cNvCxnSpPr/>
          <p:nvPr/>
        </p:nvCxnSpPr>
        <p:spPr>
          <a:xfrm>
            <a:off x="7126600" y="3575675"/>
            <a:ext cx="300" cy="3429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97" name="Google Shape;297;p31"/>
          <p:cNvSpPr txBox="1"/>
          <p:nvPr/>
        </p:nvSpPr>
        <p:spPr>
          <a:xfrm>
            <a:off x="6171838" y="1233850"/>
            <a:ext cx="124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980000"/>
                </a:solidFill>
              </a:rPr>
              <a:t>Species 2</a:t>
            </a:r>
            <a:endParaRPr b="1" sz="1800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" name="Google Shape;302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4675" y="941525"/>
            <a:ext cx="4115624" cy="3971738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Zero Net Growth Isoclines (ZNGIs)</a:t>
            </a:r>
            <a:endParaRPr/>
          </a:p>
        </p:txBody>
      </p:sp>
      <p:sp>
        <p:nvSpPr>
          <p:cNvPr id="304" name="Google Shape;304;p32"/>
          <p:cNvSpPr txBox="1"/>
          <p:nvPr/>
        </p:nvSpPr>
        <p:spPr>
          <a:xfrm>
            <a:off x="5867038" y="556025"/>
            <a:ext cx="124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0000FF"/>
                </a:solidFill>
              </a:rPr>
              <a:t>Species 1</a:t>
            </a:r>
            <a:endParaRPr b="1" sz="1800">
              <a:solidFill>
                <a:srgbClr val="0000FF"/>
              </a:solidFill>
            </a:endParaRPr>
          </a:p>
        </p:txBody>
      </p:sp>
      <p:sp>
        <p:nvSpPr>
          <p:cNvPr id="305" name="Google Shape;305;p32"/>
          <p:cNvSpPr txBox="1"/>
          <p:nvPr/>
        </p:nvSpPr>
        <p:spPr>
          <a:xfrm>
            <a:off x="7362463" y="500525"/>
            <a:ext cx="124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980000"/>
                </a:solidFill>
              </a:rPr>
              <a:t>Species 2</a:t>
            </a:r>
            <a:endParaRPr b="1" sz="1800">
              <a:solidFill>
                <a:srgbClr val="980000"/>
              </a:solidFill>
            </a:endParaRPr>
          </a:p>
        </p:txBody>
      </p:sp>
      <p:cxnSp>
        <p:nvCxnSpPr>
          <p:cNvPr id="306" name="Google Shape;306;p32"/>
          <p:cNvCxnSpPr/>
          <p:nvPr/>
        </p:nvCxnSpPr>
        <p:spPr>
          <a:xfrm rot="10800000">
            <a:off x="1011550" y="3585250"/>
            <a:ext cx="0" cy="3600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7" name="Google Shape;307;p32"/>
          <p:cNvCxnSpPr/>
          <p:nvPr/>
        </p:nvCxnSpPr>
        <p:spPr>
          <a:xfrm flipH="1">
            <a:off x="3050125" y="2832725"/>
            <a:ext cx="9300" cy="3144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8" name="Google Shape;308;p32"/>
          <p:cNvCxnSpPr/>
          <p:nvPr/>
        </p:nvCxnSpPr>
        <p:spPr>
          <a:xfrm rot="10800000">
            <a:off x="2516425" y="2792825"/>
            <a:ext cx="543000" cy="399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9" name="Google Shape;309;p32"/>
          <p:cNvCxnSpPr/>
          <p:nvPr/>
        </p:nvCxnSpPr>
        <p:spPr>
          <a:xfrm>
            <a:off x="1011550" y="3945250"/>
            <a:ext cx="647700" cy="96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10" name="Google Shape;310;p32"/>
          <p:cNvCxnSpPr/>
          <p:nvPr/>
        </p:nvCxnSpPr>
        <p:spPr>
          <a:xfrm flipH="1">
            <a:off x="916525" y="2146925"/>
            <a:ext cx="9300" cy="3144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11" name="Google Shape;311;p32"/>
          <p:cNvCxnSpPr/>
          <p:nvPr/>
        </p:nvCxnSpPr>
        <p:spPr>
          <a:xfrm>
            <a:off x="935350" y="2116450"/>
            <a:ext cx="333300" cy="285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12" name="Google Shape;312;p32"/>
          <p:cNvCxnSpPr/>
          <p:nvPr/>
        </p:nvCxnSpPr>
        <p:spPr>
          <a:xfrm rot="10800000">
            <a:off x="3126100" y="3954850"/>
            <a:ext cx="0" cy="3600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13" name="Google Shape;313;p32"/>
          <p:cNvCxnSpPr/>
          <p:nvPr/>
        </p:nvCxnSpPr>
        <p:spPr>
          <a:xfrm rot="10800000">
            <a:off x="2745100" y="4316800"/>
            <a:ext cx="381000" cy="285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4675" y="941525"/>
            <a:ext cx="4115624" cy="3971738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Zero Net Growth Isoclines (ZNGIs)</a:t>
            </a:r>
            <a:endParaRPr/>
          </a:p>
        </p:txBody>
      </p:sp>
      <p:sp>
        <p:nvSpPr>
          <p:cNvPr id="320" name="Google Shape;320;p33"/>
          <p:cNvSpPr txBox="1"/>
          <p:nvPr/>
        </p:nvSpPr>
        <p:spPr>
          <a:xfrm>
            <a:off x="5867038" y="556025"/>
            <a:ext cx="124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0000FF"/>
                </a:solidFill>
              </a:rPr>
              <a:t>Species 1</a:t>
            </a:r>
            <a:endParaRPr b="1" sz="1800">
              <a:solidFill>
                <a:srgbClr val="0000FF"/>
              </a:solidFill>
            </a:endParaRPr>
          </a:p>
        </p:txBody>
      </p:sp>
      <p:sp>
        <p:nvSpPr>
          <p:cNvPr id="321" name="Google Shape;321;p33"/>
          <p:cNvSpPr txBox="1"/>
          <p:nvPr/>
        </p:nvSpPr>
        <p:spPr>
          <a:xfrm>
            <a:off x="7362463" y="500525"/>
            <a:ext cx="124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980000"/>
                </a:solidFill>
              </a:rPr>
              <a:t>Species 2</a:t>
            </a:r>
            <a:endParaRPr b="1" sz="1800">
              <a:solidFill>
                <a:srgbClr val="980000"/>
              </a:solidFill>
            </a:endParaRPr>
          </a:p>
        </p:txBody>
      </p:sp>
      <p:sp>
        <p:nvSpPr>
          <p:cNvPr id="322" name="Google Shape;322;p33"/>
          <p:cNvSpPr txBox="1"/>
          <p:nvPr/>
        </p:nvSpPr>
        <p:spPr>
          <a:xfrm>
            <a:off x="4724125" y="1451600"/>
            <a:ext cx="38313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Stable coexistence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Both </a:t>
            </a:r>
            <a:r>
              <a:rPr lang="en" sz="1800">
                <a:solidFill>
                  <a:schemeClr val="dk2"/>
                </a:solidFill>
              </a:rPr>
              <a:t>species</a:t>
            </a:r>
            <a:r>
              <a:rPr lang="en" sz="1800">
                <a:solidFill>
                  <a:schemeClr val="dk2"/>
                </a:solidFill>
              </a:rPr>
              <a:t> can invade from low density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323" name="Google Shape;323;p33"/>
          <p:cNvSpPr/>
          <p:nvPr/>
        </p:nvSpPr>
        <p:spPr>
          <a:xfrm>
            <a:off x="1878325" y="3194900"/>
            <a:ext cx="171300" cy="171300"/>
          </a:xfrm>
          <a:prstGeom prst="ellipse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324" name="Google Shape;324;p33"/>
          <p:cNvCxnSpPr/>
          <p:nvPr/>
        </p:nvCxnSpPr>
        <p:spPr>
          <a:xfrm rot="10800000">
            <a:off x="1011550" y="3585250"/>
            <a:ext cx="0" cy="3600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25" name="Google Shape;325;p33"/>
          <p:cNvCxnSpPr/>
          <p:nvPr/>
        </p:nvCxnSpPr>
        <p:spPr>
          <a:xfrm flipH="1">
            <a:off x="3050125" y="2832725"/>
            <a:ext cx="9300" cy="3144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26" name="Google Shape;326;p33"/>
          <p:cNvCxnSpPr/>
          <p:nvPr/>
        </p:nvCxnSpPr>
        <p:spPr>
          <a:xfrm rot="10800000">
            <a:off x="2516425" y="2792825"/>
            <a:ext cx="543000" cy="399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27" name="Google Shape;327;p33"/>
          <p:cNvCxnSpPr/>
          <p:nvPr/>
        </p:nvCxnSpPr>
        <p:spPr>
          <a:xfrm>
            <a:off x="1011550" y="3945250"/>
            <a:ext cx="647700" cy="96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28" name="Google Shape;328;p33"/>
          <p:cNvCxnSpPr/>
          <p:nvPr/>
        </p:nvCxnSpPr>
        <p:spPr>
          <a:xfrm flipH="1">
            <a:off x="916525" y="2146925"/>
            <a:ext cx="9300" cy="3144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29" name="Google Shape;329;p33"/>
          <p:cNvCxnSpPr/>
          <p:nvPr/>
        </p:nvCxnSpPr>
        <p:spPr>
          <a:xfrm>
            <a:off x="935350" y="2116450"/>
            <a:ext cx="333300" cy="285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30" name="Google Shape;330;p33"/>
          <p:cNvCxnSpPr/>
          <p:nvPr/>
        </p:nvCxnSpPr>
        <p:spPr>
          <a:xfrm rot="10800000">
            <a:off x="3126100" y="3954850"/>
            <a:ext cx="0" cy="3600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31" name="Google Shape;331;p33"/>
          <p:cNvCxnSpPr/>
          <p:nvPr/>
        </p:nvCxnSpPr>
        <p:spPr>
          <a:xfrm rot="10800000">
            <a:off x="2745100" y="4316800"/>
            <a:ext cx="381000" cy="285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Zero Net Growth Isoclines (ZNGIs)</a:t>
            </a:r>
            <a:endParaRPr/>
          </a:p>
        </p:txBody>
      </p:sp>
      <p:sp>
        <p:nvSpPr>
          <p:cNvPr id="337" name="Google Shape;337;p34"/>
          <p:cNvSpPr txBox="1"/>
          <p:nvPr/>
        </p:nvSpPr>
        <p:spPr>
          <a:xfrm>
            <a:off x="5867038" y="556025"/>
            <a:ext cx="124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0000FF"/>
                </a:solidFill>
              </a:rPr>
              <a:t>Species 1</a:t>
            </a:r>
            <a:endParaRPr b="1" sz="1800">
              <a:solidFill>
                <a:srgbClr val="0000FF"/>
              </a:solidFill>
            </a:endParaRPr>
          </a:p>
        </p:txBody>
      </p:sp>
      <p:sp>
        <p:nvSpPr>
          <p:cNvPr id="338" name="Google Shape;338;p34"/>
          <p:cNvSpPr txBox="1"/>
          <p:nvPr/>
        </p:nvSpPr>
        <p:spPr>
          <a:xfrm>
            <a:off x="7362463" y="500525"/>
            <a:ext cx="124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980000"/>
                </a:solidFill>
              </a:rPr>
              <a:t>Species 2</a:t>
            </a:r>
            <a:endParaRPr b="1" sz="1800">
              <a:solidFill>
                <a:srgbClr val="980000"/>
              </a:solidFill>
            </a:endParaRPr>
          </a:p>
        </p:txBody>
      </p:sp>
      <p:pic>
        <p:nvPicPr>
          <p:cNvPr id="339" name="Google Shape;339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00" y="1170125"/>
            <a:ext cx="3959417" cy="38209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40" name="Google Shape;340;p34"/>
          <p:cNvCxnSpPr/>
          <p:nvPr/>
        </p:nvCxnSpPr>
        <p:spPr>
          <a:xfrm rot="10800000">
            <a:off x="1261013" y="3861425"/>
            <a:ext cx="658200" cy="381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41" name="Google Shape;341;p34"/>
          <p:cNvCxnSpPr/>
          <p:nvPr/>
        </p:nvCxnSpPr>
        <p:spPr>
          <a:xfrm>
            <a:off x="859150" y="4175750"/>
            <a:ext cx="751500" cy="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42" name="Google Shape;342;p34"/>
          <p:cNvCxnSpPr/>
          <p:nvPr/>
        </p:nvCxnSpPr>
        <p:spPr>
          <a:xfrm flipH="1" rot="10800000">
            <a:off x="1919225" y="3594725"/>
            <a:ext cx="9600" cy="3048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43" name="Google Shape;343;p34"/>
          <p:cNvCxnSpPr/>
          <p:nvPr/>
        </p:nvCxnSpPr>
        <p:spPr>
          <a:xfrm flipH="1">
            <a:off x="1964275" y="2966075"/>
            <a:ext cx="9300" cy="3144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44" name="Google Shape;344;p34"/>
          <p:cNvCxnSpPr/>
          <p:nvPr/>
        </p:nvCxnSpPr>
        <p:spPr>
          <a:xfrm rot="10800000">
            <a:off x="1611713" y="2981225"/>
            <a:ext cx="383700" cy="39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45" name="Google Shape;345;p34"/>
          <p:cNvCxnSpPr/>
          <p:nvPr/>
        </p:nvCxnSpPr>
        <p:spPr>
          <a:xfrm flipH="1" rot="10800000">
            <a:off x="852425" y="3899525"/>
            <a:ext cx="9600" cy="3048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Zero Net Growth Isoclines (ZNGIs)</a:t>
            </a:r>
            <a:endParaRPr/>
          </a:p>
        </p:txBody>
      </p:sp>
      <p:sp>
        <p:nvSpPr>
          <p:cNvPr id="351" name="Google Shape;351;p35"/>
          <p:cNvSpPr txBox="1"/>
          <p:nvPr/>
        </p:nvSpPr>
        <p:spPr>
          <a:xfrm>
            <a:off x="5867038" y="556025"/>
            <a:ext cx="124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0000FF"/>
                </a:solidFill>
              </a:rPr>
              <a:t>Species 1</a:t>
            </a:r>
            <a:endParaRPr b="1" sz="1800">
              <a:solidFill>
                <a:srgbClr val="0000FF"/>
              </a:solidFill>
            </a:endParaRPr>
          </a:p>
        </p:txBody>
      </p:sp>
      <p:sp>
        <p:nvSpPr>
          <p:cNvPr id="352" name="Google Shape;352;p35"/>
          <p:cNvSpPr txBox="1"/>
          <p:nvPr/>
        </p:nvSpPr>
        <p:spPr>
          <a:xfrm>
            <a:off x="7362463" y="500525"/>
            <a:ext cx="124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980000"/>
                </a:solidFill>
              </a:rPr>
              <a:t>Species 2</a:t>
            </a:r>
            <a:endParaRPr b="1" sz="1800">
              <a:solidFill>
                <a:srgbClr val="980000"/>
              </a:solidFill>
            </a:endParaRPr>
          </a:p>
        </p:txBody>
      </p:sp>
      <p:pic>
        <p:nvPicPr>
          <p:cNvPr id="353" name="Google Shape;353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00" y="1170125"/>
            <a:ext cx="3959417" cy="38209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54" name="Google Shape;354;p35"/>
          <p:cNvCxnSpPr/>
          <p:nvPr/>
        </p:nvCxnSpPr>
        <p:spPr>
          <a:xfrm rot="10800000">
            <a:off x="1261013" y="3861425"/>
            <a:ext cx="658200" cy="381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55" name="Google Shape;355;p35"/>
          <p:cNvCxnSpPr/>
          <p:nvPr/>
        </p:nvCxnSpPr>
        <p:spPr>
          <a:xfrm>
            <a:off x="859150" y="4175750"/>
            <a:ext cx="751500" cy="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56" name="Google Shape;356;p35"/>
          <p:cNvCxnSpPr/>
          <p:nvPr/>
        </p:nvCxnSpPr>
        <p:spPr>
          <a:xfrm flipH="1" rot="10800000">
            <a:off x="1919225" y="3594725"/>
            <a:ext cx="9600" cy="3048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57" name="Google Shape;357;p35"/>
          <p:cNvCxnSpPr/>
          <p:nvPr/>
        </p:nvCxnSpPr>
        <p:spPr>
          <a:xfrm flipH="1">
            <a:off x="1964275" y="2966075"/>
            <a:ext cx="9300" cy="3144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58" name="Google Shape;358;p35"/>
          <p:cNvSpPr/>
          <p:nvPr/>
        </p:nvSpPr>
        <p:spPr>
          <a:xfrm>
            <a:off x="840100" y="2899400"/>
            <a:ext cx="171300" cy="171300"/>
          </a:xfrm>
          <a:prstGeom prst="ellipse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35"/>
          <p:cNvSpPr txBox="1"/>
          <p:nvPr/>
        </p:nvSpPr>
        <p:spPr>
          <a:xfrm>
            <a:off x="4724125" y="1451600"/>
            <a:ext cx="3831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Species 2 excludes species 1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360" name="Google Shape;360;p35"/>
          <p:cNvCxnSpPr/>
          <p:nvPr/>
        </p:nvCxnSpPr>
        <p:spPr>
          <a:xfrm rot="10800000">
            <a:off x="1611713" y="2981225"/>
            <a:ext cx="383700" cy="39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61" name="Google Shape;361;p35"/>
          <p:cNvCxnSpPr/>
          <p:nvPr/>
        </p:nvCxnSpPr>
        <p:spPr>
          <a:xfrm flipH="1" rot="10800000">
            <a:off x="852425" y="3899525"/>
            <a:ext cx="9600" cy="3048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6" name="Google Shape;366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3375" y="1170125"/>
            <a:ext cx="3959417" cy="3820976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Zero Net Growth Isoclines (ZNGIs)</a:t>
            </a:r>
            <a:endParaRPr/>
          </a:p>
        </p:txBody>
      </p:sp>
      <p:sp>
        <p:nvSpPr>
          <p:cNvPr id="368" name="Google Shape;368;p36"/>
          <p:cNvSpPr txBox="1"/>
          <p:nvPr/>
        </p:nvSpPr>
        <p:spPr>
          <a:xfrm>
            <a:off x="5867038" y="556025"/>
            <a:ext cx="124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0000FF"/>
                </a:solidFill>
              </a:rPr>
              <a:t>Species 1</a:t>
            </a:r>
            <a:endParaRPr b="1" sz="1800">
              <a:solidFill>
                <a:srgbClr val="0000FF"/>
              </a:solidFill>
            </a:endParaRPr>
          </a:p>
        </p:txBody>
      </p:sp>
      <p:sp>
        <p:nvSpPr>
          <p:cNvPr id="369" name="Google Shape;369;p36"/>
          <p:cNvSpPr txBox="1"/>
          <p:nvPr/>
        </p:nvSpPr>
        <p:spPr>
          <a:xfrm>
            <a:off x="7362463" y="500525"/>
            <a:ext cx="124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980000"/>
                </a:solidFill>
              </a:rPr>
              <a:t>Species 2</a:t>
            </a:r>
            <a:endParaRPr b="1" sz="1800">
              <a:solidFill>
                <a:srgbClr val="980000"/>
              </a:solidFill>
            </a:endParaRPr>
          </a:p>
        </p:txBody>
      </p:sp>
      <p:cxnSp>
        <p:nvCxnSpPr>
          <p:cNvPr id="370" name="Google Shape;370;p36"/>
          <p:cNvCxnSpPr/>
          <p:nvPr/>
        </p:nvCxnSpPr>
        <p:spPr>
          <a:xfrm rot="10800000">
            <a:off x="2699288" y="3499475"/>
            <a:ext cx="658200" cy="381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71" name="Google Shape;371;p36"/>
          <p:cNvCxnSpPr/>
          <p:nvPr/>
        </p:nvCxnSpPr>
        <p:spPr>
          <a:xfrm flipH="1" rot="10800000">
            <a:off x="1316950" y="3080463"/>
            <a:ext cx="380400" cy="3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72" name="Google Shape;372;p36"/>
          <p:cNvCxnSpPr/>
          <p:nvPr/>
        </p:nvCxnSpPr>
        <p:spPr>
          <a:xfrm flipH="1" rot="10800000">
            <a:off x="1109600" y="3861425"/>
            <a:ext cx="9600" cy="3048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73" name="Google Shape;373;p36"/>
          <p:cNvCxnSpPr/>
          <p:nvPr/>
        </p:nvCxnSpPr>
        <p:spPr>
          <a:xfrm flipH="1">
            <a:off x="1316950" y="3080475"/>
            <a:ext cx="9300" cy="3144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74" name="Google Shape;374;p36"/>
          <p:cNvCxnSpPr/>
          <p:nvPr/>
        </p:nvCxnSpPr>
        <p:spPr>
          <a:xfrm flipH="1" rot="10800000">
            <a:off x="1088350" y="4147263"/>
            <a:ext cx="380400" cy="3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75" name="Google Shape;375;p36"/>
          <p:cNvCxnSpPr/>
          <p:nvPr/>
        </p:nvCxnSpPr>
        <p:spPr>
          <a:xfrm flipH="1">
            <a:off x="3374350" y="3537675"/>
            <a:ext cx="9300" cy="3144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0" name="Google Shape;380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3375" y="1170125"/>
            <a:ext cx="3959417" cy="3820976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Zero Net Growth Isoclines (ZNGIs)</a:t>
            </a:r>
            <a:endParaRPr/>
          </a:p>
        </p:txBody>
      </p:sp>
      <p:sp>
        <p:nvSpPr>
          <p:cNvPr id="382" name="Google Shape;382;p37"/>
          <p:cNvSpPr txBox="1"/>
          <p:nvPr/>
        </p:nvSpPr>
        <p:spPr>
          <a:xfrm>
            <a:off x="5867038" y="556025"/>
            <a:ext cx="124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0000FF"/>
                </a:solidFill>
              </a:rPr>
              <a:t>Species 1</a:t>
            </a:r>
            <a:endParaRPr b="1" sz="1800">
              <a:solidFill>
                <a:srgbClr val="0000FF"/>
              </a:solidFill>
            </a:endParaRPr>
          </a:p>
        </p:txBody>
      </p:sp>
      <p:sp>
        <p:nvSpPr>
          <p:cNvPr id="383" name="Google Shape;383;p37"/>
          <p:cNvSpPr txBox="1"/>
          <p:nvPr/>
        </p:nvSpPr>
        <p:spPr>
          <a:xfrm>
            <a:off x="7362463" y="500525"/>
            <a:ext cx="124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980000"/>
                </a:solidFill>
              </a:rPr>
              <a:t>Species 2</a:t>
            </a:r>
            <a:endParaRPr b="1" sz="1800">
              <a:solidFill>
                <a:srgbClr val="980000"/>
              </a:solidFill>
            </a:endParaRPr>
          </a:p>
        </p:txBody>
      </p:sp>
      <p:cxnSp>
        <p:nvCxnSpPr>
          <p:cNvPr id="384" name="Google Shape;384;p37"/>
          <p:cNvCxnSpPr/>
          <p:nvPr/>
        </p:nvCxnSpPr>
        <p:spPr>
          <a:xfrm rot="10800000">
            <a:off x="2699288" y="3499475"/>
            <a:ext cx="658200" cy="381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85" name="Google Shape;385;p37"/>
          <p:cNvCxnSpPr/>
          <p:nvPr/>
        </p:nvCxnSpPr>
        <p:spPr>
          <a:xfrm flipH="1" rot="10800000">
            <a:off x="1316950" y="3080463"/>
            <a:ext cx="380400" cy="3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86" name="Google Shape;386;p37"/>
          <p:cNvCxnSpPr/>
          <p:nvPr/>
        </p:nvCxnSpPr>
        <p:spPr>
          <a:xfrm flipH="1" rot="10800000">
            <a:off x="1109600" y="3861425"/>
            <a:ext cx="9600" cy="3048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87" name="Google Shape;387;p37"/>
          <p:cNvCxnSpPr/>
          <p:nvPr/>
        </p:nvCxnSpPr>
        <p:spPr>
          <a:xfrm flipH="1">
            <a:off x="1316950" y="3080475"/>
            <a:ext cx="9300" cy="3144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88" name="Google Shape;388;p37"/>
          <p:cNvSpPr/>
          <p:nvPr/>
        </p:nvSpPr>
        <p:spPr>
          <a:xfrm>
            <a:off x="2421250" y="4385300"/>
            <a:ext cx="171300" cy="171300"/>
          </a:xfrm>
          <a:prstGeom prst="ellipse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389" name="Google Shape;389;p37"/>
          <p:cNvCxnSpPr/>
          <p:nvPr/>
        </p:nvCxnSpPr>
        <p:spPr>
          <a:xfrm flipH="1" rot="10800000">
            <a:off x="1088350" y="4147263"/>
            <a:ext cx="380400" cy="3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90" name="Google Shape;390;p37"/>
          <p:cNvCxnSpPr/>
          <p:nvPr/>
        </p:nvCxnSpPr>
        <p:spPr>
          <a:xfrm flipH="1">
            <a:off x="3374350" y="3537675"/>
            <a:ext cx="9300" cy="3144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91" name="Google Shape;391;p37"/>
          <p:cNvSpPr txBox="1"/>
          <p:nvPr/>
        </p:nvSpPr>
        <p:spPr>
          <a:xfrm>
            <a:off x="4724125" y="1451600"/>
            <a:ext cx="3831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Species 1 excludes species 2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Zero Net Growth Isoclines (ZNGIs)</a:t>
            </a:r>
            <a:endParaRPr/>
          </a:p>
        </p:txBody>
      </p:sp>
      <p:sp>
        <p:nvSpPr>
          <p:cNvPr id="397" name="Google Shape;397;p38"/>
          <p:cNvSpPr txBox="1"/>
          <p:nvPr/>
        </p:nvSpPr>
        <p:spPr>
          <a:xfrm>
            <a:off x="5867038" y="556025"/>
            <a:ext cx="124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0000FF"/>
                </a:solidFill>
              </a:rPr>
              <a:t>Species 1</a:t>
            </a:r>
            <a:endParaRPr b="1" sz="1800">
              <a:solidFill>
                <a:srgbClr val="0000FF"/>
              </a:solidFill>
            </a:endParaRPr>
          </a:p>
        </p:txBody>
      </p:sp>
      <p:sp>
        <p:nvSpPr>
          <p:cNvPr id="398" name="Google Shape;398;p38"/>
          <p:cNvSpPr txBox="1"/>
          <p:nvPr/>
        </p:nvSpPr>
        <p:spPr>
          <a:xfrm>
            <a:off x="7362463" y="500525"/>
            <a:ext cx="124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980000"/>
                </a:solidFill>
              </a:rPr>
              <a:t>Species 2</a:t>
            </a:r>
            <a:endParaRPr b="1" sz="1800">
              <a:solidFill>
                <a:srgbClr val="980000"/>
              </a:solidFill>
            </a:endParaRPr>
          </a:p>
        </p:txBody>
      </p:sp>
      <p:pic>
        <p:nvPicPr>
          <p:cNvPr id="399" name="Google Shape;399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3959417" cy="38209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00" name="Google Shape;400;p38"/>
          <p:cNvCxnSpPr/>
          <p:nvPr/>
        </p:nvCxnSpPr>
        <p:spPr>
          <a:xfrm flipH="1" rot="10800000">
            <a:off x="1081025" y="2299325"/>
            <a:ext cx="9600" cy="3048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01" name="Google Shape;401;p38"/>
          <p:cNvCxnSpPr/>
          <p:nvPr/>
        </p:nvCxnSpPr>
        <p:spPr>
          <a:xfrm flipH="1">
            <a:off x="2269075" y="2585075"/>
            <a:ext cx="9300" cy="3144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02" name="Google Shape;402;p38"/>
          <p:cNvCxnSpPr/>
          <p:nvPr/>
        </p:nvCxnSpPr>
        <p:spPr>
          <a:xfrm flipH="1" rot="10800000">
            <a:off x="1357250" y="3861425"/>
            <a:ext cx="9600" cy="3048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03" name="Google Shape;403;p38"/>
          <p:cNvCxnSpPr/>
          <p:nvPr/>
        </p:nvCxnSpPr>
        <p:spPr>
          <a:xfrm flipH="1">
            <a:off x="2421850" y="4109175"/>
            <a:ext cx="9300" cy="3144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04" name="Google Shape;404;p38"/>
          <p:cNvCxnSpPr/>
          <p:nvPr/>
        </p:nvCxnSpPr>
        <p:spPr>
          <a:xfrm rot="10800000">
            <a:off x="706613" y="2571600"/>
            <a:ext cx="374400" cy="192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05" name="Google Shape;405;p38"/>
          <p:cNvCxnSpPr/>
          <p:nvPr/>
        </p:nvCxnSpPr>
        <p:spPr>
          <a:xfrm flipH="1" rot="10800000">
            <a:off x="2421850" y="4109163"/>
            <a:ext cx="380400" cy="3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06" name="Google Shape;406;p38"/>
          <p:cNvCxnSpPr/>
          <p:nvPr/>
        </p:nvCxnSpPr>
        <p:spPr>
          <a:xfrm flipH="1" rot="10800000">
            <a:off x="1355050" y="4185363"/>
            <a:ext cx="380400" cy="3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07" name="Google Shape;407;p38"/>
          <p:cNvCxnSpPr/>
          <p:nvPr/>
        </p:nvCxnSpPr>
        <p:spPr>
          <a:xfrm rot="10800000">
            <a:off x="1925813" y="2571600"/>
            <a:ext cx="374400" cy="192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Zero Net Growth Isoclines (ZNGIs)</a:t>
            </a:r>
            <a:endParaRPr/>
          </a:p>
        </p:txBody>
      </p:sp>
      <p:sp>
        <p:nvSpPr>
          <p:cNvPr id="413" name="Google Shape;413;p39"/>
          <p:cNvSpPr txBox="1"/>
          <p:nvPr/>
        </p:nvSpPr>
        <p:spPr>
          <a:xfrm>
            <a:off x="5867038" y="556025"/>
            <a:ext cx="124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0000FF"/>
                </a:solidFill>
              </a:rPr>
              <a:t>Species 1</a:t>
            </a:r>
            <a:endParaRPr b="1" sz="1800">
              <a:solidFill>
                <a:srgbClr val="0000FF"/>
              </a:solidFill>
            </a:endParaRPr>
          </a:p>
        </p:txBody>
      </p:sp>
      <p:sp>
        <p:nvSpPr>
          <p:cNvPr id="414" name="Google Shape;414;p39"/>
          <p:cNvSpPr txBox="1"/>
          <p:nvPr/>
        </p:nvSpPr>
        <p:spPr>
          <a:xfrm>
            <a:off x="7362463" y="500525"/>
            <a:ext cx="124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980000"/>
                </a:solidFill>
              </a:rPr>
              <a:t>Species 2</a:t>
            </a:r>
            <a:endParaRPr b="1" sz="1800">
              <a:solidFill>
                <a:srgbClr val="980000"/>
              </a:solidFill>
            </a:endParaRPr>
          </a:p>
        </p:txBody>
      </p:sp>
      <p:pic>
        <p:nvPicPr>
          <p:cNvPr id="415" name="Google Shape;415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3959417" cy="38209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16" name="Google Shape;416;p39"/>
          <p:cNvCxnSpPr/>
          <p:nvPr/>
        </p:nvCxnSpPr>
        <p:spPr>
          <a:xfrm flipH="1" rot="10800000">
            <a:off x="1081025" y="2299325"/>
            <a:ext cx="9600" cy="3048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17" name="Google Shape;417;p39"/>
          <p:cNvCxnSpPr/>
          <p:nvPr/>
        </p:nvCxnSpPr>
        <p:spPr>
          <a:xfrm flipH="1">
            <a:off x="2269075" y="2585075"/>
            <a:ext cx="9300" cy="3144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18" name="Google Shape;418;p39"/>
          <p:cNvCxnSpPr/>
          <p:nvPr/>
        </p:nvCxnSpPr>
        <p:spPr>
          <a:xfrm flipH="1" rot="10800000">
            <a:off x="1357250" y="3861425"/>
            <a:ext cx="9600" cy="3048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19" name="Google Shape;419;p39"/>
          <p:cNvCxnSpPr/>
          <p:nvPr/>
        </p:nvCxnSpPr>
        <p:spPr>
          <a:xfrm flipH="1">
            <a:off x="2421850" y="4109175"/>
            <a:ext cx="9300" cy="3144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20" name="Google Shape;420;p39"/>
          <p:cNvCxnSpPr/>
          <p:nvPr/>
        </p:nvCxnSpPr>
        <p:spPr>
          <a:xfrm rot="10800000">
            <a:off x="706613" y="2571600"/>
            <a:ext cx="374400" cy="192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21" name="Google Shape;421;p39"/>
          <p:cNvCxnSpPr/>
          <p:nvPr/>
        </p:nvCxnSpPr>
        <p:spPr>
          <a:xfrm flipH="1" rot="10800000">
            <a:off x="2421850" y="4109163"/>
            <a:ext cx="380400" cy="3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22" name="Google Shape;422;p39"/>
          <p:cNvCxnSpPr/>
          <p:nvPr/>
        </p:nvCxnSpPr>
        <p:spPr>
          <a:xfrm flipH="1" rot="10800000">
            <a:off x="1355050" y="4185363"/>
            <a:ext cx="380400" cy="3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23" name="Google Shape;423;p39"/>
          <p:cNvCxnSpPr/>
          <p:nvPr/>
        </p:nvCxnSpPr>
        <p:spPr>
          <a:xfrm rot="10800000">
            <a:off x="1925813" y="2571600"/>
            <a:ext cx="374400" cy="192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24" name="Google Shape;424;p39"/>
          <p:cNvSpPr txBox="1"/>
          <p:nvPr/>
        </p:nvSpPr>
        <p:spPr>
          <a:xfrm>
            <a:off x="4724125" y="1451600"/>
            <a:ext cx="38313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Unstable coexistence!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If nudged away from equilibrium, one </a:t>
            </a:r>
            <a:r>
              <a:rPr lang="en" sz="1800">
                <a:solidFill>
                  <a:schemeClr val="dk2"/>
                </a:solidFill>
              </a:rPr>
              <a:t>species</a:t>
            </a:r>
            <a:r>
              <a:rPr lang="en" sz="1800">
                <a:solidFill>
                  <a:schemeClr val="dk2"/>
                </a:solidFill>
              </a:rPr>
              <a:t> or the other can be excluded!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425" name="Google Shape;425;p39"/>
          <p:cNvSpPr/>
          <p:nvPr/>
        </p:nvSpPr>
        <p:spPr>
          <a:xfrm>
            <a:off x="1735450" y="3394700"/>
            <a:ext cx="171300" cy="171300"/>
          </a:xfrm>
          <a:prstGeom prst="ellipse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39"/>
          <p:cNvSpPr/>
          <p:nvPr/>
        </p:nvSpPr>
        <p:spPr>
          <a:xfrm>
            <a:off x="3792850" y="4385300"/>
            <a:ext cx="171300" cy="171300"/>
          </a:xfrm>
          <a:prstGeom prst="ellipse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39"/>
          <p:cNvSpPr/>
          <p:nvPr/>
        </p:nvSpPr>
        <p:spPr>
          <a:xfrm>
            <a:off x="668650" y="1337300"/>
            <a:ext cx="171300" cy="171300"/>
          </a:xfrm>
          <a:prstGeom prst="ellipse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ZNGIs can be confusing</a:t>
            </a:r>
            <a:endParaRPr/>
          </a:p>
        </p:txBody>
      </p:sp>
      <p:sp>
        <p:nvSpPr>
          <p:cNvPr id="433" name="Google Shape;433;p40"/>
          <p:cNvSpPr txBox="1"/>
          <p:nvPr>
            <p:ph idx="1" type="body"/>
          </p:nvPr>
        </p:nvSpPr>
        <p:spPr>
          <a:xfrm>
            <a:off x="311700" y="11524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Chesson 2000 provides are more intuitive formulation</a:t>
            </a:r>
            <a:endParaRPr/>
          </a:p>
        </p:txBody>
      </p:sp>
      <p:sp>
        <p:nvSpPr>
          <p:cNvPr id="434" name="Google Shape;434;p40"/>
          <p:cNvSpPr txBox="1"/>
          <p:nvPr/>
        </p:nvSpPr>
        <p:spPr>
          <a:xfrm>
            <a:off x="1614525" y="17717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dN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435" name="Google Shape;435;p40"/>
          <p:cNvSpPr txBox="1"/>
          <p:nvPr/>
        </p:nvSpPr>
        <p:spPr>
          <a:xfrm>
            <a:off x="1614525" y="22289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dt</a:t>
            </a:r>
            <a:endParaRPr baseline="-25000" sz="1800">
              <a:solidFill>
                <a:schemeClr val="dk2"/>
              </a:solidFill>
            </a:endParaRPr>
          </a:p>
        </p:txBody>
      </p:sp>
      <p:cxnSp>
        <p:nvCxnSpPr>
          <p:cNvPr id="436" name="Google Shape;436;p40"/>
          <p:cNvCxnSpPr/>
          <p:nvPr/>
        </p:nvCxnSpPr>
        <p:spPr>
          <a:xfrm>
            <a:off x="1538325" y="2231200"/>
            <a:ext cx="7632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37" name="Google Shape;437;p40"/>
          <p:cNvSpPr txBox="1"/>
          <p:nvPr/>
        </p:nvSpPr>
        <p:spPr>
          <a:xfrm>
            <a:off x="2301525" y="20003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438" name="Google Shape;438;p40"/>
          <p:cNvSpPr txBox="1"/>
          <p:nvPr/>
        </p:nvSpPr>
        <p:spPr>
          <a:xfrm>
            <a:off x="2658225" y="2000350"/>
            <a:ext cx="327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r>
              <a:rPr lang="en" sz="1800">
                <a:solidFill>
                  <a:schemeClr val="dk2"/>
                </a:solidFill>
              </a:rPr>
              <a:t> (1</a:t>
            </a:r>
            <a:r>
              <a:rPr lang="en" sz="1800">
                <a:solidFill>
                  <a:schemeClr val="dk2"/>
                </a:solidFill>
              </a:rPr>
              <a:t> - α</a:t>
            </a:r>
            <a:r>
              <a:rPr baseline="-25000" lang="en" sz="1800">
                <a:solidFill>
                  <a:schemeClr val="dk2"/>
                </a:solidFill>
              </a:rPr>
              <a:t>ii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i </a:t>
            </a:r>
            <a:r>
              <a:rPr lang="en" sz="1800">
                <a:solidFill>
                  <a:schemeClr val="dk2"/>
                </a:solidFill>
              </a:rPr>
              <a:t>- α</a:t>
            </a:r>
            <a:r>
              <a:rPr baseline="-25000" lang="en" sz="1800">
                <a:solidFill>
                  <a:schemeClr val="dk2"/>
                </a:solidFill>
              </a:rPr>
              <a:t>ij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j</a:t>
            </a:r>
            <a:r>
              <a:rPr lang="en" sz="1800">
                <a:solidFill>
                  <a:schemeClr val="dk2"/>
                </a:solidFill>
              </a:rPr>
              <a:t>)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439" name="Google Shape;439;p40"/>
          <p:cNvSpPr txBox="1"/>
          <p:nvPr/>
        </p:nvSpPr>
        <p:spPr>
          <a:xfrm>
            <a:off x="5277525" y="2289175"/>
            <a:ext cx="189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440" name="Google Shape;440;p40"/>
          <p:cNvSpPr txBox="1"/>
          <p:nvPr/>
        </p:nvSpPr>
        <p:spPr>
          <a:xfrm>
            <a:off x="831525" y="2228950"/>
            <a:ext cx="42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endParaRPr/>
          </a:p>
        </p:txBody>
      </p:sp>
      <p:cxnSp>
        <p:nvCxnSpPr>
          <p:cNvPr id="441" name="Google Shape;441;p40"/>
          <p:cNvCxnSpPr/>
          <p:nvPr/>
        </p:nvCxnSpPr>
        <p:spPr>
          <a:xfrm flipH="1" rot="10800000">
            <a:off x="776325" y="2230600"/>
            <a:ext cx="4923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42" name="Google Shape;442;p40"/>
          <p:cNvSpPr txBox="1"/>
          <p:nvPr/>
        </p:nvSpPr>
        <p:spPr>
          <a:xfrm>
            <a:off x="838200" y="182880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1</a:t>
            </a:r>
            <a:endParaRPr/>
          </a:p>
        </p:txBody>
      </p:sp>
      <p:sp>
        <p:nvSpPr>
          <p:cNvPr id="443" name="Google Shape;443;p40"/>
          <p:cNvSpPr txBox="1"/>
          <p:nvPr/>
        </p:nvSpPr>
        <p:spPr>
          <a:xfrm>
            <a:off x="1249125" y="1946200"/>
            <a:ext cx="2373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dk2"/>
                </a:solidFill>
              </a:rPr>
              <a:t>·</a:t>
            </a:r>
            <a:endParaRPr b="1" sz="2100"/>
          </a:p>
        </p:txBody>
      </p:sp>
      <p:pic>
        <p:nvPicPr>
          <p:cNvPr id="444" name="Google Shape;444;p40"/>
          <p:cNvPicPr preferRelativeResize="0"/>
          <p:nvPr/>
        </p:nvPicPr>
        <p:blipFill rotWithShape="1">
          <a:blip r:embed="rId3">
            <a:alphaModFix/>
          </a:blip>
          <a:srcRect b="38063" l="26620" r="26053" t="21542"/>
          <a:stretch/>
        </p:blipFill>
        <p:spPr>
          <a:xfrm>
            <a:off x="6106700" y="203575"/>
            <a:ext cx="2889101" cy="138710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ZNGIs can be confusing</a:t>
            </a:r>
            <a:endParaRPr/>
          </a:p>
        </p:txBody>
      </p:sp>
      <p:sp>
        <p:nvSpPr>
          <p:cNvPr id="450" name="Google Shape;450;p41"/>
          <p:cNvSpPr txBox="1"/>
          <p:nvPr>
            <p:ph idx="1" type="body"/>
          </p:nvPr>
        </p:nvSpPr>
        <p:spPr>
          <a:xfrm>
            <a:off x="311700" y="11524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Chesson 2000 provides are more intuitive formulation</a:t>
            </a:r>
            <a:endParaRPr/>
          </a:p>
        </p:txBody>
      </p:sp>
      <p:sp>
        <p:nvSpPr>
          <p:cNvPr id="451" name="Google Shape;451;p41"/>
          <p:cNvSpPr txBox="1"/>
          <p:nvPr/>
        </p:nvSpPr>
        <p:spPr>
          <a:xfrm>
            <a:off x="1614525" y="17717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dN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452" name="Google Shape;452;p41"/>
          <p:cNvSpPr txBox="1"/>
          <p:nvPr/>
        </p:nvSpPr>
        <p:spPr>
          <a:xfrm>
            <a:off x="1614525" y="22289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dt</a:t>
            </a:r>
            <a:endParaRPr baseline="-25000" sz="1800">
              <a:solidFill>
                <a:schemeClr val="dk2"/>
              </a:solidFill>
            </a:endParaRPr>
          </a:p>
        </p:txBody>
      </p:sp>
      <p:cxnSp>
        <p:nvCxnSpPr>
          <p:cNvPr id="453" name="Google Shape;453;p41"/>
          <p:cNvCxnSpPr/>
          <p:nvPr/>
        </p:nvCxnSpPr>
        <p:spPr>
          <a:xfrm>
            <a:off x="1538325" y="2231200"/>
            <a:ext cx="7632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54" name="Google Shape;454;p41"/>
          <p:cNvSpPr txBox="1"/>
          <p:nvPr/>
        </p:nvSpPr>
        <p:spPr>
          <a:xfrm>
            <a:off x="2301525" y="20003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455" name="Google Shape;455;p41"/>
          <p:cNvSpPr txBox="1"/>
          <p:nvPr/>
        </p:nvSpPr>
        <p:spPr>
          <a:xfrm>
            <a:off x="2658225" y="2000350"/>
            <a:ext cx="327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r>
              <a:rPr lang="en" sz="1800">
                <a:solidFill>
                  <a:schemeClr val="dk2"/>
                </a:solidFill>
              </a:rPr>
              <a:t> (1 - α</a:t>
            </a:r>
            <a:r>
              <a:rPr baseline="-25000" lang="en" sz="1800">
                <a:solidFill>
                  <a:schemeClr val="dk2"/>
                </a:solidFill>
              </a:rPr>
              <a:t>ii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i </a:t>
            </a:r>
            <a:r>
              <a:rPr lang="en" sz="1800">
                <a:solidFill>
                  <a:schemeClr val="dk2"/>
                </a:solidFill>
              </a:rPr>
              <a:t>- α</a:t>
            </a:r>
            <a:r>
              <a:rPr baseline="-25000" lang="en" sz="1800">
                <a:solidFill>
                  <a:schemeClr val="dk2"/>
                </a:solidFill>
              </a:rPr>
              <a:t>ij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j</a:t>
            </a:r>
            <a:r>
              <a:rPr lang="en" sz="1800">
                <a:solidFill>
                  <a:schemeClr val="dk2"/>
                </a:solidFill>
              </a:rPr>
              <a:t>)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456" name="Google Shape;456;p41"/>
          <p:cNvSpPr txBox="1"/>
          <p:nvPr/>
        </p:nvSpPr>
        <p:spPr>
          <a:xfrm>
            <a:off x="5277525" y="2289175"/>
            <a:ext cx="189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457" name="Google Shape;457;p41"/>
          <p:cNvSpPr txBox="1"/>
          <p:nvPr/>
        </p:nvSpPr>
        <p:spPr>
          <a:xfrm>
            <a:off x="831525" y="2228950"/>
            <a:ext cx="42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endParaRPr/>
          </a:p>
        </p:txBody>
      </p:sp>
      <p:cxnSp>
        <p:nvCxnSpPr>
          <p:cNvPr id="458" name="Google Shape;458;p41"/>
          <p:cNvCxnSpPr/>
          <p:nvPr/>
        </p:nvCxnSpPr>
        <p:spPr>
          <a:xfrm flipH="1" rot="10800000">
            <a:off x="776325" y="2230600"/>
            <a:ext cx="4923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59" name="Google Shape;459;p41"/>
          <p:cNvSpPr txBox="1"/>
          <p:nvPr/>
        </p:nvSpPr>
        <p:spPr>
          <a:xfrm>
            <a:off x="838200" y="182880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1</a:t>
            </a:r>
            <a:endParaRPr/>
          </a:p>
        </p:txBody>
      </p:sp>
      <p:sp>
        <p:nvSpPr>
          <p:cNvPr id="460" name="Google Shape;460;p41"/>
          <p:cNvSpPr txBox="1"/>
          <p:nvPr/>
        </p:nvSpPr>
        <p:spPr>
          <a:xfrm>
            <a:off x="1249125" y="1946200"/>
            <a:ext cx="2373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dk2"/>
                </a:solidFill>
              </a:rPr>
              <a:t>·</a:t>
            </a:r>
            <a:endParaRPr b="1" sz="2100"/>
          </a:p>
        </p:txBody>
      </p:sp>
      <p:sp>
        <p:nvSpPr>
          <p:cNvPr id="461" name="Google Shape;461;p41"/>
          <p:cNvSpPr txBox="1"/>
          <p:nvPr/>
        </p:nvSpPr>
        <p:spPr>
          <a:xfrm>
            <a:off x="668650" y="3164200"/>
            <a:ext cx="5486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α’s here are absolute impact.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ii</a:t>
            </a:r>
            <a:r>
              <a:rPr lang="en" sz="1800">
                <a:solidFill>
                  <a:schemeClr val="dk2"/>
                </a:solidFill>
              </a:rPr>
              <a:t> = intraspecific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ij</a:t>
            </a:r>
            <a:r>
              <a:rPr lang="en" sz="1800">
                <a:solidFill>
                  <a:schemeClr val="dk2"/>
                </a:solidFill>
              </a:rPr>
              <a:t> = interspecific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2"/>
                </a:solidFill>
              </a:rPr>
              <a:t> 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462" name="Google Shape;462;p41"/>
          <p:cNvPicPr preferRelativeResize="0"/>
          <p:nvPr/>
        </p:nvPicPr>
        <p:blipFill rotWithShape="1">
          <a:blip r:embed="rId3">
            <a:alphaModFix/>
          </a:blip>
          <a:srcRect b="38063" l="26620" r="26053" t="21542"/>
          <a:stretch/>
        </p:blipFill>
        <p:spPr>
          <a:xfrm>
            <a:off x="6106700" y="203575"/>
            <a:ext cx="2889101" cy="138710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Coexistence criteria</a:t>
            </a:r>
            <a:endParaRPr/>
          </a:p>
        </p:txBody>
      </p:sp>
      <p:sp>
        <p:nvSpPr>
          <p:cNvPr id="468" name="Google Shape;468;p42"/>
          <p:cNvSpPr txBox="1"/>
          <p:nvPr>
            <p:ph idx="1" type="body"/>
          </p:nvPr>
        </p:nvSpPr>
        <p:spPr>
          <a:xfrm>
            <a:off x="311700" y="1152475"/>
            <a:ext cx="8520600" cy="94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Both species need to be able to invade when rare, when other </a:t>
            </a:r>
            <a:r>
              <a:rPr lang="en"/>
              <a:t>species</a:t>
            </a:r>
            <a:r>
              <a:rPr lang="en"/>
              <a:t> is present</a:t>
            </a:r>
            <a:endParaRPr/>
          </a:p>
        </p:txBody>
      </p:sp>
      <p:sp>
        <p:nvSpPr>
          <p:cNvPr id="469" name="Google Shape;469;p42"/>
          <p:cNvSpPr txBox="1"/>
          <p:nvPr/>
        </p:nvSpPr>
        <p:spPr>
          <a:xfrm>
            <a:off x="1614525" y="17717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470" name="Google Shape;470;p42"/>
          <p:cNvSpPr txBox="1"/>
          <p:nvPr/>
        </p:nvSpPr>
        <p:spPr>
          <a:xfrm>
            <a:off x="1614525" y="22289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dt</a:t>
            </a:r>
            <a:endParaRPr baseline="-25000" sz="1800">
              <a:solidFill>
                <a:schemeClr val="dk2"/>
              </a:solidFill>
            </a:endParaRPr>
          </a:p>
        </p:txBody>
      </p:sp>
      <p:cxnSp>
        <p:nvCxnSpPr>
          <p:cNvPr id="471" name="Google Shape;471;p42"/>
          <p:cNvCxnSpPr/>
          <p:nvPr/>
        </p:nvCxnSpPr>
        <p:spPr>
          <a:xfrm>
            <a:off x="1538325" y="2231200"/>
            <a:ext cx="7632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72" name="Google Shape;472;p42"/>
          <p:cNvSpPr txBox="1"/>
          <p:nvPr/>
        </p:nvSpPr>
        <p:spPr>
          <a:xfrm>
            <a:off x="2301525" y="20003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473" name="Google Shape;473;p42"/>
          <p:cNvSpPr txBox="1"/>
          <p:nvPr/>
        </p:nvSpPr>
        <p:spPr>
          <a:xfrm>
            <a:off x="2658225" y="2000350"/>
            <a:ext cx="327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 (1 - α</a:t>
            </a:r>
            <a:r>
              <a:rPr baseline="-25000" lang="en" sz="1800">
                <a:solidFill>
                  <a:schemeClr val="dk2"/>
                </a:solidFill>
              </a:rPr>
              <a:t>11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 </a:t>
            </a:r>
            <a:r>
              <a:rPr lang="en" sz="1800">
                <a:solidFill>
                  <a:schemeClr val="dk2"/>
                </a:solidFill>
              </a:rPr>
              <a:t>- 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)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474" name="Google Shape;474;p42"/>
          <p:cNvSpPr txBox="1"/>
          <p:nvPr/>
        </p:nvSpPr>
        <p:spPr>
          <a:xfrm>
            <a:off x="831525" y="2228950"/>
            <a:ext cx="42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/>
          </a:p>
        </p:txBody>
      </p:sp>
      <p:cxnSp>
        <p:nvCxnSpPr>
          <p:cNvPr id="475" name="Google Shape;475;p42"/>
          <p:cNvCxnSpPr/>
          <p:nvPr/>
        </p:nvCxnSpPr>
        <p:spPr>
          <a:xfrm flipH="1" rot="10800000">
            <a:off x="776325" y="2230600"/>
            <a:ext cx="4923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76" name="Google Shape;476;p42"/>
          <p:cNvSpPr txBox="1"/>
          <p:nvPr/>
        </p:nvSpPr>
        <p:spPr>
          <a:xfrm>
            <a:off x="838200" y="182880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1</a:t>
            </a:r>
            <a:endParaRPr/>
          </a:p>
        </p:txBody>
      </p:sp>
      <p:sp>
        <p:nvSpPr>
          <p:cNvPr id="477" name="Google Shape;477;p42"/>
          <p:cNvSpPr txBox="1"/>
          <p:nvPr/>
        </p:nvSpPr>
        <p:spPr>
          <a:xfrm>
            <a:off x="1249125" y="1946200"/>
            <a:ext cx="2373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dk2"/>
                </a:solidFill>
              </a:rPr>
              <a:t>·</a:t>
            </a:r>
            <a:endParaRPr b="1" sz="2100"/>
          </a:p>
        </p:txBody>
      </p:sp>
      <p:sp>
        <p:nvSpPr>
          <p:cNvPr id="478" name="Google Shape;478;p42"/>
          <p:cNvSpPr txBox="1"/>
          <p:nvPr/>
        </p:nvSpPr>
        <p:spPr>
          <a:xfrm>
            <a:off x="-17150" y="3850000"/>
            <a:ext cx="5486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α’s here are absolute impact.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ii</a:t>
            </a:r>
            <a:r>
              <a:rPr lang="en" sz="1800">
                <a:solidFill>
                  <a:schemeClr val="dk2"/>
                </a:solidFill>
              </a:rPr>
              <a:t> = intraspecific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ij</a:t>
            </a:r>
            <a:r>
              <a:rPr lang="en" sz="1800">
                <a:solidFill>
                  <a:schemeClr val="dk2"/>
                </a:solidFill>
              </a:rPr>
              <a:t> = interspecific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 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Coexistence criteria</a:t>
            </a:r>
            <a:endParaRPr/>
          </a:p>
        </p:txBody>
      </p:sp>
      <p:sp>
        <p:nvSpPr>
          <p:cNvPr id="484" name="Google Shape;484;p43"/>
          <p:cNvSpPr txBox="1"/>
          <p:nvPr>
            <p:ph idx="1" type="body"/>
          </p:nvPr>
        </p:nvSpPr>
        <p:spPr>
          <a:xfrm>
            <a:off x="311700" y="1152475"/>
            <a:ext cx="8520600" cy="94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Both species need to be able to invade when rare, when other species is present</a:t>
            </a:r>
            <a:endParaRPr/>
          </a:p>
        </p:txBody>
      </p:sp>
      <p:sp>
        <p:nvSpPr>
          <p:cNvPr id="485" name="Google Shape;485;p43"/>
          <p:cNvSpPr txBox="1"/>
          <p:nvPr/>
        </p:nvSpPr>
        <p:spPr>
          <a:xfrm>
            <a:off x="1538325" y="20003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0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486" name="Google Shape;486;p43"/>
          <p:cNvSpPr txBox="1"/>
          <p:nvPr/>
        </p:nvSpPr>
        <p:spPr>
          <a:xfrm>
            <a:off x="2301525" y="20003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&lt;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487" name="Google Shape;487;p43"/>
          <p:cNvSpPr txBox="1"/>
          <p:nvPr/>
        </p:nvSpPr>
        <p:spPr>
          <a:xfrm>
            <a:off x="2658225" y="2000350"/>
            <a:ext cx="327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 (1 - α</a:t>
            </a:r>
            <a:r>
              <a:rPr baseline="-25000" lang="en" sz="1800">
                <a:solidFill>
                  <a:schemeClr val="dk2"/>
                </a:solidFill>
              </a:rPr>
              <a:t>11</a:t>
            </a:r>
            <a:r>
              <a:rPr lang="en" sz="1800">
                <a:solidFill>
                  <a:schemeClr val="dk2"/>
                </a:solidFill>
              </a:rPr>
              <a:t>0</a:t>
            </a:r>
            <a:r>
              <a:rPr baseline="-25000" lang="en" sz="1800">
                <a:solidFill>
                  <a:schemeClr val="dk2"/>
                </a:solidFill>
              </a:rPr>
              <a:t> </a:t>
            </a:r>
            <a:r>
              <a:rPr lang="en" sz="1800">
                <a:solidFill>
                  <a:schemeClr val="dk2"/>
                </a:solidFill>
              </a:rPr>
              <a:t>- 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)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488" name="Google Shape;488;p43"/>
          <p:cNvSpPr txBox="1"/>
          <p:nvPr/>
        </p:nvSpPr>
        <p:spPr>
          <a:xfrm>
            <a:off x="-17150" y="3850000"/>
            <a:ext cx="5486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α’s here are absolute impact.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ii</a:t>
            </a:r>
            <a:r>
              <a:rPr lang="en" sz="1800">
                <a:solidFill>
                  <a:schemeClr val="dk2"/>
                </a:solidFill>
              </a:rPr>
              <a:t> = intraspecific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ij</a:t>
            </a:r>
            <a:r>
              <a:rPr lang="en" sz="1800">
                <a:solidFill>
                  <a:schemeClr val="dk2"/>
                </a:solidFill>
              </a:rPr>
              <a:t> = interspecific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 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Coexistence criteria</a:t>
            </a:r>
            <a:endParaRPr/>
          </a:p>
        </p:txBody>
      </p:sp>
      <p:sp>
        <p:nvSpPr>
          <p:cNvPr id="494" name="Google Shape;494;p44"/>
          <p:cNvSpPr txBox="1"/>
          <p:nvPr>
            <p:ph idx="1" type="body"/>
          </p:nvPr>
        </p:nvSpPr>
        <p:spPr>
          <a:xfrm>
            <a:off x="311700" y="1152475"/>
            <a:ext cx="8520600" cy="94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Both species need to be able to invade when rare, when other species is present</a:t>
            </a:r>
            <a:endParaRPr/>
          </a:p>
        </p:txBody>
      </p:sp>
      <p:sp>
        <p:nvSpPr>
          <p:cNvPr id="495" name="Google Shape;495;p44"/>
          <p:cNvSpPr txBox="1"/>
          <p:nvPr/>
        </p:nvSpPr>
        <p:spPr>
          <a:xfrm>
            <a:off x="242925" y="17717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0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496" name="Google Shape;496;p44"/>
          <p:cNvSpPr txBox="1"/>
          <p:nvPr/>
        </p:nvSpPr>
        <p:spPr>
          <a:xfrm>
            <a:off x="1006125" y="17717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&lt;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497" name="Google Shape;497;p44"/>
          <p:cNvSpPr txBox="1"/>
          <p:nvPr/>
        </p:nvSpPr>
        <p:spPr>
          <a:xfrm>
            <a:off x="1362825" y="1771750"/>
            <a:ext cx="327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1 - 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498" name="Google Shape;498;p44"/>
          <p:cNvSpPr txBox="1"/>
          <p:nvPr/>
        </p:nvSpPr>
        <p:spPr>
          <a:xfrm>
            <a:off x="-17150" y="3850000"/>
            <a:ext cx="5486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α’s here are absolute impact.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ii</a:t>
            </a:r>
            <a:r>
              <a:rPr lang="en" sz="1800">
                <a:solidFill>
                  <a:schemeClr val="dk2"/>
                </a:solidFill>
              </a:rPr>
              <a:t> = intraspecific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ij</a:t>
            </a:r>
            <a:r>
              <a:rPr lang="en" sz="1800">
                <a:solidFill>
                  <a:schemeClr val="dk2"/>
                </a:solidFill>
              </a:rPr>
              <a:t> = interspecific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 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Coexistence criteria</a:t>
            </a:r>
            <a:endParaRPr/>
          </a:p>
        </p:txBody>
      </p:sp>
      <p:sp>
        <p:nvSpPr>
          <p:cNvPr id="504" name="Google Shape;504;p45"/>
          <p:cNvSpPr txBox="1"/>
          <p:nvPr>
            <p:ph idx="1" type="body"/>
          </p:nvPr>
        </p:nvSpPr>
        <p:spPr>
          <a:xfrm>
            <a:off x="311700" y="1152475"/>
            <a:ext cx="8520600" cy="94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Both species need to be able to invade when rare, when other species is present</a:t>
            </a:r>
            <a:endParaRPr/>
          </a:p>
        </p:txBody>
      </p:sp>
      <p:sp>
        <p:nvSpPr>
          <p:cNvPr id="505" name="Google Shape;505;p45"/>
          <p:cNvSpPr txBox="1"/>
          <p:nvPr/>
        </p:nvSpPr>
        <p:spPr>
          <a:xfrm>
            <a:off x="242925" y="17717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0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06" name="Google Shape;506;p45"/>
          <p:cNvSpPr txBox="1"/>
          <p:nvPr/>
        </p:nvSpPr>
        <p:spPr>
          <a:xfrm>
            <a:off x="1006125" y="17717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&lt;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07" name="Google Shape;507;p45"/>
          <p:cNvSpPr txBox="1"/>
          <p:nvPr/>
        </p:nvSpPr>
        <p:spPr>
          <a:xfrm>
            <a:off x="1362825" y="1771750"/>
            <a:ext cx="327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1 - 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08" name="Google Shape;508;p45"/>
          <p:cNvSpPr txBox="1"/>
          <p:nvPr/>
        </p:nvSpPr>
        <p:spPr>
          <a:xfrm>
            <a:off x="-17150" y="3850000"/>
            <a:ext cx="5486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α’s here are absolute impact.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ii</a:t>
            </a:r>
            <a:r>
              <a:rPr lang="en" sz="1800">
                <a:solidFill>
                  <a:schemeClr val="dk2"/>
                </a:solidFill>
              </a:rPr>
              <a:t> = intraspecific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ij</a:t>
            </a:r>
            <a:r>
              <a:rPr lang="en" sz="1800">
                <a:solidFill>
                  <a:schemeClr val="dk2"/>
                </a:solidFill>
              </a:rPr>
              <a:t> = interspecific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 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09" name="Google Shape;509;p45"/>
          <p:cNvSpPr txBox="1"/>
          <p:nvPr/>
        </p:nvSpPr>
        <p:spPr>
          <a:xfrm>
            <a:off x="4738725" y="17717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510" name="Google Shape;510;p45"/>
          <p:cNvSpPr txBox="1"/>
          <p:nvPr/>
        </p:nvSpPr>
        <p:spPr>
          <a:xfrm>
            <a:off x="4738725" y="22289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dt</a:t>
            </a:r>
            <a:endParaRPr baseline="-25000" sz="1800">
              <a:solidFill>
                <a:schemeClr val="dk2"/>
              </a:solidFill>
            </a:endParaRPr>
          </a:p>
        </p:txBody>
      </p:sp>
      <p:cxnSp>
        <p:nvCxnSpPr>
          <p:cNvPr id="511" name="Google Shape;511;p45"/>
          <p:cNvCxnSpPr/>
          <p:nvPr/>
        </p:nvCxnSpPr>
        <p:spPr>
          <a:xfrm>
            <a:off x="4662525" y="2231200"/>
            <a:ext cx="7632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12" name="Google Shape;512;p45"/>
          <p:cNvSpPr txBox="1"/>
          <p:nvPr/>
        </p:nvSpPr>
        <p:spPr>
          <a:xfrm>
            <a:off x="5425725" y="20003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13" name="Google Shape;513;p45"/>
          <p:cNvSpPr txBox="1"/>
          <p:nvPr/>
        </p:nvSpPr>
        <p:spPr>
          <a:xfrm>
            <a:off x="5782425" y="2000350"/>
            <a:ext cx="327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 (1 - α</a:t>
            </a:r>
            <a:r>
              <a:rPr baseline="-25000" lang="en" sz="1800">
                <a:solidFill>
                  <a:schemeClr val="dk2"/>
                </a:solidFill>
              </a:rPr>
              <a:t>22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 </a:t>
            </a:r>
            <a:r>
              <a:rPr lang="en" sz="1800">
                <a:solidFill>
                  <a:schemeClr val="dk2"/>
                </a:solidFill>
              </a:rPr>
              <a:t>- α</a:t>
            </a:r>
            <a:r>
              <a:rPr baseline="-25000" lang="en" sz="1800">
                <a:solidFill>
                  <a:schemeClr val="dk2"/>
                </a:solidFill>
              </a:rPr>
              <a:t>21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r>
              <a:rPr lang="en" sz="1800">
                <a:solidFill>
                  <a:schemeClr val="dk2"/>
                </a:solidFill>
              </a:rPr>
              <a:t>)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14" name="Google Shape;514;p45"/>
          <p:cNvSpPr txBox="1"/>
          <p:nvPr/>
        </p:nvSpPr>
        <p:spPr>
          <a:xfrm>
            <a:off x="3955725" y="2228950"/>
            <a:ext cx="42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/>
          </a:p>
        </p:txBody>
      </p:sp>
      <p:cxnSp>
        <p:nvCxnSpPr>
          <p:cNvPr id="515" name="Google Shape;515;p45"/>
          <p:cNvCxnSpPr/>
          <p:nvPr/>
        </p:nvCxnSpPr>
        <p:spPr>
          <a:xfrm flipH="1" rot="10800000">
            <a:off x="3900525" y="2230600"/>
            <a:ext cx="4923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16" name="Google Shape;516;p45"/>
          <p:cNvSpPr txBox="1"/>
          <p:nvPr/>
        </p:nvSpPr>
        <p:spPr>
          <a:xfrm>
            <a:off x="3962400" y="182880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1</a:t>
            </a:r>
            <a:endParaRPr/>
          </a:p>
        </p:txBody>
      </p:sp>
      <p:sp>
        <p:nvSpPr>
          <p:cNvPr id="517" name="Google Shape;517;p45"/>
          <p:cNvSpPr txBox="1"/>
          <p:nvPr/>
        </p:nvSpPr>
        <p:spPr>
          <a:xfrm>
            <a:off x="4373325" y="1946200"/>
            <a:ext cx="2373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dk2"/>
                </a:solidFill>
              </a:rPr>
              <a:t>·</a:t>
            </a:r>
            <a:endParaRPr b="1" sz="21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Coexistence criteria</a:t>
            </a:r>
            <a:endParaRPr/>
          </a:p>
        </p:txBody>
      </p:sp>
      <p:sp>
        <p:nvSpPr>
          <p:cNvPr id="523" name="Google Shape;523;p46"/>
          <p:cNvSpPr txBox="1"/>
          <p:nvPr>
            <p:ph idx="1" type="body"/>
          </p:nvPr>
        </p:nvSpPr>
        <p:spPr>
          <a:xfrm>
            <a:off x="311700" y="1152475"/>
            <a:ext cx="8520600" cy="94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Both species need to be able to invade when rare, when other species is present</a:t>
            </a:r>
            <a:endParaRPr/>
          </a:p>
        </p:txBody>
      </p:sp>
      <p:sp>
        <p:nvSpPr>
          <p:cNvPr id="524" name="Google Shape;524;p46"/>
          <p:cNvSpPr txBox="1"/>
          <p:nvPr/>
        </p:nvSpPr>
        <p:spPr>
          <a:xfrm>
            <a:off x="242925" y="17717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0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25" name="Google Shape;525;p46"/>
          <p:cNvSpPr txBox="1"/>
          <p:nvPr/>
        </p:nvSpPr>
        <p:spPr>
          <a:xfrm>
            <a:off x="1006125" y="17717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&lt;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26" name="Google Shape;526;p46"/>
          <p:cNvSpPr txBox="1"/>
          <p:nvPr/>
        </p:nvSpPr>
        <p:spPr>
          <a:xfrm>
            <a:off x="1362825" y="1771750"/>
            <a:ext cx="327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1 - 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27" name="Google Shape;527;p46"/>
          <p:cNvSpPr txBox="1"/>
          <p:nvPr/>
        </p:nvSpPr>
        <p:spPr>
          <a:xfrm>
            <a:off x="-17150" y="3850000"/>
            <a:ext cx="5486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α’s here are absolute impact.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ii</a:t>
            </a:r>
            <a:r>
              <a:rPr lang="en" sz="1800">
                <a:solidFill>
                  <a:schemeClr val="dk2"/>
                </a:solidFill>
              </a:rPr>
              <a:t> = intraspecific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ij</a:t>
            </a:r>
            <a:r>
              <a:rPr lang="en" sz="1800">
                <a:solidFill>
                  <a:schemeClr val="dk2"/>
                </a:solidFill>
              </a:rPr>
              <a:t> = interspecific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 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28" name="Google Shape;528;p46"/>
          <p:cNvSpPr txBox="1"/>
          <p:nvPr/>
        </p:nvSpPr>
        <p:spPr>
          <a:xfrm>
            <a:off x="5425725" y="20003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29" name="Google Shape;529;p46"/>
          <p:cNvSpPr txBox="1"/>
          <p:nvPr/>
        </p:nvSpPr>
        <p:spPr>
          <a:xfrm>
            <a:off x="5782425" y="2000350"/>
            <a:ext cx="327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 (1 - α</a:t>
            </a:r>
            <a:r>
              <a:rPr baseline="-25000" lang="en" sz="1800">
                <a:solidFill>
                  <a:schemeClr val="dk2"/>
                </a:solidFill>
              </a:rPr>
              <a:t>22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 </a:t>
            </a:r>
            <a:r>
              <a:rPr lang="en" sz="1800">
                <a:solidFill>
                  <a:schemeClr val="dk2"/>
                </a:solidFill>
              </a:rPr>
              <a:t>- α</a:t>
            </a:r>
            <a:r>
              <a:rPr baseline="-25000" lang="en" sz="1800">
                <a:solidFill>
                  <a:schemeClr val="dk2"/>
                </a:solidFill>
              </a:rPr>
              <a:t>21</a:t>
            </a:r>
            <a:r>
              <a:rPr lang="en" sz="1800">
                <a:solidFill>
                  <a:schemeClr val="dk2"/>
                </a:solidFill>
              </a:rPr>
              <a:t>0</a:t>
            </a:r>
            <a:r>
              <a:rPr lang="en" sz="1800">
                <a:solidFill>
                  <a:schemeClr val="dk2"/>
                </a:solidFill>
              </a:rPr>
              <a:t>)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30" name="Google Shape;530;p46"/>
          <p:cNvSpPr txBox="1"/>
          <p:nvPr/>
        </p:nvSpPr>
        <p:spPr>
          <a:xfrm>
            <a:off x="5043525" y="20003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0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4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4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Coexistence criteria</a:t>
            </a:r>
            <a:endParaRPr/>
          </a:p>
        </p:txBody>
      </p:sp>
      <p:sp>
        <p:nvSpPr>
          <p:cNvPr id="536" name="Google Shape;536;p47"/>
          <p:cNvSpPr txBox="1"/>
          <p:nvPr>
            <p:ph idx="1" type="body"/>
          </p:nvPr>
        </p:nvSpPr>
        <p:spPr>
          <a:xfrm>
            <a:off x="311700" y="1152475"/>
            <a:ext cx="8520600" cy="94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Both species need to be able to invade when rare, when other species is present</a:t>
            </a:r>
            <a:endParaRPr/>
          </a:p>
        </p:txBody>
      </p:sp>
      <p:sp>
        <p:nvSpPr>
          <p:cNvPr id="537" name="Google Shape;537;p47"/>
          <p:cNvSpPr txBox="1"/>
          <p:nvPr/>
        </p:nvSpPr>
        <p:spPr>
          <a:xfrm>
            <a:off x="242925" y="17717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0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38" name="Google Shape;538;p47"/>
          <p:cNvSpPr txBox="1"/>
          <p:nvPr/>
        </p:nvSpPr>
        <p:spPr>
          <a:xfrm>
            <a:off x="1006125" y="17717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&lt;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39" name="Google Shape;539;p47"/>
          <p:cNvSpPr txBox="1"/>
          <p:nvPr/>
        </p:nvSpPr>
        <p:spPr>
          <a:xfrm>
            <a:off x="1362825" y="1771750"/>
            <a:ext cx="327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1 - 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40" name="Google Shape;540;p47"/>
          <p:cNvSpPr txBox="1"/>
          <p:nvPr/>
        </p:nvSpPr>
        <p:spPr>
          <a:xfrm>
            <a:off x="-17150" y="3850000"/>
            <a:ext cx="5486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α’s here are absolute impact.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ii</a:t>
            </a:r>
            <a:r>
              <a:rPr lang="en" sz="1800">
                <a:solidFill>
                  <a:schemeClr val="dk2"/>
                </a:solidFill>
              </a:rPr>
              <a:t> = intraspecific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ij</a:t>
            </a:r>
            <a:r>
              <a:rPr lang="en" sz="1800">
                <a:solidFill>
                  <a:schemeClr val="dk2"/>
                </a:solidFill>
              </a:rPr>
              <a:t> = interspecific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 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41" name="Google Shape;541;p47"/>
          <p:cNvSpPr txBox="1"/>
          <p:nvPr/>
        </p:nvSpPr>
        <p:spPr>
          <a:xfrm>
            <a:off x="5425725" y="20003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42" name="Google Shape;542;p47"/>
          <p:cNvSpPr txBox="1"/>
          <p:nvPr/>
        </p:nvSpPr>
        <p:spPr>
          <a:xfrm>
            <a:off x="5782425" y="2000350"/>
            <a:ext cx="327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1 - α</a:t>
            </a:r>
            <a:r>
              <a:rPr baseline="-25000" lang="en" sz="1800">
                <a:solidFill>
                  <a:schemeClr val="dk2"/>
                </a:solidFill>
              </a:rPr>
              <a:t>22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43" name="Google Shape;543;p47"/>
          <p:cNvSpPr txBox="1"/>
          <p:nvPr/>
        </p:nvSpPr>
        <p:spPr>
          <a:xfrm>
            <a:off x="5043525" y="20003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0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Coexistence criteria</a:t>
            </a:r>
            <a:endParaRPr/>
          </a:p>
        </p:txBody>
      </p:sp>
      <p:sp>
        <p:nvSpPr>
          <p:cNvPr id="549" name="Google Shape;549;p48"/>
          <p:cNvSpPr txBox="1"/>
          <p:nvPr>
            <p:ph idx="1" type="body"/>
          </p:nvPr>
        </p:nvSpPr>
        <p:spPr>
          <a:xfrm>
            <a:off x="311700" y="1152475"/>
            <a:ext cx="8520600" cy="94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Both species need to be able to invade when rare, when other species is present</a:t>
            </a:r>
            <a:endParaRPr/>
          </a:p>
        </p:txBody>
      </p:sp>
      <p:sp>
        <p:nvSpPr>
          <p:cNvPr id="550" name="Google Shape;550;p48"/>
          <p:cNvSpPr txBox="1"/>
          <p:nvPr/>
        </p:nvSpPr>
        <p:spPr>
          <a:xfrm>
            <a:off x="242925" y="17717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0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51" name="Google Shape;551;p48"/>
          <p:cNvSpPr txBox="1"/>
          <p:nvPr/>
        </p:nvSpPr>
        <p:spPr>
          <a:xfrm>
            <a:off x="1006125" y="17717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&lt;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52" name="Google Shape;552;p48"/>
          <p:cNvSpPr txBox="1"/>
          <p:nvPr/>
        </p:nvSpPr>
        <p:spPr>
          <a:xfrm>
            <a:off x="1362825" y="1771750"/>
            <a:ext cx="327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1 - 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53" name="Google Shape;553;p48"/>
          <p:cNvSpPr txBox="1"/>
          <p:nvPr/>
        </p:nvSpPr>
        <p:spPr>
          <a:xfrm>
            <a:off x="-17150" y="3850000"/>
            <a:ext cx="5486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α’s here are absolute impact.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ii</a:t>
            </a:r>
            <a:r>
              <a:rPr lang="en" sz="1800">
                <a:solidFill>
                  <a:schemeClr val="dk2"/>
                </a:solidFill>
              </a:rPr>
              <a:t> = intraspecific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ij</a:t>
            </a:r>
            <a:r>
              <a:rPr lang="en" sz="1800">
                <a:solidFill>
                  <a:schemeClr val="dk2"/>
                </a:solidFill>
              </a:rPr>
              <a:t> = interspecific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 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54" name="Google Shape;554;p48"/>
          <p:cNvSpPr txBox="1"/>
          <p:nvPr/>
        </p:nvSpPr>
        <p:spPr>
          <a:xfrm>
            <a:off x="5425725" y="20003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55" name="Google Shape;555;p48"/>
          <p:cNvSpPr txBox="1"/>
          <p:nvPr/>
        </p:nvSpPr>
        <p:spPr>
          <a:xfrm>
            <a:off x="5782425" y="2000350"/>
            <a:ext cx="327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1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56" name="Google Shape;556;p48"/>
          <p:cNvSpPr txBox="1"/>
          <p:nvPr/>
        </p:nvSpPr>
        <p:spPr>
          <a:xfrm>
            <a:off x="4792975" y="2000350"/>
            <a:ext cx="1013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2"/>
                </a:solidFill>
              </a:rPr>
              <a:t> α</a:t>
            </a:r>
            <a:r>
              <a:rPr baseline="-25000" lang="en" sz="1800">
                <a:solidFill>
                  <a:schemeClr val="dk2"/>
                </a:solidFill>
              </a:rPr>
              <a:t>22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Coexistence criteria</a:t>
            </a:r>
            <a:endParaRPr/>
          </a:p>
        </p:txBody>
      </p:sp>
      <p:sp>
        <p:nvSpPr>
          <p:cNvPr id="562" name="Google Shape;562;p49"/>
          <p:cNvSpPr txBox="1"/>
          <p:nvPr>
            <p:ph idx="1" type="body"/>
          </p:nvPr>
        </p:nvSpPr>
        <p:spPr>
          <a:xfrm>
            <a:off x="311700" y="1152475"/>
            <a:ext cx="8520600" cy="94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Both species need to be able to invade when rare, when other species is present</a:t>
            </a:r>
            <a:endParaRPr/>
          </a:p>
        </p:txBody>
      </p:sp>
      <p:sp>
        <p:nvSpPr>
          <p:cNvPr id="563" name="Google Shape;563;p49"/>
          <p:cNvSpPr txBox="1"/>
          <p:nvPr/>
        </p:nvSpPr>
        <p:spPr>
          <a:xfrm>
            <a:off x="242925" y="17717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0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64" name="Google Shape;564;p49"/>
          <p:cNvSpPr txBox="1"/>
          <p:nvPr/>
        </p:nvSpPr>
        <p:spPr>
          <a:xfrm>
            <a:off x="1006125" y="17717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&lt;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65" name="Google Shape;565;p49"/>
          <p:cNvSpPr txBox="1"/>
          <p:nvPr/>
        </p:nvSpPr>
        <p:spPr>
          <a:xfrm>
            <a:off x="1362825" y="1771750"/>
            <a:ext cx="327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1 - 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66" name="Google Shape;566;p49"/>
          <p:cNvSpPr txBox="1"/>
          <p:nvPr/>
        </p:nvSpPr>
        <p:spPr>
          <a:xfrm>
            <a:off x="-17150" y="3850000"/>
            <a:ext cx="5486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α’s here are absolute impact.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ii</a:t>
            </a:r>
            <a:r>
              <a:rPr lang="en" sz="1800">
                <a:solidFill>
                  <a:schemeClr val="dk2"/>
                </a:solidFill>
              </a:rPr>
              <a:t> = intraspecific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ij</a:t>
            </a:r>
            <a:r>
              <a:rPr lang="en" sz="1800">
                <a:solidFill>
                  <a:schemeClr val="dk2"/>
                </a:solidFill>
              </a:rPr>
              <a:t> = interspecific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 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67" name="Google Shape;567;p49"/>
          <p:cNvSpPr txBox="1"/>
          <p:nvPr/>
        </p:nvSpPr>
        <p:spPr>
          <a:xfrm>
            <a:off x="5425725" y="20003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68" name="Google Shape;568;p49"/>
          <p:cNvSpPr txBox="1"/>
          <p:nvPr/>
        </p:nvSpPr>
        <p:spPr>
          <a:xfrm>
            <a:off x="5782425" y="2000350"/>
            <a:ext cx="327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1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69" name="Google Shape;569;p49"/>
          <p:cNvSpPr txBox="1"/>
          <p:nvPr/>
        </p:nvSpPr>
        <p:spPr>
          <a:xfrm>
            <a:off x="4792975" y="2000350"/>
            <a:ext cx="1013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 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570" name="Google Shape;570;p49"/>
          <p:cNvCxnSpPr/>
          <p:nvPr/>
        </p:nvCxnSpPr>
        <p:spPr>
          <a:xfrm flipH="1" rot="10800000">
            <a:off x="5730475" y="2457400"/>
            <a:ext cx="691200" cy="2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71" name="Google Shape;571;p49"/>
          <p:cNvSpPr txBox="1"/>
          <p:nvPr/>
        </p:nvSpPr>
        <p:spPr>
          <a:xfrm>
            <a:off x="5730475" y="2340900"/>
            <a:ext cx="691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22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Coexistence criteria</a:t>
            </a:r>
            <a:endParaRPr/>
          </a:p>
        </p:txBody>
      </p:sp>
      <p:sp>
        <p:nvSpPr>
          <p:cNvPr id="577" name="Google Shape;577;p50"/>
          <p:cNvSpPr txBox="1"/>
          <p:nvPr>
            <p:ph idx="1" type="body"/>
          </p:nvPr>
        </p:nvSpPr>
        <p:spPr>
          <a:xfrm>
            <a:off x="311700" y="1152475"/>
            <a:ext cx="8520600" cy="94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Both species need to be able to invade when rare, when other species is present</a:t>
            </a:r>
            <a:endParaRPr/>
          </a:p>
        </p:txBody>
      </p:sp>
      <p:sp>
        <p:nvSpPr>
          <p:cNvPr id="578" name="Google Shape;578;p50"/>
          <p:cNvSpPr txBox="1"/>
          <p:nvPr/>
        </p:nvSpPr>
        <p:spPr>
          <a:xfrm>
            <a:off x="242925" y="17717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79" name="Google Shape;579;p50"/>
          <p:cNvSpPr txBox="1"/>
          <p:nvPr/>
        </p:nvSpPr>
        <p:spPr>
          <a:xfrm>
            <a:off x="1006125" y="17717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&lt;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80" name="Google Shape;580;p50"/>
          <p:cNvSpPr txBox="1"/>
          <p:nvPr/>
        </p:nvSpPr>
        <p:spPr>
          <a:xfrm>
            <a:off x="1362825" y="1771750"/>
            <a:ext cx="327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1 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81" name="Google Shape;581;p50"/>
          <p:cNvSpPr txBox="1"/>
          <p:nvPr/>
        </p:nvSpPr>
        <p:spPr>
          <a:xfrm>
            <a:off x="-17150" y="3850000"/>
            <a:ext cx="5486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α’s here are absolute impact.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ii</a:t>
            </a:r>
            <a:r>
              <a:rPr lang="en" sz="1800">
                <a:solidFill>
                  <a:schemeClr val="dk2"/>
                </a:solidFill>
              </a:rPr>
              <a:t> = intraspecific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ij</a:t>
            </a:r>
            <a:r>
              <a:rPr lang="en" sz="1800">
                <a:solidFill>
                  <a:schemeClr val="dk2"/>
                </a:solidFill>
              </a:rPr>
              <a:t> = interspecific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 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82" name="Google Shape;582;p50"/>
          <p:cNvSpPr txBox="1"/>
          <p:nvPr/>
        </p:nvSpPr>
        <p:spPr>
          <a:xfrm>
            <a:off x="5425725" y="20003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83" name="Google Shape;583;p50"/>
          <p:cNvSpPr txBox="1"/>
          <p:nvPr/>
        </p:nvSpPr>
        <p:spPr>
          <a:xfrm>
            <a:off x="5782425" y="2000350"/>
            <a:ext cx="327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1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84" name="Google Shape;584;p50"/>
          <p:cNvSpPr txBox="1"/>
          <p:nvPr/>
        </p:nvSpPr>
        <p:spPr>
          <a:xfrm>
            <a:off x="4792975" y="2000350"/>
            <a:ext cx="1013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 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585" name="Google Shape;585;p50"/>
          <p:cNvCxnSpPr/>
          <p:nvPr/>
        </p:nvCxnSpPr>
        <p:spPr>
          <a:xfrm flipH="1" rot="10800000">
            <a:off x="5730475" y="2457400"/>
            <a:ext cx="691200" cy="2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86" name="Google Shape;586;p50"/>
          <p:cNvSpPr txBox="1"/>
          <p:nvPr/>
        </p:nvSpPr>
        <p:spPr>
          <a:xfrm>
            <a:off x="5730475" y="2340900"/>
            <a:ext cx="691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22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Coexistence criteria</a:t>
            </a:r>
            <a:endParaRPr/>
          </a:p>
        </p:txBody>
      </p:sp>
      <p:sp>
        <p:nvSpPr>
          <p:cNvPr id="592" name="Google Shape;592;p51"/>
          <p:cNvSpPr txBox="1"/>
          <p:nvPr>
            <p:ph idx="1" type="body"/>
          </p:nvPr>
        </p:nvSpPr>
        <p:spPr>
          <a:xfrm>
            <a:off x="311700" y="1152475"/>
            <a:ext cx="8520600" cy="94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Both species need to be able to invade when rare, when other species is present</a:t>
            </a:r>
            <a:endParaRPr/>
          </a:p>
        </p:txBody>
      </p:sp>
      <p:sp>
        <p:nvSpPr>
          <p:cNvPr id="593" name="Google Shape;593;p51"/>
          <p:cNvSpPr txBox="1"/>
          <p:nvPr/>
        </p:nvSpPr>
        <p:spPr>
          <a:xfrm>
            <a:off x="242925" y="17717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94" name="Google Shape;594;p51"/>
          <p:cNvSpPr txBox="1"/>
          <p:nvPr/>
        </p:nvSpPr>
        <p:spPr>
          <a:xfrm>
            <a:off x="1006125" y="17717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&lt;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95" name="Google Shape;595;p51"/>
          <p:cNvSpPr txBox="1"/>
          <p:nvPr/>
        </p:nvSpPr>
        <p:spPr>
          <a:xfrm>
            <a:off x="1362825" y="1771750"/>
            <a:ext cx="327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1 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96" name="Google Shape;596;p51"/>
          <p:cNvSpPr txBox="1"/>
          <p:nvPr/>
        </p:nvSpPr>
        <p:spPr>
          <a:xfrm>
            <a:off x="-17150" y="3850000"/>
            <a:ext cx="5486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α’s here are absolute impact.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ii</a:t>
            </a:r>
            <a:r>
              <a:rPr lang="en" sz="1800">
                <a:solidFill>
                  <a:schemeClr val="dk2"/>
                </a:solidFill>
              </a:rPr>
              <a:t> = intraspecific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ij</a:t>
            </a:r>
            <a:r>
              <a:rPr lang="en" sz="1800">
                <a:solidFill>
                  <a:schemeClr val="dk2"/>
                </a:solidFill>
              </a:rPr>
              <a:t> = interspecific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 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97" name="Google Shape;597;p51"/>
          <p:cNvSpPr txBox="1"/>
          <p:nvPr/>
        </p:nvSpPr>
        <p:spPr>
          <a:xfrm>
            <a:off x="5425725" y="20003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98" name="Google Shape;598;p51"/>
          <p:cNvSpPr txBox="1"/>
          <p:nvPr/>
        </p:nvSpPr>
        <p:spPr>
          <a:xfrm>
            <a:off x="5782425" y="2000350"/>
            <a:ext cx="327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1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99" name="Google Shape;599;p51"/>
          <p:cNvSpPr txBox="1"/>
          <p:nvPr/>
        </p:nvSpPr>
        <p:spPr>
          <a:xfrm>
            <a:off x="4792975" y="2000350"/>
            <a:ext cx="1013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 N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600" name="Google Shape;600;p51"/>
          <p:cNvCxnSpPr/>
          <p:nvPr/>
        </p:nvCxnSpPr>
        <p:spPr>
          <a:xfrm flipH="1" rot="10800000">
            <a:off x="5730475" y="2457400"/>
            <a:ext cx="691200" cy="2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1" name="Google Shape;601;p51"/>
          <p:cNvSpPr txBox="1"/>
          <p:nvPr/>
        </p:nvSpPr>
        <p:spPr>
          <a:xfrm>
            <a:off x="5730475" y="2340900"/>
            <a:ext cx="691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22</a:t>
            </a:r>
            <a:endParaRPr/>
          </a:p>
        </p:txBody>
      </p:sp>
      <p:cxnSp>
        <p:nvCxnSpPr>
          <p:cNvPr id="602" name="Google Shape;602;p51"/>
          <p:cNvCxnSpPr/>
          <p:nvPr/>
        </p:nvCxnSpPr>
        <p:spPr>
          <a:xfrm rot="10800000">
            <a:off x="920350" y="2116900"/>
            <a:ext cx="3786900" cy="228600"/>
          </a:xfrm>
          <a:prstGeom prst="straightConnector1">
            <a:avLst/>
          </a:prstGeom>
          <a:noFill/>
          <a:ln cap="flat" cmpd="sng" w="1905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52"/>
          <p:cNvSpPr txBox="1"/>
          <p:nvPr>
            <p:ph idx="1" type="body"/>
          </p:nvPr>
        </p:nvSpPr>
        <p:spPr>
          <a:xfrm>
            <a:off x="311700" y="1152475"/>
            <a:ext cx="8520600" cy="94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Both species need to be able to invade when rare, when other species is present</a:t>
            </a:r>
            <a:endParaRPr/>
          </a:p>
        </p:txBody>
      </p:sp>
      <p:sp>
        <p:nvSpPr>
          <p:cNvPr id="608" name="Google Shape;608;p52"/>
          <p:cNvSpPr txBox="1"/>
          <p:nvPr/>
        </p:nvSpPr>
        <p:spPr>
          <a:xfrm>
            <a:off x="1539475" y="2000350"/>
            <a:ext cx="529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22</a:t>
            </a:r>
            <a:endParaRPr/>
          </a:p>
        </p:txBody>
      </p:sp>
      <p:sp>
        <p:nvSpPr>
          <p:cNvPr id="609" name="Google Shape;609;p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Coexistence criteria</a:t>
            </a:r>
            <a:endParaRPr/>
          </a:p>
        </p:txBody>
      </p:sp>
      <p:sp>
        <p:nvSpPr>
          <p:cNvPr id="610" name="Google Shape;610;p52"/>
          <p:cNvSpPr txBox="1"/>
          <p:nvPr/>
        </p:nvSpPr>
        <p:spPr>
          <a:xfrm>
            <a:off x="1128675" y="1771750"/>
            <a:ext cx="48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611" name="Google Shape;611;p52"/>
          <p:cNvSpPr txBox="1"/>
          <p:nvPr/>
        </p:nvSpPr>
        <p:spPr>
          <a:xfrm>
            <a:off x="1920525" y="1847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&lt;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612" name="Google Shape;612;p52"/>
          <p:cNvSpPr txBox="1"/>
          <p:nvPr/>
        </p:nvSpPr>
        <p:spPr>
          <a:xfrm>
            <a:off x="2201025" y="1771750"/>
            <a:ext cx="48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1 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613" name="Google Shape;613;p52"/>
          <p:cNvSpPr txBox="1"/>
          <p:nvPr/>
        </p:nvSpPr>
        <p:spPr>
          <a:xfrm>
            <a:off x="-17150" y="3850000"/>
            <a:ext cx="5486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α’s here are absolute impact.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ii</a:t>
            </a:r>
            <a:r>
              <a:rPr lang="en" sz="1800">
                <a:solidFill>
                  <a:schemeClr val="dk2"/>
                </a:solidFill>
              </a:rPr>
              <a:t> = intraspecific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ij</a:t>
            </a:r>
            <a:r>
              <a:rPr lang="en" sz="1800">
                <a:solidFill>
                  <a:schemeClr val="dk2"/>
                </a:solidFill>
              </a:rPr>
              <a:t> = interspecific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 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614" name="Google Shape;614;p52"/>
          <p:cNvSpPr txBox="1"/>
          <p:nvPr/>
        </p:nvSpPr>
        <p:spPr>
          <a:xfrm>
            <a:off x="1552425" y="16193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1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615" name="Google Shape;615;p52"/>
          <p:cNvCxnSpPr/>
          <p:nvPr/>
        </p:nvCxnSpPr>
        <p:spPr>
          <a:xfrm>
            <a:off x="1615575" y="2078650"/>
            <a:ext cx="230400" cy="2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53"/>
          <p:cNvSpPr txBox="1"/>
          <p:nvPr>
            <p:ph idx="1" type="body"/>
          </p:nvPr>
        </p:nvSpPr>
        <p:spPr>
          <a:xfrm>
            <a:off x="311700" y="1152475"/>
            <a:ext cx="8520600" cy="94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Both species need to be able to invade when rare, when other species is present</a:t>
            </a:r>
            <a:endParaRPr/>
          </a:p>
        </p:txBody>
      </p:sp>
      <p:sp>
        <p:nvSpPr>
          <p:cNvPr id="621" name="Google Shape;621;p53"/>
          <p:cNvSpPr txBox="1"/>
          <p:nvPr/>
        </p:nvSpPr>
        <p:spPr>
          <a:xfrm>
            <a:off x="1539475" y="2000350"/>
            <a:ext cx="529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2" name="Google Shape;622;p5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Coexistence criteria</a:t>
            </a:r>
            <a:endParaRPr/>
          </a:p>
        </p:txBody>
      </p:sp>
      <p:sp>
        <p:nvSpPr>
          <p:cNvPr id="623" name="Google Shape;623;p53"/>
          <p:cNvSpPr txBox="1"/>
          <p:nvPr/>
        </p:nvSpPr>
        <p:spPr>
          <a:xfrm>
            <a:off x="1585875" y="1809850"/>
            <a:ext cx="48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12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624" name="Google Shape;624;p53"/>
          <p:cNvSpPr txBox="1"/>
          <p:nvPr/>
        </p:nvSpPr>
        <p:spPr>
          <a:xfrm>
            <a:off x="1920525" y="18098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&lt;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625" name="Google Shape;625;p53"/>
          <p:cNvSpPr txBox="1"/>
          <p:nvPr/>
        </p:nvSpPr>
        <p:spPr>
          <a:xfrm>
            <a:off x="2201025" y="1809850"/>
            <a:ext cx="48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22</a:t>
            </a:r>
            <a:r>
              <a:rPr lang="en" sz="1800">
                <a:solidFill>
                  <a:schemeClr val="dk2"/>
                </a:solidFill>
              </a:rPr>
              <a:t> 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626" name="Google Shape;626;p53"/>
          <p:cNvSpPr txBox="1"/>
          <p:nvPr/>
        </p:nvSpPr>
        <p:spPr>
          <a:xfrm>
            <a:off x="-17150" y="3850000"/>
            <a:ext cx="5486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α’s here are absolute impact.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ii</a:t>
            </a:r>
            <a:r>
              <a:rPr lang="en" sz="1800">
                <a:solidFill>
                  <a:schemeClr val="dk2"/>
                </a:solidFill>
              </a:rPr>
              <a:t> = intraspecific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ij</a:t>
            </a:r>
            <a:r>
              <a:rPr lang="en" sz="1800">
                <a:solidFill>
                  <a:schemeClr val="dk2"/>
                </a:solidFill>
              </a:rPr>
              <a:t> = interspecific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 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Coexistence criteria</a:t>
            </a:r>
            <a:endParaRPr/>
          </a:p>
        </p:txBody>
      </p:sp>
      <p:sp>
        <p:nvSpPr>
          <p:cNvPr id="632" name="Google Shape;632;p54"/>
          <p:cNvSpPr txBox="1"/>
          <p:nvPr>
            <p:ph idx="1" type="body"/>
          </p:nvPr>
        </p:nvSpPr>
        <p:spPr>
          <a:xfrm>
            <a:off x="311700" y="1152475"/>
            <a:ext cx="8520600" cy="208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order to coexist: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α</a:t>
            </a:r>
            <a:r>
              <a:rPr baseline="-25000" lang="en"/>
              <a:t>ii </a:t>
            </a:r>
            <a:r>
              <a:rPr lang="en"/>
              <a:t>&gt; α</a:t>
            </a:r>
            <a:r>
              <a:rPr baseline="-25000" lang="en"/>
              <a:t>ji</a:t>
            </a:r>
            <a:endParaRPr baseline="-250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α</a:t>
            </a:r>
            <a:r>
              <a:rPr baseline="-25000" lang="en"/>
              <a:t>jj </a:t>
            </a:r>
            <a:r>
              <a:rPr lang="en"/>
              <a:t>&gt; α</a:t>
            </a:r>
            <a:r>
              <a:rPr baseline="-25000" lang="en"/>
              <a:t>ij</a:t>
            </a:r>
            <a:endParaRPr baseline="-25000"/>
          </a:p>
        </p:txBody>
      </p:sp>
      <p:sp>
        <p:nvSpPr>
          <p:cNvPr id="633" name="Google Shape;633;p54"/>
          <p:cNvSpPr txBox="1"/>
          <p:nvPr/>
        </p:nvSpPr>
        <p:spPr>
          <a:xfrm>
            <a:off x="40000" y="4107175"/>
            <a:ext cx="5486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ii</a:t>
            </a:r>
            <a:r>
              <a:rPr lang="en" sz="1800">
                <a:solidFill>
                  <a:schemeClr val="dk2"/>
                </a:solidFill>
              </a:rPr>
              <a:t> = intraspecific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ij</a:t>
            </a:r>
            <a:r>
              <a:rPr lang="en" sz="1800">
                <a:solidFill>
                  <a:schemeClr val="dk2"/>
                </a:solidFill>
              </a:rPr>
              <a:t> = interspecific competition 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634" name="Google Shape;634;p54"/>
          <p:cNvPicPr preferRelativeResize="0"/>
          <p:nvPr/>
        </p:nvPicPr>
        <p:blipFill rotWithShape="1">
          <a:blip r:embed="rId3">
            <a:alphaModFix/>
          </a:blip>
          <a:srcRect b="38063" l="26620" r="26053" t="21542"/>
          <a:stretch/>
        </p:blipFill>
        <p:spPr>
          <a:xfrm>
            <a:off x="6106700" y="203575"/>
            <a:ext cx="2889101" cy="138710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5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Coexistence criteria</a:t>
            </a:r>
            <a:endParaRPr/>
          </a:p>
        </p:txBody>
      </p:sp>
      <p:sp>
        <p:nvSpPr>
          <p:cNvPr id="640" name="Google Shape;640;p55"/>
          <p:cNvSpPr txBox="1"/>
          <p:nvPr>
            <p:ph idx="1" type="body"/>
          </p:nvPr>
        </p:nvSpPr>
        <p:spPr>
          <a:xfrm>
            <a:off x="311700" y="1152475"/>
            <a:ext cx="8520600" cy="208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order to coexist: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α</a:t>
            </a:r>
            <a:r>
              <a:rPr baseline="-25000" lang="en"/>
              <a:t>ii </a:t>
            </a:r>
            <a:r>
              <a:rPr lang="en"/>
              <a:t>&gt; α</a:t>
            </a:r>
            <a:r>
              <a:rPr baseline="-25000" lang="en"/>
              <a:t>ji</a:t>
            </a:r>
            <a:endParaRPr baseline="-25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α</a:t>
            </a:r>
            <a:r>
              <a:rPr baseline="-25000" lang="en"/>
              <a:t>jj </a:t>
            </a:r>
            <a:r>
              <a:rPr lang="en"/>
              <a:t>&gt; α</a:t>
            </a:r>
            <a:r>
              <a:rPr baseline="-25000" lang="en"/>
              <a:t>ij</a:t>
            </a:r>
            <a:endParaRPr baseline="-250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In other words: </a:t>
            </a:r>
            <a:r>
              <a:rPr b="1" lang="en"/>
              <a:t>to coexist, species need to limit themselves more than they limit their competitors</a:t>
            </a:r>
            <a:endParaRPr b="1"/>
          </a:p>
        </p:txBody>
      </p:sp>
      <p:sp>
        <p:nvSpPr>
          <p:cNvPr id="641" name="Google Shape;641;p55"/>
          <p:cNvSpPr txBox="1"/>
          <p:nvPr/>
        </p:nvSpPr>
        <p:spPr>
          <a:xfrm>
            <a:off x="40000" y="4107175"/>
            <a:ext cx="5486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ii</a:t>
            </a:r>
            <a:r>
              <a:rPr lang="en" sz="1800">
                <a:solidFill>
                  <a:schemeClr val="dk2"/>
                </a:solidFill>
              </a:rPr>
              <a:t> = intraspecific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ij</a:t>
            </a:r>
            <a:r>
              <a:rPr lang="en" sz="1800">
                <a:solidFill>
                  <a:schemeClr val="dk2"/>
                </a:solidFill>
              </a:rPr>
              <a:t> = interspecific competition 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642" name="Google Shape;642;p55"/>
          <p:cNvPicPr preferRelativeResize="0"/>
          <p:nvPr/>
        </p:nvPicPr>
        <p:blipFill rotWithShape="1">
          <a:blip r:embed="rId3">
            <a:alphaModFix/>
          </a:blip>
          <a:srcRect b="38063" l="26620" r="26053" t="21542"/>
          <a:stretch/>
        </p:blipFill>
        <p:spPr>
          <a:xfrm>
            <a:off x="6106700" y="203575"/>
            <a:ext cx="2889101" cy="138710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6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5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Coexistence criteria</a:t>
            </a:r>
            <a:endParaRPr/>
          </a:p>
        </p:txBody>
      </p:sp>
      <p:sp>
        <p:nvSpPr>
          <p:cNvPr id="648" name="Google Shape;648;p56"/>
          <p:cNvSpPr txBox="1"/>
          <p:nvPr>
            <p:ph idx="1" type="body"/>
          </p:nvPr>
        </p:nvSpPr>
        <p:spPr>
          <a:xfrm>
            <a:off x="311700" y="1152475"/>
            <a:ext cx="8520600" cy="208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order to coexist: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α</a:t>
            </a:r>
            <a:r>
              <a:rPr baseline="-25000" lang="en"/>
              <a:t>ii </a:t>
            </a:r>
            <a:r>
              <a:rPr lang="en"/>
              <a:t>&gt; α</a:t>
            </a:r>
            <a:r>
              <a:rPr baseline="-25000" lang="en"/>
              <a:t>ji</a:t>
            </a:r>
            <a:endParaRPr baseline="-25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α</a:t>
            </a:r>
            <a:r>
              <a:rPr baseline="-25000" lang="en"/>
              <a:t>jj </a:t>
            </a:r>
            <a:r>
              <a:rPr lang="en"/>
              <a:t>&gt; α</a:t>
            </a:r>
            <a:r>
              <a:rPr baseline="-25000" lang="en"/>
              <a:t>ij</a:t>
            </a:r>
            <a:endParaRPr baseline="-250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In other words: </a:t>
            </a:r>
            <a:r>
              <a:rPr b="1" lang="en"/>
              <a:t>to coexist, species need to limit themselves more than they limit their competitors</a:t>
            </a:r>
            <a:endParaRPr b="1"/>
          </a:p>
        </p:txBody>
      </p:sp>
      <p:sp>
        <p:nvSpPr>
          <p:cNvPr id="649" name="Google Shape;649;p56"/>
          <p:cNvSpPr txBox="1"/>
          <p:nvPr/>
        </p:nvSpPr>
        <p:spPr>
          <a:xfrm>
            <a:off x="40000" y="4107175"/>
            <a:ext cx="5486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ii</a:t>
            </a:r>
            <a:r>
              <a:rPr lang="en" sz="1800">
                <a:solidFill>
                  <a:schemeClr val="dk2"/>
                </a:solidFill>
              </a:rPr>
              <a:t> = intraspecific competition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α</a:t>
            </a:r>
            <a:r>
              <a:rPr baseline="-25000" lang="en" sz="1800">
                <a:solidFill>
                  <a:schemeClr val="dk2"/>
                </a:solidFill>
              </a:rPr>
              <a:t>ij</a:t>
            </a:r>
            <a:r>
              <a:rPr lang="en" sz="1800">
                <a:solidFill>
                  <a:schemeClr val="dk2"/>
                </a:solidFill>
              </a:rPr>
              <a:t> = interspecific competition 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650" name="Google Shape;650;p56"/>
          <p:cNvCxnSpPr>
            <a:endCxn id="651" idx="1"/>
          </p:cNvCxnSpPr>
          <p:nvPr/>
        </p:nvCxnSpPr>
        <p:spPr>
          <a:xfrm flipH="1" rot="10800000">
            <a:off x="4916800" y="2102125"/>
            <a:ext cx="1143000" cy="347700"/>
          </a:xfrm>
          <a:prstGeom prst="straightConnector1">
            <a:avLst/>
          </a:prstGeom>
          <a:noFill/>
          <a:ln cap="flat" cmpd="sng" w="38100">
            <a:solidFill>
              <a:srgbClr val="980000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651" name="Google Shape;651;p56"/>
          <p:cNvSpPr txBox="1"/>
          <p:nvPr/>
        </p:nvSpPr>
        <p:spPr>
          <a:xfrm>
            <a:off x="6059800" y="1732675"/>
            <a:ext cx="23622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980000"/>
                </a:solidFill>
              </a:rPr>
              <a:t>IMPORTANT: </a:t>
            </a:r>
            <a:endParaRPr b="1" sz="1800">
              <a:solidFill>
                <a:srgbClr val="98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980000"/>
                </a:solidFill>
              </a:rPr>
              <a:t>WILL BE ON A TEST</a:t>
            </a:r>
            <a:endParaRPr sz="1800">
              <a:solidFill>
                <a:srgbClr val="980000"/>
              </a:solidFill>
            </a:endParaRPr>
          </a:p>
        </p:txBody>
      </p:sp>
      <p:pic>
        <p:nvPicPr>
          <p:cNvPr id="652" name="Google Shape;652;p56"/>
          <p:cNvPicPr preferRelativeResize="0"/>
          <p:nvPr/>
        </p:nvPicPr>
        <p:blipFill rotWithShape="1">
          <a:blip r:embed="rId3">
            <a:alphaModFix/>
          </a:blip>
          <a:srcRect b="38063" l="26620" r="26053" t="21542"/>
          <a:stretch/>
        </p:blipFill>
        <p:spPr>
          <a:xfrm>
            <a:off x="6106700" y="203575"/>
            <a:ext cx="2889101" cy="138710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5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 competition</a:t>
            </a:r>
            <a:endParaRPr/>
          </a:p>
        </p:txBody>
      </p:sp>
      <p:sp>
        <p:nvSpPr>
          <p:cNvPr id="658" name="Google Shape;658;p5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far we’ve been talking about competition in terms of reduction in growth rate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But competition usually isn’t actually species interacting with each other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It usually involves shared resources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Resource models are more mechanistic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 competition</a:t>
            </a:r>
            <a:endParaRPr/>
          </a:p>
        </p:txBody>
      </p:sp>
      <p:sp>
        <p:nvSpPr>
          <p:cNvPr id="664" name="Google Shape;664;p58"/>
          <p:cNvSpPr/>
          <p:nvPr/>
        </p:nvSpPr>
        <p:spPr>
          <a:xfrm>
            <a:off x="1230625" y="1333500"/>
            <a:ext cx="1781100" cy="733500"/>
          </a:xfrm>
          <a:prstGeom prst="roundRect">
            <a:avLst>
              <a:gd fmla="val 16667" name="adj"/>
            </a:avLst>
          </a:prstGeom>
          <a:solidFill>
            <a:srgbClr val="C27BA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Species A</a:t>
            </a:r>
            <a:endParaRPr/>
          </a:p>
        </p:txBody>
      </p:sp>
      <p:sp>
        <p:nvSpPr>
          <p:cNvPr id="665" name="Google Shape;665;p58"/>
          <p:cNvSpPr/>
          <p:nvPr/>
        </p:nvSpPr>
        <p:spPr>
          <a:xfrm>
            <a:off x="5345425" y="1333500"/>
            <a:ext cx="1781100" cy="733500"/>
          </a:xfrm>
          <a:prstGeom prst="roundRect">
            <a:avLst>
              <a:gd fmla="val 16667" name="adj"/>
            </a:avLst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Species B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9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5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 competition</a:t>
            </a:r>
            <a:endParaRPr/>
          </a:p>
        </p:txBody>
      </p:sp>
      <p:sp>
        <p:nvSpPr>
          <p:cNvPr id="671" name="Google Shape;671;p59"/>
          <p:cNvSpPr/>
          <p:nvPr/>
        </p:nvSpPr>
        <p:spPr>
          <a:xfrm>
            <a:off x="1230625" y="1333500"/>
            <a:ext cx="1781100" cy="733500"/>
          </a:xfrm>
          <a:prstGeom prst="roundRect">
            <a:avLst>
              <a:gd fmla="val 16667" name="adj"/>
            </a:avLst>
          </a:prstGeom>
          <a:solidFill>
            <a:srgbClr val="C27BA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Species A</a:t>
            </a:r>
            <a:endParaRPr/>
          </a:p>
        </p:txBody>
      </p:sp>
      <p:sp>
        <p:nvSpPr>
          <p:cNvPr id="672" name="Google Shape;672;p59"/>
          <p:cNvSpPr/>
          <p:nvPr/>
        </p:nvSpPr>
        <p:spPr>
          <a:xfrm>
            <a:off x="5345425" y="1333500"/>
            <a:ext cx="1781100" cy="733500"/>
          </a:xfrm>
          <a:prstGeom prst="roundRect">
            <a:avLst>
              <a:gd fmla="val 16667" name="adj"/>
            </a:avLst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Species B</a:t>
            </a:r>
            <a:endParaRPr/>
          </a:p>
        </p:txBody>
      </p:sp>
      <p:cxnSp>
        <p:nvCxnSpPr>
          <p:cNvPr id="673" name="Google Shape;673;p59"/>
          <p:cNvCxnSpPr/>
          <p:nvPr/>
        </p:nvCxnSpPr>
        <p:spPr>
          <a:xfrm flipH="1">
            <a:off x="3269125" y="1419225"/>
            <a:ext cx="1923900" cy="285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74" name="Google Shape;674;p59"/>
          <p:cNvCxnSpPr/>
          <p:nvPr/>
        </p:nvCxnSpPr>
        <p:spPr>
          <a:xfrm flipH="1" rot="10800000">
            <a:off x="3316600" y="1847700"/>
            <a:ext cx="1790700" cy="192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p6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 competition</a:t>
            </a:r>
            <a:endParaRPr/>
          </a:p>
        </p:txBody>
      </p:sp>
      <p:sp>
        <p:nvSpPr>
          <p:cNvPr id="680" name="Google Shape;680;p60"/>
          <p:cNvSpPr/>
          <p:nvPr/>
        </p:nvSpPr>
        <p:spPr>
          <a:xfrm>
            <a:off x="1230625" y="1333500"/>
            <a:ext cx="1781100" cy="733500"/>
          </a:xfrm>
          <a:prstGeom prst="roundRect">
            <a:avLst>
              <a:gd fmla="val 16667" name="adj"/>
            </a:avLst>
          </a:prstGeom>
          <a:solidFill>
            <a:srgbClr val="C27BA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Species A</a:t>
            </a:r>
            <a:endParaRPr/>
          </a:p>
        </p:txBody>
      </p:sp>
      <p:sp>
        <p:nvSpPr>
          <p:cNvPr id="681" name="Google Shape;681;p60"/>
          <p:cNvSpPr/>
          <p:nvPr/>
        </p:nvSpPr>
        <p:spPr>
          <a:xfrm>
            <a:off x="5345425" y="1333500"/>
            <a:ext cx="1781100" cy="733500"/>
          </a:xfrm>
          <a:prstGeom prst="roundRect">
            <a:avLst>
              <a:gd fmla="val 16667" name="adj"/>
            </a:avLst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Species B</a:t>
            </a:r>
            <a:endParaRPr/>
          </a:p>
        </p:txBody>
      </p:sp>
      <p:cxnSp>
        <p:nvCxnSpPr>
          <p:cNvPr id="682" name="Google Shape;682;p60"/>
          <p:cNvCxnSpPr/>
          <p:nvPr/>
        </p:nvCxnSpPr>
        <p:spPr>
          <a:xfrm flipH="1">
            <a:off x="3269125" y="1419225"/>
            <a:ext cx="1923900" cy="285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83" name="Google Shape;683;p60"/>
          <p:cNvCxnSpPr/>
          <p:nvPr/>
        </p:nvCxnSpPr>
        <p:spPr>
          <a:xfrm flipH="1" rot="10800000">
            <a:off x="3316600" y="1847700"/>
            <a:ext cx="1790700" cy="192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84" name="Google Shape;684;p60"/>
          <p:cNvSpPr/>
          <p:nvPr/>
        </p:nvSpPr>
        <p:spPr>
          <a:xfrm>
            <a:off x="3726100" y="3429000"/>
            <a:ext cx="1381200" cy="1314600"/>
          </a:xfrm>
          <a:prstGeom prst="ellipse">
            <a:avLst/>
          </a:prstGeom>
          <a:solidFill>
            <a:srgbClr val="6AA84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 C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6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 competition</a:t>
            </a:r>
            <a:endParaRPr/>
          </a:p>
        </p:txBody>
      </p:sp>
      <p:sp>
        <p:nvSpPr>
          <p:cNvPr id="690" name="Google Shape;690;p61"/>
          <p:cNvSpPr/>
          <p:nvPr/>
        </p:nvSpPr>
        <p:spPr>
          <a:xfrm>
            <a:off x="1230625" y="1333500"/>
            <a:ext cx="1781100" cy="733500"/>
          </a:xfrm>
          <a:prstGeom prst="roundRect">
            <a:avLst>
              <a:gd fmla="val 16667" name="adj"/>
            </a:avLst>
          </a:prstGeom>
          <a:solidFill>
            <a:srgbClr val="C27BA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Species A</a:t>
            </a:r>
            <a:endParaRPr/>
          </a:p>
        </p:txBody>
      </p:sp>
      <p:sp>
        <p:nvSpPr>
          <p:cNvPr id="691" name="Google Shape;691;p61"/>
          <p:cNvSpPr/>
          <p:nvPr/>
        </p:nvSpPr>
        <p:spPr>
          <a:xfrm>
            <a:off x="5345425" y="1333500"/>
            <a:ext cx="1781100" cy="733500"/>
          </a:xfrm>
          <a:prstGeom prst="roundRect">
            <a:avLst>
              <a:gd fmla="val 16667" name="adj"/>
            </a:avLst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Species B</a:t>
            </a:r>
            <a:endParaRPr/>
          </a:p>
        </p:txBody>
      </p:sp>
      <p:sp>
        <p:nvSpPr>
          <p:cNvPr id="692" name="Google Shape;692;p61"/>
          <p:cNvSpPr/>
          <p:nvPr/>
        </p:nvSpPr>
        <p:spPr>
          <a:xfrm>
            <a:off x="3726100" y="3429000"/>
            <a:ext cx="1381200" cy="1314600"/>
          </a:xfrm>
          <a:prstGeom prst="ellipse">
            <a:avLst/>
          </a:prstGeom>
          <a:solidFill>
            <a:srgbClr val="6AA84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 C</a:t>
            </a:r>
            <a:endParaRPr/>
          </a:p>
        </p:txBody>
      </p:sp>
      <p:cxnSp>
        <p:nvCxnSpPr>
          <p:cNvPr id="693" name="Google Shape;693;p61"/>
          <p:cNvCxnSpPr>
            <a:stCxn id="690" idx="2"/>
            <a:endCxn id="692" idx="1"/>
          </p:cNvCxnSpPr>
          <p:nvPr/>
        </p:nvCxnSpPr>
        <p:spPr>
          <a:xfrm>
            <a:off x="2121175" y="2067000"/>
            <a:ext cx="1807200" cy="15546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94" name="Google Shape;694;p61"/>
          <p:cNvCxnSpPr>
            <a:stCxn id="692" idx="7"/>
            <a:endCxn id="691" idx="2"/>
          </p:cNvCxnSpPr>
          <p:nvPr/>
        </p:nvCxnSpPr>
        <p:spPr>
          <a:xfrm flipH="1" rot="10800000">
            <a:off x="4905028" y="2066919"/>
            <a:ext cx="1330800" cy="15546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95" name="Google Shape;695;p61"/>
          <p:cNvCxnSpPr>
            <a:stCxn id="692" idx="2"/>
          </p:cNvCxnSpPr>
          <p:nvPr/>
        </p:nvCxnSpPr>
        <p:spPr>
          <a:xfrm rot="10800000">
            <a:off x="1611700" y="2114700"/>
            <a:ext cx="2114400" cy="19716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96" name="Google Shape;696;p61"/>
          <p:cNvCxnSpPr/>
          <p:nvPr/>
        </p:nvCxnSpPr>
        <p:spPr>
          <a:xfrm flipH="1">
            <a:off x="5097925" y="2143125"/>
            <a:ext cx="1542900" cy="17049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 competition</a:t>
            </a:r>
            <a:endParaRPr/>
          </a:p>
        </p:txBody>
      </p:sp>
      <p:sp>
        <p:nvSpPr>
          <p:cNvPr id="702" name="Google Shape;702;p62"/>
          <p:cNvSpPr/>
          <p:nvPr/>
        </p:nvSpPr>
        <p:spPr>
          <a:xfrm>
            <a:off x="1230625" y="1333500"/>
            <a:ext cx="1781100" cy="733500"/>
          </a:xfrm>
          <a:prstGeom prst="roundRect">
            <a:avLst>
              <a:gd fmla="val 16667" name="adj"/>
            </a:avLst>
          </a:prstGeom>
          <a:solidFill>
            <a:srgbClr val="C27BA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Species A</a:t>
            </a:r>
            <a:endParaRPr/>
          </a:p>
        </p:txBody>
      </p:sp>
      <p:sp>
        <p:nvSpPr>
          <p:cNvPr id="703" name="Google Shape;703;p62"/>
          <p:cNvSpPr/>
          <p:nvPr/>
        </p:nvSpPr>
        <p:spPr>
          <a:xfrm>
            <a:off x="5345425" y="1333500"/>
            <a:ext cx="1781100" cy="733500"/>
          </a:xfrm>
          <a:prstGeom prst="roundRect">
            <a:avLst>
              <a:gd fmla="val 16667" name="adj"/>
            </a:avLst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Species B</a:t>
            </a:r>
            <a:endParaRPr/>
          </a:p>
        </p:txBody>
      </p:sp>
      <p:sp>
        <p:nvSpPr>
          <p:cNvPr id="704" name="Google Shape;704;p62"/>
          <p:cNvSpPr/>
          <p:nvPr/>
        </p:nvSpPr>
        <p:spPr>
          <a:xfrm>
            <a:off x="3726100" y="3429000"/>
            <a:ext cx="1381200" cy="1314600"/>
          </a:xfrm>
          <a:prstGeom prst="ellipse">
            <a:avLst/>
          </a:prstGeom>
          <a:solidFill>
            <a:srgbClr val="6AA84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 C</a:t>
            </a:r>
            <a:endParaRPr/>
          </a:p>
        </p:txBody>
      </p:sp>
      <p:cxnSp>
        <p:nvCxnSpPr>
          <p:cNvPr id="705" name="Google Shape;705;p62"/>
          <p:cNvCxnSpPr>
            <a:stCxn id="702" idx="2"/>
            <a:endCxn id="704" idx="1"/>
          </p:cNvCxnSpPr>
          <p:nvPr/>
        </p:nvCxnSpPr>
        <p:spPr>
          <a:xfrm>
            <a:off x="2121175" y="2067000"/>
            <a:ext cx="1807200" cy="1554600"/>
          </a:xfrm>
          <a:prstGeom prst="straightConnector1">
            <a:avLst/>
          </a:prstGeom>
          <a:noFill/>
          <a:ln cap="flat" cmpd="sng" w="3810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06" name="Google Shape;706;p62"/>
          <p:cNvCxnSpPr>
            <a:stCxn id="704" idx="7"/>
            <a:endCxn id="703" idx="2"/>
          </p:cNvCxnSpPr>
          <p:nvPr/>
        </p:nvCxnSpPr>
        <p:spPr>
          <a:xfrm flipH="1" rot="10800000">
            <a:off x="4905028" y="2066919"/>
            <a:ext cx="1330800" cy="15546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07" name="Google Shape;707;p62"/>
          <p:cNvCxnSpPr>
            <a:stCxn id="704" idx="2"/>
          </p:cNvCxnSpPr>
          <p:nvPr/>
        </p:nvCxnSpPr>
        <p:spPr>
          <a:xfrm rot="10800000">
            <a:off x="1611700" y="2114700"/>
            <a:ext cx="2114400" cy="1971600"/>
          </a:xfrm>
          <a:prstGeom prst="straightConnector1">
            <a:avLst/>
          </a:prstGeom>
          <a:noFill/>
          <a:ln cap="flat" cmpd="sng" w="3810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08" name="Google Shape;708;p62"/>
          <p:cNvCxnSpPr/>
          <p:nvPr/>
        </p:nvCxnSpPr>
        <p:spPr>
          <a:xfrm flipH="1">
            <a:off x="5097925" y="2143125"/>
            <a:ext cx="1542900" cy="17049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09" name="Google Shape;709;p62"/>
          <p:cNvSpPr txBox="1"/>
          <p:nvPr/>
        </p:nvSpPr>
        <p:spPr>
          <a:xfrm>
            <a:off x="754450" y="2800350"/>
            <a:ext cx="1781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980000"/>
                </a:solidFill>
              </a:rPr>
              <a:t>Intraspecific </a:t>
            </a:r>
            <a:r>
              <a:rPr b="1" lang="en" sz="1800">
                <a:solidFill>
                  <a:srgbClr val="980000"/>
                </a:solidFill>
              </a:rPr>
              <a:t>competition</a:t>
            </a:r>
            <a:endParaRPr b="1" sz="1800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p6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 competition</a:t>
            </a:r>
            <a:endParaRPr/>
          </a:p>
        </p:txBody>
      </p:sp>
      <p:sp>
        <p:nvSpPr>
          <p:cNvPr id="715" name="Google Shape;715;p63"/>
          <p:cNvSpPr/>
          <p:nvPr/>
        </p:nvSpPr>
        <p:spPr>
          <a:xfrm>
            <a:off x="1230625" y="1333500"/>
            <a:ext cx="1781100" cy="733500"/>
          </a:xfrm>
          <a:prstGeom prst="roundRect">
            <a:avLst>
              <a:gd fmla="val 16667" name="adj"/>
            </a:avLst>
          </a:prstGeom>
          <a:solidFill>
            <a:srgbClr val="C27BA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Species A</a:t>
            </a:r>
            <a:endParaRPr/>
          </a:p>
        </p:txBody>
      </p:sp>
      <p:sp>
        <p:nvSpPr>
          <p:cNvPr id="716" name="Google Shape;716;p63"/>
          <p:cNvSpPr/>
          <p:nvPr/>
        </p:nvSpPr>
        <p:spPr>
          <a:xfrm>
            <a:off x="5345425" y="1333500"/>
            <a:ext cx="1781100" cy="733500"/>
          </a:xfrm>
          <a:prstGeom prst="roundRect">
            <a:avLst>
              <a:gd fmla="val 16667" name="adj"/>
            </a:avLst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Species B</a:t>
            </a:r>
            <a:endParaRPr/>
          </a:p>
        </p:txBody>
      </p:sp>
      <p:sp>
        <p:nvSpPr>
          <p:cNvPr id="717" name="Google Shape;717;p63"/>
          <p:cNvSpPr/>
          <p:nvPr/>
        </p:nvSpPr>
        <p:spPr>
          <a:xfrm>
            <a:off x="3726100" y="3429000"/>
            <a:ext cx="1381200" cy="1314600"/>
          </a:xfrm>
          <a:prstGeom prst="ellipse">
            <a:avLst/>
          </a:prstGeom>
          <a:solidFill>
            <a:srgbClr val="6AA84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 C</a:t>
            </a:r>
            <a:endParaRPr/>
          </a:p>
        </p:txBody>
      </p:sp>
      <p:cxnSp>
        <p:nvCxnSpPr>
          <p:cNvPr id="718" name="Google Shape;718;p63"/>
          <p:cNvCxnSpPr>
            <a:stCxn id="715" idx="2"/>
            <a:endCxn id="717" idx="1"/>
          </p:cNvCxnSpPr>
          <p:nvPr/>
        </p:nvCxnSpPr>
        <p:spPr>
          <a:xfrm>
            <a:off x="2121175" y="2067000"/>
            <a:ext cx="1807200" cy="1554600"/>
          </a:xfrm>
          <a:prstGeom prst="straightConnector1">
            <a:avLst/>
          </a:prstGeom>
          <a:noFill/>
          <a:ln cap="flat" cmpd="sng" w="3810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19" name="Google Shape;719;p63"/>
          <p:cNvCxnSpPr>
            <a:stCxn id="717" idx="7"/>
            <a:endCxn id="716" idx="2"/>
          </p:cNvCxnSpPr>
          <p:nvPr/>
        </p:nvCxnSpPr>
        <p:spPr>
          <a:xfrm flipH="1" rot="10800000">
            <a:off x="4905028" y="2066919"/>
            <a:ext cx="1330800" cy="1554600"/>
          </a:xfrm>
          <a:prstGeom prst="straightConnector1">
            <a:avLst/>
          </a:prstGeom>
          <a:noFill/>
          <a:ln cap="flat" cmpd="sng" w="3810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20" name="Google Shape;720;p63"/>
          <p:cNvCxnSpPr>
            <a:stCxn id="717" idx="2"/>
          </p:cNvCxnSpPr>
          <p:nvPr/>
        </p:nvCxnSpPr>
        <p:spPr>
          <a:xfrm rot="10800000">
            <a:off x="1611700" y="2114700"/>
            <a:ext cx="2114400" cy="19716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21" name="Google Shape;721;p63"/>
          <p:cNvCxnSpPr/>
          <p:nvPr/>
        </p:nvCxnSpPr>
        <p:spPr>
          <a:xfrm flipH="1">
            <a:off x="5097925" y="2143125"/>
            <a:ext cx="1542900" cy="17049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22" name="Google Shape;722;p63"/>
          <p:cNvSpPr txBox="1"/>
          <p:nvPr/>
        </p:nvSpPr>
        <p:spPr>
          <a:xfrm>
            <a:off x="3449950" y="1853913"/>
            <a:ext cx="1933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0000FF"/>
                </a:solidFill>
              </a:rPr>
              <a:t>Interspecific </a:t>
            </a:r>
            <a:r>
              <a:rPr b="1" lang="en" sz="1800">
                <a:solidFill>
                  <a:srgbClr val="0000FF"/>
                </a:solidFill>
              </a:rPr>
              <a:t>competition</a:t>
            </a:r>
            <a:endParaRPr b="1" sz="1800">
              <a:solidFill>
                <a:srgbClr val="0000FF"/>
              </a:solidFill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6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 competition models</a:t>
            </a:r>
            <a:endParaRPr/>
          </a:p>
        </p:txBody>
      </p:sp>
      <p:sp>
        <p:nvSpPr>
          <p:cNvPr id="728" name="Google Shape;728;p6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What is a resource?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6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 competition models</a:t>
            </a:r>
            <a:endParaRPr/>
          </a:p>
        </p:txBody>
      </p:sp>
      <p:sp>
        <p:nvSpPr>
          <p:cNvPr id="734" name="Google Shape;734;p6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a resource?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Increases population growth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 consumed by use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6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 competition models</a:t>
            </a:r>
            <a:endParaRPr/>
          </a:p>
        </p:txBody>
      </p:sp>
      <p:sp>
        <p:nvSpPr>
          <p:cNvPr id="740" name="Google Shape;740;p66"/>
          <p:cNvSpPr txBox="1"/>
          <p:nvPr>
            <p:ph idx="1" type="body"/>
          </p:nvPr>
        </p:nvSpPr>
        <p:spPr>
          <a:xfrm>
            <a:off x="311700" y="1152475"/>
            <a:ext cx="8520600" cy="136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a resource?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Increases population growth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 consumed by use</a:t>
            </a:r>
            <a:endParaRPr/>
          </a:p>
        </p:txBody>
      </p:sp>
      <p:sp>
        <p:nvSpPr>
          <p:cNvPr id="741" name="Google Shape;741;p66"/>
          <p:cNvSpPr txBox="1"/>
          <p:nvPr/>
        </p:nvSpPr>
        <p:spPr>
          <a:xfrm>
            <a:off x="201925" y="2668900"/>
            <a:ext cx="54864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Resources:</a:t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Food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Nutrients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Water (but trivial in aquatic)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Light (for producers)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Oxygen (but trivial in terrestrial)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p6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 competition models</a:t>
            </a:r>
            <a:endParaRPr/>
          </a:p>
        </p:txBody>
      </p:sp>
      <p:sp>
        <p:nvSpPr>
          <p:cNvPr id="747" name="Google Shape;747;p67"/>
          <p:cNvSpPr txBox="1"/>
          <p:nvPr>
            <p:ph idx="1" type="body"/>
          </p:nvPr>
        </p:nvSpPr>
        <p:spPr>
          <a:xfrm>
            <a:off x="311700" y="1152475"/>
            <a:ext cx="8520600" cy="136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a resource?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Increases population growth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 consumed by use</a:t>
            </a:r>
            <a:endParaRPr/>
          </a:p>
        </p:txBody>
      </p:sp>
      <p:sp>
        <p:nvSpPr>
          <p:cNvPr id="748" name="Google Shape;748;p67"/>
          <p:cNvSpPr txBox="1"/>
          <p:nvPr/>
        </p:nvSpPr>
        <p:spPr>
          <a:xfrm>
            <a:off x="201925" y="2668900"/>
            <a:ext cx="54864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Resources:</a:t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Food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Nutrients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Water (but trivial in aquatic)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Light</a:t>
            </a:r>
            <a:r>
              <a:rPr lang="en" sz="1800">
                <a:solidFill>
                  <a:schemeClr val="dk2"/>
                </a:solidFill>
              </a:rPr>
              <a:t> (for producers)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Oxygen (but trivial in terrestrial)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49" name="Google Shape;749;p67"/>
          <p:cNvSpPr txBox="1"/>
          <p:nvPr/>
        </p:nvSpPr>
        <p:spPr>
          <a:xfrm>
            <a:off x="5459725" y="2668900"/>
            <a:ext cx="54864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NOT </a:t>
            </a:r>
            <a:r>
              <a:rPr b="1" lang="en" sz="1800">
                <a:solidFill>
                  <a:schemeClr val="dk2"/>
                </a:solidFill>
              </a:rPr>
              <a:t>Resources:</a:t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Temperature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Elevation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Pressure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3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6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R* Theory</a:t>
            </a:r>
            <a:endParaRPr/>
          </a:p>
        </p:txBody>
      </p:sp>
      <p:sp>
        <p:nvSpPr>
          <p:cNvPr id="755" name="Google Shape;755;p68"/>
          <p:cNvSpPr txBox="1"/>
          <p:nvPr/>
        </p:nvSpPr>
        <p:spPr>
          <a:xfrm>
            <a:off x="1233525" y="12383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dN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756" name="Google Shape;756;p68"/>
          <p:cNvSpPr txBox="1"/>
          <p:nvPr/>
        </p:nvSpPr>
        <p:spPr>
          <a:xfrm>
            <a:off x="1233525" y="16955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dt</a:t>
            </a:r>
            <a:endParaRPr baseline="-25000" sz="1800">
              <a:solidFill>
                <a:schemeClr val="dk2"/>
              </a:solidFill>
            </a:endParaRPr>
          </a:p>
        </p:txBody>
      </p:sp>
      <p:cxnSp>
        <p:nvCxnSpPr>
          <p:cNvPr id="757" name="Google Shape;757;p68"/>
          <p:cNvCxnSpPr/>
          <p:nvPr/>
        </p:nvCxnSpPr>
        <p:spPr>
          <a:xfrm>
            <a:off x="1157325" y="1697800"/>
            <a:ext cx="7632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58" name="Google Shape;758;p68"/>
          <p:cNvSpPr txBox="1"/>
          <p:nvPr/>
        </p:nvSpPr>
        <p:spPr>
          <a:xfrm>
            <a:off x="1920525" y="1466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59" name="Google Shape;759;p68"/>
          <p:cNvSpPr txBox="1"/>
          <p:nvPr/>
        </p:nvSpPr>
        <p:spPr>
          <a:xfrm>
            <a:off x="2277225" y="1466950"/>
            <a:ext cx="327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 </a:t>
            </a:r>
            <a:r>
              <a:rPr lang="en" sz="1800">
                <a:solidFill>
                  <a:schemeClr val="dk2"/>
                </a:solidFill>
              </a:rPr>
              <a:t>- d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60" name="Google Shape;760;p68"/>
          <p:cNvSpPr txBox="1"/>
          <p:nvPr/>
        </p:nvSpPr>
        <p:spPr>
          <a:xfrm>
            <a:off x="450525" y="1695550"/>
            <a:ext cx="42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/>
          </a:p>
        </p:txBody>
      </p:sp>
      <p:cxnSp>
        <p:nvCxnSpPr>
          <p:cNvPr id="761" name="Google Shape;761;p68"/>
          <p:cNvCxnSpPr/>
          <p:nvPr/>
        </p:nvCxnSpPr>
        <p:spPr>
          <a:xfrm flipH="1" rot="10800000">
            <a:off x="395325" y="1697200"/>
            <a:ext cx="4923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62" name="Google Shape;762;p68"/>
          <p:cNvSpPr txBox="1"/>
          <p:nvPr/>
        </p:nvSpPr>
        <p:spPr>
          <a:xfrm>
            <a:off x="457200" y="129540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1</a:t>
            </a:r>
            <a:endParaRPr/>
          </a:p>
        </p:txBody>
      </p:sp>
      <p:sp>
        <p:nvSpPr>
          <p:cNvPr id="763" name="Google Shape;763;p68"/>
          <p:cNvSpPr txBox="1"/>
          <p:nvPr/>
        </p:nvSpPr>
        <p:spPr>
          <a:xfrm>
            <a:off x="868125" y="1412800"/>
            <a:ext cx="2373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dk2"/>
                </a:solidFill>
              </a:rPr>
              <a:t>·</a:t>
            </a:r>
            <a:endParaRPr b="1" sz="2100"/>
          </a:p>
        </p:txBody>
      </p:sp>
      <p:sp>
        <p:nvSpPr>
          <p:cNvPr id="764" name="Google Shape;764;p68"/>
          <p:cNvSpPr txBox="1"/>
          <p:nvPr/>
        </p:nvSpPr>
        <p:spPr>
          <a:xfrm>
            <a:off x="173350" y="3895725"/>
            <a:ext cx="54864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 = resource availability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r>
              <a:rPr lang="en" sz="1800">
                <a:solidFill>
                  <a:schemeClr val="dk2"/>
                </a:solidFill>
              </a:rPr>
              <a:t> = resource consumption rate of </a:t>
            </a:r>
            <a:r>
              <a:rPr lang="en" sz="1800">
                <a:solidFill>
                  <a:schemeClr val="dk2"/>
                </a:solidFill>
              </a:rPr>
              <a:t>species</a:t>
            </a:r>
            <a:r>
              <a:rPr lang="en" sz="1800">
                <a:solidFill>
                  <a:schemeClr val="dk2"/>
                </a:solidFill>
              </a:rPr>
              <a:t> i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r>
              <a:rPr lang="en" sz="1800">
                <a:solidFill>
                  <a:schemeClr val="dk2"/>
                </a:solidFill>
              </a:rPr>
              <a:t> = death rate of species i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6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R* Theory</a:t>
            </a:r>
            <a:endParaRPr/>
          </a:p>
        </p:txBody>
      </p:sp>
      <p:sp>
        <p:nvSpPr>
          <p:cNvPr id="770" name="Google Shape;770;p69"/>
          <p:cNvSpPr txBox="1"/>
          <p:nvPr/>
        </p:nvSpPr>
        <p:spPr>
          <a:xfrm>
            <a:off x="1233525" y="12383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dN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771" name="Google Shape;771;p69"/>
          <p:cNvSpPr txBox="1"/>
          <p:nvPr/>
        </p:nvSpPr>
        <p:spPr>
          <a:xfrm>
            <a:off x="1233525" y="16955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dt</a:t>
            </a:r>
            <a:endParaRPr baseline="-25000" sz="1800">
              <a:solidFill>
                <a:schemeClr val="dk2"/>
              </a:solidFill>
            </a:endParaRPr>
          </a:p>
        </p:txBody>
      </p:sp>
      <p:cxnSp>
        <p:nvCxnSpPr>
          <p:cNvPr id="772" name="Google Shape;772;p69"/>
          <p:cNvCxnSpPr/>
          <p:nvPr/>
        </p:nvCxnSpPr>
        <p:spPr>
          <a:xfrm>
            <a:off x="1157325" y="1697800"/>
            <a:ext cx="7632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73" name="Google Shape;773;p69"/>
          <p:cNvSpPr txBox="1"/>
          <p:nvPr/>
        </p:nvSpPr>
        <p:spPr>
          <a:xfrm>
            <a:off x="1920525" y="1466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74" name="Google Shape;774;p69"/>
          <p:cNvSpPr txBox="1"/>
          <p:nvPr/>
        </p:nvSpPr>
        <p:spPr>
          <a:xfrm>
            <a:off x="2277225" y="1466950"/>
            <a:ext cx="327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 </a:t>
            </a:r>
            <a:r>
              <a:rPr lang="en" sz="1800">
                <a:solidFill>
                  <a:schemeClr val="dk2"/>
                </a:solidFill>
              </a:rPr>
              <a:t>- d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75" name="Google Shape;775;p69"/>
          <p:cNvSpPr txBox="1"/>
          <p:nvPr/>
        </p:nvSpPr>
        <p:spPr>
          <a:xfrm>
            <a:off x="450525" y="1695550"/>
            <a:ext cx="42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1</a:t>
            </a:r>
            <a:endParaRPr/>
          </a:p>
        </p:txBody>
      </p:sp>
      <p:cxnSp>
        <p:nvCxnSpPr>
          <p:cNvPr id="776" name="Google Shape;776;p69"/>
          <p:cNvCxnSpPr/>
          <p:nvPr/>
        </p:nvCxnSpPr>
        <p:spPr>
          <a:xfrm flipH="1" rot="10800000">
            <a:off x="395325" y="1697200"/>
            <a:ext cx="4923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77" name="Google Shape;777;p69"/>
          <p:cNvSpPr txBox="1"/>
          <p:nvPr/>
        </p:nvSpPr>
        <p:spPr>
          <a:xfrm>
            <a:off x="457200" y="129540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1</a:t>
            </a:r>
            <a:endParaRPr/>
          </a:p>
        </p:txBody>
      </p:sp>
      <p:sp>
        <p:nvSpPr>
          <p:cNvPr id="778" name="Google Shape;778;p69"/>
          <p:cNvSpPr txBox="1"/>
          <p:nvPr/>
        </p:nvSpPr>
        <p:spPr>
          <a:xfrm>
            <a:off x="868125" y="1412800"/>
            <a:ext cx="2373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dk2"/>
                </a:solidFill>
              </a:rPr>
              <a:t>·</a:t>
            </a:r>
            <a:endParaRPr b="1" sz="2100"/>
          </a:p>
        </p:txBody>
      </p:sp>
      <p:sp>
        <p:nvSpPr>
          <p:cNvPr id="779" name="Google Shape;779;p69"/>
          <p:cNvSpPr txBox="1"/>
          <p:nvPr/>
        </p:nvSpPr>
        <p:spPr>
          <a:xfrm>
            <a:off x="173350" y="3895725"/>
            <a:ext cx="54864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 = resource availability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r>
              <a:rPr lang="en" sz="1800">
                <a:solidFill>
                  <a:schemeClr val="dk2"/>
                </a:solidFill>
              </a:rPr>
              <a:t> = resource consumption rate of species i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r>
              <a:rPr lang="en" sz="1800">
                <a:solidFill>
                  <a:schemeClr val="dk2"/>
                </a:solidFill>
              </a:rPr>
              <a:t> = death rate of species i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80" name="Google Shape;780;p69"/>
          <p:cNvSpPr txBox="1"/>
          <p:nvPr/>
        </p:nvSpPr>
        <p:spPr>
          <a:xfrm>
            <a:off x="4050025" y="466725"/>
            <a:ext cx="5112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What is the minimum value of R needed?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4" name="Shape 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Google Shape;785;p7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R* Theory</a:t>
            </a:r>
            <a:endParaRPr/>
          </a:p>
        </p:txBody>
      </p:sp>
      <p:sp>
        <p:nvSpPr>
          <p:cNvPr id="786" name="Google Shape;786;p70"/>
          <p:cNvSpPr txBox="1"/>
          <p:nvPr/>
        </p:nvSpPr>
        <p:spPr>
          <a:xfrm>
            <a:off x="1614525" y="14669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0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787" name="Google Shape;787;p70"/>
          <p:cNvSpPr txBox="1"/>
          <p:nvPr/>
        </p:nvSpPr>
        <p:spPr>
          <a:xfrm>
            <a:off x="1920525" y="1466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88" name="Google Shape;788;p70"/>
          <p:cNvSpPr txBox="1"/>
          <p:nvPr/>
        </p:nvSpPr>
        <p:spPr>
          <a:xfrm>
            <a:off x="2277225" y="1466950"/>
            <a:ext cx="327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 </a:t>
            </a:r>
            <a:r>
              <a:rPr lang="en" sz="1800">
                <a:solidFill>
                  <a:schemeClr val="dk2"/>
                </a:solidFill>
              </a:rPr>
              <a:t>- d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89" name="Google Shape;789;p70"/>
          <p:cNvSpPr txBox="1"/>
          <p:nvPr/>
        </p:nvSpPr>
        <p:spPr>
          <a:xfrm>
            <a:off x="173350" y="3895725"/>
            <a:ext cx="54864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 = resource availability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r>
              <a:rPr lang="en" sz="1800">
                <a:solidFill>
                  <a:schemeClr val="dk2"/>
                </a:solidFill>
              </a:rPr>
              <a:t> = resource consumption rate of species i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r>
              <a:rPr lang="en" sz="1800">
                <a:solidFill>
                  <a:schemeClr val="dk2"/>
                </a:solidFill>
              </a:rPr>
              <a:t> = death rate of species i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90" name="Google Shape;790;p70"/>
          <p:cNvSpPr txBox="1"/>
          <p:nvPr/>
        </p:nvSpPr>
        <p:spPr>
          <a:xfrm>
            <a:off x="4050025" y="466725"/>
            <a:ext cx="5112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What is the minimum value of R needed?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7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R* Theory</a:t>
            </a:r>
            <a:endParaRPr/>
          </a:p>
        </p:txBody>
      </p:sp>
      <p:sp>
        <p:nvSpPr>
          <p:cNvPr id="796" name="Google Shape;796;p71"/>
          <p:cNvSpPr txBox="1"/>
          <p:nvPr/>
        </p:nvSpPr>
        <p:spPr>
          <a:xfrm>
            <a:off x="1538325" y="13145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2"/>
                </a:solidFill>
              </a:rPr>
              <a:t>d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797" name="Google Shape;797;p71"/>
          <p:cNvSpPr txBox="1"/>
          <p:nvPr/>
        </p:nvSpPr>
        <p:spPr>
          <a:xfrm>
            <a:off x="1920525" y="1466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98" name="Google Shape;798;p71"/>
          <p:cNvSpPr txBox="1"/>
          <p:nvPr/>
        </p:nvSpPr>
        <p:spPr>
          <a:xfrm>
            <a:off x="2277225" y="1466950"/>
            <a:ext cx="327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 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99" name="Google Shape;799;p71"/>
          <p:cNvSpPr txBox="1"/>
          <p:nvPr/>
        </p:nvSpPr>
        <p:spPr>
          <a:xfrm>
            <a:off x="173350" y="3895725"/>
            <a:ext cx="54864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 = resource availability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r>
              <a:rPr lang="en" sz="1800">
                <a:solidFill>
                  <a:schemeClr val="dk2"/>
                </a:solidFill>
              </a:rPr>
              <a:t> = resource consumption rate of species i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r>
              <a:rPr lang="en" sz="1800">
                <a:solidFill>
                  <a:schemeClr val="dk2"/>
                </a:solidFill>
              </a:rPr>
              <a:t> = death rate of species i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00" name="Google Shape;800;p71"/>
          <p:cNvSpPr txBox="1"/>
          <p:nvPr/>
        </p:nvSpPr>
        <p:spPr>
          <a:xfrm>
            <a:off x="4050025" y="466725"/>
            <a:ext cx="5112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What is the minimum value of R needed?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01" name="Google Shape;801;p71"/>
          <p:cNvSpPr txBox="1"/>
          <p:nvPr/>
        </p:nvSpPr>
        <p:spPr>
          <a:xfrm>
            <a:off x="1517325" y="1771750"/>
            <a:ext cx="42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2"/>
                </a:solidFill>
              </a:rPr>
              <a:t>a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endParaRPr/>
          </a:p>
        </p:txBody>
      </p:sp>
      <p:cxnSp>
        <p:nvCxnSpPr>
          <p:cNvPr id="802" name="Google Shape;802;p71"/>
          <p:cNvCxnSpPr/>
          <p:nvPr/>
        </p:nvCxnSpPr>
        <p:spPr>
          <a:xfrm flipH="1" rot="10800000">
            <a:off x="1462125" y="1773400"/>
            <a:ext cx="4923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7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R* Theory</a:t>
            </a:r>
            <a:endParaRPr/>
          </a:p>
        </p:txBody>
      </p:sp>
      <p:sp>
        <p:nvSpPr>
          <p:cNvPr id="808" name="Google Shape;808;p72"/>
          <p:cNvSpPr txBox="1"/>
          <p:nvPr/>
        </p:nvSpPr>
        <p:spPr>
          <a:xfrm>
            <a:off x="1538325" y="13145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809" name="Google Shape;809;p72"/>
          <p:cNvSpPr txBox="1"/>
          <p:nvPr/>
        </p:nvSpPr>
        <p:spPr>
          <a:xfrm>
            <a:off x="929925" y="1466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10" name="Google Shape;810;p72"/>
          <p:cNvSpPr txBox="1"/>
          <p:nvPr/>
        </p:nvSpPr>
        <p:spPr>
          <a:xfrm>
            <a:off x="354325" y="1466950"/>
            <a:ext cx="536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R* 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11" name="Google Shape;811;p72"/>
          <p:cNvSpPr txBox="1"/>
          <p:nvPr/>
        </p:nvSpPr>
        <p:spPr>
          <a:xfrm>
            <a:off x="173350" y="3895725"/>
            <a:ext cx="54864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 = resource availability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r>
              <a:rPr lang="en" sz="1800">
                <a:solidFill>
                  <a:schemeClr val="dk2"/>
                </a:solidFill>
              </a:rPr>
              <a:t> = resource consumption rate of species i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r>
              <a:rPr lang="en" sz="1800">
                <a:solidFill>
                  <a:schemeClr val="dk2"/>
                </a:solidFill>
              </a:rPr>
              <a:t> = death rate of species i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12" name="Google Shape;812;p72"/>
          <p:cNvSpPr txBox="1"/>
          <p:nvPr/>
        </p:nvSpPr>
        <p:spPr>
          <a:xfrm>
            <a:off x="4050025" y="466725"/>
            <a:ext cx="5112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What is the minimum value of R needed?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13" name="Google Shape;813;p72"/>
          <p:cNvSpPr txBox="1"/>
          <p:nvPr/>
        </p:nvSpPr>
        <p:spPr>
          <a:xfrm>
            <a:off x="1517325" y="1771750"/>
            <a:ext cx="42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endParaRPr/>
          </a:p>
        </p:txBody>
      </p:sp>
      <p:cxnSp>
        <p:nvCxnSpPr>
          <p:cNvPr id="814" name="Google Shape;814;p72"/>
          <p:cNvCxnSpPr/>
          <p:nvPr/>
        </p:nvCxnSpPr>
        <p:spPr>
          <a:xfrm flipH="1" rot="10800000">
            <a:off x="1462125" y="1773400"/>
            <a:ext cx="4923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8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p7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R* Theory</a:t>
            </a:r>
            <a:endParaRPr/>
          </a:p>
        </p:txBody>
      </p:sp>
      <p:sp>
        <p:nvSpPr>
          <p:cNvPr id="820" name="Google Shape;820;p73"/>
          <p:cNvSpPr txBox="1"/>
          <p:nvPr/>
        </p:nvSpPr>
        <p:spPr>
          <a:xfrm>
            <a:off x="1538325" y="13145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821" name="Google Shape;821;p73"/>
          <p:cNvSpPr txBox="1"/>
          <p:nvPr/>
        </p:nvSpPr>
        <p:spPr>
          <a:xfrm>
            <a:off x="929925" y="1466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22" name="Google Shape;822;p73"/>
          <p:cNvSpPr txBox="1"/>
          <p:nvPr/>
        </p:nvSpPr>
        <p:spPr>
          <a:xfrm>
            <a:off x="354325" y="1466950"/>
            <a:ext cx="536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R* 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23" name="Google Shape;823;p73"/>
          <p:cNvSpPr txBox="1"/>
          <p:nvPr/>
        </p:nvSpPr>
        <p:spPr>
          <a:xfrm>
            <a:off x="173350" y="3895725"/>
            <a:ext cx="54864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 = resource availability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r>
              <a:rPr lang="en" sz="1800">
                <a:solidFill>
                  <a:schemeClr val="dk2"/>
                </a:solidFill>
              </a:rPr>
              <a:t> = resource consumption rate of species i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r>
              <a:rPr lang="en" sz="1800">
                <a:solidFill>
                  <a:schemeClr val="dk2"/>
                </a:solidFill>
              </a:rPr>
              <a:t> = death rate of species i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24" name="Google Shape;824;p73"/>
          <p:cNvSpPr txBox="1"/>
          <p:nvPr/>
        </p:nvSpPr>
        <p:spPr>
          <a:xfrm>
            <a:off x="1517325" y="1771750"/>
            <a:ext cx="42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endParaRPr/>
          </a:p>
        </p:txBody>
      </p:sp>
      <p:cxnSp>
        <p:nvCxnSpPr>
          <p:cNvPr id="825" name="Google Shape;825;p73"/>
          <p:cNvCxnSpPr/>
          <p:nvPr/>
        </p:nvCxnSpPr>
        <p:spPr>
          <a:xfrm flipH="1" rot="10800000">
            <a:off x="1462125" y="1773400"/>
            <a:ext cx="4923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26" name="Google Shape;826;p73"/>
          <p:cNvSpPr txBox="1"/>
          <p:nvPr/>
        </p:nvSpPr>
        <p:spPr>
          <a:xfrm>
            <a:off x="3507100" y="619125"/>
            <a:ext cx="54864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Minimum resources required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Will determine equilibrium abundance</a:t>
            </a:r>
            <a:endParaRPr sz="1800">
              <a:solidFill>
                <a:schemeClr val="dk2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○"/>
            </a:pPr>
            <a:r>
              <a:rPr lang="en" sz="1800">
                <a:solidFill>
                  <a:schemeClr val="dk2"/>
                </a:solidFill>
              </a:rPr>
              <a:t>Population will increase until it draws resources down to this level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Determined by death rate, consumption rate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0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p7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R* determines who wins in competition</a:t>
            </a:r>
            <a:endParaRPr/>
          </a:p>
        </p:txBody>
      </p:sp>
      <p:sp>
        <p:nvSpPr>
          <p:cNvPr id="832" name="Google Shape;832;p74"/>
          <p:cNvSpPr txBox="1"/>
          <p:nvPr/>
        </p:nvSpPr>
        <p:spPr>
          <a:xfrm>
            <a:off x="1538325" y="13145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833" name="Google Shape;833;p74"/>
          <p:cNvSpPr txBox="1"/>
          <p:nvPr/>
        </p:nvSpPr>
        <p:spPr>
          <a:xfrm>
            <a:off x="929925" y="1466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34" name="Google Shape;834;p74"/>
          <p:cNvSpPr txBox="1"/>
          <p:nvPr/>
        </p:nvSpPr>
        <p:spPr>
          <a:xfrm>
            <a:off x="354325" y="1466950"/>
            <a:ext cx="536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R* 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35" name="Google Shape;835;p74"/>
          <p:cNvSpPr txBox="1"/>
          <p:nvPr/>
        </p:nvSpPr>
        <p:spPr>
          <a:xfrm>
            <a:off x="173350" y="3895725"/>
            <a:ext cx="54864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 = resource availability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r>
              <a:rPr lang="en" sz="1800">
                <a:solidFill>
                  <a:schemeClr val="dk2"/>
                </a:solidFill>
              </a:rPr>
              <a:t> = resource consumption rate of species i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r>
              <a:rPr lang="en" sz="1800">
                <a:solidFill>
                  <a:schemeClr val="dk2"/>
                </a:solidFill>
              </a:rPr>
              <a:t> = death rate of species i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36" name="Google Shape;836;p74"/>
          <p:cNvSpPr txBox="1"/>
          <p:nvPr/>
        </p:nvSpPr>
        <p:spPr>
          <a:xfrm>
            <a:off x="1517325" y="1771750"/>
            <a:ext cx="42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endParaRPr/>
          </a:p>
        </p:txBody>
      </p:sp>
      <p:cxnSp>
        <p:nvCxnSpPr>
          <p:cNvPr id="837" name="Google Shape;837;p74"/>
          <p:cNvCxnSpPr/>
          <p:nvPr/>
        </p:nvCxnSpPr>
        <p:spPr>
          <a:xfrm flipH="1" rot="10800000">
            <a:off x="1462125" y="1773400"/>
            <a:ext cx="4923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38" name="Google Shape;838;p74"/>
          <p:cNvSpPr txBox="1"/>
          <p:nvPr/>
        </p:nvSpPr>
        <p:spPr>
          <a:xfrm>
            <a:off x="3154675" y="1276350"/>
            <a:ext cx="54864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The </a:t>
            </a:r>
            <a:r>
              <a:rPr lang="en" sz="1800">
                <a:solidFill>
                  <a:schemeClr val="dk2"/>
                </a:solidFill>
              </a:rPr>
              <a:t>species</a:t>
            </a:r>
            <a:r>
              <a:rPr lang="en" sz="1800">
                <a:solidFill>
                  <a:schemeClr val="dk2"/>
                </a:solidFill>
              </a:rPr>
              <a:t> with the lowest R* wins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Will draw resource down to a level that excludes all other species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2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7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R* determines who wins in competition</a:t>
            </a:r>
            <a:endParaRPr/>
          </a:p>
        </p:txBody>
      </p:sp>
      <p:sp>
        <p:nvSpPr>
          <p:cNvPr id="844" name="Google Shape;844;p75"/>
          <p:cNvSpPr txBox="1"/>
          <p:nvPr/>
        </p:nvSpPr>
        <p:spPr>
          <a:xfrm>
            <a:off x="1538325" y="13145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845" name="Google Shape;845;p75"/>
          <p:cNvSpPr txBox="1"/>
          <p:nvPr/>
        </p:nvSpPr>
        <p:spPr>
          <a:xfrm>
            <a:off x="929925" y="1466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46" name="Google Shape;846;p75"/>
          <p:cNvSpPr txBox="1"/>
          <p:nvPr/>
        </p:nvSpPr>
        <p:spPr>
          <a:xfrm>
            <a:off x="354325" y="1466950"/>
            <a:ext cx="536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R* 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47" name="Google Shape;847;p75"/>
          <p:cNvSpPr txBox="1"/>
          <p:nvPr/>
        </p:nvSpPr>
        <p:spPr>
          <a:xfrm>
            <a:off x="173350" y="3895725"/>
            <a:ext cx="54864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 = resource availability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r>
              <a:rPr lang="en" sz="1800">
                <a:solidFill>
                  <a:schemeClr val="dk2"/>
                </a:solidFill>
              </a:rPr>
              <a:t> = resource consumption rate of species i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r>
              <a:rPr lang="en" sz="1800">
                <a:solidFill>
                  <a:schemeClr val="dk2"/>
                </a:solidFill>
              </a:rPr>
              <a:t> = death rate of species i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48" name="Google Shape;848;p75"/>
          <p:cNvSpPr txBox="1"/>
          <p:nvPr/>
        </p:nvSpPr>
        <p:spPr>
          <a:xfrm>
            <a:off x="1517325" y="1771750"/>
            <a:ext cx="42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endParaRPr/>
          </a:p>
        </p:txBody>
      </p:sp>
      <p:cxnSp>
        <p:nvCxnSpPr>
          <p:cNvPr id="849" name="Google Shape;849;p75"/>
          <p:cNvCxnSpPr/>
          <p:nvPr/>
        </p:nvCxnSpPr>
        <p:spPr>
          <a:xfrm flipH="1" rot="10800000">
            <a:off x="1462125" y="1773400"/>
            <a:ext cx="4923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50" name="Google Shape;850;p75"/>
          <p:cNvSpPr txBox="1"/>
          <p:nvPr/>
        </p:nvSpPr>
        <p:spPr>
          <a:xfrm>
            <a:off x="3154675" y="1276350"/>
            <a:ext cx="54864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The species with the lowest R* wins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Will draw resource down to a level that excludes all other species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Note this is only true for species limited by a single resource under constant conditions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But is still useful generally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4" name="Shape 8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Google Shape;855;p7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Competition for multiple resources</a:t>
            </a:r>
            <a:endParaRPr/>
          </a:p>
        </p:txBody>
      </p:sp>
      <p:sp>
        <p:nvSpPr>
          <p:cNvPr id="856" name="Google Shape;856;p7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Gets a lot trickier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Resources can be essential vs </a:t>
            </a:r>
            <a:r>
              <a:rPr lang="en"/>
              <a:t>substitutable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0" name="Shape 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Google Shape;861;p7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Competition for multiple resources</a:t>
            </a:r>
            <a:endParaRPr/>
          </a:p>
        </p:txBody>
      </p:sp>
      <p:sp>
        <p:nvSpPr>
          <p:cNvPr id="862" name="Google Shape;862;p7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order to stably coexist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Species need to differ in resource usage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Species need to have a larger impact on the resources that are most limiting for them</a:t>
            </a:r>
            <a:endParaRPr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6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7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Competition for multiple resources</a:t>
            </a:r>
            <a:endParaRPr/>
          </a:p>
        </p:txBody>
      </p:sp>
      <p:sp>
        <p:nvSpPr>
          <p:cNvPr id="868" name="Google Shape;868;p7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order to stably coexist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Species need to differ in resource usage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Species need to have a larger impact on the resources that are most limiting for them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These conditions lead to</a:t>
            </a:r>
            <a:r>
              <a:rPr b="1" lang="en"/>
              <a:t> species limiting themselves more than they limit their competitors (</a:t>
            </a:r>
            <a:r>
              <a:rPr lang="en"/>
              <a:t>α</a:t>
            </a:r>
            <a:r>
              <a:rPr baseline="-25000" lang="en"/>
              <a:t>ii </a:t>
            </a:r>
            <a:r>
              <a:rPr lang="en"/>
              <a:t>&gt; α</a:t>
            </a:r>
            <a:r>
              <a:rPr baseline="-25000" lang="en"/>
              <a:t>ji</a:t>
            </a:r>
            <a:r>
              <a:rPr b="1" lang="en"/>
              <a:t>)</a:t>
            </a:r>
            <a:endParaRPr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2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p7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Competition for multiple resources</a:t>
            </a:r>
            <a:endParaRPr/>
          </a:p>
        </p:txBody>
      </p:sp>
      <p:sp>
        <p:nvSpPr>
          <p:cNvPr id="874" name="Google Shape;874;p7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order to stably coexist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Species need to differ in resource usage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Species need to have a larger impact on the resources that are most limiting for them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These conditions lead to</a:t>
            </a:r>
            <a:r>
              <a:rPr b="1" lang="en"/>
              <a:t> species limiting themselves more than they limit their competitors (</a:t>
            </a:r>
            <a:r>
              <a:rPr lang="en"/>
              <a:t>α</a:t>
            </a:r>
            <a:r>
              <a:rPr baseline="-25000" lang="en"/>
              <a:t>ii </a:t>
            </a:r>
            <a:r>
              <a:rPr lang="en"/>
              <a:t>&gt; α</a:t>
            </a:r>
            <a:r>
              <a:rPr baseline="-25000" lang="en"/>
              <a:t>ji</a:t>
            </a:r>
            <a:r>
              <a:rPr b="1" lang="en"/>
              <a:t>)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When coexistence is purely driven by resource differences, the number of species that can be supported is equal to the number of different resources</a:t>
            </a:r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8" name="Shape 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Google Shape;879;p8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Apparent Competition</a:t>
            </a:r>
            <a:endParaRPr/>
          </a:p>
        </p:txBody>
      </p:sp>
      <p:sp>
        <p:nvSpPr>
          <p:cNvPr id="880" name="Google Shape;880;p80"/>
          <p:cNvSpPr/>
          <p:nvPr/>
        </p:nvSpPr>
        <p:spPr>
          <a:xfrm>
            <a:off x="1306825" y="3695700"/>
            <a:ext cx="1781100" cy="733500"/>
          </a:xfrm>
          <a:prstGeom prst="roundRect">
            <a:avLst>
              <a:gd fmla="val 16667" name="adj"/>
            </a:avLst>
          </a:prstGeom>
          <a:solidFill>
            <a:srgbClr val="C27BA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Species A</a:t>
            </a:r>
            <a:endParaRPr/>
          </a:p>
        </p:txBody>
      </p:sp>
      <p:sp>
        <p:nvSpPr>
          <p:cNvPr id="881" name="Google Shape;881;p80"/>
          <p:cNvSpPr/>
          <p:nvPr/>
        </p:nvSpPr>
        <p:spPr>
          <a:xfrm>
            <a:off x="5421625" y="3695700"/>
            <a:ext cx="1781100" cy="733500"/>
          </a:xfrm>
          <a:prstGeom prst="roundRect">
            <a:avLst>
              <a:gd fmla="val 16667" name="adj"/>
            </a:avLst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Species B</a:t>
            </a:r>
            <a:endParaRPr/>
          </a:p>
        </p:txBody>
      </p:sp>
      <p:cxnSp>
        <p:nvCxnSpPr>
          <p:cNvPr id="882" name="Google Shape;882;p80"/>
          <p:cNvCxnSpPr/>
          <p:nvPr/>
        </p:nvCxnSpPr>
        <p:spPr>
          <a:xfrm flipH="1">
            <a:off x="3345325" y="3781425"/>
            <a:ext cx="1923900" cy="285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83" name="Google Shape;883;p80"/>
          <p:cNvCxnSpPr/>
          <p:nvPr/>
        </p:nvCxnSpPr>
        <p:spPr>
          <a:xfrm flipH="1" rot="10800000">
            <a:off x="3392800" y="4209900"/>
            <a:ext cx="1790700" cy="192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7" name="Shape 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p8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Apparent Competition</a:t>
            </a:r>
            <a:endParaRPr/>
          </a:p>
        </p:txBody>
      </p:sp>
      <p:sp>
        <p:nvSpPr>
          <p:cNvPr id="889" name="Google Shape;889;p81"/>
          <p:cNvSpPr/>
          <p:nvPr/>
        </p:nvSpPr>
        <p:spPr>
          <a:xfrm>
            <a:off x="1306825" y="3695700"/>
            <a:ext cx="1781100" cy="733500"/>
          </a:xfrm>
          <a:prstGeom prst="roundRect">
            <a:avLst>
              <a:gd fmla="val 16667" name="adj"/>
            </a:avLst>
          </a:prstGeom>
          <a:solidFill>
            <a:srgbClr val="C27BA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Species A</a:t>
            </a:r>
            <a:endParaRPr/>
          </a:p>
        </p:txBody>
      </p:sp>
      <p:sp>
        <p:nvSpPr>
          <p:cNvPr id="890" name="Google Shape;890;p81"/>
          <p:cNvSpPr/>
          <p:nvPr/>
        </p:nvSpPr>
        <p:spPr>
          <a:xfrm>
            <a:off x="5421625" y="3695700"/>
            <a:ext cx="1781100" cy="733500"/>
          </a:xfrm>
          <a:prstGeom prst="roundRect">
            <a:avLst>
              <a:gd fmla="val 16667" name="adj"/>
            </a:avLst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Species B</a:t>
            </a:r>
            <a:endParaRPr/>
          </a:p>
        </p:txBody>
      </p:sp>
      <p:cxnSp>
        <p:nvCxnSpPr>
          <p:cNvPr id="891" name="Google Shape;891;p81"/>
          <p:cNvCxnSpPr>
            <a:stCxn id="892" idx="2"/>
          </p:cNvCxnSpPr>
          <p:nvPr/>
        </p:nvCxnSpPr>
        <p:spPr>
          <a:xfrm flipH="1">
            <a:off x="1849600" y="1800300"/>
            <a:ext cx="1876500" cy="18669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93" name="Google Shape;893;p81"/>
          <p:cNvCxnSpPr>
            <a:endCxn id="892" idx="3"/>
          </p:cNvCxnSpPr>
          <p:nvPr/>
        </p:nvCxnSpPr>
        <p:spPr>
          <a:xfrm flipH="1" rot="10800000">
            <a:off x="2506972" y="2265081"/>
            <a:ext cx="1421400" cy="14019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92" name="Google Shape;892;p81"/>
          <p:cNvSpPr/>
          <p:nvPr/>
        </p:nvSpPr>
        <p:spPr>
          <a:xfrm>
            <a:off x="3726100" y="1143000"/>
            <a:ext cx="1381200" cy="1314600"/>
          </a:xfrm>
          <a:prstGeom prst="ellipse">
            <a:avLst/>
          </a:prstGeom>
          <a:solidFill>
            <a:srgbClr val="A61C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PredatorD</a:t>
            </a:r>
            <a:endParaRPr>
              <a:solidFill>
                <a:schemeClr val="lt1"/>
              </a:solidFill>
            </a:endParaRPr>
          </a:p>
        </p:txBody>
      </p:sp>
      <p:cxnSp>
        <p:nvCxnSpPr>
          <p:cNvPr id="894" name="Google Shape;894;p81"/>
          <p:cNvCxnSpPr>
            <a:stCxn id="892" idx="5"/>
          </p:cNvCxnSpPr>
          <p:nvPr/>
        </p:nvCxnSpPr>
        <p:spPr>
          <a:xfrm>
            <a:off x="4905028" y="2265081"/>
            <a:ext cx="926100" cy="14307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95" name="Google Shape;895;p81"/>
          <p:cNvCxnSpPr>
            <a:endCxn id="892" idx="6"/>
          </p:cNvCxnSpPr>
          <p:nvPr/>
        </p:nvCxnSpPr>
        <p:spPr>
          <a:xfrm rot="10800000">
            <a:off x="5107300" y="1800300"/>
            <a:ext cx="1724100" cy="18954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9" name="Shape 8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Google Shape;900;p8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Apparent Competition</a:t>
            </a:r>
            <a:endParaRPr/>
          </a:p>
        </p:txBody>
      </p:sp>
      <p:sp>
        <p:nvSpPr>
          <p:cNvPr id="901" name="Google Shape;901;p82"/>
          <p:cNvSpPr/>
          <p:nvPr/>
        </p:nvSpPr>
        <p:spPr>
          <a:xfrm>
            <a:off x="1306825" y="3695700"/>
            <a:ext cx="1781100" cy="733500"/>
          </a:xfrm>
          <a:prstGeom prst="roundRect">
            <a:avLst>
              <a:gd fmla="val 16667" name="adj"/>
            </a:avLst>
          </a:prstGeom>
          <a:solidFill>
            <a:srgbClr val="C27BA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Species A</a:t>
            </a:r>
            <a:endParaRPr/>
          </a:p>
        </p:txBody>
      </p:sp>
      <p:sp>
        <p:nvSpPr>
          <p:cNvPr id="902" name="Google Shape;902;p82"/>
          <p:cNvSpPr/>
          <p:nvPr/>
        </p:nvSpPr>
        <p:spPr>
          <a:xfrm>
            <a:off x="5421625" y="3695700"/>
            <a:ext cx="1781100" cy="733500"/>
          </a:xfrm>
          <a:prstGeom prst="roundRect">
            <a:avLst>
              <a:gd fmla="val 16667" name="adj"/>
            </a:avLst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Species B</a:t>
            </a:r>
            <a:endParaRPr/>
          </a:p>
        </p:txBody>
      </p:sp>
      <p:cxnSp>
        <p:nvCxnSpPr>
          <p:cNvPr id="903" name="Google Shape;903;p82"/>
          <p:cNvCxnSpPr>
            <a:stCxn id="904" idx="2"/>
          </p:cNvCxnSpPr>
          <p:nvPr/>
        </p:nvCxnSpPr>
        <p:spPr>
          <a:xfrm flipH="1">
            <a:off x="1849600" y="1800300"/>
            <a:ext cx="1876500" cy="186690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05" name="Google Shape;905;p82"/>
          <p:cNvCxnSpPr>
            <a:endCxn id="904" idx="3"/>
          </p:cNvCxnSpPr>
          <p:nvPr/>
        </p:nvCxnSpPr>
        <p:spPr>
          <a:xfrm flipH="1" rot="10800000">
            <a:off x="2506972" y="2265081"/>
            <a:ext cx="1421400" cy="140190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04" name="Google Shape;904;p82"/>
          <p:cNvSpPr/>
          <p:nvPr/>
        </p:nvSpPr>
        <p:spPr>
          <a:xfrm>
            <a:off x="3726100" y="1143000"/>
            <a:ext cx="1381200" cy="1314600"/>
          </a:xfrm>
          <a:prstGeom prst="ellipse">
            <a:avLst/>
          </a:prstGeom>
          <a:solidFill>
            <a:srgbClr val="A61C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PredatorD</a:t>
            </a:r>
            <a:endParaRPr>
              <a:solidFill>
                <a:schemeClr val="lt1"/>
              </a:solidFill>
            </a:endParaRPr>
          </a:p>
        </p:txBody>
      </p:sp>
      <p:cxnSp>
        <p:nvCxnSpPr>
          <p:cNvPr id="906" name="Google Shape;906;p82"/>
          <p:cNvCxnSpPr>
            <a:stCxn id="904" idx="5"/>
          </p:cNvCxnSpPr>
          <p:nvPr/>
        </p:nvCxnSpPr>
        <p:spPr>
          <a:xfrm>
            <a:off x="4905028" y="2265081"/>
            <a:ext cx="926100" cy="14307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07" name="Google Shape;907;p82"/>
          <p:cNvCxnSpPr>
            <a:endCxn id="904" idx="6"/>
          </p:cNvCxnSpPr>
          <p:nvPr/>
        </p:nvCxnSpPr>
        <p:spPr>
          <a:xfrm rot="10800000">
            <a:off x="5107300" y="1800300"/>
            <a:ext cx="1724100" cy="18954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08" name="Google Shape;908;p82"/>
          <p:cNvSpPr txBox="1"/>
          <p:nvPr/>
        </p:nvSpPr>
        <p:spPr>
          <a:xfrm>
            <a:off x="1021075" y="1895475"/>
            <a:ext cx="1485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0000"/>
                </a:solidFill>
              </a:rPr>
              <a:t>Intraspecific</a:t>
            </a:r>
            <a:endParaRPr sz="18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8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Apparent Competition</a:t>
            </a:r>
            <a:endParaRPr/>
          </a:p>
        </p:txBody>
      </p:sp>
      <p:sp>
        <p:nvSpPr>
          <p:cNvPr id="914" name="Google Shape;914;p83"/>
          <p:cNvSpPr/>
          <p:nvPr/>
        </p:nvSpPr>
        <p:spPr>
          <a:xfrm>
            <a:off x="1306825" y="3695700"/>
            <a:ext cx="1781100" cy="733500"/>
          </a:xfrm>
          <a:prstGeom prst="roundRect">
            <a:avLst>
              <a:gd fmla="val 16667" name="adj"/>
            </a:avLst>
          </a:prstGeom>
          <a:solidFill>
            <a:srgbClr val="C27BA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Species A</a:t>
            </a:r>
            <a:endParaRPr/>
          </a:p>
        </p:txBody>
      </p:sp>
      <p:sp>
        <p:nvSpPr>
          <p:cNvPr id="915" name="Google Shape;915;p83"/>
          <p:cNvSpPr/>
          <p:nvPr/>
        </p:nvSpPr>
        <p:spPr>
          <a:xfrm>
            <a:off x="5421625" y="3695700"/>
            <a:ext cx="1781100" cy="733500"/>
          </a:xfrm>
          <a:prstGeom prst="roundRect">
            <a:avLst>
              <a:gd fmla="val 16667" name="adj"/>
            </a:avLst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Species B</a:t>
            </a:r>
            <a:endParaRPr/>
          </a:p>
        </p:txBody>
      </p:sp>
      <p:cxnSp>
        <p:nvCxnSpPr>
          <p:cNvPr id="916" name="Google Shape;916;p83"/>
          <p:cNvCxnSpPr>
            <a:stCxn id="917" idx="2"/>
          </p:cNvCxnSpPr>
          <p:nvPr/>
        </p:nvCxnSpPr>
        <p:spPr>
          <a:xfrm flipH="1">
            <a:off x="1849600" y="1800300"/>
            <a:ext cx="1876500" cy="18669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18" name="Google Shape;918;p83"/>
          <p:cNvCxnSpPr>
            <a:endCxn id="917" idx="3"/>
          </p:cNvCxnSpPr>
          <p:nvPr/>
        </p:nvCxnSpPr>
        <p:spPr>
          <a:xfrm flipH="1" rot="10800000">
            <a:off x="2506972" y="2265081"/>
            <a:ext cx="1421400" cy="1401900"/>
          </a:xfrm>
          <a:prstGeom prst="straightConnector1">
            <a:avLst/>
          </a:prstGeom>
          <a:noFill/>
          <a:ln cap="flat" cmpd="sng" w="2857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17" name="Google Shape;917;p83"/>
          <p:cNvSpPr/>
          <p:nvPr/>
        </p:nvSpPr>
        <p:spPr>
          <a:xfrm>
            <a:off x="3726100" y="1143000"/>
            <a:ext cx="1381200" cy="1314600"/>
          </a:xfrm>
          <a:prstGeom prst="ellipse">
            <a:avLst/>
          </a:prstGeom>
          <a:solidFill>
            <a:srgbClr val="A61C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PredatorD</a:t>
            </a:r>
            <a:endParaRPr>
              <a:solidFill>
                <a:schemeClr val="lt1"/>
              </a:solidFill>
            </a:endParaRPr>
          </a:p>
        </p:txBody>
      </p:sp>
      <p:cxnSp>
        <p:nvCxnSpPr>
          <p:cNvPr id="919" name="Google Shape;919;p83"/>
          <p:cNvCxnSpPr>
            <a:stCxn id="917" idx="5"/>
          </p:cNvCxnSpPr>
          <p:nvPr/>
        </p:nvCxnSpPr>
        <p:spPr>
          <a:xfrm>
            <a:off x="4905028" y="2265081"/>
            <a:ext cx="926100" cy="1430700"/>
          </a:xfrm>
          <a:prstGeom prst="straightConnector1">
            <a:avLst/>
          </a:prstGeom>
          <a:noFill/>
          <a:ln cap="flat" cmpd="sng" w="2857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20" name="Google Shape;920;p83"/>
          <p:cNvCxnSpPr>
            <a:endCxn id="917" idx="6"/>
          </p:cNvCxnSpPr>
          <p:nvPr/>
        </p:nvCxnSpPr>
        <p:spPr>
          <a:xfrm rot="10800000">
            <a:off x="5107300" y="1800300"/>
            <a:ext cx="1724100" cy="18954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21" name="Google Shape;921;p83"/>
          <p:cNvSpPr txBox="1"/>
          <p:nvPr/>
        </p:nvSpPr>
        <p:spPr>
          <a:xfrm>
            <a:off x="3611875" y="3114675"/>
            <a:ext cx="1485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0000FF"/>
                </a:solidFill>
              </a:rPr>
              <a:t>Interspecific</a:t>
            </a:r>
            <a:endParaRPr sz="1800">
              <a:solidFill>
                <a:srgbClr val="0000FF"/>
              </a:solidFill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5" name="Shape 9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6" name="Google Shape;926;p8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Competition</a:t>
            </a:r>
            <a:endParaRPr/>
          </a:p>
        </p:txBody>
      </p:sp>
      <p:sp>
        <p:nvSpPr>
          <p:cNvPr id="927" name="Google Shape;927;p84"/>
          <p:cNvSpPr/>
          <p:nvPr/>
        </p:nvSpPr>
        <p:spPr>
          <a:xfrm>
            <a:off x="3364300" y="2205000"/>
            <a:ext cx="1781100" cy="733500"/>
          </a:xfrm>
          <a:prstGeom prst="roundRect">
            <a:avLst>
              <a:gd fmla="val 16667" name="adj"/>
            </a:avLst>
          </a:prstGeom>
          <a:solidFill>
            <a:srgbClr val="C27BA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Species A</a:t>
            </a:r>
            <a:endParaRPr/>
          </a:p>
        </p:txBody>
      </p:sp>
      <p:sp>
        <p:nvSpPr>
          <p:cNvPr id="928" name="Google Shape;928;p84"/>
          <p:cNvSpPr/>
          <p:nvPr/>
        </p:nvSpPr>
        <p:spPr>
          <a:xfrm>
            <a:off x="7231375" y="2205000"/>
            <a:ext cx="1781100" cy="733500"/>
          </a:xfrm>
          <a:prstGeom prst="roundRect">
            <a:avLst>
              <a:gd fmla="val 16667" name="adj"/>
            </a:avLst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Species B</a:t>
            </a:r>
            <a:endParaRPr/>
          </a:p>
        </p:txBody>
      </p:sp>
      <p:cxnSp>
        <p:nvCxnSpPr>
          <p:cNvPr id="929" name="Google Shape;929;p84"/>
          <p:cNvCxnSpPr>
            <a:stCxn id="930" idx="2"/>
            <a:endCxn id="927" idx="0"/>
          </p:cNvCxnSpPr>
          <p:nvPr/>
        </p:nvCxnSpPr>
        <p:spPr>
          <a:xfrm flipH="1">
            <a:off x="4254900" y="790650"/>
            <a:ext cx="1155300" cy="14145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31" name="Google Shape;931;p84"/>
          <p:cNvCxnSpPr>
            <a:stCxn id="927" idx="0"/>
          </p:cNvCxnSpPr>
          <p:nvPr/>
        </p:nvCxnSpPr>
        <p:spPr>
          <a:xfrm flipH="1" rot="10800000">
            <a:off x="4254850" y="1255500"/>
            <a:ext cx="1386300" cy="9495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30" name="Google Shape;930;p84"/>
          <p:cNvSpPr/>
          <p:nvPr/>
        </p:nvSpPr>
        <p:spPr>
          <a:xfrm>
            <a:off x="5410200" y="133350"/>
            <a:ext cx="1381200" cy="1314600"/>
          </a:xfrm>
          <a:prstGeom prst="ellipse">
            <a:avLst/>
          </a:prstGeom>
          <a:solidFill>
            <a:srgbClr val="A61C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PredatorD</a:t>
            </a:r>
            <a:endParaRPr>
              <a:solidFill>
                <a:schemeClr val="lt1"/>
              </a:solidFill>
            </a:endParaRPr>
          </a:p>
        </p:txBody>
      </p:sp>
      <p:cxnSp>
        <p:nvCxnSpPr>
          <p:cNvPr id="932" name="Google Shape;932;p84"/>
          <p:cNvCxnSpPr>
            <a:stCxn id="930" idx="5"/>
            <a:endCxn id="928" idx="0"/>
          </p:cNvCxnSpPr>
          <p:nvPr/>
        </p:nvCxnSpPr>
        <p:spPr>
          <a:xfrm>
            <a:off x="6589128" y="1255431"/>
            <a:ext cx="1532700" cy="9495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33" name="Google Shape;933;p84"/>
          <p:cNvCxnSpPr>
            <a:stCxn id="928" idx="0"/>
            <a:endCxn id="930" idx="6"/>
          </p:cNvCxnSpPr>
          <p:nvPr/>
        </p:nvCxnSpPr>
        <p:spPr>
          <a:xfrm rot="10800000">
            <a:off x="6791425" y="790800"/>
            <a:ext cx="1330500" cy="14142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34" name="Google Shape;934;p84"/>
          <p:cNvSpPr/>
          <p:nvPr/>
        </p:nvSpPr>
        <p:spPr>
          <a:xfrm>
            <a:off x="5478700" y="3733800"/>
            <a:ext cx="1381200" cy="1314600"/>
          </a:xfrm>
          <a:prstGeom prst="ellipse">
            <a:avLst/>
          </a:prstGeom>
          <a:solidFill>
            <a:srgbClr val="6AA84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 C</a:t>
            </a:r>
            <a:endParaRPr/>
          </a:p>
        </p:txBody>
      </p:sp>
      <p:cxnSp>
        <p:nvCxnSpPr>
          <p:cNvPr id="935" name="Google Shape;935;p84"/>
          <p:cNvCxnSpPr>
            <a:stCxn id="927" idx="2"/>
            <a:endCxn id="934" idx="1"/>
          </p:cNvCxnSpPr>
          <p:nvPr/>
        </p:nvCxnSpPr>
        <p:spPr>
          <a:xfrm>
            <a:off x="4254850" y="2938500"/>
            <a:ext cx="1426200" cy="9879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36" name="Google Shape;936;p84"/>
          <p:cNvCxnSpPr>
            <a:stCxn id="934" idx="7"/>
            <a:endCxn id="928" idx="2"/>
          </p:cNvCxnSpPr>
          <p:nvPr/>
        </p:nvCxnSpPr>
        <p:spPr>
          <a:xfrm flipH="1" rot="10800000">
            <a:off x="6657628" y="2938419"/>
            <a:ext cx="1464300" cy="9879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37" name="Google Shape;937;p84"/>
          <p:cNvCxnSpPr>
            <a:stCxn id="934" idx="2"/>
            <a:endCxn id="927" idx="2"/>
          </p:cNvCxnSpPr>
          <p:nvPr/>
        </p:nvCxnSpPr>
        <p:spPr>
          <a:xfrm rot="10800000">
            <a:off x="4254700" y="2938500"/>
            <a:ext cx="1224000" cy="14526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38" name="Google Shape;938;p84"/>
          <p:cNvCxnSpPr>
            <a:stCxn id="928" idx="2"/>
            <a:endCxn id="934" idx="6"/>
          </p:cNvCxnSpPr>
          <p:nvPr/>
        </p:nvCxnSpPr>
        <p:spPr>
          <a:xfrm flipH="1">
            <a:off x="6859825" y="2938500"/>
            <a:ext cx="1262100" cy="14526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939" name="Google Shape;939;p84"/>
          <p:cNvPicPr preferRelativeResize="0"/>
          <p:nvPr/>
        </p:nvPicPr>
        <p:blipFill rotWithShape="1">
          <a:blip r:embed="rId3">
            <a:alphaModFix/>
          </a:blip>
          <a:srcRect b="56034" l="34456" r="16199" t="16791"/>
          <a:stretch/>
        </p:blipFill>
        <p:spPr>
          <a:xfrm>
            <a:off x="78100" y="4060500"/>
            <a:ext cx="3188971" cy="9879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3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p8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Competition</a:t>
            </a:r>
            <a:endParaRPr/>
          </a:p>
        </p:txBody>
      </p:sp>
      <p:sp>
        <p:nvSpPr>
          <p:cNvPr id="945" name="Google Shape;945;p85"/>
          <p:cNvSpPr/>
          <p:nvPr/>
        </p:nvSpPr>
        <p:spPr>
          <a:xfrm>
            <a:off x="3364300" y="2205000"/>
            <a:ext cx="1781100" cy="733500"/>
          </a:xfrm>
          <a:prstGeom prst="roundRect">
            <a:avLst>
              <a:gd fmla="val 16667" name="adj"/>
            </a:avLst>
          </a:prstGeom>
          <a:solidFill>
            <a:srgbClr val="C27BA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Species A</a:t>
            </a:r>
            <a:endParaRPr/>
          </a:p>
        </p:txBody>
      </p:sp>
      <p:sp>
        <p:nvSpPr>
          <p:cNvPr id="946" name="Google Shape;946;p85"/>
          <p:cNvSpPr/>
          <p:nvPr/>
        </p:nvSpPr>
        <p:spPr>
          <a:xfrm>
            <a:off x="7231375" y="2205000"/>
            <a:ext cx="1781100" cy="733500"/>
          </a:xfrm>
          <a:prstGeom prst="roundRect">
            <a:avLst>
              <a:gd fmla="val 16667" name="adj"/>
            </a:avLst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Species B</a:t>
            </a:r>
            <a:endParaRPr/>
          </a:p>
        </p:txBody>
      </p:sp>
      <p:cxnSp>
        <p:nvCxnSpPr>
          <p:cNvPr id="947" name="Google Shape;947;p85"/>
          <p:cNvCxnSpPr>
            <a:stCxn id="948" idx="2"/>
            <a:endCxn id="945" idx="0"/>
          </p:cNvCxnSpPr>
          <p:nvPr/>
        </p:nvCxnSpPr>
        <p:spPr>
          <a:xfrm flipH="1">
            <a:off x="4254900" y="790650"/>
            <a:ext cx="1155300" cy="14145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49" name="Google Shape;949;p85"/>
          <p:cNvCxnSpPr>
            <a:stCxn id="945" idx="0"/>
          </p:cNvCxnSpPr>
          <p:nvPr/>
        </p:nvCxnSpPr>
        <p:spPr>
          <a:xfrm flipH="1" rot="10800000">
            <a:off x="4254850" y="1255500"/>
            <a:ext cx="1386300" cy="9495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48" name="Google Shape;948;p85"/>
          <p:cNvSpPr/>
          <p:nvPr/>
        </p:nvSpPr>
        <p:spPr>
          <a:xfrm>
            <a:off x="5410200" y="133350"/>
            <a:ext cx="1381200" cy="1314600"/>
          </a:xfrm>
          <a:prstGeom prst="ellipse">
            <a:avLst/>
          </a:prstGeom>
          <a:solidFill>
            <a:srgbClr val="A61C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PredatorD</a:t>
            </a:r>
            <a:endParaRPr>
              <a:solidFill>
                <a:schemeClr val="lt1"/>
              </a:solidFill>
            </a:endParaRPr>
          </a:p>
        </p:txBody>
      </p:sp>
      <p:cxnSp>
        <p:nvCxnSpPr>
          <p:cNvPr id="950" name="Google Shape;950;p85"/>
          <p:cNvCxnSpPr>
            <a:stCxn id="948" idx="5"/>
            <a:endCxn id="946" idx="0"/>
          </p:cNvCxnSpPr>
          <p:nvPr/>
        </p:nvCxnSpPr>
        <p:spPr>
          <a:xfrm>
            <a:off x="6589128" y="1255431"/>
            <a:ext cx="1532700" cy="9495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51" name="Google Shape;951;p85"/>
          <p:cNvCxnSpPr>
            <a:stCxn id="946" idx="0"/>
            <a:endCxn id="948" idx="6"/>
          </p:cNvCxnSpPr>
          <p:nvPr/>
        </p:nvCxnSpPr>
        <p:spPr>
          <a:xfrm rot="10800000">
            <a:off x="6791425" y="790800"/>
            <a:ext cx="1330500" cy="14142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52" name="Google Shape;952;p85"/>
          <p:cNvSpPr/>
          <p:nvPr/>
        </p:nvSpPr>
        <p:spPr>
          <a:xfrm>
            <a:off x="5478700" y="3733800"/>
            <a:ext cx="1381200" cy="1314600"/>
          </a:xfrm>
          <a:prstGeom prst="ellipse">
            <a:avLst/>
          </a:prstGeom>
          <a:solidFill>
            <a:srgbClr val="6AA84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 C</a:t>
            </a:r>
            <a:endParaRPr/>
          </a:p>
        </p:txBody>
      </p:sp>
      <p:cxnSp>
        <p:nvCxnSpPr>
          <p:cNvPr id="953" name="Google Shape;953;p85"/>
          <p:cNvCxnSpPr>
            <a:stCxn id="945" idx="2"/>
            <a:endCxn id="952" idx="1"/>
          </p:cNvCxnSpPr>
          <p:nvPr/>
        </p:nvCxnSpPr>
        <p:spPr>
          <a:xfrm>
            <a:off x="4254850" y="2938500"/>
            <a:ext cx="1426200" cy="9879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54" name="Google Shape;954;p85"/>
          <p:cNvCxnSpPr>
            <a:stCxn id="952" idx="7"/>
            <a:endCxn id="946" idx="2"/>
          </p:cNvCxnSpPr>
          <p:nvPr/>
        </p:nvCxnSpPr>
        <p:spPr>
          <a:xfrm flipH="1" rot="10800000">
            <a:off x="6657628" y="2938419"/>
            <a:ext cx="1464300" cy="9879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55" name="Google Shape;955;p85"/>
          <p:cNvCxnSpPr>
            <a:stCxn id="952" idx="2"/>
            <a:endCxn id="945" idx="2"/>
          </p:cNvCxnSpPr>
          <p:nvPr/>
        </p:nvCxnSpPr>
        <p:spPr>
          <a:xfrm rot="10800000">
            <a:off x="4254700" y="2938500"/>
            <a:ext cx="1224000" cy="14526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56" name="Google Shape;956;p85"/>
          <p:cNvCxnSpPr>
            <a:stCxn id="946" idx="2"/>
            <a:endCxn id="952" idx="6"/>
          </p:cNvCxnSpPr>
          <p:nvPr/>
        </p:nvCxnSpPr>
        <p:spPr>
          <a:xfrm flipH="1">
            <a:off x="6859825" y="2938500"/>
            <a:ext cx="1262100" cy="14526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957" name="Google Shape;957;p85"/>
          <p:cNvPicPr preferRelativeResize="0"/>
          <p:nvPr/>
        </p:nvPicPr>
        <p:blipFill rotWithShape="1">
          <a:blip r:embed="rId3">
            <a:alphaModFix/>
          </a:blip>
          <a:srcRect b="56034" l="34456" r="16199" t="16791"/>
          <a:stretch/>
        </p:blipFill>
        <p:spPr>
          <a:xfrm>
            <a:off x="78100" y="4060500"/>
            <a:ext cx="3188971" cy="9879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958" name="Google Shape;958;p85"/>
          <p:cNvSpPr txBox="1"/>
          <p:nvPr/>
        </p:nvSpPr>
        <p:spPr>
          <a:xfrm>
            <a:off x="163675" y="1128450"/>
            <a:ext cx="29409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Competition and Predation are </a:t>
            </a:r>
            <a:r>
              <a:rPr lang="en" sz="1800">
                <a:solidFill>
                  <a:schemeClr val="dk2"/>
                </a:solidFill>
              </a:rPr>
              <a:t>symmetrical!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Promote coexistence in the same ways!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2 species can coexist with 2 predators, 2 resources,  1 predator and 1 resource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2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8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P* determines who wins in apparent competition</a:t>
            </a:r>
            <a:endParaRPr/>
          </a:p>
        </p:txBody>
      </p:sp>
      <p:sp>
        <p:nvSpPr>
          <p:cNvPr id="964" name="Google Shape;964;p86"/>
          <p:cNvSpPr txBox="1"/>
          <p:nvPr/>
        </p:nvSpPr>
        <p:spPr>
          <a:xfrm>
            <a:off x="1538325" y="1314550"/>
            <a:ext cx="76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965" name="Google Shape;965;p86"/>
          <p:cNvSpPr txBox="1"/>
          <p:nvPr/>
        </p:nvSpPr>
        <p:spPr>
          <a:xfrm>
            <a:off x="929925" y="1466950"/>
            <a:ext cx="3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=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966" name="Google Shape;966;p86"/>
          <p:cNvSpPr txBox="1"/>
          <p:nvPr/>
        </p:nvSpPr>
        <p:spPr>
          <a:xfrm>
            <a:off x="354325" y="1466950"/>
            <a:ext cx="536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P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r>
              <a:rPr lang="en" sz="1800">
                <a:solidFill>
                  <a:schemeClr val="dk2"/>
                </a:solidFill>
              </a:rPr>
              <a:t>* 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967" name="Google Shape;967;p86"/>
          <p:cNvSpPr txBox="1"/>
          <p:nvPr/>
        </p:nvSpPr>
        <p:spPr>
          <a:xfrm>
            <a:off x="173350" y="3895725"/>
            <a:ext cx="5486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P*</a:t>
            </a:r>
            <a:r>
              <a:rPr lang="en" sz="1800">
                <a:solidFill>
                  <a:schemeClr val="dk2"/>
                </a:solidFill>
              </a:rPr>
              <a:t> = equilibrial predator density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r>
              <a:rPr lang="en" sz="1800">
                <a:solidFill>
                  <a:schemeClr val="dk2"/>
                </a:solidFill>
              </a:rPr>
              <a:t> = intrinsic growth rate of </a:t>
            </a:r>
            <a:r>
              <a:rPr lang="en" sz="1800">
                <a:solidFill>
                  <a:schemeClr val="dk2"/>
                </a:solidFill>
              </a:rPr>
              <a:t>species</a:t>
            </a:r>
            <a:r>
              <a:rPr lang="en" sz="1800">
                <a:solidFill>
                  <a:schemeClr val="dk2"/>
                </a:solidFill>
              </a:rPr>
              <a:t> i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r>
              <a:rPr lang="en" sz="1800">
                <a:solidFill>
                  <a:schemeClr val="dk2"/>
                </a:solidFill>
              </a:rPr>
              <a:t> = predator </a:t>
            </a:r>
            <a:r>
              <a:rPr b="1" lang="en" sz="1800">
                <a:solidFill>
                  <a:schemeClr val="dk2"/>
                </a:solidFill>
              </a:rPr>
              <a:t>attack rate</a:t>
            </a:r>
            <a:r>
              <a:rPr lang="en" sz="1800">
                <a:solidFill>
                  <a:schemeClr val="dk2"/>
                </a:solidFill>
              </a:rPr>
              <a:t> on species i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968" name="Google Shape;968;p86"/>
          <p:cNvSpPr txBox="1"/>
          <p:nvPr/>
        </p:nvSpPr>
        <p:spPr>
          <a:xfrm>
            <a:off x="1517325" y="1771750"/>
            <a:ext cx="42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</a:t>
            </a:r>
            <a:r>
              <a:rPr baseline="-25000" lang="en" sz="1800">
                <a:solidFill>
                  <a:schemeClr val="dk2"/>
                </a:solidFill>
              </a:rPr>
              <a:t>i</a:t>
            </a:r>
            <a:endParaRPr/>
          </a:p>
        </p:txBody>
      </p:sp>
      <p:cxnSp>
        <p:nvCxnSpPr>
          <p:cNvPr id="969" name="Google Shape;969;p86"/>
          <p:cNvCxnSpPr/>
          <p:nvPr/>
        </p:nvCxnSpPr>
        <p:spPr>
          <a:xfrm flipH="1" rot="10800000">
            <a:off x="1462125" y="1773400"/>
            <a:ext cx="4923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70" name="Google Shape;970;p86"/>
          <p:cNvSpPr txBox="1"/>
          <p:nvPr/>
        </p:nvSpPr>
        <p:spPr>
          <a:xfrm>
            <a:off x="3154675" y="1276350"/>
            <a:ext cx="5486400" cy="24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P* is symmetrical with R*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The species with the </a:t>
            </a:r>
            <a:r>
              <a:rPr i="1" lang="en" sz="1800">
                <a:solidFill>
                  <a:schemeClr val="dk2"/>
                </a:solidFill>
              </a:rPr>
              <a:t>highest</a:t>
            </a:r>
            <a:r>
              <a:rPr lang="en" sz="1800">
                <a:solidFill>
                  <a:schemeClr val="dk2"/>
                </a:solidFill>
              </a:rPr>
              <a:t> P* wins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Will increase predation to a level that excludes all other species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Note this is only true for species limited by a single resource under constant conditions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But is still useful generally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This version is for Type I functional response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4" name="Shape 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Google Shape;975;p8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Main </a:t>
            </a:r>
            <a:r>
              <a:rPr lang="en"/>
              <a:t>Takeaways</a:t>
            </a:r>
            <a:endParaRPr/>
          </a:p>
        </p:txBody>
      </p:sp>
      <p:sp>
        <p:nvSpPr>
          <p:cNvPr id="976" name="Google Shape;976;p8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coexist, species need to limit </a:t>
            </a:r>
            <a:r>
              <a:rPr lang="en"/>
              <a:t>their</a:t>
            </a:r>
            <a:r>
              <a:rPr lang="en"/>
              <a:t> own growth more than their </a:t>
            </a:r>
            <a:r>
              <a:rPr lang="en"/>
              <a:t>competitors</a:t>
            </a: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Species that can exist on the lowest amount of a resource will win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Species that can tolerate the highest level of a given predator will win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Predation is symmetrical with competition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Resources and predator diversity determines # of </a:t>
            </a:r>
            <a:r>
              <a:rPr lang="en"/>
              <a:t>coexisting competitors </a:t>
            </a:r>
            <a:endParaRPr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0" name="Shape 9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Google Shape;981;p8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class: </a:t>
            </a:r>
            <a:r>
              <a:rPr lang="en"/>
              <a:t>Coexistence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