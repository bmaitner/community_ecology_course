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8981be03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8981be0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9408ed0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9408ed0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3cbe2306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3cbe2306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d9408ed0b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d9408ed0b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d9408ed0b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d9408ed0b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d9408ed0bf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d9408ed0bf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d9408ed0bf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d9408ed0bf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9408ed0b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d9408ed0b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9408ed0bf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d9408ed0bf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d9408ed0bf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d9408ed0bf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d9408ed0bf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d9408ed0bf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d9408ed0bf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d9408ed0bf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d9408ed0bf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d9408ed0bf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d9408ed0bf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d9408ed0bf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d9408ed0bf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d9408ed0bf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d9408ed0bf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d9408ed0bf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d9408ed0bf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d9408ed0bf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d9408ed0bf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d9408ed0bf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d9408ed0bf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d9408ed0bf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d9408ed0bf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d9408ed0bf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d9408ed0bf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d9408ed0bf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d9408ed0bf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d9408ed0bf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d9408ed0bf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2d9408ed0bf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d9408ed0bf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d9408ed0bf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d9408ed0bf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d9408ed0bf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d9408ed0bf_0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2d9408ed0bf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d9408ed0bf_0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d9408ed0bf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d9408ed0bf_0_9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2d9408ed0bf_0_9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 capita growth rate </a:t>
            </a:r>
            <a:r>
              <a:rPr lang="en"/>
              <a:t>needs</a:t>
            </a:r>
            <a:r>
              <a:rPr lang="en"/>
              <a:t> to be positive.  N1 ~ 0, since its invading.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2d9408ed0bf_0_9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2d9408ed0bf_0_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d9408ed0bf_0_9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2d9408ed0bf_0_9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d9408ed0bf_0_1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2d9408ed0bf_0_1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d9408ed0bf_0_1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2d9408ed0bf_0_1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equilibrium, dN2/dt =0.  Since we’re talking invasion, N1 = 0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d9408ed0bf_0_1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2d9408ed0bf_0_1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2d9408ed0bf_0_10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2d9408ed0bf_0_1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d9408ed0bf_0_10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2d9408ed0bf_0_1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2d9408ed0bf_0_10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2d9408ed0bf_0_1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2d9408ed0bf_0_1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2d9408ed0bf_0_1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2d9408ed0bf_0_10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2d9408ed0bf_0_1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2d9408ed0bf_0_1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2d9408ed0bf_0_1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2d9408ed0bf_0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2d9408ed0bf_0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2d9408ed0bf_0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2d9408ed0bf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2d9408ed0bf_0_6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2d9408ed0bf_0_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2d9408ed0bf_0_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2d9408ed0bf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2d9408ed0bf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2d9408ed0bf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2d9408ed0bf_0_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2d9408ed0bf_0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2d9408ed0bf_0_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2d9408ed0bf_0_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2d9408ed0bf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2d9408ed0bf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2d9408ed0bf_0_6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2d9408ed0bf_0_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2d9408ed0bf_0_7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2d9408ed0bf_0_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2d9408ed0bf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2d9408ed0bf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2d9408ed0bf_0_6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2d9408ed0bf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2d9408ed0bf_0_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2d9408ed0bf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2d9408ed0bf_0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2d9408ed0bf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2d9408ed0bf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2d9408ed0bf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2d9408ed0bf_0_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2d9408ed0bf_0_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d9408ed0bf_0_7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d9408ed0bf_0_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d9408ed0bf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2d9408ed0bf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2d9408ed0bf_0_7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2d9408ed0bf_0_7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2d9408ed0bf_0_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2d9408ed0bf_0_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2d9408ed0bf_0_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2d9408ed0bf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2d9408ed0bf_0_8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2d9408ed0bf_0_8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2d9408ed0bf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2d9408ed0bf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d9408ed0bf_0_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d9408ed0bf_0_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2d9408ed0bf_0_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2d9408ed0bf_0_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2d9408ed0bf_0_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2d9408ed0bf_0_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2d9408ed0bf_0_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2d9408ed0bf_0_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2d9408ed0bf_0_8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2d9408ed0bf_0_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2d9408ed0bf_0_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2d9408ed0bf_0_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2d9408ed0bf_0_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2d9408ed0bf_0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2d9408ed0bf_0_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2d9408ed0bf_0_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2d9408ed0bf_0_9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2d9408ed0bf_0_9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2d9408ed0bf_0_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2d9408ed0bf_0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2d8981be03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2d8981be03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5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1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89575"/>
            <a:ext cx="8520600" cy="24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Quiz</a:t>
            </a:r>
            <a:endParaRPr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Predator-Prey Interactions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Interspecific Competition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Occurs when one species limits the growth rate of another through: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Reducing resource availability (exploitative/resource competition)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Interspecific </a:t>
            </a:r>
            <a:r>
              <a:rPr lang="en"/>
              <a:t>Competition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Occurs when one species limits the growth rate of another through: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Reducing resource availability (exploitative/resource competition)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Reducing access to resources (interference/contest competition)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Interspecific </a:t>
            </a:r>
            <a:r>
              <a:rPr lang="en"/>
              <a:t>Competition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Occurs when one species limits the growth rate of another through: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Reducing resource availability (exploitative/resource competition)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Reducing access to resources (interference/contest competition)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Increasing shared predators (apparent competition)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Modelling Competition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Lotka-Volterra models again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Modelling Competition</a:t>
            </a:r>
            <a:endParaRPr/>
          </a:p>
        </p:txBody>
      </p:sp>
      <p:sp>
        <p:nvSpPr>
          <p:cNvPr id="85" name="Google Shape;85;p18"/>
          <p:cNvSpPr txBox="1"/>
          <p:nvPr/>
        </p:nvSpPr>
        <p:spPr>
          <a:xfrm>
            <a:off x="3191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3191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87" name="Google Shape;87;p18"/>
          <p:cNvCxnSpPr/>
          <p:nvPr/>
        </p:nvCxnSpPr>
        <p:spPr>
          <a:xfrm>
            <a:off x="2429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18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9" name="Google Shape;89;p18"/>
          <p:cNvSpPr txBox="1"/>
          <p:nvPr/>
        </p:nvSpPr>
        <p:spPr>
          <a:xfrm>
            <a:off x="13628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19208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/>
        </p:nvSpPr>
        <p:spPr>
          <a:xfrm>
            <a:off x="20199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92" name="Google Shape;92;p18"/>
          <p:cNvCxnSpPr/>
          <p:nvPr/>
        </p:nvCxnSpPr>
        <p:spPr>
          <a:xfrm flipH="1" rot="10800000">
            <a:off x="19955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8"/>
          <p:cNvSpPr txBox="1"/>
          <p:nvPr/>
        </p:nvSpPr>
        <p:spPr>
          <a:xfrm>
            <a:off x="25589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269575" y="2927525"/>
            <a:ext cx="4687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/dT = rate of change in 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= carrying capacity of species 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= # species 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= # species 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 = relative impact of sp. 2 on sp. 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Modelling Competition</a:t>
            </a:r>
            <a:endParaRPr/>
          </a:p>
        </p:txBody>
      </p:sp>
      <p:sp>
        <p:nvSpPr>
          <p:cNvPr id="100" name="Google Shape;100;p19"/>
          <p:cNvSpPr txBox="1"/>
          <p:nvPr/>
        </p:nvSpPr>
        <p:spPr>
          <a:xfrm>
            <a:off x="3191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3191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102" name="Google Shape;102;p19"/>
          <p:cNvCxnSpPr/>
          <p:nvPr/>
        </p:nvCxnSpPr>
        <p:spPr>
          <a:xfrm>
            <a:off x="2429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9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13628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05" name="Google Shape;105;p19"/>
          <p:cNvSpPr/>
          <p:nvPr/>
        </p:nvSpPr>
        <p:spPr>
          <a:xfrm>
            <a:off x="19208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9"/>
          <p:cNvSpPr txBox="1"/>
          <p:nvPr/>
        </p:nvSpPr>
        <p:spPr>
          <a:xfrm>
            <a:off x="20199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107" name="Google Shape;107;p19"/>
          <p:cNvCxnSpPr/>
          <p:nvPr/>
        </p:nvCxnSpPr>
        <p:spPr>
          <a:xfrm flipH="1" rot="10800000">
            <a:off x="19955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" name="Google Shape;108;p19"/>
          <p:cNvSpPr txBox="1"/>
          <p:nvPr/>
        </p:nvSpPr>
        <p:spPr>
          <a:xfrm>
            <a:off x="25589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269575" y="2927525"/>
            <a:ext cx="4687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/dT = rate of change in 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= carrying capacity of species 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= # species 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= # species 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 = relative impact of sp. 2 on sp. 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54245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54245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112" name="Google Shape;112;p19"/>
          <p:cNvCxnSpPr/>
          <p:nvPr/>
        </p:nvCxnSpPr>
        <p:spPr>
          <a:xfrm>
            <a:off x="53483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" name="Google Shape;113;p19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64682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70262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 txBox="1"/>
          <p:nvPr/>
        </p:nvSpPr>
        <p:spPr>
          <a:xfrm>
            <a:off x="71253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117" name="Google Shape;117;p19"/>
          <p:cNvCxnSpPr/>
          <p:nvPr/>
        </p:nvCxnSpPr>
        <p:spPr>
          <a:xfrm flipH="1" rot="10800000">
            <a:off x="71009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" name="Google Shape;118;p19"/>
          <p:cNvSpPr txBox="1"/>
          <p:nvPr/>
        </p:nvSpPr>
        <p:spPr>
          <a:xfrm>
            <a:off x="76643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4917775" y="2927525"/>
            <a:ext cx="4687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/dT = rate of change in 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= carrying capacity of species 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 = relative impact of sp. 1 on sp. 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Modelling Competition</a:t>
            </a:r>
            <a:endParaRPr/>
          </a:p>
        </p:txBody>
      </p:sp>
      <p:sp>
        <p:nvSpPr>
          <p:cNvPr id="125" name="Google Shape;125;p20"/>
          <p:cNvSpPr txBox="1"/>
          <p:nvPr/>
        </p:nvSpPr>
        <p:spPr>
          <a:xfrm>
            <a:off x="3191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3191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127" name="Google Shape;127;p20"/>
          <p:cNvCxnSpPr/>
          <p:nvPr/>
        </p:nvCxnSpPr>
        <p:spPr>
          <a:xfrm>
            <a:off x="2429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" name="Google Shape;128;p20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13628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19208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 txBox="1"/>
          <p:nvPr/>
        </p:nvSpPr>
        <p:spPr>
          <a:xfrm>
            <a:off x="20199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132" name="Google Shape;132;p20"/>
          <p:cNvCxnSpPr/>
          <p:nvPr/>
        </p:nvCxnSpPr>
        <p:spPr>
          <a:xfrm flipH="1" rot="10800000">
            <a:off x="19955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20"/>
          <p:cNvSpPr txBox="1"/>
          <p:nvPr/>
        </p:nvSpPr>
        <p:spPr>
          <a:xfrm>
            <a:off x="25589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4" name="Google Shape;134;p20"/>
          <p:cNvSpPr txBox="1"/>
          <p:nvPr/>
        </p:nvSpPr>
        <p:spPr>
          <a:xfrm>
            <a:off x="269575" y="2927525"/>
            <a:ext cx="4687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/dT = rate of change in 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= carrying capacity of species 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= # species 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= # species 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 = relative impact of sp. 2 on sp. 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54245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54245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137" name="Google Shape;137;p20"/>
          <p:cNvCxnSpPr/>
          <p:nvPr/>
        </p:nvCxnSpPr>
        <p:spPr>
          <a:xfrm>
            <a:off x="53483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" name="Google Shape;138;p20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64682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70262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0"/>
          <p:cNvSpPr txBox="1"/>
          <p:nvPr/>
        </p:nvSpPr>
        <p:spPr>
          <a:xfrm>
            <a:off x="71253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142" name="Google Shape;142;p20"/>
          <p:cNvCxnSpPr/>
          <p:nvPr/>
        </p:nvCxnSpPr>
        <p:spPr>
          <a:xfrm flipH="1" rot="10800000">
            <a:off x="71009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" name="Google Shape;143;p20"/>
          <p:cNvSpPr txBox="1"/>
          <p:nvPr/>
        </p:nvSpPr>
        <p:spPr>
          <a:xfrm>
            <a:off x="76643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4917775" y="2927525"/>
            <a:ext cx="4687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/dT = rate of change in 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= carrying capacity of species 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 = relative impact of sp. 1 on sp. 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45" name="Google Shape;145;p20"/>
          <p:cNvCxnSpPr>
            <a:stCxn id="131" idx="0"/>
            <a:endCxn id="124" idx="2"/>
          </p:cNvCxnSpPr>
          <p:nvPr/>
        </p:nvCxnSpPr>
        <p:spPr>
          <a:xfrm flipH="1" rot="10800000">
            <a:off x="2966475" y="1017625"/>
            <a:ext cx="1605600" cy="604800"/>
          </a:xfrm>
          <a:prstGeom prst="straightConnector1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6" name="Google Shape;146;p20"/>
          <p:cNvCxnSpPr/>
          <p:nvPr/>
        </p:nvCxnSpPr>
        <p:spPr>
          <a:xfrm rot="10800000">
            <a:off x="5631225" y="965175"/>
            <a:ext cx="2459400" cy="722100"/>
          </a:xfrm>
          <a:prstGeom prst="straightConnector1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7" name="Google Shape;147;p20"/>
          <p:cNvSpPr txBox="1"/>
          <p:nvPr/>
        </p:nvSpPr>
        <p:spPr>
          <a:xfrm>
            <a:off x="4203675" y="445025"/>
            <a:ext cx="305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α</a:t>
            </a:r>
            <a:r>
              <a:rPr baseline="-25000" lang="en" sz="1800">
                <a:solidFill>
                  <a:srgbClr val="980000"/>
                </a:solidFill>
              </a:rPr>
              <a:t>ij</a:t>
            </a:r>
            <a:r>
              <a:rPr lang="en" sz="1800">
                <a:solidFill>
                  <a:srgbClr val="980000"/>
                </a:solidFill>
              </a:rPr>
              <a:t> = competition coefficient</a:t>
            </a:r>
            <a:endParaRPr sz="18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153" name="Google Shape;15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can ask under what conditions populations are stable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These are isoclines of zero net growth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Set net growth to zero and solve for N1</a:t>
            </a:r>
            <a:endParaRPr baseline="-25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159" name="Google Shape;159;p22"/>
          <p:cNvSpPr txBox="1"/>
          <p:nvPr/>
        </p:nvSpPr>
        <p:spPr>
          <a:xfrm>
            <a:off x="3191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3191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161" name="Google Shape;161;p22"/>
          <p:cNvCxnSpPr/>
          <p:nvPr/>
        </p:nvCxnSpPr>
        <p:spPr>
          <a:xfrm>
            <a:off x="2429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2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3" name="Google Shape;163;p22"/>
          <p:cNvSpPr txBox="1"/>
          <p:nvPr/>
        </p:nvSpPr>
        <p:spPr>
          <a:xfrm>
            <a:off x="13628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19208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2"/>
          <p:cNvSpPr txBox="1"/>
          <p:nvPr/>
        </p:nvSpPr>
        <p:spPr>
          <a:xfrm>
            <a:off x="20199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166" name="Google Shape;166;p22"/>
          <p:cNvCxnSpPr/>
          <p:nvPr/>
        </p:nvCxnSpPr>
        <p:spPr>
          <a:xfrm flipH="1" rot="10800000">
            <a:off x="19955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22"/>
          <p:cNvSpPr txBox="1"/>
          <p:nvPr/>
        </p:nvSpPr>
        <p:spPr>
          <a:xfrm>
            <a:off x="25589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8" name="Google Shape;168;p22"/>
          <p:cNvSpPr txBox="1"/>
          <p:nvPr/>
        </p:nvSpPr>
        <p:spPr>
          <a:xfrm>
            <a:off x="54245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69" name="Google Shape;169;p22"/>
          <p:cNvSpPr txBox="1"/>
          <p:nvPr/>
        </p:nvSpPr>
        <p:spPr>
          <a:xfrm>
            <a:off x="54245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170" name="Google Shape;170;p22"/>
          <p:cNvCxnSpPr/>
          <p:nvPr/>
        </p:nvCxnSpPr>
        <p:spPr>
          <a:xfrm>
            <a:off x="53483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22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64682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70262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2"/>
          <p:cNvSpPr txBox="1"/>
          <p:nvPr/>
        </p:nvSpPr>
        <p:spPr>
          <a:xfrm>
            <a:off x="71253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175" name="Google Shape;175;p22"/>
          <p:cNvCxnSpPr/>
          <p:nvPr/>
        </p:nvCxnSpPr>
        <p:spPr>
          <a:xfrm flipH="1" rot="10800000">
            <a:off x="71009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22"/>
          <p:cNvSpPr txBox="1"/>
          <p:nvPr/>
        </p:nvSpPr>
        <p:spPr>
          <a:xfrm>
            <a:off x="76643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182" name="Google Shape;182;p23"/>
          <p:cNvSpPr txBox="1"/>
          <p:nvPr/>
        </p:nvSpPr>
        <p:spPr>
          <a:xfrm>
            <a:off x="242925" y="1777925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13628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85" name="Google Shape;185;p23"/>
          <p:cNvSpPr/>
          <p:nvPr/>
        </p:nvSpPr>
        <p:spPr>
          <a:xfrm>
            <a:off x="19208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3"/>
          <p:cNvSpPr txBox="1"/>
          <p:nvPr/>
        </p:nvSpPr>
        <p:spPr>
          <a:xfrm>
            <a:off x="20199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187" name="Google Shape;187;p23"/>
          <p:cNvCxnSpPr/>
          <p:nvPr/>
        </p:nvCxnSpPr>
        <p:spPr>
          <a:xfrm flipH="1" rot="10800000">
            <a:off x="19955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23"/>
          <p:cNvSpPr txBox="1"/>
          <p:nvPr/>
        </p:nvSpPr>
        <p:spPr>
          <a:xfrm>
            <a:off x="25589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9" name="Google Shape;189;p23"/>
          <p:cNvSpPr txBox="1"/>
          <p:nvPr/>
        </p:nvSpPr>
        <p:spPr>
          <a:xfrm>
            <a:off x="5407050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1" name="Google Shape;191;p23"/>
          <p:cNvSpPr txBox="1"/>
          <p:nvPr/>
        </p:nvSpPr>
        <p:spPr>
          <a:xfrm>
            <a:off x="64682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70262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3"/>
          <p:cNvSpPr txBox="1"/>
          <p:nvPr/>
        </p:nvSpPr>
        <p:spPr>
          <a:xfrm>
            <a:off x="71253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194" name="Google Shape;194;p23"/>
          <p:cNvCxnSpPr/>
          <p:nvPr/>
        </p:nvCxnSpPr>
        <p:spPr>
          <a:xfrm flipH="1" rot="10800000">
            <a:off x="71009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23"/>
          <p:cNvSpPr txBox="1"/>
          <p:nvPr/>
        </p:nvSpPr>
        <p:spPr>
          <a:xfrm>
            <a:off x="76643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201" name="Google Shape;201;p24"/>
          <p:cNvSpPr txBox="1"/>
          <p:nvPr/>
        </p:nvSpPr>
        <p:spPr>
          <a:xfrm>
            <a:off x="242925" y="1777925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02" name="Google Shape;202;p24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3" name="Google Shape;203;p24"/>
          <p:cNvSpPr/>
          <p:nvPr/>
        </p:nvSpPr>
        <p:spPr>
          <a:xfrm>
            <a:off x="19208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4"/>
          <p:cNvSpPr txBox="1"/>
          <p:nvPr/>
        </p:nvSpPr>
        <p:spPr>
          <a:xfrm>
            <a:off x="20199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205" name="Google Shape;205;p24"/>
          <p:cNvCxnSpPr/>
          <p:nvPr/>
        </p:nvCxnSpPr>
        <p:spPr>
          <a:xfrm flipH="1" rot="10800000">
            <a:off x="19955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24"/>
          <p:cNvSpPr txBox="1"/>
          <p:nvPr/>
        </p:nvSpPr>
        <p:spPr>
          <a:xfrm>
            <a:off x="25589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7" name="Google Shape;207;p24"/>
          <p:cNvSpPr txBox="1"/>
          <p:nvPr/>
        </p:nvSpPr>
        <p:spPr>
          <a:xfrm>
            <a:off x="5407050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08" name="Google Shape;208;p24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9" name="Google Shape;209;p24"/>
          <p:cNvSpPr/>
          <p:nvPr/>
        </p:nvSpPr>
        <p:spPr>
          <a:xfrm>
            <a:off x="70262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4"/>
          <p:cNvSpPr txBox="1"/>
          <p:nvPr/>
        </p:nvSpPr>
        <p:spPr>
          <a:xfrm>
            <a:off x="71253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211" name="Google Shape;211;p24"/>
          <p:cNvCxnSpPr/>
          <p:nvPr/>
        </p:nvCxnSpPr>
        <p:spPr>
          <a:xfrm flipH="1" rot="10800000">
            <a:off x="71009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24"/>
          <p:cNvSpPr txBox="1"/>
          <p:nvPr/>
        </p:nvSpPr>
        <p:spPr>
          <a:xfrm>
            <a:off x="76643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218" name="Google Shape;218;p25"/>
          <p:cNvSpPr txBox="1"/>
          <p:nvPr/>
        </p:nvSpPr>
        <p:spPr>
          <a:xfrm>
            <a:off x="242925" y="1777925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19" name="Google Shape;219;p25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0" name="Google Shape;220;p25"/>
          <p:cNvSpPr txBox="1"/>
          <p:nvPr/>
        </p:nvSpPr>
        <p:spPr>
          <a:xfrm>
            <a:off x="20199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21" name="Google Shape;221;p25"/>
          <p:cNvSpPr txBox="1"/>
          <p:nvPr/>
        </p:nvSpPr>
        <p:spPr>
          <a:xfrm>
            <a:off x="5407050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22" name="Google Shape;222;p25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3" name="Google Shape;223;p25"/>
          <p:cNvSpPr txBox="1"/>
          <p:nvPr/>
        </p:nvSpPr>
        <p:spPr>
          <a:xfrm>
            <a:off x="71253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229" name="Google Shape;229;p26"/>
          <p:cNvSpPr txBox="1"/>
          <p:nvPr/>
        </p:nvSpPr>
        <p:spPr>
          <a:xfrm>
            <a:off x="311700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30" name="Google Shape;230;p26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1" name="Google Shape;231;p26"/>
          <p:cNvSpPr txBox="1"/>
          <p:nvPr/>
        </p:nvSpPr>
        <p:spPr>
          <a:xfrm>
            <a:off x="1425350" y="1847950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32" name="Google Shape;232;p26"/>
          <p:cNvSpPr txBox="1"/>
          <p:nvPr/>
        </p:nvSpPr>
        <p:spPr>
          <a:xfrm>
            <a:off x="5407050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33" name="Google Shape;233;p26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4" name="Google Shape;234;p26"/>
          <p:cNvSpPr txBox="1"/>
          <p:nvPr/>
        </p:nvSpPr>
        <p:spPr>
          <a:xfrm>
            <a:off x="6619925" y="18999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baseline="-25000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240" name="Google Shape;240;p27"/>
          <p:cNvSpPr txBox="1"/>
          <p:nvPr/>
        </p:nvSpPr>
        <p:spPr>
          <a:xfrm>
            <a:off x="562725" y="1847950"/>
            <a:ext cx="44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41" name="Google Shape;241;p27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2" name="Google Shape;242;p27"/>
          <p:cNvSpPr txBox="1"/>
          <p:nvPr/>
        </p:nvSpPr>
        <p:spPr>
          <a:xfrm>
            <a:off x="1425350" y="1847950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43" name="Google Shape;243;p27"/>
          <p:cNvSpPr txBox="1"/>
          <p:nvPr/>
        </p:nvSpPr>
        <p:spPr>
          <a:xfrm>
            <a:off x="5704375" y="1847950"/>
            <a:ext cx="4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44" name="Google Shape;244;p27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5" name="Google Shape;245;p27"/>
          <p:cNvSpPr txBox="1"/>
          <p:nvPr/>
        </p:nvSpPr>
        <p:spPr>
          <a:xfrm>
            <a:off x="6543725" y="15951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46" name="Google Shape;246;p27"/>
          <p:cNvSpPr txBox="1"/>
          <p:nvPr/>
        </p:nvSpPr>
        <p:spPr>
          <a:xfrm>
            <a:off x="6700425" y="2100775"/>
            <a:ext cx="4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endParaRPr/>
          </a:p>
        </p:txBody>
      </p:sp>
      <p:cxnSp>
        <p:nvCxnSpPr>
          <p:cNvPr id="247" name="Google Shape;247;p27"/>
          <p:cNvCxnSpPr/>
          <p:nvPr/>
        </p:nvCxnSpPr>
        <p:spPr>
          <a:xfrm>
            <a:off x="65675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482" y="2462050"/>
            <a:ext cx="2620682" cy="25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254" name="Google Shape;254;p28"/>
          <p:cNvSpPr txBox="1"/>
          <p:nvPr/>
        </p:nvSpPr>
        <p:spPr>
          <a:xfrm>
            <a:off x="562725" y="1847950"/>
            <a:ext cx="44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55" name="Google Shape;255;p28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6" name="Google Shape;256;p28"/>
          <p:cNvSpPr txBox="1"/>
          <p:nvPr/>
        </p:nvSpPr>
        <p:spPr>
          <a:xfrm>
            <a:off x="1425350" y="1847950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57" name="Google Shape;257;p28"/>
          <p:cNvSpPr txBox="1"/>
          <p:nvPr/>
        </p:nvSpPr>
        <p:spPr>
          <a:xfrm>
            <a:off x="5704375" y="1847950"/>
            <a:ext cx="4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58" name="Google Shape;258;p28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9" name="Google Shape;259;p28"/>
          <p:cNvSpPr txBox="1"/>
          <p:nvPr/>
        </p:nvSpPr>
        <p:spPr>
          <a:xfrm>
            <a:off x="6543725" y="15951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60" name="Google Shape;260;p28"/>
          <p:cNvSpPr txBox="1"/>
          <p:nvPr/>
        </p:nvSpPr>
        <p:spPr>
          <a:xfrm>
            <a:off x="6700425" y="2100775"/>
            <a:ext cx="4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endParaRPr/>
          </a:p>
        </p:txBody>
      </p:sp>
      <p:cxnSp>
        <p:nvCxnSpPr>
          <p:cNvPr id="261" name="Google Shape;261;p28"/>
          <p:cNvCxnSpPr/>
          <p:nvPr/>
        </p:nvCxnSpPr>
        <p:spPr>
          <a:xfrm>
            <a:off x="65675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" name="Google Shape;262;p28"/>
          <p:cNvSpPr txBox="1"/>
          <p:nvPr/>
        </p:nvSpPr>
        <p:spPr>
          <a:xfrm>
            <a:off x="990238" y="1386250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Species 1</a:t>
            </a:r>
            <a:endParaRPr b="1" sz="1800">
              <a:solidFill>
                <a:schemeClr val="dk2"/>
              </a:solidFill>
            </a:endParaRPr>
          </a:p>
        </p:txBody>
      </p:sp>
      <p:cxnSp>
        <p:nvCxnSpPr>
          <p:cNvPr id="263" name="Google Shape;263;p28"/>
          <p:cNvCxnSpPr/>
          <p:nvPr/>
        </p:nvCxnSpPr>
        <p:spPr>
          <a:xfrm rot="10800000">
            <a:off x="1954675" y="4156625"/>
            <a:ext cx="5523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" name="Google Shape;264;p28"/>
          <p:cNvCxnSpPr/>
          <p:nvPr/>
        </p:nvCxnSpPr>
        <p:spPr>
          <a:xfrm>
            <a:off x="621025" y="4213850"/>
            <a:ext cx="6477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0965" y="2462050"/>
            <a:ext cx="2560918" cy="2471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482" y="2462050"/>
            <a:ext cx="2620682" cy="25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272" name="Google Shape;272;p29"/>
          <p:cNvSpPr txBox="1"/>
          <p:nvPr/>
        </p:nvSpPr>
        <p:spPr>
          <a:xfrm>
            <a:off x="562725" y="1847950"/>
            <a:ext cx="44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73" name="Google Shape;273;p29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4" name="Google Shape;274;p29"/>
          <p:cNvSpPr txBox="1"/>
          <p:nvPr/>
        </p:nvSpPr>
        <p:spPr>
          <a:xfrm>
            <a:off x="1425350" y="1847950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75" name="Google Shape;275;p29"/>
          <p:cNvSpPr txBox="1"/>
          <p:nvPr/>
        </p:nvSpPr>
        <p:spPr>
          <a:xfrm>
            <a:off x="5704375" y="1847950"/>
            <a:ext cx="4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76" name="Google Shape;276;p29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7" name="Google Shape;277;p29"/>
          <p:cNvSpPr txBox="1"/>
          <p:nvPr/>
        </p:nvSpPr>
        <p:spPr>
          <a:xfrm>
            <a:off x="6543725" y="15951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78" name="Google Shape;278;p29"/>
          <p:cNvSpPr txBox="1"/>
          <p:nvPr/>
        </p:nvSpPr>
        <p:spPr>
          <a:xfrm>
            <a:off x="6700425" y="2100775"/>
            <a:ext cx="4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endParaRPr/>
          </a:p>
        </p:txBody>
      </p:sp>
      <p:cxnSp>
        <p:nvCxnSpPr>
          <p:cNvPr id="279" name="Google Shape;279;p29"/>
          <p:cNvCxnSpPr/>
          <p:nvPr/>
        </p:nvCxnSpPr>
        <p:spPr>
          <a:xfrm>
            <a:off x="65675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29"/>
          <p:cNvSpPr txBox="1"/>
          <p:nvPr/>
        </p:nvSpPr>
        <p:spPr>
          <a:xfrm>
            <a:off x="990238" y="1386250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Species 1</a:t>
            </a:r>
            <a:endParaRPr b="1" sz="1800">
              <a:solidFill>
                <a:srgbClr val="0000FF"/>
              </a:solidFill>
            </a:endParaRPr>
          </a:p>
        </p:txBody>
      </p:sp>
      <p:cxnSp>
        <p:nvCxnSpPr>
          <p:cNvPr id="281" name="Google Shape;281;p29"/>
          <p:cNvCxnSpPr/>
          <p:nvPr/>
        </p:nvCxnSpPr>
        <p:spPr>
          <a:xfrm rot="10800000">
            <a:off x="1954675" y="4156625"/>
            <a:ext cx="5523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" name="Google Shape;282;p29"/>
          <p:cNvCxnSpPr/>
          <p:nvPr/>
        </p:nvCxnSpPr>
        <p:spPr>
          <a:xfrm>
            <a:off x="621025" y="4213850"/>
            <a:ext cx="6477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" name="Google Shape;283;p29"/>
          <p:cNvCxnSpPr/>
          <p:nvPr/>
        </p:nvCxnSpPr>
        <p:spPr>
          <a:xfrm flipH="1" rot="10800000">
            <a:off x="7098025" y="429957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4" name="Google Shape;284;p29"/>
          <p:cNvCxnSpPr/>
          <p:nvPr/>
        </p:nvCxnSpPr>
        <p:spPr>
          <a:xfrm>
            <a:off x="7126600" y="3575675"/>
            <a:ext cx="300" cy="3429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5" name="Google Shape;285;p29"/>
          <p:cNvSpPr txBox="1"/>
          <p:nvPr/>
        </p:nvSpPr>
        <p:spPr>
          <a:xfrm>
            <a:off x="6171838" y="1233850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Species 2</a:t>
            </a:r>
            <a:endParaRPr b="1" sz="18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675" y="941525"/>
            <a:ext cx="4115624" cy="3971738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292" name="Google Shape;292;p30"/>
          <p:cNvSpPr txBox="1"/>
          <p:nvPr/>
        </p:nvSpPr>
        <p:spPr>
          <a:xfrm>
            <a:off x="5867038" y="5560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Species 1</a:t>
            </a:r>
            <a:endParaRPr b="1" sz="1800">
              <a:solidFill>
                <a:srgbClr val="0000FF"/>
              </a:solidFill>
            </a:endParaRPr>
          </a:p>
        </p:txBody>
      </p:sp>
      <p:sp>
        <p:nvSpPr>
          <p:cNvPr id="293" name="Google Shape;293;p30"/>
          <p:cNvSpPr txBox="1"/>
          <p:nvPr/>
        </p:nvSpPr>
        <p:spPr>
          <a:xfrm>
            <a:off x="7362463" y="5005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Species 2</a:t>
            </a:r>
            <a:endParaRPr b="1" sz="1800">
              <a:solidFill>
                <a:srgbClr val="980000"/>
              </a:solidFill>
            </a:endParaRPr>
          </a:p>
        </p:txBody>
      </p:sp>
      <p:cxnSp>
        <p:nvCxnSpPr>
          <p:cNvPr id="294" name="Google Shape;294;p30"/>
          <p:cNvCxnSpPr/>
          <p:nvPr/>
        </p:nvCxnSpPr>
        <p:spPr>
          <a:xfrm rot="10800000">
            <a:off x="1011550" y="3585250"/>
            <a:ext cx="0" cy="3600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" name="Google Shape;295;p30"/>
          <p:cNvCxnSpPr/>
          <p:nvPr/>
        </p:nvCxnSpPr>
        <p:spPr>
          <a:xfrm flipH="1">
            <a:off x="3050125" y="2832725"/>
            <a:ext cx="9300" cy="3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" name="Google Shape;296;p30"/>
          <p:cNvCxnSpPr/>
          <p:nvPr/>
        </p:nvCxnSpPr>
        <p:spPr>
          <a:xfrm rot="10800000">
            <a:off x="2516425" y="2792825"/>
            <a:ext cx="543000" cy="39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p30"/>
          <p:cNvCxnSpPr/>
          <p:nvPr/>
        </p:nvCxnSpPr>
        <p:spPr>
          <a:xfrm>
            <a:off x="1011550" y="3945250"/>
            <a:ext cx="6477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" name="Google Shape;298;p30"/>
          <p:cNvCxnSpPr/>
          <p:nvPr/>
        </p:nvCxnSpPr>
        <p:spPr>
          <a:xfrm flipH="1">
            <a:off x="916525" y="2146925"/>
            <a:ext cx="9300" cy="3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" name="Google Shape;299;p30"/>
          <p:cNvCxnSpPr/>
          <p:nvPr/>
        </p:nvCxnSpPr>
        <p:spPr>
          <a:xfrm>
            <a:off x="935350" y="2116450"/>
            <a:ext cx="333300" cy="28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" name="Google Shape;300;p30"/>
          <p:cNvCxnSpPr/>
          <p:nvPr/>
        </p:nvCxnSpPr>
        <p:spPr>
          <a:xfrm rot="10800000">
            <a:off x="3126100" y="3954850"/>
            <a:ext cx="0" cy="3600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" name="Google Shape;301;p30"/>
          <p:cNvCxnSpPr/>
          <p:nvPr/>
        </p:nvCxnSpPr>
        <p:spPr>
          <a:xfrm rot="10800000">
            <a:off x="2745100" y="4316800"/>
            <a:ext cx="381000" cy="28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675" y="941525"/>
            <a:ext cx="4115624" cy="3971738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308" name="Google Shape;308;p31"/>
          <p:cNvSpPr txBox="1"/>
          <p:nvPr/>
        </p:nvSpPr>
        <p:spPr>
          <a:xfrm>
            <a:off x="5867038" y="5560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Species 1</a:t>
            </a:r>
            <a:endParaRPr b="1" sz="1800">
              <a:solidFill>
                <a:srgbClr val="0000FF"/>
              </a:solidFill>
            </a:endParaRPr>
          </a:p>
        </p:txBody>
      </p:sp>
      <p:sp>
        <p:nvSpPr>
          <p:cNvPr id="309" name="Google Shape;309;p31"/>
          <p:cNvSpPr txBox="1"/>
          <p:nvPr/>
        </p:nvSpPr>
        <p:spPr>
          <a:xfrm>
            <a:off x="7362463" y="5005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Species 2</a:t>
            </a:r>
            <a:endParaRPr b="1" sz="1800">
              <a:solidFill>
                <a:srgbClr val="980000"/>
              </a:solidFill>
            </a:endParaRPr>
          </a:p>
        </p:txBody>
      </p:sp>
      <p:sp>
        <p:nvSpPr>
          <p:cNvPr id="310" name="Google Shape;310;p31"/>
          <p:cNvSpPr txBox="1"/>
          <p:nvPr/>
        </p:nvSpPr>
        <p:spPr>
          <a:xfrm>
            <a:off x="4724125" y="1451600"/>
            <a:ext cx="3831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Stable coexistence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Both </a:t>
            </a:r>
            <a:r>
              <a:rPr lang="en" sz="1800">
                <a:solidFill>
                  <a:schemeClr val="dk2"/>
                </a:solidFill>
              </a:rPr>
              <a:t>species</a:t>
            </a:r>
            <a:r>
              <a:rPr lang="en" sz="1800">
                <a:solidFill>
                  <a:schemeClr val="dk2"/>
                </a:solidFill>
              </a:rPr>
              <a:t> can invade from low density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1" name="Google Shape;311;p31"/>
          <p:cNvSpPr/>
          <p:nvPr/>
        </p:nvSpPr>
        <p:spPr>
          <a:xfrm>
            <a:off x="1878325" y="3194900"/>
            <a:ext cx="171300" cy="171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2" name="Google Shape;312;p31"/>
          <p:cNvCxnSpPr/>
          <p:nvPr/>
        </p:nvCxnSpPr>
        <p:spPr>
          <a:xfrm rot="10800000">
            <a:off x="1011550" y="3585250"/>
            <a:ext cx="0" cy="3600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" name="Google Shape;313;p31"/>
          <p:cNvCxnSpPr/>
          <p:nvPr/>
        </p:nvCxnSpPr>
        <p:spPr>
          <a:xfrm flipH="1">
            <a:off x="3050125" y="2832725"/>
            <a:ext cx="9300" cy="3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" name="Google Shape;314;p31"/>
          <p:cNvCxnSpPr/>
          <p:nvPr/>
        </p:nvCxnSpPr>
        <p:spPr>
          <a:xfrm rot="10800000">
            <a:off x="2516425" y="2792825"/>
            <a:ext cx="543000" cy="39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5" name="Google Shape;315;p31"/>
          <p:cNvCxnSpPr/>
          <p:nvPr/>
        </p:nvCxnSpPr>
        <p:spPr>
          <a:xfrm>
            <a:off x="1011550" y="3945250"/>
            <a:ext cx="6477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" name="Google Shape;316;p31"/>
          <p:cNvCxnSpPr/>
          <p:nvPr/>
        </p:nvCxnSpPr>
        <p:spPr>
          <a:xfrm flipH="1">
            <a:off x="916525" y="2146925"/>
            <a:ext cx="9300" cy="3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" name="Google Shape;317;p31"/>
          <p:cNvCxnSpPr/>
          <p:nvPr/>
        </p:nvCxnSpPr>
        <p:spPr>
          <a:xfrm>
            <a:off x="935350" y="2116450"/>
            <a:ext cx="333300" cy="28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" name="Google Shape;318;p31"/>
          <p:cNvCxnSpPr/>
          <p:nvPr/>
        </p:nvCxnSpPr>
        <p:spPr>
          <a:xfrm rot="10800000">
            <a:off x="3126100" y="3954850"/>
            <a:ext cx="0" cy="3600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" name="Google Shape;319;p31"/>
          <p:cNvCxnSpPr/>
          <p:nvPr/>
        </p:nvCxnSpPr>
        <p:spPr>
          <a:xfrm rot="10800000">
            <a:off x="2745100" y="4316800"/>
            <a:ext cx="381000" cy="28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325" name="Google Shape;325;p32"/>
          <p:cNvSpPr txBox="1"/>
          <p:nvPr/>
        </p:nvSpPr>
        <p:spPr>
          <a:xfrm>
            <a:off x="5867038" y="5560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Species 1</a:t>
            </a:r>
            <a:endParaRPr b="1" sz="1800">
              <a:solidFill>
                <a:srgbClr val="0000FF"/>
              </a:solidFill>
            </a:endParaRPr>
          </a:p>
        </p:txBody>
      </p:sp>
      <p:sp>
        <p:nvSpPr>
          <p:cNvPr id="326" name="Google Shape;326;p32"/>
          <p:cNvSpPr txBox="1"/>
          <p:nvPr/>
        </p:nvSpPr>
        <p:spPr>
          <a:xfrm>
            <a:off x="7362463" y="5005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Species 2</a:t>
            </a:r>
            <a:endParaRPr b="1" sz="1800">
              <a:solidFill>
                <a:srgbClr val="980000"/>
              </a:solidFill>
            </a:endParaRPr>
          </a:p>
        </p:txBody>
      </p:sp>
      <p:pic>
        <p:nvPicPr>
          <p:cNvPr id="327" name="Google Shape;32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00" y="1170125"/>
            <a:ext cx="3959417" cy="38209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8" name="Google Shape;328;p32"/>
          <p:cNvCxnSpPr/>
          <p:nvPr/>
        </p:nvCxnSpPr>
        <p:spPr>
          <a:xfrm rot="10800000">
            <a:off x="1261013" y="3861425"/>
            <a:ext cx="658200" cy="38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" name="Google Shape;329;p32"/>
          <p:cNvCxnSpPr/>
          <p:nvPr/>
        </p:nvCxnSpPr>
        <p:spPr>
          <a:xfrm>
            <a:off x="859150" y="4175750"/>
            <a:ext cx="7515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" name="Google Shape;330;p32"/>
          <p:cNvCxnSpPr/>
          <p:nvPr/>
        </p:nvCxnSpPr>
        <p:spPr>
          <a:xfrm flipH="1" rot="10800000">
            <a:off x="1919225" y="359472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" name="Google Shape;331;p32"/>
          <p:cNvCxnSpPr/>
          <p:nvPr/>
        </p:nvCxnSpPr>
        <p:spPr>
          <a:xfrm flipH="1">
            <a:off x="1964275" y="2966075"/>
            <a:ext cx="9300" cy="3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2" name="Google Shape;332;p32"/>
          <p:cNvCxnSpPr/>
          <p:nvPr/>
        </p:nvCxnSpPr>
        <p:spPr>
          <a:xfrm rot="10800000">
            <a:off x="1611713" y="2981225"/>
            <a:ext cx="383700" cy="3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" name="Google Shape;333;p32"/>
          <p:cNvCxnSpPr/>
          <p:nvPr/>
        </p:nvCxnSpPr>
        <p:spPr>
          <a:xfrm flipH="1" rot="10800000">
            <a:off x="852425" y="389952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339" name="Google Shape;339;p33"/>
          <p:cNvSpPr txBox="1"/>
          <p:nvPr/>
        </p:nvSpPr>
        <p:spPr>
          <a:xfrm>
            <a:off x="5867038" y="5560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Species 1</a:t>
            </a:r>
            <a:endParaRPr b="1" sz="1800">
              <a:solidFill>
                <a:srgbClr val="0000FF"/>
              </a:solidFill>
            </a:endParaRPr>
          </a:p>
        </p:txBody>
      </p:sp>
      <p:sp>
        <p:nvSpPr>
          <p:cNvPr id="340" name="Google Shape;340;p33"/>
          <p:cNvSpPr txBox="1"/>
          <p:nvPr/>
        </p:nvSpPr>
        <p:spPr>
          <a:xfrm>
            <a:off x="7362463" y="5005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Species 2</a:t>
            </a:r>
            <a:endParaRPr b="1" sz="1800">
              <a:solidFill>
                <a:srgbClr val="980000"/>
              </a:solidFill>
            </a:endParaRPr>
          </a:p>
        </p:txBody>
      </p:sp>
      <p:pic>
        <p:nvPicPr>
          <p:cNvPr id="341" name="Google Shape;34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00" y="1170125"/>
            <a:ext cx="3959417" cy="38209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2" name="Google Shape;342;p33"/>
          <p:cNvCxnSpPr/>
          <p:nvPr/>
        </p:nvCxnSpPr>
        <p:spPr>
          <a:xfrm rot="10800000">
            <a:off x="1261013" y="3861425"/>
            <a:ext cx="658200" cy="38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" name="Google Shape;343;p33"/>
          <p:cNvCxnSpPr/>
          <p:nvPr/>
        </p:nvCxnSpPr>
        <p:spPr>
          <a:xfrm>
            <a:off x="859150" y="4175750"/>
            <a:ext cx="7515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4" name="Google Shape;344;p33"/>
          <p:cNvCxnSpPr/>
          <p:nvPr/>
        </p:nvCxnSpPr>
        <p:spPr>
          <a:xfrm flipH="1" rot="10800000">
            <a:off x="1919225" y="359472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5" name="Google Shape;345;p33"/>
          <p:cNvCxnSpPr/>
          <p:nvPr/>
        </p:nvCxnSpPr>
        <p:spPr>
          <a:xfrm flipH="1">
            <a:off x="1964275" y="2966075"/>
            <a:ext cx="9300" cy="3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6" name="Google Shape;346;p33"/>
          <p:cNvSpPr/>
          <p:nvPr/>
        </p:nvSpPr>
        <p:spPr>
          <a:xfrm>
            <a:off x="840100" y="2899400"/>
            <a:ext cx="171300" cy="171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3"/>
          <p:cNvSpPr txBox="1"/>
          <p:nvPr/>
        </p:nvSpPr>
        <p:spPr>
          <a:xfrm>
            <a:off x="4724125" y="1451600"/>
            <a:ext cx="383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Species 2 excludes species 1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48" name="Google Shape;348;p33"/>
          <p:cNvCxnSpPr/>
          <p:nvPr/>
        </p:nvCxnSpPr>
        <p:spPr>
          <a:xfrm rot="10800000">
            <a:off x="1611713" y="2981225"/>
            <a:ext cx="383700" cy="3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9" name="Google Shape;349;p33"/>
          <p:cNvCxnSpPr/>
          <p:nvPr/>
        </p:nvCxnSpPr>
        <p:spPr>
          <a:xfrm flipH="1" rot="10800000">
            <a:off x="852425" y="389952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375" y="1170125"/>
            <a:ext cx="3959417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356" name="Google Shape;356;p34"/>
          <p:cNvSpPr txBox="1"/>
          <p:nvPr/>
        </p:nvSpPr>
        <p:spPr>
          <a:xfrm>
            <a:off x="5867038" y="5560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Species 1</a:t>
            </a:r>
            <a:endParaRPr b="1" sz="1800">
              <a:solidFill>
                <a:srgbClr val="0000FF"/>
              </a:solidFill>
            </a:endParaRPr>
          </a:p>
        </p:txBody>
      </p:sp>
      <p:sp>
        <p:nvSpPr>
          <p:cNvPr id="357" name="Google Shape;357;p34"/>
          <p:cNvSpPr txBox="1"/>
          <p:nvPr/>
        </p:nvSpPr>
        <p:spPr>
          <a:xfrm>
            <a:off x="7362463" y="5005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Species 2</a:t>
            </a:r>
            <a:endParaRPr b="1" sz="1800">
              <a:solidFill>
                <a:srgbClr val="980000"/>
              </a:solidFill>
            </a:endParaRPr>
          </a:p>
        </p:txBody>
      </p:sp>
      <p:cxnSp>
        <p:nvCxnSpPr>
          <p:cNvPr id="358" name="Google Shape;358;p34"/>
          <p:cNvCxnSpPr/>
          <p:nvPr/>
        </p:nvCxnSpPr>
        <p:spPr>
          <a:xfrm rot="10800000">
            <a:off x="2699288" y="3499475"/>
            <a:ext cx="658200" cy="38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" name="Google Shape;359;p34"/>
          <p:cNvCxnSpPr/>
          <p:nvPr/>
        </p:nvCxnSpPr>
        <p:spPr>
          <a:xfrm flipH="1" rot="10800000">
            <a:off x="1316950" y="3080463"/>
            <a:ext cx="380400" cy="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0" name="Google Shape;360;p34"/>
          <p:cNvCxnSpPr/>
          <p:nvPr/>
        </p:nvCxnSpPr>
        <p:spPr>
          <a:xfrm flipH="1" rot="10800000">
            <a:off x="1109600" y="386142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1" name="Google Shape;361;p34"/>
          <p:cNvCxnSpPr/>
          <p:nvPr/>
        </p:nvCxnSpPr>
        <p:spPr>
          <a:xfrm flipH="1">
            <a:off x="1316950" y="3080475"/>
            <a:ext cx="9300" cy="3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" name="Google Shape;362;p34"/>
          <p:cNvCxnSpPr/>
          <p:nvPr/>
        </p:nvCxnSpPr>
        <p:spPr>
          <a:xfrm flipH="1" rot="10800000">
            <a:off x="1088350" y="4147263"/>
            <a:ext cx="380400" cy="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3" name="Google Shape;363;p34"/>
          <p:cNvCxnSpPr/>
          <p:nvPr/>
        </p:nvCxnSpPr>
        <p:spPr>
          <a:xfrm flipH="1">
            <a:off x="3374350" y="3537675"/>
            <a:ext cx="9300" cy="3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375" y="1170125"/>
            <a:ext cx="3959417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370" name="Google Shape;370;p35"/>
          <p:cNvSpPr txBox="1"/>
          <p:nvPr/>
        </p:nvSpPr>
        <p:spPr>
          <a:xfrm>
            <a:off x="5867038" y="5560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Species 1</a:t>
            </a:r>
            <a:endParaRPr b="1" sz="1800">
              <a:solidFill>
                <a:srgbClr val="0000FF"/>
              </a:solidFill>
            </a:endParaRPr>
          </a:p>
        </p:txBody>
      </p:sp>
      <p:sp>
        <p:nvSpPr>
          <p:cNvPr id="371" name="Google Shape;371;p35"/>
          <p:cNvSpPr txBox="1"/>
          <p:nvPr/>
        </p:nvSpPr>
        <p:spPr>
          <a:xfrm>
            <a:off x="7362463" y="5005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Species 2</a:t>
            </a:r>
            <a:endParaRPr b="1" sz="1800">
              <a:solidFill>
                <a:srgbClr val="980000"/>
              </a:solidFill>
            </a:endParaRPr>
          </a:p>
        </p:txBody>
      </p:sp>
      <p:cxnSp>
        <p:nvCxnSpPr>
          <p:cNvPr id="372" name="Google Shape;372;p35"/>
          <p:cNvCxnSpPr/>
          <p:nvPr/>
        </p:nvCxnSpPr>
        <p:spPr>
          <a:xfrm rot="10800000">
            <a:off x="2699288" y="3499475"/>
            <a:ext cx="658200" cy="38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3" name="Google Shape;373;p35"/>
          <p:cNvCxnSpPr/>
          <p:nvPr/>
        </p:nvCxnSpPr>
        <p:spPr>
          <a:xfrm flipH="1" rot="10800000">
            <a:off x="1316950" y="3080463"/>
            <a:ext cx="380400" cy="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" name="Google Shape;374;p35"/>
          <p:cNvCxnSpPr/>
          <p:nvPr/>
        </p:nvCxnSpPr>
        <p:spPr>
          <a:xfrm flipH="1" rot="10800000">
            <a:off x="1109600" y="386142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5" name="Google Shape;375;p35"/>
          <p:cNvCxnSpPr/>
          <p:nvPr/>
        </p:nvCxnSpPr>
        <p:spPr>
          <a:xfrm flipH="1">
            <a:off x="1316950" y="3080475"/>
            <a:ext cx="9300" cy="3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6" name="Google Shape;376;p35"/>
          <p:cNvSpPr/>
          <p:nvPr/>
        </p:nvSpPr>
        <p:spPr>
          <a:xfrm>
            <a:off x="2421250" y="4385300"/>
            <a:ext cx="171300" cy="171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7" name="Google Shape;377;p35"/>
          <p:cNvCxnSpPr/>
          <p:nvPr/>
        </p:nvCxnSpPr>
        <p:spPr>
          <a:xfrm flipH="1" rot="10800000">
            <a:off x="1088350" y="4147263"/>
            <a:ext cx="380400" cy="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8" name="Google Shape;378;p35"/>
          <p:cNvCxnSpPr/>
          <p:nvPr/>
        </p:nvCxnSpPr>
        <p:spPr>
          <a:xfrm flipH="1">
            <a:off x="3374350" y="3537675"/>
            <a:ext cx="9300" cy="3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9" name="Google Shape;379;p35"/>
          <p:cNvSpPr txBox="1"/>
          <p:nvPr/>
        </p:nvSpPr>
        <p:spPr>
          <a:xfrm>
            <a:off x="4724125" y="1451600"/>
            <a:ext cx="383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Species 1 excludes species 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385" name="Google Shape;385;p36"/>
          <p:cNvSpPr txBox="1"/>
          <p:nvPr/>
        </p:nvSpPr>
        <p:spPr>
          <a:xfrm>
            <a:off x="5867038" y="5560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Species 1</a:t>
            </a:r>
            <a:endParaRPr b="1" sz="1800">
              <a:solidFill>
                <a:srgbClr val="0000FF"/>
              </a:solidFill>
            </a:endParaRPr>
          </a:p>
        </p:txBody>
      </p:sp>
      <p:sp>
        <p:nvSpPr>
          <p:cNvPr id="386" name="Google Shape;386;p36"/>
          <p:cNvSpPr txBox="1"/>
          <p:nvPr/>
        </p:nvSpPr>
        <p:spPr>
          <a:xfrm>
            <a:off x="7362463" y="5005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Species 2</a:t>
            </a:r>
            <a:endParaRPr b="1" sz="1800">
              <a:solidFill>
                <a:srgbClr val="980000"/>
              </a:solidFill>
            </a:endParaRPr>
          </a:p>
        </p:txBody>
      </p:sp>
      <p:pic>
        <p:nvPicPr>
          <p:cNvPr id="387" name="Google Shape;38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959417" cy="38209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8" name="Google Shape;388;p36"/>
          <p:cNvCxnSpPr/>
          <p:nvPr/>
        </p:nvCxnSpPr>
        <p:spPr>
          <a:xfrm flipH="1" rot="10800000">
            <a:off x="1081025" y="229932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9" name="Google Shape;389;p36"/>
          <p:cNvCxnSpPr/>
          <p:nvPr/>
        </p:nvCxnSpPr>
        <p:spPr>
          <a:xfrm flipH="1">
            <a:off x="2269075" y="2585075"/>
            <a:ext cx="9300" cy="3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0" name="Google Shape;390;p36"/>
          <p:cNvCxnSpPr/>
          <p:nvPr/>
        </p:nvCxnSpPr>
        <p:spPr>
          <a:xfrm flipH="1" rot="10800000">
            <a:off x="1357250" y="386142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1" name="Google Shape;391;p36"/>
          <p:cNvCxnSpPr/>
          <p:nvPr/>
        </p:nvCxnSpPr>
        <p:spPr>
          <a:xfrm flipH="1">
            <a:off x="2421850" y="4109175"/>
            <a:ext cx="9300" cy="3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2" name="Google Shape;392;p36"/>
          <p:cNvCxnSpPr/>
          <p:nvPr/>
        </p:nvCxnSpPr>
        <p:spPr>
          <a:xfrm rot="10800000">
            <a:off x="706613" y="2571600"/>
            <a:ext cx="374400" cy="19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" name="Google Shape;393;p36"/>
          <p:cNvCxnSpPr/>
          <p:nvPr/>
        </p:nvCxnSpPr>
        <p:spPr>
          <a:xfrm flipH="1" rot="10800000">
            <a:off x="2421850" y="4109163"/>
            <a:ext cx="380400" cy="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4" name="Google Shape;394;p36"/>
          <p:cNvCxnSpPr/>
          <p:nvPr/>
        </p:nvCxnSpPr>
        <p:spPr>
          <a:xfrm flipH="1" rot="10800000">
            <a:off x="1355050" y="4185363"/>
            <a:ext cx="380400" cy="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5" name="Google Shape;395;p36"/>
          <p:cNvCxnSpPr/>
          <p:nvPr/>
        </p:nvCxnSpPr>
        <p:spPr>
          <a:xfrm rot="10800000">
            <a:off x="1925813" y="2571600"/>
            <a:ext cx="374400" cy="19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401" name="Google Shape;401;p37"/>
          <p:cNvSpPr txBox="1"/>
          <p:nvPr/>
        </p:nvSpPr>
        <p:spPr>
          <a:xfrm>
            <a:off x="5867038" y="5560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Species 1</a:t>
            </a:r>
            <a:endParaRPr b="1" sz="1800">
              <a:solidFill>
                <a:srgbClr val="0000FF"/>
              </a:solidFill>
            </a:endParaRPr>
          </a:p>
        </p:txBody>
      </p:sp>
      <p:sp>
        <p:nvSpPr>
          <p:cNvPr id="402" name="Google Shape;402;p37"/>
          <p:cNvSpPr txBox="1"/>
          <p:nvPr/>
        </p:nvSpPr>
        <p:spPr>
          <a:xfrm>
            <a:off x="7362463" y="50052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Species 2</a:t>
            </a:r>
            <a:endParaRPr b="1" sz="1800">
              <a:solidFill>
                <a:srgbClr val="980000"/>
              </a:solidFill>
            </a:endParaRPr>
          </a:p>
        </p:txBody>
      </p:sp>
      <p:pic>
        <p:nvPicPr>
          <p:cNvPr id="403" name="Google Shape;40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959417" cy="38209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4" name="Google Shape;404;p37"/>
          <p:cNvCxnSpPr/>
          <p:nvPr/>
        </p:nvCxnSpPr>
        <p:spPr>
          <a:xfrm flipH="1" rot="10800000">
            <a:off x="1081025" y="229932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5" name="Google Shape;405;p37"/>
          <p:cNvCxnSpPr/>
          <p:nvPr/>
        </p:nvCxnSpPr>
        <p:spPr>
          <a:xfrm flipH="1">
            <a:off x="2269075" y="2585075"/>
            <a:ext cx="9300" cy="3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6" name="Google Shape;406;p37"/>
          <p:cNvCxnSpPr/>
          <p:nvPr/>
        </p:nvCxnSpPr>
        <p:spPr>
          <a:xfrm flipH="1" rot="10800000">
            <a:off x="1357250" y="386142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7" name="Google Shape;407;p37"/>
          <p:cNvCxnSpPr/>
          <p:nvPr/>
        </p:nvCxnSpPr>
        <p:spPr>
          <a:xfrm flipH="1">
            <a:off x="2421850" y="4109175"/>
            <a:ext cx="9300" cy="3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8" name="Google Shape;408;p37"/>
          <p:cNvCxnSpPr/>
          <p:nvPr/>
        </p:nvCxnSpPr>
        <p:spPr>
          <a:xfrm rot="10800000">
            <a:off x="706613" y="2571600"/>
            <a:ext cx="374400" cy="19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9" name="Google Shape;409;p37"/>
          <p:cNvCxnSpPr/>
          <p:nvPr/>
        </p:nvCxnSpPr>
        <p:spPr>
          <a:xfrm flipH="1" rot="10800000">
            <a:off x="2421850" y="4109163"/>
            <a:ext cx="380400" cy="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0" name="Google Shape;410;p37"/>
          <p:cNvCxnSpPr/>
          <p:nvPr/>
        </p:nvCxnSpPr>
        <p:spPr>
          <a:xfrm flipH="1" rot="10800000">
            <a:off x="1355050" y="4185363"/>
            <a:ext cx="380400" cy="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1" name="Google Shape;411;p37"/>
          <p:cNvCxnSpPr/>
          <p:nvPr/>
        </p:nvCxnSpPr>
        <p:spPr>
          <a:xfrm rot="10800000">
            <a:off x="1925813" y="2571600"/>
            <a:ext cx="374400" cy="19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2" name="Google Shape;412;p37"/>
          <p:cNvSpPr txBox="1"/>
          <p:nvPr/>
        </p:nvSpPr>
        <p:spPr>
          <a:xfrm>
            <a:off x="4724125" y="1451600"/>
            <a:ext cx="3831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Unstable coexistence!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If nudged away from equilibrium, one </a:t>
            </a:r>
            <a:r>
              <a:rPr lang="en" sz="1800">
                <a:solidFill>
                  <a:schemeClr val="dk2"/>
                </a:solidFill>
              </a:rPr>
              <a:t>species</a:t>
            </a:r>
            <a:r>
              <a:rPr lang="en" sz="1800">
                <a:solidFill>
                  <a:schemeClr val="dk2"/>
                </a:solidFill>
              </a:rPr>
              <a:t> or the other can be excluded!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13" name="Google Shape;413;p37"/>
          <p:cNvSpPr/>
          <p:nvPr/>
        </p:nvSpPr>
        <p:spPr>
          <a:xfrm>
            <a:off x="1735450" y="3394700"/>
            <a:ext cx="171300" cy="1713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7"/>
          <p:cNvSpPr/>
          <p:nvPr/>
        </p:nvSpPr>
        <p:spPr>
          <a:xfrm>
            <a:off x="3792850" y="4385300"/>
            <a:ext cx="171300" cy="171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7"/>
          <p:cNvSpPr/>
          <p:nvPr/>
        </p:nvSpPr>
        <p:spPr>
          <a:xfrm>
            <a:off x="668650" y="1337300"/>
            <a:ext cx="171300" cy="171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ZNGIs can be confusing</a:t>
            </a:r>
            <a:endParaRPr/>
          </a:p>
        </p:txBody>
      </p:sp>
      <p:sp>
        <p:nvSpPr>
          <p:cNvPr id="421" name="Google Shape;421;p38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Chesson 2000 provides are more intuitive formulation</a:t>
            </a:r>
            <a:endParaRPr/>
          </a:p>
        </p:txBody>
      </p:sp>
      <p:sp>
        <p:nvSpPr>
          <p:cNvPr id="422" name="Google Shape;422;p38"/>
          <p:cNvSpPr txBox="1"/>
          <p:nvPr/>
        </p:nvSpPr>
        <p:spPr>
          <a:xfrm>
            <a:off x="1614525" y="17717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423" name="Google Shape;423;p38"/>
          <p:cNvSpPr txBox="1"/>
          <p:nvPr/>
        </p:nvSpPr>
        <p:spPr>
          <a:xfrm>
            <a:off x="1614525" y="2228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424" name="Google Shape;424;p38"/>
          <p:cNvCxnSpPr/>
          <p:nvPr/>
        </p:nvCxnSpPr>
        <p:spPr>
          <a:xfrm>
            <a:off x="1538325" y="22312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" name="Google Shape;425;p38"/>
          <p:cNvSpPr txBox="1"/>
          <p:nvPr/>
        </p:nvSpPr>
        <p:spPr>
          <a:xfrm>
            <a:off x="2301525" y="20003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26" name="Google Shape;426;p38"/>
          <p:cNvSpPr txBox="1"/>
          <p:nvPr/>
        </p:nvSpPr>
        <p:spPr>
          <a:xfrm>
            <a:off x="2658225" y="20003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(1</a:t>
            </a:r>
            <a:r>
              <a:rPr lang="en" sz="1800">
                <a:solidFill>
                  <a:schemeClr val="dk2"/>
                </a:solidFill>
              </a:rPr>
              <a:t> - 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i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j</a:t>
            </a:r>
            <a:r>
              <a:rPr lang="en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27" name="Google Shape;427;p38"/>
          <p:cNvSpPr txBox="1"/>
          <p:nvPr/>
        </p:nvSpPr>
        <p:spPr>
          <a:xfrm>
            <a:off x="5277525" y="228917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428" name="Google Shape;428;p38"/>
          <p:cNvSpPr txBox="1"/>
          <p:nvPr/>
        </p:nvSpPr>
        <p:spPr>
          <a:xfrm>
            <a:off x="831525" y="22289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/>
          </a:p>
        </p:txBody>
      </p:sp>
      <p:cxnSp>
        <p:nvCxnSpPr>
          <p:cNvPr id="429" name="Google Shape;429;p38"/>
          <p:cNvCxnSpPr/>
          <p:nvPr/>
        </p:nvCxnSpPr>
        <p:spPr>
          <a:xfrm flipH="1" rot="10800000">
            <a:off x="776325" y="2230600"/>
            <a:ext cx="4923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0" name="Google Shape;430;p38"/>
          <p:cNvSpPr txBox="1"/>
          <p:nvPr/>
        </p:nvSpPr>
        <p:spPr>
          <a:xfrm>
            <a:off x="838200" y="182880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/>
          </a:p>
        </p:txBody>
      </p:sp>
      <p:sp>
        <p:nvSpPr>
          <p:cNvPr id="431" name="Google Shape;431;p38"/>
          <p:cNvSpPr txBox="1"/>
          <p:nvPr/>
        </p:nvSpPr>
        <p:spPr>
          <a:xfrm>
            <a:off x="1249125" y="1946200"/>
            <a:ext cx="237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</a:rPr>
              <a:t>·</a:t>
            </a:r>
            <a:endParaRPr b="1" sz="2100"/>
          </a:p>
        </p:txBody>
      </p:sp>
      <p:pic>
        <p:nvPicPr>
          <p:cNvPr id="432" name="Google Shape;432;p38"/>
          <p:cNvPicPr preferRelativeResize="0"/>
          <p:nvPr/>
        </p:nvPicPr>
        <p:blipFill rotWithShape="1">
          <a:blip r:embed="rId3">
            <a:alphaModFix/>
          </a:blip>
          <a:srcRect b="38063" l="26620" r="26053" t="21542"/>
          <a:stretch/>
        </p:blipFill>
        <p:spPr>
          <a:xfrm>
            <a:off x="6106700" y="203575"/>
            <a:ext cx="2889101" cy="13871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ZNGIs can be confusing</a:t>
            </a:r>
            <a:endParaRPr/>
          </a:p>
        </p:txBody>
      </p:sp>
      <p:sp>
        <p:nvSpPr>
          <p:cNvPr id="438" name="Google Shape;438;p39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Chesson 2000 provides are more intuitive formulation</a:t>
            </a:r>
            <a:endParaRPr/>
          </a:p>
        </p:txBody>
      </p:sp>
      <p:sp>
        <p:nvSpPr>
          <p:cNvPr id="439" name="Google Shape;439;p39"/>
          <p:cNvSpPr txBox="1"/>
          <p:nvPr/>
        </p:nvSpPr>
        <p:spPr>
          <a:xfrm>
            <a:off x="1614525" y="17717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440" name="Google Shape;440;p39"/>
          <p:cNvSpPr txBox="1"/>
          <p:nvPr/>
        </p:nvSpPr>
        <p:spPr>
          <a:xfrm>
            <a:off x="1614525" y="2228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441" name="Google Shape;441;p39"/>
          <p:cNvCxnSpPr/>
          <p:nvPr/>
        </p:nvCxnSpPr>
        <p:spPr>
          <a:xfrm>
            <a:off x="1538325" y="22312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" name="Google Shape;442;p39"/>
          <p:cNvSpPr txBox="1"/>
          <p:nvPr/>
        </p:nvSpPr>
        <p:spPr>
          <a:xfrm>
            <a:off x="2301525" y="20003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43" name="Google Shape;443;p39"/>
          <p:cNvSpPr txBox="1"/>
          <p:nvPr/>
        </p:nvSpPr>
        <p:spPr>
          <a:xfrm>
            <a:off x="2658225" y="20003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(1 - 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i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j</a:t>
            </a:r>
            <a:r>
              <a:rPr lang="en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44" name="Google Shape;444;p39"/>
          <p:cNvSpPr txBox="1"/>
          <p:nvPr/>
        </p:nvSpPr>
        <p:spPr>
          <a:xfrm>
            <a:off x="5277525" y="228917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445" name="Google Shape;445;p39"/>
          <p:cNvSpPr txBox="1"/>
          <p:nvPr/>
        </p:nvSpPr>
        <p:spPr>
          <a:xfrm>
            <a:off x="831525" y="22289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/>
          </a:p>
        </p:txBody>
      </p:sp>
      <p:cxnSp>
        <p:nvCxnSpPr>
          <p:cNvPr id="446" name="Google Shape;446;p39"/>
          <p:cNvCxnSpPr/>
          <p:nvPr/>
        </p:nvCxnSpPr>
        <p:spPr>
          <a:xfrm flipH="1" rot="10800000">
            <a:off x="776325" y="2230600"/>
            <a:ext cx="4923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7" name="Google Shape;447;p39"/>
          <p:cNvSpPr txBox="1"/>
          <p:nvPr/>
        </p:nvSpPr>
        <p:spPr>
          <a:xfrm>
            <a:off x="838200" y="182880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/>
          </a:p>
        </p:txBody>
      </p:sp>
      <p:sp>
        <p:nvSpPr>
          <p:cNvPr id="448" name="Google Shape;448;p39"/>
          <p:cNvSpPr txBox="1"/>
          <p:nvPr/>
        </p:nvSpPr>
        <p:spPr>
          <a:xfrm>
            <a:off x="1249125" y="1946200"/>
            <a:ext cx="237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</a:rPr>
              <a:t>·</a:t>
            </a:r>
            <a:endParaRPr b="1" sz="2100"/>
          </a:p>
        </p:txBody>
      </p:sp>
      <p:sp>
        <p:nvSpPr>
          <p:cNvPr id="449" name="Google Shape;449;p39"/>
          <p:cNvSpPr txBox="1"/>
          <p:nvPr/>
        </p:nvSpPr>
        <p:spPr>
          <a:xfrm>
            <a:off x="668650" y="3164200"/>
            <a:ext cx="548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α’s here are absolute impact.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50" name="Google Shape;450;p39"/>
          <p:cNvPicPr preferRelativeResize="0"/>
          <p:nvPr/>
        </p:nvPicPr>
        <p:blipFill rotWithShape="1">
          <a:blip r:embed="rId3">
            <a:alphaModFix/>
          </a:blip>
          <a:srcRect b="38063" l="26620" r="26053" t="21542"/>
          <a:stretch/>
        </p:blipFill>
        <p:spPr>
          <a:xfrm>
            <a:off x="6106700" y="203575"/>
            <a:ext cx="2889101" cy="13871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456" name="Google Shape;456;p40"/>
          <p:cNvSpPr txBox="1"/>
          <p:nvPr>
            <p:ph idx="1" type="body"/>
          </p:nvPr>
        </p:nvSpPr>
        <p:spPr>
          <a:xfrm>
            <a:off x="311700" y="1152475"/>
            <a:ext cx="8520600" cy="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Both species need to be able to invade when rare, when other </a:t>
            </a:r>
            <a:r>
              <a:rPr lang="en"/>
              <a:t>species</a:t>
            </a:r>
            <a:r>
              <a:rPr lang="en"/>
              <a:t> is present</a:t>
            </a:r>
            <a:endParaRPr/>
          </a:p>
        </p:txBody>
      </p:sp>
      <p:sp>
        <p:nvSpPr>
          <p:cNvPr id="457" name="Google Shape;457;p40"/>
          <p:cNvSpPr txBox="1"/>
          <p:nvPr/>
        </p:nvSpPr>
        <p:spPr>
          <a:xfrm>
            <a:off x="1614525" y="17717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458" name="Google Shape;458;p40"/>
          <p:cNvSpPr txBox="1"/>
          <p:nvPr/>
        </p:nvSpPr>
        <p:spPr>
          <a:xfrm>
            <a:off x="1614525" y="2228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459" name="Google Shape;459;p40"/>
          <p:cNvCxnSpPr/>
          <p:nvPr/>
        </p:nvCxnSpPr>
        <p:spPr>
          <a:xfrm>
            <a:off x="1538325" y="22312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0" name="Google Shape;460;p40"/>
          <p:cNvSpPr txBox="1"/>
          <p:nvPr/>
        </p:nvSpPr>
        <p:spPr>
          <a:xfrm>
            <a:off x="2301525" y="20003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61" name="Google Shape;461;p40"/>
          <p:cNvSpPr txBox="1"/>
          <p:nvPr/>
        </p:nvSpPr>
        <p:spPr>
          <a:xfrm>
            <a:off x="2658225" y="20003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(1 - α</a:t>
            </a:r>
            <a:r>
              <a:rPr baseline="-25000" lang="en" sz="1800">
                <a:solidFill>
                  <a:schemeClr val="dk2"/>
                </a:solidFill>
              </a:rPr>
              <a:t>11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62" name="Google Shape;462;p40"/>
          <p:cNvSpPr txBox="1"/>
          <p:nvPr/>
        </p:nvSpPr>
        <p:spPr>
          <a:xfrm>
            <a:off x="831525" y="22289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/>
          </a:p>
        </p:txBody>
      </p:sp>
      <p:cxnSp>
        <p:nvCxnSpPr>
          <p:cNvPr id="463" name="Google Shape;463;p40"/>
          <p:cNvCxnSpPr/>
          <p:nvPr/>
        </p:nvCxnSpPr>
        <p:spPr>
          <a:xfrm flipH="1" rot="10800000">
            <a:off x="776325" y="2230600"/>
            <a:ext cx="4923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4" name="Google Shape;464;p40"/>
          <p:cNvSpPr txBox="1"/>
          <p:nvPr/>
        </p:nvSpPr>
        <p:spPr>
          <a:xfrm>
            <a:off x="838200" y="182880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/>
          </a:p>
        </p:txBody>
      </p:sp>
      <p:sp>
        <p:nvSpPr>
          <p:cNvPr id="465" name="Google Shape;465;p40"/>
          <p:cNvSpPr txBox="1"/>
          <p:nvPr/>
        </p:nvSpPr>
        <p:spPr>
          <a:xfrm>
            <a:off x="1249125" y="1946200"/>
            <a:ext cx="237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</a:rPr>
              <a:t>·</a:t>
            </a:r>
            <a:endParaRPr b="1" sz="2100"/>
          </a:p>
        </p:txBody>
      </p:sp>
      <p:sp>
        <p:nvSpPr>
          <p:cNvPr id="466" name="Google Shape;466;p40"/>
          <p:cNvSpPr txBox="1"/>
          <p:nvPr/>
        </p:nvSpPr>
        <p:spPr>
          <a:xfrm>
            <a:off x="-17150" y="3850000"/>
            <a:ext cx="548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α’s here are absolute impact.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472" name="Google Shape;472;p41"/>
          <p:cNvSpPr txBox="1"/>
          <p:nvPr>
            <p:ph idx="1" type="body"/>
          </p:nvPr>
        </p:nvSpPr>
        <p:spPr>
          <a:xfrm>
            <a:off x="311700" y="1152475"/>
            <a:ext cx="8520600" cy="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Both species need to be able to invade when rare, when other species is present</a:t>
            </a:r>
            <a:endParaRPr/>
          </a:p>
        </p:txBody>
      </p:sp>
      <p:sp>
        <p:nvSpPr>
          <p:cNvPr id="473" name="Google Shape;473;p41"/>
          <p:cNvSpPr txBox="1"/>
          <p:nvPr/>
        </p:nvSpPr>
        <p:spPr>
          <a:xfrm>
            <a:off x="1538325" y="2000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74" name="Google Shape;474;p41"/>
          <p:cNvSpPr txBox="1"/>
          <p:nvPr/>
        </p:nvSpPr>
        <p:spPr>
          <a:xfrm>
            <a:off x="2301525" y="20003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&lt;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75" name="Google Shape;475;p41"/>
          <p:cNvSpPr txBox="1"/>
          <p:nvPr/>
        </p:nvSpPr>
        <p:spPr>
          <a:xfrm>
            <a:off x="2658225" y="20003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(1 - α</a:t>
            </a:r>
            <a:r>
              <a:rPr baseline="-25000" lang="en" sz="1800">
                <a:solidFill>
                  <a:schemeClr val="dk2"/>
                </a:solidFill>
              </a:rPr>
              <a:t>11</a:t>
            </a:r>
            <a:r>
              <a:rPr lang="en" sz="1800">
                <a:solidFill>
                  <a:schemeClr val="dk2"/>
                </a:solidFill>
              </a:rPr>
              <a:t>0</a:t>
            </a:r>
            <a:r>
              <a:rPr baseline="-25000" lang="en" sz="1800">
                <a:solidFill>
                  <a:schemeClr val="dk2"/>
                </a:solidFill>
              </a:rPr>
              <a:t>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76" name="Google Shape;476;p41"/>
          <p:cNvSpPr txBox="1"/>
          <p:nvPr/>
        </p:nvSpPr>
        <p:spPr>
          <a:xfrm>
            <a:off x="-17150" y="3850000"/>
            <a:ext cx="548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α’s here are absolute impact.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482" name="Google Shape;482;p42"/>
          <p:cNvSpPr txBox="1"/>
          <p:nvPr>
            <p:ph idx="1" type="body"/>
          </p:nvPr>
        </p:nvSpPr>
        <p:spPr>
          <a:xfrm>
            <a:off x="311700" y="1152475"/>
            <a:ext cx="8520600" cy="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Both species need to be able to invade when rare, when other species is present</a:t>
            </a:r>
            <a:endParaRPr/>
          </a:p>
        </p:txBody>
      </p:sp>
      <p:sp>
        <p:nvSpPr>
          <p:cNvPr id="483" name="Google Shape;483;p42"/>
          <p:cNvSpPr txBox="1"/>
          <p:nvPr/>
        </p:nvSpPr>
        <p:spPr>
          <a:xfrm>
            <a:off x="242925" y="17717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84" name="Google Shape;484;p42"/>
          <p:cNvSpPr txBox="1"/>
          <p:nvPr/>
        </p:nvSpPr>
        <p:spPr>
          <a:xfrm>
            <a:off x="1006125" y="17717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&lt;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85" name="Google Shape;485;p42"/>
          <p:cNvSpPr txBox="1"/>
          <p:nvPr/>
        </p:nvSpPr>
        <p:spPr>
          <a:xfrm>
            <a:off x="1362825" y="17717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1 -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86" name="Google Shape;486;p42"/>
          <p:cNvSpPr txBox="1"/>
          <p:nvPr/>
        </p:nvSpPr>
        <p:spPr>
          <a:xfrm>
            <a:off x="-17150" y="3850000"/>
            <a:ext cx="548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α’s here are absolute impact.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492" name="Google Shape;492;p43"/>
          <p:cNvSpPr txBox="1"/>
          <p:nvPr>
            <p:ph idx="1" type="body"/>
          </p:nvPr>
        </p:nvSpPr>
        <p:spPr>
          <a:xfrm>
            <a:off x="311700" y="1152475"/>
            <a:ext cx="8520600" cy="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Both species need to be able to invade when rare, when other species is present</a:t>
            </a:r>
            <a:endParaRPr/>
          </a:p>
        </p:txBody>
      </p:sp>
      <p:sp>
        <p:nvSpPr>
          <p:cNvPr id="493" name="Google Shape;493;p43"/>
          <p:cNvSpPr txBox="1"/>
          <p:nvPr/>
        </p:nvSpPr>
        <p:spPr>
          <a:xfrm>
            <a:off x="242925" y="17717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94" name="Google Shape;494;p43"/>
          <p:cNvSpPr txBox="1"/>
          <p:nvPr/>
        </p:nvSpPr>
        <p:spPr>
          <a:xfrm>
            <a:off x="1006125" y="17717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&lt;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95" name="Google Shape;495;p43"/>
          <p:cNvSpPr txBox="1"/>
          <p:nvPr/>
        </p:nvSpPr>
        <p:spPr>
          <a:xfrm>
            <a:off x="1362825" y="17717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1 -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96" name="Google Shape;496;p43"/>
          <p:cNvSpPr txBox="1"/>
          <p:nvPr/>
        </p:nvSpPr>
        <p:spPr>
          <a:xfrm>
            <a:off x="-17150" y="3850000"/>
            <a:ext cx="548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α’s here are absolute impact.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97" name="Google Shape;497;p43"/>
          <p:cNvSpPr txBox="1"/>
          <p:nvPr/>
        </p:nvSpPr>
        <p:spPr>
          <a:xfrm>
            <a:off x="4738725" y="17717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498" name="Google Shape;498;p43"/>
          <p:cNvSpPr txBox="1"/>
          <p:nvPr/>
        </p:nvSpPr>
        <p:spPr>
          <a:xfrm>
            <a:off x="4738725" y="2228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499" name="Google Shape;499;p43"/>
          <p:cNvCxnSpPr/>
          <p:nvPr/>
        </p:nvCxnSpPr>
        <p:spPr>
          <a:xfrm>
            <a:off x="4662525" y="22312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0" name="Google Shape;500;p43"/>
          <p:cNvSpPr txBox="1"/>
          <p:nvPr/>
        </p:nvSpPr>
        <p:spPr>
          <a:xfrm>
            <a:off x="5425725" y="20003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01" name="Google Shape;501;p43"/>
          <p:cNvSpPr txBox="1"/>
          <p:nvPr/>
        </p:nvSpPr>
        <p:spPr>
          <a:xfrm>
            <a:off x="5782425" y="20003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(1 - α</a:t>
            </a:r>
            <a:r>
              <a:rPr baseline="-25000" lang="en" sz="1800">
                <a:solidFill>
                  <a:schemeClr val="dk2"/>
                </a:solidFill>
              </a:rPr>
              <a:t>22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02" name="Google Shape;502;p43"/>
          <p:cNvSpPr txBox="1"/>
          <p:nvPr/>
        </p:nvSpPr>
        <p:spPr>
          <a:xfrm>
            <a:off x="3955725" y="22289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/>
          </a:p>
        </p:txBody>
      </p:sp>
      <p:cxnSp>
        <p:nvCxnSpPr>
          <p:cNvPr id="503" name="Google Shape;503;p43"/>
          <p:cNvCxnSpPr/>
          <p:nvPr/>
        </p:nvCxnSpPr>
        <p:spPr>
          <a:xfrm flipH="1" rot="10800000">
            <a:off x="3900525" y="2230600"/>
            <a:ext cx="4923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4" name="Google Shape;504;p43"/>
          <p:cNvSpPr txBox="1"/>
          <p:nvPr/>
        </p:nvSpPr>
        <p:spPr>
          <a:xfrm>
            <a:off x="3962400" y="182880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/>
          </a:p>
        </p:txBody>
      </p:sp>
      <p:sp>
        <p:nvSpPr>
          <p:cNvPr id="505" name="Google Shape;505;p43"/>
          <p:cNvSpPr txBox="1"/>
          <p:nvPr/>
        </p:nvSpPr>
        <p:spPr>
          <a:xfrm>
            <a:off x="4373325" y="1946200"/>
            <a:ext cx="237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</a:rPr>
              <a:t>·</a:t>
            </a:r>
            <a:endParaRPr b="1" sz="2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511" name="Google Shape;511;p44"/>
          <p:cNvSpPr txBox="1"/>
          <p:nvPr>
            <p:ph idx="1" type="body"/>
          </p:nvPr>
        </p:nvSpPr>
        <p:spPr>
          <a:xfrm>
            <a:off x="311700" y="1152475"/>
            <a:ext cx="8520600" cy="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Both species need to be able to invade when rare, when other species is present</a:t>
            </a:r>
            <a:endParaRPr/>
          </a:p>
        </p:txBody>
      </p:sp>
      <p:sp>
        <p:nvSpPr>
          <p:cNvPr id="512" name="Google Shape;512;p44"/>
          <p:cNvSpPr txBox="1"/>
          <p:nvPr/>
        </p:nvSpPr>
        <p:spPr>
          <a:xfrm>
            <a:off x="242925" y="17717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13" name="Google Shape;513;p44"/>
          <p:cNvSpPr txBox="1"/>
          <p:nvPr/>
        </p:nvSpPr>
        <p:spPr>
          <a:xfrm>
            <a:off x="1006125" y="17717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&lt;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14" name="Google Shape;514;p44"/>
          <p:cNvSpPr txBox="1"/>
          <p:nvPr/>
        </p:nvSpPr>
        <p:spPr>
          <a:xfrm>
            <a:off x="1362825" y="17717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1 -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15" name="Google Shape;515;p44"/>
          <p:cNvSpPr txBox="1"/>
          <p:nvPr/>
        </p:nvSpPr>
        <p:spPr>
          <a:xfrm>
            <a:off x="-17150" y="3850000"/>
            <a:ext cx="548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α’s here are absolute impact.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16" name="Google Shape;516;p44"/>
          <p:cNvSpPr txBox="1"/>
          <p:nvPr/>
        </p:nvSpPr>
        <p:spPr>
          <a:xfrm>
            <a:off x="5425725" y="20003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17" name="Google Shape;517;p44"/>
          <p:cNvSpPr txBox="1"/>
          <p:nvPr/>
        </p:nvSpPr>
        <p:spPr>
          <a:xfrm>
            <a:off x="5782425" y="20003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(1 - α</a:t>
            </a:r>
            <a:r>
              <a:rPr baseline="-25000" lang="en" sz="1800">
                <a:solidFill>
                  <a:schemeClr val="dk2"/>
                </a:solidFill>
              </a:rPr>
              <a:t>22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- 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18" name="Google Shape;518;p44"/>
          <p:cNvSpPr txBox="1"/>
          <p:nvPr/>
        </p:nvSpPr>
        <p:spPr>
          <a:xfrm>
            <a:off x="5043525" y="2000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524" name="Google Shape;524;p45"/>
          <p:cNvSpPr txBox="1"/>
          <p:nvPr>
            <p:ph idx="1" type="body"/>
          </p:nvPr>
        </p:nvSpPr>
        <p:spPr>
          <a:xfrm>
            <a:off x="311700" y="1152475"/>
            <a:ext cx="8520600" cy="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Both species need to be able to invade when rare, when other species is present</a:t>
            </a:r>
            <a:endParaRPr/>
          </a:p>
        </p:txBody>
      </p:sp>
      <p:sp>
        <p:nvSpPr>
          <p:cNvPr id="525" name="Google Shape;525;p45"/>
          <p:cNvSpPr txBox="1"/>
          <p:nvPr/>
        </p:nvSpPr>
        <p:spPr>
          <a:xfrm>
            <a:off x="242925" y="17717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26" name="Google Shape;526;p45"/>
          <p:cNvSpPr txBox="1"/>
          <p:nvPr/>
        </p:nvSpPr>
        <p:spPr>
          <a:xfrm>
            <a:off x="1006125" y="17717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&lt;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27" name="Google Shape;527;p45"/>
          <p:cNvSpPr txBox="1"/>
          <p:nvPr/>
        </p:nvSpPr>
        <p:spPr>
          <a:xfrm>
            <a:off x="1362825" y="17717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1 -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28" name="Google Shape;528;p45"/>
          <p:cNvSpPr txBox="1"/>
          <p:nvPr/>
        </p:nvSpPr>
        <p:spPr>
          <a:xfrm>
            <a:off x="-17150" y="3850000"/>
            <a:ext cx="548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α’s here are absolute impact.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29" name="Google Shape;529;p45"/>
          <p:cNvSpPr txBox="1"/>
          <p:nvPr/>
        </p:nvSpPr>
        <p:spPr>
          <a:xfrm>
            <a:off x="5425725" y="20003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30" name="Google Shape;530;p45"/>
          <p:cNvSpPr txBox="1"/>
          <p:nvPr/>
        </p:nvSpPr>
        <p:spPr>
          <a:xfrm>
            <a:off x="5782425" y="20003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1 - α</a:t>
            </a:r>
            <a:r>
              <a:rPr baseline="-25000" lang="en" sz="1800">
                <a:solidFill>
                  <a:schemeClr val="dk2"/>
                </a:solidFill>
              </a:rPr>
              <a:t>22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31" name="Google Shape;531;p45"/>
          <p:cNvSpPr txBox="1"/>
          <p:nvPr/>
        </p:nvSpPr>
        <p:spPr>
          <a:xfrm>
            <a:off x="5043525" y="2000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537" name="Google Shape;537;p46"/>
          <p:cNvSpPr txBox="1"/>
          <p:nvPr>
            <p:ph idx="1" type="body"/>
          </p:nvPr>
        </p:nvSpPr>
        <p:spPr>
          <a:xfrm>
            <a:off x="311700" y="1152475"/>
            <a:ext cx="8520600" cy="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Both species need to be able to invade when rare, when other species is present</a:t>
            </a:r>
            <a:endParaRPr/>
          </a:p>
        </p:txBody>
      </p:sp>
      <p:sp>
        <p:nvSpPr>
          <p:cNvPr id="538" name="Google Shape;538;p46"/>
          <p:cNvSpPr txBox="1"/>
          <p:nvPr/>
        </p:nvSpPr>
        <p:spPr>
          <a:xfrm>
            <a:off x="242925" y="17717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39" name="Google Shape;539;p46"/>
          <p:cNvSpPr txBox="1"/>
          <p:nvPr/>
        </p:nvSpPr>
        <p:spPr>
          <a:xfrm>
            <a:off x="1006125" y="17717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&lt;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40" name="Google Shape;540;p46"/>
          <p:cNvSpPr txBox="1"/>
          <p:nvPr/>
        </p:nvSpPr>
        <p:spPr>
          <a:xfrm>
            <a:off x="1362825" y="17717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1 -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41" name="Google Shape;541;p46"/>
          <p:cNvSpPr txBox="1"/>
          <p:nvPr/>
        </p:nvSpPr>
        <p:spPr>
          <a:xfrm>
            <a:off x="-17150" y="3850000"/>
            <a:ext cx="548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α’s here are absolute impact.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42" name="Google Shape;542;p46"/>
          <p:cNvSpPr txBox="1"/>
          <p:nvPr/>
        </p:nvSpPr>
        <p:spPr>
          <a:xfrm>
            <a:off x="5425725" y="20003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43" name="Google Shape;543;p46"/>
          <p:cNvSpPr txBox="1"/>
          <p:nvPr/>
        </p:nvSpPr>
        <p:spPr>
          <a:xfrm>
            <a:off x="5782425" y="20003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44" name="Google Shape;544;p46"/>
          <p:cNvSpPr txBox="1"/>
          <p:nvPr/>
        </p:nvSpPr>
        <p:spPr>
          <a:xfrm>
            <a:off x="4792975" y="2000350"/>
            <a:ext cx="10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 α</a:t>
            </a:r>
            <a:r>
              <a:rPr baseline="-25000" lang="en" sz="1800">
                <a:solidFill>
                  <a:schemeClr val="dk2"/>
                </a:solidFill>
              </a:rPr>
              <a:t>22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550" name="Google Shape;550;p47"/>
          <p:cNvSpPr txBox="1"/>
          <p:nvPr>
            <p:ph idx="1" type="body"/>
          </p:nvPr>
        </p:nvSpPr>
        <p:spPr>
          <a:xfrm>
            <a:off x="311700" y="1152475"/>
            <a:ext cx="8520600" cy="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Both species need to be able to invade when rare, when other species is present</a:t>
            </a:r>
            <a:endParaRPr/>
          </a:p>
        </p:txBody>
      </p:sp>
      <p:sp>
        <p:nvSpPr>
          <p:cNvPr id="551" name="Google Shape;551;p47"/>
          <p:cNvSpPr txBox="1"/>
          <p:nvPr/>
        </p:nvSpPr>
        <p:spPr>
          <a:xfrm>
            <a:off x="242925" y="17717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2" name="Google Shape;552;p47"/>
          <p:cNvSpPr txBox="1"/>
          <p:nvPr/>
        </p:nvSpPr>
        <p:spPr>
          <a:xfrm>
            <a:off x="1006125" y="17717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&lt;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3" name="Google Shape;553;p47"/>
          <p:cNvSpPr txBox="1"/>
          <p:nvPr/>
        </p:nvSpPr>
        <p:spPr>
          <a:xfrm>
            <a:off x="1362825" y="17717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1 -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4" name="Google Shape;554;p47"/>
          <p:cNvSpPr txBox="1"/>
          <p:nvPr/>
        </p:nvSpPr>
        <p:spPr>
          <a:xfrm>
            <a:off x="-17150" y="3850000"/>
            <a:ext cx="548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α’s here are absolute impact.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5" name="Google Shape;555;p47"/>
          <p:cNvSpPr txBox="1"/>
          <p:nvPr/>
        </p:nvSpPr>
        <p:spPr>
          <a:xfrm>
            <a:off x="5425725" y="20003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6" name="Google Shape;556;p47"/>
          <p:cNvSpPr txBox="1"/>
          <p:nvPr/>
        </p:nvSpPr>
        <p:spPr>
          <a:xfrm>
            <a:off x="5782425" y="20003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7" name="Google Shape;557;p47"/>
          <p:cNvSpPr txBox="1"/>
          <p:nvPr/>
        </p:nvSpPr>
        <p:spPr>
          <a:xfrm>
            <a:off x="4792975" y="2000350"/>
            <a:ext cx="10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58" name="Google Shape;558;p47"/>
          <p:cNvCxnSpPr/>
          <p:nvPr/>
        </p:nvCxnSpPr>
        <p:spPr>
          <a:xfrm flipH="1" rot="10800000">
            <a:off x="5730475" y="2457400"/>
            <a:ext cx="6912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9" name="Google Shape;559;p47"/>
          <p:cNvSpPr txBox="1"/>
          <p:nvPr/>
        </p:nvSpPr>
        <p:spPr>
          <a:xfrm>
            <a:off x="5730475" y="2340900"/>
            <a:ext cx="69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22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565" name="Google Shape;565;p48"/>
          <p:cNvSpPr txBox="1"/>
          <p:nvPr>
            <p:ph idx="1" type="body"/>
          </p:nvPr>
        </p:nvSpPr>
        <p:spPr>
          <a:xfrm>
            <a:off x="311700" y="1152475"/>
            <a:ext cx="8520600" cy="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Both species need to be able to invade when rare, when other species is present</a:t>
            </a:r>
            <a:endParaRPr/>
          </a:p>
        </p:txBody>
      </p:sp>
      <p:sp>
        <p:nvSpPr>
          <p:cNvPr id="566" name="Google Shape;566;p48"/>
          <p:cNvSpPr txBox="1"/>
          <p:nvPr/>
        </p:nvSpPr>
        <p:spPr>
          <a:xfrm>
            <a:off x="242925" y="17717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7" name="Google Shape;567;p48"/>
          <p:cNvSpPr txBox="1"/>
          <p:nvPr/>
        </p:nvSpPr>
        <p:spPr>
          <a:xfrm>
            <a:off x="1006125" y="17717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&lt;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8" name="Google Shape;568;p48"/>
          <p:cNvSpPr txBox="1"/>
          <p:nvPr/>
        </p:nvSpPr>
        <p:spPr>
          <a:xfrm>
            <a:off x="1362825" y="17717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9" name="Google Shape;569;p48"/>
          <p:cNvSpPr txBox="1"/>
          <p:nvPr/>
        </p:nvSpPr>
        <p:spPr>
          <a:xfrm>
            <a:off x="-17150" y="3850000"/>
            <a:ext cx="548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α’s here are absolute impact.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0" name="Google Shape;570;p48"/>
          <p:cNvSpPr txBox="1"/>
          <p:nvPr/>
        </p:nvSpPr>
        <p:spPr>
          <a:xfrm>
            <a:off x="5425725" y="20003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1" name="Google Shape;571;p48"/>
          <p:cNvSpPr txBox="1"/>
          <p:nvPr/>
        </p:nvSpPr>
        <p:spPr>
          <a:xfrm>
            <a:off x="5782425" y="20003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2" name="Google Shape;572;p48"/>
          <p:cNvSpPr txBox="1"/>
          <p:nvPr/>
        </p:nvSpPr>
        <p:spPr>
          <a:xfrm>
            <a:off x="4792975" y="2000350"/>
            <a:ext cx="10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73" name="Google Shape;573;p48"/>
          <p:cNvCxnSpPr/>
          <p:nvPr/>
        </p:nvCxnSpPr>
        <p:spPr>
          <a:xfrm flipH="1" rot="10800000">
            <a:off x="5730475" y="2457400"/>
            <a:ext cx="6912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4" name="Google Shape;574;p48"/>
          <p:cNvSpPr txBox="1"/>
          <p:nvPr/>
        </p:nvSpPr>
        <p:spPr>
          <a:xfrm>
            <a:off x="5730475" y="2340900"/>
            <a:ext cx="69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22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580" name="Google Shape;580;p49"/>
          <p:cNvSpPr txBox="1"/>
          <p:nvPr>
            <p:ph idx="1" type="body"/>
          </p:nvPr>
        </p:nvSpPr>
        <p:spPr>
          <a:xfrm>
            <a:off x="311700" y="1152475"/>
            <a:ext cx="8520600" cy="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Both species need to be able to invade when rare, when other species is present</a:t>
            </a:r>
            <a:endParaRPr/>
          </a:p>
        </p:txBody>
      </p:sp>
      <p:sp>
        <p:nvSpPr>
          <p:cNvPr id="581" name="Google Shape;581;p49"/>
          <p:cNvSpPr txBox="1"/>
          <p:nvPr/>
        </p:nvSpPr>
        <p:spPr>
          <a:xfrm>
            <a:off x="242925" y="17717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2" name="Google Shape;582;p49"/>
          <p:cNvSpPr txBox="1"/>
          <p:nvPr/>
        </p:nvSpPr>
        <p:spPr>
          <a:xfrm>
            <a:off x="1006125" y="17717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&lt;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3" name="Google Shape;583;p49"/>
          <p:cNvSpPr txBox="1"/>
          <p:nvPr/>
        </p:nvSpPr>
        <p:spPr>
          <a:xfrm>
            <a:off x="1362825" y="17717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4" name="Google Shape;584;p49"/>
          <p:cNvSpPr txBox="1"/>
          <p:nvPr/>
        </p:nvSpPr>
        <p:spPr>
          <a:xfrm>
            <a:off x="-17150" y="3850000"/>
            <a:ext cx="548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α’s here are absolute impact.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5" name="Google Shape;585;p49"/>
          <p:cNvSpPr txBox="1"/>
          <p:nvPr/>
        </p:nvSpPr>
        <p:spPr>
          <a:xfrm>
            <a:off x="5425725" y="20003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6" name="Google Shape;586;p49"/>
          <p:cNvSpPr txBox="1"/>
          <p:nvPr/>
        </p:nvSpPr>
        <p:spPr>
          <a:xfrm>
            <a:off x="5782425" y="20003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7" name="Google Shape;587;p49"/>
          <p:cNvSpPr txBox="1"/>
          <p:nvPr/>
        </p:nvSpPr>
        <p:spPr>
          <a:xfrm>
            <a:off x="4792975" y="2000350"/>
            <a:ext cx="10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88" name="Google Shape;588;p49"/>
          <p:cNvCxnSpPr/>
          <p:nvPr/>
        </p:nvCxnSpPr>
        <p:spPr>
          <a:xfrm flipH="1" rot="10800000">
            <a:off x="5730475" y="2457400"/>
            <a:ext cx="6912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9" name="Google Shape;589;p49"/>
          <p:cNvSpPr txBox="1"/>
          <p:nvPr/>
        </p:nvSpPr>
        <p:spPr>
          <a:xfrm>
            <a:off x="5730475" y="2340900"/>
            <a:ext cx="69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22</a:t>
            </a:r>
            <a:endParaRPr/>
          </a:p>
        </p:txBody>
      </p:sp>
      <p:cxnSp>
        <p:nvCxnSpPr>
          <p:cNvPr id="590" name="Google Shape;590;p49"/>
          <p:cNvCxnSpPr/>
          <p:nvPr/>
        </p:nvCxnSpPr>
        <p:spPr>
          <a:xfrm rot="10800000">
            <a:off x="920350" y="2116900"/>
            <a:ext cx="3786900" cy="2286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0"/>
          <p:cNvSpPr txBox="1"/>
          <p:nvPr>
            <p:ph idx="1" type="body"/>
          </p:nvPr>
        </p:nvSpPr>
        <p:spPr>
          <a:xfrm>
            <a:off x="311700" y="1152475"/>
            <a:ext cx="8520600" cy="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Both species need to be able to invade when rare, when other species is present</a:t>
            </a:r>
            <a:endParaRPr/>
          </a:p>
        </p:txBody>
      </p:sp>
      <p:sp>
        <p:nvSpPr>
          <p:cNvPr id="596" name="Google Shape;596;p50"/>
          <p:cNvSpPr txBox="1"/>
          <p:nvPr/>
        </p:nvSpPr>
        <p:spPr>
          <a:xfrm>
            <a:off x="1539475" y="2000350"/>
            <a:ext cx="52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22</a:t>
            </a:r>
            <a:endParaRPr/>
          </a:p>
        </p:txBody>
      </p:sp>
      <p:sp>
        <p:nvSpPr>
          <p:cNvPr id="597" name="Google Shape;597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598" name="Google Shape;598;p50"/>
          <p:cNvSpPr txBox="1"/>
          <p:nvPr/>
        </p:nvSpPr>
        <p:spPr>
          <a:xfrm>
            <a:off x="1128675" y="1771750"/>
            <a:ext cx="48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99" name="Google Shape;599;p50"/>
          <p:cNvSpPr txBox="1"/>
          <p:nvPr/>
        </p:nvSpPr>
        <p:spPr>
          <a:xfrm>
            <a:off x="1920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&lt;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0" name="Google Shape;600;p50"/>
          <p:cNvSpPr txBox="1"/>
          <p:nvPr/>
        </p:nvSpPr>
        <p:spPr>
          <a:xfrm>
            <a:off x="2201025" y="1771750"/>
            <a:ext cx="48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1" name="Google Shape;601;p50"/>
          <p:cNvSpPr txBox="1"/>
          <p:nvPr/>
        </p:nvSpPr>
        <p:spPr>
          <a:xfrm>
            <a:off x="-17150" y="3850000"/>
            <a:ext cx="548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α’s here are absolute impact.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2" name="Google Shape;602;p50"/>
          <p:cNvSpPr txBox="1"/>
          <p:nvPr/>
        </p:nvSpPr>
        <p:spPr>
          <a:xfrm>
            <a:off x="1552425" y="16193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03" name="Google Shape;603;p50"/>
          <p:cNvCxnSpPr/>
          <p:nvPr/>
        </p:nvCxnSpPr>
        <p:spPr>
          <a:xfrm>
            <a:off x="1615575" y="2078650"/>
            <a:ext cx="2304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1"/>
          <p:cNvSpPr txBox="1"/>
          <p:nvPr>
            <p:ph idx="1" type="body"/>
          </p:nvPr>
        </p:nvSpPr>
        <p:spPr>
          <a:xfrm>
            <a:off x="311700" y="1152475"/>
            <a:ext cx="8520600" cy="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Both species need to be able to invade when rare, when other species is present</a:t>
            </a:r>
            <a:endParaRPr/>
          </a:p>
        </p:txBody>
      </p:sp>
      <p:sp>
        <p:nvSpPr>
          <p:cNvPr id="609" name="Google Shape;609;p51"/>
          <p:cNvSpPr txBox="1"/>
          <p:nvPr/>
        </p:nvSpPr>
        <p:spPr>
          <a:xfrm>
            <a:off x="1539475" y="2000350"/>
            <a:ext cx="52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611" name="Google Shape;611;p51"/>
          <p:cNvSpPr txBox="1"/>
          <p:nvPr/>
        </p:nvSpPr>
        <p:spPr>
          <a:xfrm>
            <a:off x="1585875" y="1809850"/>
            <a:ext cx="48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12" name="Google Shape;612;p51"/>
          <p:cNvSpPr txBox="1"/>
          <p:nvPr/>
        </p:nvSpPr>
        <p:spPr>
          <a:xfrm>
            <a:off x="1920525" y="18098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&lt;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13" name="Google Shape;613;p51"/>
          <p:cNvSpPr txBox="1"/>
          <p:nvPr/>
        </p:nvSpPr>
        <p:spPr>
          <a:xfrm>
            <a:off x="2201025" y="1809850"/>
            <a:ext cx="48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22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14" name="Google Shape;614;p51"/>
          <p:cNvSpPr txBox="1"/>
          <p:nvPr/>
        </p:nvSpPr>
        <p:spPr>
          <a:xfrm>
            <a:off x="-17150" y="3850000"/>
            <a:ext cx="548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α’s here are absolute impact.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620" name="Google Shape;620;p52"/>
          <p:cNvSpPr txBox="1"/>
          <p:nvPr>
            <p:ph idx="1" type="body"/>
          </p:nvPr>
        </p:nvSpPr>
        <p:spPr>
          <a:xfrm>
            <a:off x="311700" y="1152475"/>
            <a:ext cx="8520600" cy="20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order to coexist: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α</a:t>
            </a:r>
            <a:r>
              <a:rPr baseline="-25000" lang="en"/>
              <a:t>ii </a:t>
            </a:r>
            <a:r>
              <a:rPr lang="en"/>
              <a:t>&gt; α</a:t>
            </a:r>
            <a:r>
              <a:rPr baseline="-25000" lang="en"/>
              <a:t>ji</a:t>
            </a:r>
            <a:endParaRPr baseline="-25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α</a:t>
            </a:r>
            <a:r>
              <a:rPr baseline="-25000" lang="en"/>
              <a:t>jj </a:t>
            </a:r>
            <a:r>
              <a:rPr lang="en"/>
              <a:t>&gt; α</a:t>
            </a:r>
            <a:r>
              <a:rPr baseline="-25000" lang="en"/>
              <a:t>ij</a:t>
            </a:r>
            <a:endParaRPr baseline="-25000"/>
          </a:p>
        </p:txBody>
      </p:sp>
      <p:sp>
        <p:nvSpPr>
          <p:cNvPr id="621" name="Google Shape;621;p52"/>
          <p:cNvSpPr txBox="1"/>
          <p:nvPr/>
        </p:nvSpPr>
        <p:spPr>
          <a:xfrm>
            <a:off x="40000" y="4107175"/>
            <a:ext cx="548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22" name="Google Shape;622;p52"/>
          <p:cNvPicPr preferRelativeResize="0"/>
          <p:nvPr/>
        </p:nvPicPr>
        <p:blipFill rotWithShape="1">
          <a:blip r:embed="rId3">
            <a:alphaModFix/>
          </a:blip>
          <a:srcRect b="38063" l="26620" r="26053" t="21542"/>
          <a:stretch/>
        </p:blipFill>
        <p:spPr>
          <a:xfrm>
            <a:off x="6106700" y="203575"/>
            <a:ext cx="2889101" cy="13871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628" name="Google Shape;628;p53"/>
          <p:cNvSpPr txBox="1"/>
          <p:nvPr>
            <p:ph idx="1" type="body"/>
          </p:nvPr>
        </p:nvSpPr>
        <p:spPr>
          <a:xfrm>
            <a:off x="311700" y="1152475"/>
            <a:ext cx="8520600" cy="20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order to coexist: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α</a:t>
            </a:r>
            <a:r>
              <a:rPr baseline="-25000" lang="en"/>
              <a:t>ii </a:t>
            </a:r>
            <a:r>
              <a:rPr lang="en"/>
              <a:t>&gt; α</a:t>
            </a:r>
            <a:r>
              <a:rPr baseline="-25000" lang="en"/>
              <a:t>ji</a:t>
            </a:r>
            <a:endParaRPr baseline="-25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α</a:t>
            </a:r>
            <a:r>
              <a:rPr baseline="-25000" lang="en"/>
              <a:t>jj </a:t>
            </a:r>
            <a:r>
              <a:rPr lang="en"/>
              <a:t>&gt; α</a:t>
            </a:r>
            <a:r>
              <a:rPr baseline="-25000" lang="en"/>
              <a:t>ij</a:t>
            </a:r>
            <a:endParaRPr baseline="-25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 other words: </a:t>
            </a:r>
            <a:r>
              <a:rPr b="1" lang="en"/>
              <a:t>to coexist, species need to limit themselves more than they limit their competitors</a:t>
            </a:r>
            <a:endParaRPr b="1"/>
          </a:p>
        </p:txBody>
      </p:sp>
      <p:sp>
        <p:nvSpPr>
          <p:cNvPr id="629" name="Google Shape;629;p53"/>
          <p:cNvSpPr txBox="1"/>
          <p:nvPr/>
        </p:nvSpPr>
        <p:spPr>
          <a:xfrm>
            <a:off x="40000" y="4107175"/>
            <a:ext cx="548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30" name="Google Shape;630;p53"/>
          <p:cNvPicPr preferRelativeResize="0"/>
          <p:nvPr/>
        </p:nvPicPr>
        <p:blipFill rotWithShape="1">
          <a:blip r:embed="rId3">
            <a:alphaModFix/>
          </a:blip>
          <a:srcRect b="38063" l="26620" r="26053" t="21542"/>
          <a:stretch/>
        </p:blipFill>
        <p:spPr>
          <a:xfrm>
            <a:off x="6106700" y="203575"/>
            <a:ext cx="2889101" cy="13871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Coexistence criteria</a:t>
            </a:r>
            <a:endParaRPr/>
          </a:p>
        </p:txBody>
      </p:sp>
      <p:sp>
        <p:nvSpPr>
          <p:cNvPr id="636" name="Google Shape;636;p54"/>
          <p:cNvSpPr txBox="1"/>
          <p:nvPr>
            <p:ph idx="1" type="body"/>
          </p:nvPr>
        </p:nvSpPr>
        <p:spPr>
          <a:xfrm>
            <a:off x="311700" y="1152475"/>
            <a:ext cx="8520600" cy="20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order to coexist: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α</a:t>
            </a:r>
            <a:r>
              <a:rPr baseline="-25000" lang="en"/>
              <a:t>ii </a:t>
            </a:r>
            <a:r>
              <a:rPr lang="en"/>
              <a:t>&gt; α</a:t>
            </a:r>
            <a:r>
              <a:rPr baseline="-25000" lang="en"/>
              <a:t>ji</a:t>
            </a:r>
            <a:endParaRPr baseline="-25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α</a:t>
            </a:r>
            <a:r>
              <a:rPr baseline="-25000" lang="en"/>
              <a:t>jj </a:t>
            </a:r>
            <a:r>
              <a:rPr lang="en"/>
              <a:t>&gt; α</a:t>
            </a:r>
            <a:r>
              <a:rPr baseline="-25000" lang="en"/>
              <a:t>ij</a:t>
            </a:r>
            <a:endParaRPr baseline="-25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 other words: </a:t>
            </a:r>
            <a:r>
              <a:rPr b="1" lang="en"/>
              <a:t>to coexist, species need to limit themselves more than they limit their competitors</a:t>
            </a:r>
            <a:endParaRPr b="1"/>
          </a:p>
        </p:txBody>
      </p:sp>
      <p:sp>
        <p:nvSpPr>
          <p:cNvPr id="637" name="Google Shape;637;p54"/>
          <p:cNvSpPr txBox="1"/>
          <p:nvPr/>
        </p:nvSpPr>
        <p:spPr>
          <a:xfrm>
            <a:off x="40000" y="4107175"/>
            <a:ext cx="548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= intraspecific competition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ij</a:t>
            </a:r>
            <a:r>
              <a:rPr lang="en" sz="1800">
                <a:solidFill>
                  <a:schemeClr val="dk2"/>
                </a:solidFill>
              </a:rPr>
              <a:t> = interspecific competition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38" name="Google Shape;638;p54"/>
          <p:cNvCxnSpPr>
            <a:endCxn id="639" idx="1"/>
          </p:cNvCxnSpPr>
          <p:nvPr/>
        </p:nvCxnSpPr>
        <p:spPr>
          <a:xfrm flipH="1" rot="10800000">
            <a:off x="4916800" y="2102125"/>
            <a:ext cx="1143000" cy="3477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39" name="Google Shape;639;p54"/>
          <p:cNvSpPr txBox="1"/>
          <p:nvPr/>
        </p:nvSpPr>
        <p:spPr>
          <a:xfrm>
            <a:off x="6059800" y="1732675"/>
            <a:ext cx="236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IMPORTANT: </a:t>
            </a:r>
            <a:endParaRPr b="1" sz="18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WILL BE ON A TEST</a:t>
            </a:r>
            <a:endParaRPr sz="1800">
              <a:solidFill>
                <a:srgbClr val="980000"/>
              </a:solidFill>
            </a:endParaRPr>
          </a:p>
        </p:txBody>
      </p:sp>
      <p:pic>
        <p:nvPicPr>
          <p:cNvPr id="640" name="Google Shape;640;p54"/>
          <p:cNvPicPr preferRelativeResize="0"/>
          <p:nvPr/>
        </p:nvPicPr>
        <p:blipFill rotWithShape="1">
          <a:blip r:embed="rId3">
            <a:alphaModFix/>
          </a:blip>
          <a:srcRect b="38063" l="26620" r="26053" t="21542"/>
          <a:stretch/>
        </p:blipFill>
        <p:spPr>
          <a:xfrm>
            <a:off x="6106700" y="203575"/>
            <a:ext cx="2889101" cy="13871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competition</a:t>
            </a:r>
            <a:endParaRPr/>
          </a:p>
        </p:txBody>
      </p:sp>
      <p:sp>
        <p:nvSpPr>
          <p:cNvPr id="646" name="Google Shape;646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far we’ve been talking about competition in terms of reduction in growth rate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But competition usually isn’t actually species interacting with each other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It usually involves shared resources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Resource models are more mechanistic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competition</a:t>
            </a:r>
            <a:endParaRPr/>
          </a:p>
        </p:txBody>
      </p:sp>
      <p:sp>
        <p:nvSpPr>
          <p:cNvPr id="652" name="Google Shape;652;p56"/>
          <p:cNvSpPr/>
          <p:nvPr/>
        </p:nvSpPr>
        <p:spPr>
          <a:xfrm>
            <a:off x="1230625" y="13335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A</a:t>
            </a:r>
            <a:endParaRPr/>
          </a:p>
        </p:txBody>
      </p:sp>
      <p:sp>
        <p:nvSpPr>
          <p:cNvPr id="653" name="Google Shape;653;p56"/>
          <p:cNvSpPr/>
          <p:nvPr/>
        </p:nvSpPr>
        <p:spPr>
          <a:xfrm>
            <a:off x="5345425" y="13335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B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competition</a:t>
            </a:r>
            <a:endParaRPr/>
          </a:p>
        </p:txBody>
      </p:sp>
      <p:sp>
        <p:nvSpPr>
          <p:cNvPr id="659" name="Google Shape;659;p57"/>
          <p:cNvSpPr/>
          <p:nvPr/>
        </p:nvSpPr>
        <p:spPr>
          <a:xfrm>
            <a:off x="1230625" y="13335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A</a:t>
            </a:r>
            <a:endParaRPr/>
          </a:p>
        </p:txBody>
      </p:sp>
      <p:sp>
        <p:nvSpPr>
          <p:cNvPr id="660" name="Google Shape;660;p57"/>
          <p:cNvSpPr/>
          <p:nvPr/>
        </p:nvSpPr>
        <p:spPr>
          <a:xfrm>
            <a:off x="5345425" y="13335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B</a:t>
            </a:r>
            <a:endParaRPr/>
          </a:p>
        </p:txBody>
      </p:sp>
      <p:cxnSp>
        <p:nvCxnSpPr>
          <p:cNvPr id="661" name="Google Shape;661;p57"/>
          <p:cNvCxnSpPr/>
          <p:nvPr/>
        </p:nvCxnSpPr>
        <p:spPr>
          <a:xfrm flipH="1">
            <a:off x="3269125" y="1419225"/>
            <a:ext cx="1923900" cy="28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2" name="Google Shape;662;p57"/>
          <p:cNvCxnSpPr/>
          <p:nvPr/>
        </p:nvCxnSpPr>
        <p:spPr>
          <a:xfrm flipH="1" rot="10800000">
            <a:off x="3316600" y="1847700"/>
            <a:ext cx="1790700" cy="1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competition</a:t>
            </a:r>
            <a:endParaRPr/>
          </a:p>
        </p:txBody>
      </p:sp>
      <p:sp>
        <p:nvSpPr>
          <p:cNvPr id="668" name="Google Shape;668;p58"/>
          <p:cNvSpPr/>
          <p:nvPr/>
        </p:nvSpPr>
        <p:spPr>
          <a:xfrm>
            <a:off x="1230625" y="13335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A</a:t>
            </a:r>
            <a:endParaRPr/>
          </a:p>
        </p:txBody>
      </p:sp>
      <p:sp>
        <p:nvSpPr>
          <p:cNvPr id="669" name="Google Shape;669;p58"/>
          <p:cNvSpPr/>
          <p:nvPr/>
        </p:nvSpPr>
        <p:spPr>
          <a:xfrm>
            <a:off x="5345425" y="13335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B</a:t>
            </a:r>
            <a:endParaRPr/>
          </a:p>
        </p:txBody>
      </p:sp>
      <p:cxnSp>
        <p:nvCxnSpPr>
          <p:cNvPr id="670" name="Google Shape;670;p58"/>
          <p:cNvCxnSpPr/>
          <p:nvPr/>
        </p:nvCxnSpPr>
        <p:spPr>
          <a:xfrm flipH="1">
            <a:off x="3269125" y="1419225"/>
            <a:ext cx="1923900" cy="28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1" name="Google Shape;671;p58"/>
          <p:cNvCxnSpPr/>
          <p:nvPr/>
        </p:nvCxnSpPr>
        <p:spPr>
          <a:xfrm flipH="1" rot="10800000">
            <a:off x="3316600" y="1847700"/>
            <a:ext cx="1790700" cy="1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2" name="Google Shape;672;p58"/>
          <p:cNvSpPr/>
          <p:nvPr/>
        </p:nvSpPr>
        <p:spPr>
          <a:xfrm>
            <a:off x="3726100" y="3429000"/>
            <a:ext cx="1381200" cy="13146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competition</a:t>
            </a:r>
            <a:endParaRPr/>
          </a:p>
        </p:txBody>
      </p:sp>
      <p:sp>
        <p:nvSpPr>
          <p:cNvPr id="678" name="Google Shape;678;p59"/>
          <p:cNvSpPr/>
          <p:nvPr/>
        </p:nvSpPr>
        <p:spPr>
          <a:xfrm>
            <a:off x="1230625" y="13335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A</a:t>
            </a:r>
            <a:endParaRPr/>
          </a:p>
        </p:txBody>
      </p:sp>
      <p:sp>
        <p:nvSpPr>
          <p:cNvPr id="679" name="Google Shape;679;p59"/>
          <p:cNvSpPr/>
          <p:nvPr/>
        </p:nvSpPr>
        <p:spPr>
          <a:xfrm>
            <a:off x="5345425" y="13335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B</a:t>
            </a:r>
            <a:endParaRPr/>
          </a:p>
        </p:txBody>
      </p:sp>
      <p:sp>
        <p:nvSpPr>
          <p:cNvPr id="680" name="Google Shape;680;p59"/>
          <p:cNvSpPr/>
          <p:nvPr/>
        </p:nvSpPr>
        <p:spPr>
          <a:xfrm>
            <a:off x="3726100" y="3429000"/>
            <a:ext cx="1381200" cy="13146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</a:t>
            </a:r>
            <a:endParaRPr/>
          </a:p>
        </p:txBody>
      </p:sp>
      <p:cxnSp>
        <p:nvCxnSpPr>
          <p:cNvPr id="681" name="Google Shape;681;p59"/>
          <p:cNvCxnSpPr>
            <a:stCxn id="678" idx="2"/>
            <a:endCxn id="680" idx="1"/>
          </p:cNvCxnSpPr>
          <p:nvPr/>
        </p:nvCxnSpPr>
        <p:spPr>
          <a:xfrm>
            <a:off x="2121175" y="2067000"/>
            <a:ext cx="1807200" cy="1554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2" name="Google Shape;682;p59"/>
          <p:cNvCxnSpPr>
            <a:stCxn id="680" idx="7"/>
            <a:endCxn id="679" idx="2"/>
          </p:cNvCxnSpPr>
          <p:nvPr/>
        </p:nvCxnSpPr>
        <p:spPr>
          <a:xfrm flipH="1" rot="10800000">
            <a:off x="4905028" y="2066919"/>
            <a:ext cx="1330800" cy="1554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3" name="Google Shape;683;p59"/>
          <p:cNvCxnSpPr>
            <a:stCxn id="680" idx="2"/>
          </p:cNvCxnSpPr>
          <p:nvPr/>
        </p:nvCxnSpPr>
        <p:spPr>
          <a:xfrm rot="10800000">
            <a:off x="1611700" y="2114700"/>
            <a:ext cx="2114400" cy="1971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4" name="Google Shape;684;p59"/>
          <p:cNvCxnSpPr/>
          <p:nvPr/>
        </p:nvCxnSpPr>
        <p:spPr>
          <a:xfrm flipH="1">
            <a:off x="5097925" y="2143125"/>
            <a:ext cx="1542900" cy="1704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competition</a:t>
            </a:r>
            <a:endParaRPr/>
          </a:p>
        </p:txBody>
      </p:sp>
      <p:sp>
        <p:nvSpPr>
          <p:cNvPr id="690" name="Google Shape;690;p60"/>
          <p:cNvSpPr/>
          <p:nvPr/>
        </p:nvSpPr>
        <p:spPr>
          <a:xfrm>
            <a:off x="1230625" y="13335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A</a:t>
            </a:r>
            <a:endParaRPr/>
          </a:p>
        </p:txBody>
      </p:sp>
      <p:sp>
        <p:nvSpPr>
          <p:cNvPr id="691" name="Google Shape;691;p60"/>
          <p:cNvSpPr/>
          <p:nvPr/>
        </p:nvSpPr>
        <p:spPr>
          <a:xfrm>
            <a:off x="5345425" y="13335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B</a:t>
            </a:r>
            <a:endParaRPr/>
          </a:p>
        </p:txBody>
      </p:sp>
      <p:sp>
        <p:nvSpPr>
          <p:cNvPr id="692" name="Google Shape;692;p60"/>
          <p:cNvSpPr/>
          <p:nvPr/>
        </p:nvSpPr>
        <p:spPr>
          <a:xfrm>
            <a:off x="3726100" y="3429000"/>
            <a:ext cx="1381200" cy="13146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</a:t>
            </a:r>
            <a:endParaRPr/>
          </a:p>
        </p:txBody>
      </p:sp>
      <p:cxnSp>
        <p:nvCxnSpPr>
          <p:cNvPr id="693" name="Google Shape;693;p60"/>
          <p:cNvCxnSpPr>
            <a:stCxn id="690" idx="2"/>
            <a:endCxn id="692" idx="1"/>
          </p:cNvCxnSpPr>
          <p:nvPr/>
        </p:nvCxnSpPr>
        <p:spPr>
          <a:xfrm>
            <a:off x="2121175" y="2067000"/>
            <a:ext cx="1807200" cy="15546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4" name="Google Shape;694;p60"/>
          <p:cNvCxnSpPr>
            <a:stCxn id="692" idx="7"/>
            <a:endCxn id="691" idx="2"/>
          </p:cNvCxnSpPr>
          <p:nvPr/>
        </p:nvCxnSpPr>
        <p:spPr>
          <a:xfrm flipH="1" rot="10800000">
            <a:off x="4905028" y="2066919"/>
            <a:ext cx="1330800" cy="1554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5" name="Google Shape;695;p60"/>
          <p:cNvCxnSpPr>
            <a:stCxn id="692" idx="2"/>
          </p:cNvCxnSpPr>
          <p:nvPr/>
        </p:nvCxnSpPr>
        <p:spPr>
          <a:xfrm rot="10800000">
            <a:off x="1611700" y="2114700"/>
            <a:ext cx="2114400" cy="19716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6" name="Google Shape;696;p60"/>
          <p:cNvCxnSpPr/>
          <p:nvPr/>
        </p:nvCxnSpPr>
        <p:spPr>
          <a:xfrm flipH="1">
            <a:off x="5097925" y="2143125"/>
            <a:ext cx="1542900" cy="1704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7" name="Google Shape;697;p60"/>
          <p:cNvSpPr txBox="1"/>
          <p:nvPr/>
        </p:nvSpPr>
        <p:spPr>
          <a:xfrm>
            <a:off x="754450" y="2800350"/>
            <a:ext cx="178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Intraspecific </a:t>
            </a:r>
            <a:r>
              <a:rPr b="1" lang="en" sz="1800">
                <a:solidFill>
                  <a:srgbClr val="980000"/>
                </a:solidFill>
              </a:rPr>
              <a:t>competition</a:t>
            </a:r>
            <a:endParaRPr b="1" sz="18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competition</a:t>
            </a:r>
            <a:endParaRPr/>
          </a:p>
        </p:txBody>
      </p:sp>
      <p:sp>
        <p:nvSpPr>
          <p:cNvPr id="703" name="Google Shape;703;p61"/>
          <p:cNvSpPr/>
          <p:nvPr/>
        </p:nvSpPr>
        <p:spPr>
          <a:xfrm>
            <a:off x="1230625" y="13335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A</a:t>
            </a:r>
            <a:endParaRPr/>
          </a:p>
        </p:txBody>
      </p:sp>
      <p:sp>
        <p:nvSpPr>
          <p:cNvPr id="704" name="Google Shape;704;p61"/>
          <p:cNvSpPr/>
          <p:nvPr/>
        </p:nvSpPr>
        <p:spPr>
          <a:xfrm>
            <a:off x="5345425" y="13335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B</a:t>
            </a:r>
            <a:endParaRPr/>
          </a:p>
        </p:txBody>
      </p:sp>
      <p:sp>
        <p:nvSpPr>
          <p:cNvPr id="705" name="Google Shape;705;p61"/>
          <p:cNvSpPr/>
          <p:nvPr/>
        </p:nvSpPr>
        <p:spPr>
          <a:xfrm>
            <a:off x="3726100" y="3429000"/>
            <a:ext cx="1381200" cy="13146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</a:t>
            </a:r>
            <a:endParaRPr/>
          </a:p>
        </p:txBody>
      </p:sp>
      <p:cxnSp>
        <p:nvCxnSpPr>
          <p:cNvPr id="706" name="Google Shape;706;p61"/>
          <p:cNvCxnSpPr>
            <a:stCxn id="703" idx="2"/>
            <a:endCxn id="705" idx="1"/>
          </p:cNvCxnSpPr>
          <p:nvPr/>
        </p:nvCxnSpPr>
        <p:spPr>
          <a:xfrm>
            <a:off x="2121175" y="2067000"/>
            <a:ext cx="1807200" cy="15546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7" name="Google Shape;707;p61"/>
          <p:cNvCxnSpPr>
            <a:stCxn id="705" idx="7"/>
            <a:endCxn id="704" idx="2"/>
          </p:cNvCxnSpPr>
          <p:nvPr/>
        </p:nvCxnSpPr>
        <p:spPr>
          <a:xfrm flipH="1" rot="10800000">
            <a:off x="4905028" y="2066919"/>
            <a:ext cx="1330800" cy="15546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8" name="Google Shape;708;p61"/>
          <p:cNvCxnSpPr>
            <a:stCxn id="705" idx="2"/>
          </p:cNvCxnSpPr>
          <p:nvPr/>
        </p:nvCxnSpPr>
        <p:spPr>
          <a:xfrm rot="10800000">
            <a:off x="1611700" y="2114700"/>
            <a:ext cx="2114400" cy="1971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9" name="Google Shape;709;p61"/>
          <p:cNvCxnSpPr/>
          <p:nvPr/>
        </p:nvCxnSpPr>
        <p:spPr>
          <a:xfrm flipH="1">
            <a:off x="5097925" y="2143125"/>
            <a:ext cx="1542900" cy="1704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0" name="Google Shape;710;p61"/>
          <p:cNvSpPr txBox="1"/>
          <p:nvPr/>
        </p:nvSpPr>
        <p:spPr>
          <a:xfrm>
            <a:off x="3449950" y="1853913"/>
            <a:ext cx="1933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Interspecific </a:t>
            </a:r>
            <a:r>
              <a:rPr b="1" lang="en" sz="1800">
                <a:solidFill>
                  <a:srgbClr val="0000FF"/>
                </a:solidFill>
              </a:rPr>
              <a:t>competition</a:t>
            </a:r>
            <a:endParaRPr b="1" sz="18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competition models</a:t>
            </a:r>
            <a:endParaRPr/>
          </a:p>
        </p:txBody>
      </p:sp>
      <p:sp>
        <p:nvSpPr>
          <p:cNvPr id="716" name="Google Shape;716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is a resource?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competition models</a:t>
            </a:r>
            <a:endParaRPr/>
          </a:p>
        </p:txBody>
      </p:sp>
      <p:sp>
        <p:nvSpPr>
          <p:cNvPr id="722" name="Google Shape;722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resource?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Increases population growth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consumed by use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competition models</a:t>
            </a:r>
            <a:endParaRPr/>
          </a:p>
        </p:txBody>
      </p:sp>
      <p:sp>
        <p:nvSpPr>
          <p:cNvPr id="728" name="Google Shape;728;p64"/>
          <p:cNvSpPr txBox="1"/>
          <p:nvPr>
            <p:ph idx="1" type="body"/>
          </p:nvPr>
        </p:nvSpPr>
        <p:spPr>
          <a:xfrm>
            <a:off x="311700" y="1152475"/>
            <a:ext cx="8520600" cy="13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resource?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Increases population growth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consumed by use</a:t>
            </a:r>
            <a:endParaRPr/>
          </a:p>
        </p:txBody>
      </p:sp>
      <p:sp>
        <p:nvSpPr>
          <p:cNvPr id="729" name="Google Shape;729;p64"/>
          <p:cNvSpPr txBox="1"/>
          <p:nvPr/>
        </p:nvSpPr>
        <p:spPr>
          <a:xfrm>
            <a:off x="201925" y="2668900"/>
            <a:ext cx="5486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Resources: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Food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Nutrients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Water (but trivial in aquatic)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Light (for producers)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Oxygen (but trivial in terrestrial)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competition models</a:t>
            </a:r>
            <a:endParaRPr/>
          </a:p>
        </p:txBody>
      </p:sp>
      <p:sp>
        <p:nvSpPr>
          <p:cNvPr id="735" name="Google Shape;735;p65"/>
          <p:cNvSpPr txBox="1"/>
          <p:nvPr>
            <p:ph idx="1" type="body"/>
          </p:nvPr>
        </p:nvSpPr>
        <p:spPr>
          <a:xfrm>
            <a:off x="311700" y="1152475"/>
            <a:ext cx="8520600" cy="13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resource?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Increases population growth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consumed by use</a:t>
            </a:r>
            <a:endParaRPr/>
          </a:p>
        </p:txBody>
      </p:sp>
      <p:sp>
        <p:nvSpPr>
          <p:cNvPr id="736" name="Google Shape;736;p65"/>
          <p:cNvSpPr txBox="1"/>
          <p:nvPr/>
        </p:nvSpPr>
        <p:spPr>
          <a:xfrm>
            <a:off x="201925" y="2668900"/>
            <a:ext cx="5486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Resources: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Food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Nutrients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Water (but trivial in aquatic)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Light</a:t>
            </a:r>
            <a:r>
              <a:rPr lang="en" sz="1800">
                <a:solidFill>
                  <a:schemeClr val="dk2"/>
                </a:solidFill>
              </a:rPr>
              <a:t> (for producers)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Oxygen (but trivial in terrestrial)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7" name="Google Shape;737;p65"/>
          <p:cNvSpPr txBox="1"/>
          <p:nvPr/>
        </p:nvSpPr>
        <p:spPr>
          <a:xfrm>
            <a:off x="5459725" y="2668900"/>
            <a:ext cx="5486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NOT </a:t>
            </a:r>
            <a:r>
              <a:rPr b="1" lang="en" sz="1800">
                <a:solidFill>
                  <a:schemeClr val="dk2"/>
                </a:solidFill>
              </a:rPr>
              <a:t>Resources: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Temperature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Elevation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Pressure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R* Theory</a:t>
            </a:r>
            <a:endParaRPr/>
          </a:p>
        </p:txBody>
      </p:sp>
      <p:sp>
        <p:nvSpPr>
          <p:cNvPr id="743" name="Google Shape;743;p66"/>
          <p:cNvSpPr txBox="1"/>
          <p:nvPr/>
        </p:nvSpPr>
        <p:spPr>
          <a:xfrm>
            <a:off x="1233525" y="1238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744" name="Google Shape;744;p66"/>
          <p:cNvSpPr txBox="1"/>
          <p:nvPr/>
        </p:nvSpPr>
        <p:spPr>
          <a:xfrm>
            <a:off x="1233525" y="1695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745" name="Google Shape;745;p66"/>
          <p:cNvCxnSpPr/>
          <p:nvPr/>
        </p:nvCxnSpPr>
        <p:spPr>
          <a:xfrm>
            <a:off x="1157325" y="1697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6" name="Google Shape;746;p66"/>
          <p:cNvSpPr txBox="1"/>
          <p:nvPr/>
        </p:nvSpPr>
        <p:spPr>
          <a:xfrm>
            <a:off x="1920525" y="1466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7" name="Google Shape;747;p66"/>
          <p:cNvSpPr txBox="1"/>
          <p:nvPr/>
        </p:nvSpPr>
        <p:spPr>
          <a:xfrm>
            <a:off x="2277225" y="14669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 </a:t>
            </a:r>
            <a:r>
              <a:rPr lang="en" sz="1800">
                <a:solidFill>
                  <a:schemeClr val="dk2"/>
                </a:solidFill>
              </a:rPr>
              <a:t>- 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8" name="Google Shape;748;p66"/>
          <p:cNvSpPr txBox="1"/>
          <p:nvPr/>
        </p:nvSpPr>
        <p:spPr>
          <a:xfrm>
            <a:off x="450525" y="1695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/>
          </a:p>
        </p:txBody>
      </p:sp>
      <p:cxnSp>
        <p:nvCxnSpPr>
          <p:cNvPr id="749" name="Google Shape;749;p66"/>
          <p:cNvCxnSpPr/>
          <p:nvPr/>
        </p:nvCxnSpPr>
        <p:spPr>
          <a:xfrm flipH="1" rot="10800000">
            <a:off x="395325" y="1697200"/>
            <a:ext cx="4923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0" name="Google Shape;750;p66"/>
          <p:cNvSpPr txBox="1"/>
          <p:nvPr/>
        </p:nvSpPr>
        <p:spPr>
          <a:xfrm>
            <a:off x="457200" y="129540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/>
          </a:p>
        </p:txBody>
      </p:sp>
      <p:sp>
        <p:nvSpPr>
          <p:cNvPr id="751" name="Google Shape;751;p66"/>
          <p:cNvSpPr txBox="1"/>
          <p:nvPr/>
        </p:nvSpPr>
        <p:spPr>
          <a:xfrm>
            <a:off x="868125" y="1412800"/>
            <a:ext cx="237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</a:rPr>
              <a:t>·</a:t>
            </a:r>
            <a:endParaRPr b="1" sz="2100"/>
          </a:p>
        </p:txBody>
      </p:sp>
      <p:sp>
        <p:nvSpPr>
          <p:cNvPr id="752" name="Google Shape;752;p66"/>
          <p:cNvSpPr txBox="1"/>
          <p:nvPr/>
        </p:nvSpPr>
        <p:spPr>
          <a:xfrm>
            <a:off x="173350" y="3895725"/>
            <a:ext cx="548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 = resource availability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resource consumption rate of </a:t>
            </a:r>
            <a:r>
              <a:rPr lang="en" sz="1800">
                <a:solidFill>
                  <a:schemeClr val="dk2"/>
                </a:solidFill>
              </a:rPr>
              <a:t>species</a:t>
            </a:r>
            <a:r>
              <a:rPr lang="en" sz="1800">
                <a:solidFill>
                  <a:schemeClr val="dk2"/>
                </a:solidFill>
              </a:rPr>
              <a:t> 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death rate of species i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R* Theory</a:t>
            </a:r>
            <a:endParaRPr/>
          </a:p>
        </p:txBody>
      </p:sp>
      <p:sp>
        <p:nvSpPr>
          <p:cNvPr id="758" name="Google Shape;758;p67"/>
          <p:cNvSpPr txBox="1"/>
          <p:nvPr/>
        </p:nvSpPr>
        <p:spPr>
          <a:xfrm>
            <a:off x="1233525" y="1238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759" name="Google Shape;759;p67"/>
          <p:cNvSpPr txBox="1"/>
          <p:nvPr/>
        </p:nvSpPr>
        <p:spPr>
          <a:xfrm>
            <a:off x="1233525" y="1695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760" name="Google Shape;760;p67"/>
          <p:cNvCxnSpPr/>
          <p:nvPr/>
        </p:nvCxnSpPr>
        <p:spPr>
          <a:xfrm>
            <a:off x="1157325" y="1697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1" name="Google Shape;761;p67"/>
          <p:cNvSpPr txBox="1"/>
          <p:nvPr/>
        </p:nvSpPr>
        <p:spPr>
          <a:xfrm>
            <a:off x="1920525" y="1466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2" name="Google Shape;762;p67"/>
          <p:cNvSpPr txBox="1"/>
          <p:nvPr/>
        </p:nvSpPr>
        <p:spPr>
          <a:xfrm>
            <a:off x="2277225" y="14669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 </a:t>
            </a:r>
            <a:r>
              <a:rPr lang="en" sz="1800">
                <a:solidFill>
                  <a:schemeClr val="dk2"/>
                </a:solidFill>
              </a:rPr>
              <a:t>- 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3" name="Google Shape;763;p67"/>
          <p:cNvSpPr txBox="1"/>
          <p:nvPr/>
        </p:nvSpPr>
        <p:spPr>
          <a:xfrm>
            <a:off x="450525" y="1695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/>
          </a:p>
        </p:txBody>
      </p:sp>
      <p:cxnSp>
        <p:nvCxnSpPr>
          <p:cNvPr id="764" name="Google Shape;764;p67"/>
          <p:cNvCxnSpPr/>
          <p:nvPr/>
        </p:nvCxnSpPr>
        <p:spPr>
          <a:xfrm flipH="1" rot="10800000">
            <a:off x="395325" y="1697200"/>
            <a:ext cx="4923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5" name="Google Shape;765;p67"/>
          <p:cNvSpPr txBox="1"/>
          <p:nvPr/>
        </p:nvSpPr>
        <p:spPr>
          <a:xfrm>
            <a:off x="457200" y="129540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/>
          </a:p>
        </p:txBody>
      </p:sp>
      <p:sp>
        <p:nvSpPr>
          <p:cNvPr id="766" name="Google Shape;766;p67"/>
          <p:cNvSpPr txBox="1"/>
          <p:nvPr/>
        </p:nvSpPr>
        <p:spPr>
          <a:xfrm>
            <a:off x="868125" y="1412800"/>
            <a:ext cx="237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</a:rPr>
              <a:t>·</a:t>
            </a:r>
            <a:endParaRPr b="1" sz="2100"/>
          </a:p>
        </p:txBody>
      </p:sp>
      <p:sp>
        <p:nvSpPr>
          <p:cNvPr id="767" name="Google Shape;767;p67"/>
          <p:cNvSpPr txBox="1"/>
          <p:nvPr/>
        </p:nvSpPr>
        <p:spPr>
          <a:xfrm>
            <a:off x="173350" y="3895725"/>
            <a:ext cx="548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 = resource availability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resource consumption rate of species 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death rate of species i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8" name="Google Shape;768;p67"/>
          <p:cNvSpPr txBox="1"/>
          <p:nvPr/>
        </p:nvSpPr>
        <p:spPr>
          <a:xfrm>
            <a:off x="4050025" y="466725"/>
            <a:ext cx="51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is the minimum value of R needed?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R* Theory</a:t>
            </a:r>
            <a:endParaRPr/>
          </a:p>
        </p:txBody>
      </p:sp>
      <p:sp>
        <p:nvSpPr>
          <p:cNvPr id="774" name="Google Shape;774;p68"/>
          <p:cNvSpPr txBox="1"/>
          <p:nvPr/>
        </p:nvSpPr>
        <p:spPr>
          <a:xfrm>
            <a:off x="1614525" y="1466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775" name="Google Shape;775;p68"/>
          <p:cNvSpPr txBox="1"/>
          <p:nvPr/>
        </p:nvSpPr>
        <p:spPr>
          <a:xfrm>
            <a:off x="1920525" y="1466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6" name="Google Shape;776;p68"/>
          <p:cNvSpPr txBox="1"/>
          <p:nvPr/>
        </p:nvSpPr>
        <p:spPr>
          <a:xfrm>
            <a:off x="2277225" y="14669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 </a:t>
            </a:r>
            <a:r>
              <a:rPr lang="en" sz="1800">
                <a:solidFill>
                  <a:schemeClr val="dk2"/>
                </a:solidFill>
              </a:rPr>
              <a:t>- 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7" name="Google Shape;777;p68"/>
          <p:cNvSpPr txBox="1"/>
          <p:nvPr/>
        </p:nvSpPr>
        <p:spPr>
          <a:xfrm>
            <a:off x="173350" y="3895725"/>
            <a:ext cx="548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 = resource availability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resource consumption rate of species 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death rate of species i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8" name="Google Shape;778;p68"/>
          <p:cNvSpPr txBox="1"/>
          <p:nvPr/>
        </p:nvSpPr>
        <p:spPr>
          <a:xfrm>
            <a:off x="4050025" y="466725"/>
            <a:ext cx="51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is the minimum value of R needed?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R* Theory</a:t>
            </a:r>
            <a:endParaRPr/>
          </a:p>
        </p:txBody>
      </p:sp>
      <p:sp>
        <p:nvSpPr>
          <p:cNvPr id="784" name="Google Shape;784;p69"/>
          <p:cNvSpPr txBox="1"/>
          <p:nvPr/>
        </p:nvSpPr>
        <p:spPr>
          <a:xfrm>
            <a:off x="1538325" y="1314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785" name="Google Shape;785;p69"/>
          <p:cNvSpPr txBox="1"/>
          <p:nvPr/>
        </p:nvSpPr>
        <p:spPr>
          <a:xfrm>
            <a:off x="1920525" y="1466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6" name="Google Shape;786;p69"/>
          <p:cNvSpPr txBox="1"/>
          <p:nvPr/>
        </p:nvSpPr>
        <p:spPr>
          <a:xfrm>
            <a:off x="2277225" y="1466950"/>
            <a:ext cx="3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7" name="Google Shape;787;p69"/>
          <p:cNvSpPr txBox="1"/>
          <p:nvPr/>
        </p:nvSpPr>
        <p:spPr>
          <a:xfrm>
            <a:off x="173350" y="3895725"/>
            <a:ext cx="548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 = resource availability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resource consumption rate of species 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death rate of species i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8" name="Google Shape;788;p69"/>
          <p:cNvSpPr txBox="1"/>
          <p:nvPr/>
        </p:nvSpPr>
        <p:spPr>
          <a:xfrm>
            <a:off x="4050025" y="466725"/>
            <a:ext cx="51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is the minimum value of R needed?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9" name="Google Shape;789;p69"/>
          <p:cNvSpPr txBox="1"/>
          <p:nvPr/>
        </p:nvSpPr>
        <p:spPr>
          <a:xfrm>
            <a:off x="1517325" y="17717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/>
          </a:p>
        </p:txBody>
      </p:sp>
      <p:cxnSp>
        <p:nvCxnSpPr>
          <p:cNvPr id="790" name="Google Shape;790;p69"/>
          <p:cNvCxnSpPr/>
          <p:nvPr/>
        </p:nvCxnSpPr>
        <p:spPr>
          <a:xfrm flipH="1" rot="10800000">
            <a:off x="1462125" y="1773400"/>
            <a:ext cx="4923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R* Theory</a:t>
            </a:r>
            <a:endParaRPr/>
          </a:p>
        </p:txBody>
      </p:sp>
      <p:sp>
        <p:nvSpPr>
          <p:cNvPr id="796" name="Google Shape;796;p70"/>
          <p:cNvSpPr txBox="1"/>
          <p:nvPr/>
        </p:nvSpPr>
        <p:spPr>
          <a:xfrm>
            <a:off x="1538325" y="1314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797" name="Google Shape;797;p70"/>
          <p:cNvSpPr txBox="1"/>
          <p:nvPr/>
        </p:nvSpPr>
        <p:spPr>
          <a:xfrm>
            <a:off x="929925" y="1466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8" name="Google Shape;798;p70"/>
          <p:cNvSpPr txBox="1"/>
          <p:nvPr/>
        </p:nvSpPr>
        <p:spPr>
          <a:xfrm>
            <a:off x="354325" y="1466950"/>
            <a:ext cx="53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R*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9" name="Google Shape;799;p70"/>
          <p:cNvSpPr txBox="1"/>
          <p:nvPr/>
        </p:nvSpPr>
        <p:spPr>
          <a:xfrm>
            <a:off x="173350" y="3895725"/>
            <a:ext cx="548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 = resource availability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resource consumption rate of species 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death rate of species i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0" name="Google Shape;800;p70"/>
          <p:cNvSpPr txBox="1"/>
          <p:nvPr/>
        </p:nvSpPr>
        <p:spPr>
          <a:xfrm>
            <a:off x="4050025" y="466725"/>
            <a:ext cx="511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is the minimum value of R needed?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1" name="Google Shape;801;p70"/>
          <p:cNvSpPr txBox="1"/>
          <p:nvPr/>
        </p:nvSpPr>
        <p:spPr>
          <a:xfrm>
            <a:off x="1517325" y="17717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/>
          </a:p>
        </p:txBody>
      </p:sp>
      <p:cxnSp>
        <p:nvCxnSpPr>
          <p:cNvPr id="802" name="Google Shape;802;p70"/>
          <p:cNvCxnSpPr/>
          <p:nvPr/>
        </p:nvCxnSpPr>
        <p:spPr>
          <a:xfrm flipH="1" rot="10800000">
            <a:off x="1462125" y="1773400"/>
            <a:ext cx="4923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R* Theory</a:t>
            </a:r>
            <a:endParaRPr/>
          </a:p>
        </p:txBody>
      </p:sp>
      <p:sp>
        <p:nvSpPr>
          <p:cNvPr id="808" name="Google Shape;808;p71"/>
          <p:cNvSpPr txBox="1"/>
          <p:nvPr/>
        </p:nvSpPr>
        <p:spPr>
          <a:xfrm>
            <a:off x="1538325" y="1314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809" name="Google Shape;809;p71"/>
          <p:cNvSpPr txBox="1"/>
          <p:nvPr/>
        </p:nvSpPr>
        <p:spPr>
          <a:xfrm>
            <a:off x="929925" y="1466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0" name="Google Shape;810;p71"/>
          <p:cNvSpPr txBox="1"/>
          <p:nvPr/>
        </p:nvSpPr>
        <p:spPr>
          <a:xfrm>
            <a:off x="354325" y="1466950"/>
            <a:ext cx="53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R*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1" name="Google Shape;811;p71"/>
          <p:cNvSpPr txBox="1"/>
          <p:nvPr/>
        </p:nvSpPr>
        <p:spPr>
          <a:xfrm>
            <a:off x="173350" y="3895725"/>
            <a:ext cx="548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 = resource availability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resource consumption rate of species 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death rate of species i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2" name="Google Shape;812;p71"/>
          <p:cNvSpPr txBox="1"/>
          <p:nvPr/>
        </p:nvSpPr>
        <p:spPr>
          <a:xfrm>
            <a:off x="1517325" y="17717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/>
          </a:p>
        </p:txBody>
      </p:sp>
      <p:cxnSp>
        <p:nvCxnSpPr>
          <p:cNvPr id="813" name="Google Shape;813;p71"/>
          <p:cNvCxnSpPr/>
          <p:nvPr/>
        </p:nvCxnSpPr>
        <p:spPr>
          <a:xfrm flipH="1" rot="10800000">
            <a:off x="1462125" y="1773400"/>
            <a:ext cx="4923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4" name="Google Shape;814;p71"/>
          <p:cNvSpPr txBox="1"/>
          <p:nvPr/>
        </p:nvSpPr>
        <p:spPr>
          <a:xfrm>
            <a:off x="3507100" y="619125"/>
            <a:ext cx="5486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Minimum resources required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Will determine equilibrium abundance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Population will increase until it draws resources down to this level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Determined by death rate, consumption rate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R* determines who wins in competition</a:t>
            </a:r>
            <a:endParaRPr/>
          </a:p>
        </p:txBody>
      </p:sp>
      <p:sp>
        <p:nvSpPr>
          <p:cNvPr id="820" name="Google Shape;820;p72"/>
          <p:cNvSpPr txBox="1"/>
          <p:nvPr/>
        </p:nvSpPr>
        <p:spPr>
          <a:xfrm>
            <a:off x="1538325" y="1314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821" name="Google Shape;821;p72"/>
          <p:cNvSpPr txBox="1"/>
          <p:nvPr/>
        </p:nvSpPr>
        <p:spPr>
          <a:xfrm>
            <a:off x="929925" y="1466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2" name="Google Shape;822;p72"/>
          <p:cNvSpPr txBox="1"/>
          <p:nvPr/>
        </p:nvSpPr>
        <p:spPr>
          <a:xfrm>
            <a:off x="354325" y="1466950"/>
            <a:ext cx="53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R*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3" name="Google Shape;823;p72"/>
          <p:cNvSpPr txBox="1"/>
          <p:nvPr/>
        </p:nvSpPr>
        <p:spPr>
          <a:xfrm>
            <a:off x="173350" y="3895725"/>
            <a:ext cx="548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 = resource availability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resource consumption rate of species 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death rate of species i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4" name="Google Shape;824;p72"/>
          <p:cNvSpPr txBox="1"/>
          <p:nvPr/>
        </p:nvSpPr>
        <p:spPr>
          <a:xfrm>
            <a:off x="1517325" y="17717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/>
          </a:p>
        </p:txBody>
      </p:sp>
      <p:cxnSp>
        <p:nvCxnSpPr>
          <p:cNvPr id="825" name="Google Shape;825;p72"/>
          <p:cNvCxnSpPr/>
          <p:nvPr/>
        </p:nvCxnSpPr>
        <p:spPr>
          <a:xfrm flipH="1" rot="10800000">
            <a:off x="1462125" y="1773400"/>
            <a:ext cx="4923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6" name="Google Shape;826;p72"/>
          <p:cNvSpPr txBox="1"/>
          <p:nvPr/>
        </p:nvSpPr>
        <p:spPr>
          <a:xfrm>
            <a:off x="3154675" y="1276350"/>
            <a:ext cx="548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</a:t>
            </a:r>
            <a:r>
              <a:rPr lang="en" sz="1800">
                <a:solidFill>
                  <a:schemeClr val="dk2"/>
                </a:solidFill>
              </a:rPr>
              <a:t>species</a:t>
            </a:r>
            <a:r>
              <a:rPr lang="en" sz="1800">
                <a:solidFill>
                  <a:schemeClr val="dk2"/>
                </a:solidFill>
              </a:rPr>
              <a:t> with the lowest R* wins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Will draw resource down to a level that excludes all other species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R* determines who wins in competition</a:t>
            </a:r>
            <a:endParaRPr/>
          </a:p>
        </p:txBody>
      </p:sp>
      <p:sp>
        <p:nvSpPr>
          <p:cNvPr id="832" name="Google Shape;832;p73"/>
          <p:cNvSpPr txBox="1"/>
          <p:nvPr/>
        </p:nvSpPr>
        <p:spPr>
          <a:xfrm>
            <a:off x="1538325" y="1314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833" name="Google Shape;833;p73"/>
          <p:cNvSpPr txBox="1"/>
          <p:nvPr/>
        </p:nvSpPr>
        <p:spPr>
          <a:xfrm>
            <a:off x="929925" y="1466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354325" y="1466950"/>
            <a:ext cx="53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R*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173350" y="3895725"/>
            <a:ext cx="548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 = resource availability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resource consumption rate of species 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= death rate of species i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1517325" y="17717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endParaRPr/>
          </a:p>
        </p:txBody>
      </p:sp>
      <p:cxnSp>
        <p:nvCxnSpPr>
          <p:cNvPr id="837" name="Google Shape;837;p73"/>
          <p:cNvCxnSpPr/>
          <p:nvPr/>
        </p:nvCxnSpPr>
        <p:spPr>
          <a:xfrm flipH="1" rot="10800000">
            <a:off x="1462125" y="1773400"/>
            <a:ext cx="4923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8" name="Google Shape;838;p73"/>
          <p:cNvSpPr txBox="1"/>
          <p:nvPr/>
        </p:nvSpPr>
        <p:spPr>
          <a:xfrm>
            <a:off x="3154675" y="1276350"/>
            <a:ext cx="5486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species with the lowest R* wins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Will draw resource down to a level that excludes all other species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Note this is only true for species limited by a single resource under constant conditions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But is still useful generally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 for multiple resources</a:t>
            </a:r>
            <a:endParaRPr/>
          </a:p>
        </p:txBody>
      </p:sp>
      <p:sp>
        <p:nvSpPr>
          <p:cNvPr id="844" name="Google Shape;844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Gets a lot trickier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Resources can be essential vs </a:t>
            </a:r>
            <a:r>
              <a:rPr lang="en"/>
              <a:t>substitutable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 for multiple resources</a:t>
            </a:r>
            <a:endParaRPr/>
          </a:p>
        </p:txBody>
      </p:sp>
      <p:sp>
        <p:nvSpPr>
          <p:cNvPr id="850" name="Google Shape;850;p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order to stably coexist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Species need to differ in resource usage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Species need to have a larger impact on the resources that are most limiting for them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 for multiple resources</a:t>
            </a:r>
            <a:endParaRPr/>
          </a:p>
        </p:txBody>
      </p:sp>
      <p:sp>
        <p:nvSpPr>
          <p:cNvPr id="856" name="Google Shape;856;p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order to stably coexist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Species need to differ in resource usage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Species need to have a larger impact on the resources that are most limiting for them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These conditions lead to</a:t>
            </a:r>
            <a:r>
              <a:rPr b="1" lang="en"/>
              <a:t> species limiting themselves more than they limit their competitors (</a:t>
            </a:r>
            <a:r>
              <a:rPr lang="en"/>
              <a:t>α</a:t>
            </a:r>
            <a:r>
              <a:rPr baseline="-25000" lang="en"/>
              <a:t>ii </a:t>
            </a:r>
            <a:r>
              <a:rPr lang="en"/>
              <a:t>&gt; α</a:t>
            </a:r>
            <a:r>
              <a:rPr baseline="-25000" lang="en"/>
              <a:t>ji</a:t>
            </a:r>
            <a:r>
              <a:rPr b="1" lang="en"/>
              <a:t>)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 for multiple resources</a:t>
            </a:r>
            <a:endParaRPr/>
          </a:p>
        </p:txBody>
      </p:sp>
      <p:sp>
        <p:nvSpPr>
          <p:cNvPr id="862" name="Google Shape;862;p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order to stably coexist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Species need to differ in resource usage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Species need to have a larger impact on the resources that are most limiting for them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These conditions lead to</a:t>
            </a:r>
            <a:r>
              <a:rPr b="1" lang="en"/>
              <a:t> species limiting themselves more than they limit their competitors (</a:t>
            </a:r>
            <a:r>
              <a:rPr lang="en"/>
              <a:t>α</a:t>
            </a:r>
            <a:r>
              <a:rPr baseline="-25000" lang="en"/>
              <a:t>ii </a:t>
            </a:r>
            <a:r>
              <a:rPr lang="en"/>
              <a:t>&gt; α</a:t>
            </a:r>
            <a:r>
              <a:rPr baseline="-25000" lang="en"/>
              <a:t>ji</a:t>
            </a:r>
            <a:r>
              <a:rPr b="1" lang="en"/>
              <a:t>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When coexistence is purely driven by resource differences, the number of species that can be supported is equal to the number of different resources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Apparent Competition</a:t>
            </a:r>
            <a:endParaRPr/>
          </a:p>
        </p:txBody>
      </p:sp>
      <p:sp>
        <p:nvSpPr>
          <p:cNvPr id="868" name="Google Shape;868;p78"/>
          <p:cNvSpPr/>
          <p:nvPr/>
        </p:nvSpPr>
        <p:spPr>
          <a:xfrm>
            <a:off x="1306825" y="36957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A</a:t>
            </a:r>
            <a:endParaRPr/>
          </a:p>
        </p:txBody>
      </p:sp>
      <p:sp>
        <p:nvSpPr>
          <p:cNvPr id="869" name="Google Shape;869;p78"/>
          <p:cNvSpPr/>
          <p:nvPr/>
        </p:nvSpPr>
        <p:spPr>
          <a:xfrm>
            <a:off x="5421625" y="36957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B</a:t>
            </a:r>
            <a:endParaRPr/>
          </a:p>
        </p:txBody>
      </p:sp>
      <p:cxnSp>
        <p:nvCxnSpPr>
          <p:cNvPr id="870" name="Google Shape;870;p78"/>
          <p:cNvCxnSpPr/>
          <p:nvPr/>
        </p:nvCxnSpPr>
        <p:spPr>
          <a:xfrm flipH="1">
            <a:off x="3345325" y="3781425"/>
            <a:ext cx="1923900" cy="28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1" name="Google Shape;871;p78"/>
          <p:cNvCxnSpPr/>
          <p:nvPr/>
        </p:nvCxnSpPr>
        <p:spPr>
          <a:xfrm flipH="1" rot="10800000">
            <a:off x="3392800" y="4209900"/>
            <a:ext cx="1790700" cy="1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Apparent Competition</a:t>
            </a:r>
            <a:endParaRPr/>
          </a:p>
        </p:txBody>
      </p:sp>
      <p:sp>
        <p:nvSpPr>
          <p:cNvPr id="877" name="Google Shape;877;p79"/>
          <p:cNvSpPr/>
          <p:nvPr/>
        </p:nvSpPr>
        <p:spPr>
          <a:xfrm>
            <a:off x="1306825" y="36957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A</a:t>
            </a:r>
            <a:endParaRPr/>
          </a:p>
        </p:txBody>
      </p:sp>
      <p:sp>
        <p:nvSpPr>
          <p:cNvPr id="878" name="Google Shape;878;p79"/>
          <p:cNvSpPr/>
          <p:nvPr/>
        </p:nvSpPr>
        <p:spPr>
          <a:xfrm>
            <a:off x="5421625" y="36957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B</a:t>
            </a:r>
            <a:endParaRPr/>
          </a:p>
        </p:txBody>
      </p:sp>
      <p:cxnSp>
        <p:nvCxnSpPr>
          <p:cNvPr id="879" name="Google Shape;879;p79"/>
          <p:cNvCxnSpPr>
            <a:stCxn id="880" idx="2"/>
          </p:cNvCxnSpPr>
          <p:nvPr/>
        </p:nvCxnSpPr>
        <p:spPr>
          <a:xfrm flipH="1">
            <a:off x="1849600" y="1800300"/>
            <a:ext cx="1876500" cy="186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1" name="Google Shape;881;p79"/>
          <p:cNvCxnSpPr>
            <a:endCxn id="880" idx="3"/>
          </p:cNvCxnSpPr>
          <p:nvPr/>
        </p:nvCxnSpPr>
        <p:spPr>
          <a:xfrm flipH="1" rot="10800000">
            <a:off x="2506972" y="2265081"/>
            <a:ext cx="1421400" cy="140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0" name="Google Shape;880;p79"/>
          <p:cNvSpPr/>
          <p:nvPr/>
        </p:nvSpPr>
        <p:spPr>
          <a:xfrm>
            <a:off x="3726100" y="1143000"/>
            <a:ext cx="1381200" cy="1314600"/>
          </a:xfrm>
          <a:prstGeom prst="ellipse">
            <a:avLst/>
          </a:prstGeom>
          <a:solidFill>
            <a:srgbClr val="A61C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PredatorD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882" name="Google Shape;882;p79"/>
          <p:cNvCxnSpPr>
            <a:stCxn id="880" idx="5"/>
          </p:cNvCxnSpPr>
          <p:nvPr/>
        </p:nvCxnSpPr>
        <p:spPr>
          <a:xfrm>
            <a:off x="4905028" y="2265081"/>
            <a:ext cx="926100" cy="143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3" name="Google Shape;883;p79"/>
          <p:cNvCxnSpPr>
            <a:endCxn id="880" idx="6"/>
          </p:cNvCxnSpPr>
          <p:nvPr/>
        </p:nvCxnSpPr>
        <p:spPr>
          <a:xfrm rot="10800000">
            <a:off x="5107300" y="1800300"/>
            <a:ext cx="1724100" cy="189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Apparent Competition</a:t>
            </a:r>
            <a:endParaRPr/>
          </a:p>
        </p:txBody>
      </p:sp>
      <p:sp>
        <p:nvSpPr>
          <p:cNvPr id="889" name="Google Shape;889;p80"/>
          <p:cNvSpPr/>
          <p:nvPr/>
        </p:nvSpPr>
        <p:spPr>
          <a:xfrm>
            <a:off x="1306825" y="36957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A</a:t>
            </a:r>
            <a:endParaRPr/>
          </a:p>
        </p:txBody>
      </p:sp>
      <p:sp>
        <p:nvSpPr>
          <p:cNvPr id="890" name="Google Shape;890;p80"/>
          <p:cNvSpPr/>
          <p:nvPr/>
        </p:nvSpPr>
        <p:spPr>
          <a:xfrm>
            <a:off x="5421625" y="36957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B</a:t>
            </a:r>
            <a:endParaRPr/>
          </a:p>
        </p:txBody>
      </p:sp>
      <p:cxnSp>
        <p:nvCxnSpPr>
          <p:cNvPr id="891" name="Google Shape;891;p80"/>
          <p:cNvCxnSpPr>
            <a:stCxn id="892" idx="2"/>
          </p:cNvCxnSpPr>
          <p:nvPr/>
        </p:nvCxnSpPr>
        <p:spPr>
          <a:xfrm flipH="1">
            <a:off x="1849600" y="1800300"/>
            <a:ext cx="1876500" cy="1866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3" name="Google Shape;893;p80"/>
          <p:cNvCxnSpPr>
            <a:endCxn id="892" idx="3"/>
          </p:cNvCxnSpPr>
          <p:nvPr/>
        </p:nvCxnSpPr>
        <p:spPr>
          <a:xfrm flipH="1" rot="10800000">
            <a:off x="2506972" y="2265081"/>
            <a:ext cx="1421400" cy="1401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2" name="Google Shape;892;p80"/>
          <p:cNvSpPr/>
          <p:nvPr/>
        </p:nvSpPr>
        <p:spPr>
          <a:xfrm>
            <a:off x="3726100" y="1143000"/>
            <a:ext cx="1381200" cy="1314600"/>
          </a:xfrm>
          <a:prstGeom prst="ellipse">
            <a:avLst/>
          </a:prstGeom>
          <a:solidFill>
            <a:srgbClr val="A61C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PredatorD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894" name="Google Shape;894;p80"/>
          <p:cNvCxnSpPr>
            <a:stCxn id="892" idx="5"/>
          </p:cNvCxnSpPr>
          <p:nvPr/>
        </p:nvCxnSpPr>
        <p:spPr>
          <a:xfrm>
            <a:off x="4905028" y="2265081"/>
            <a:ext cx="926100" cy="143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5" name="Google Shape;895;p80"/>
          <p:cNvCxnSpPr>
            <a:endCxn id="892" idx="6"/>
          </p:cNvCxnSpPr>
          <p:nvPr/>
        </p:nvCxnSpPr>
        <p:spPr>
          <a:xfrm rot="10800000">
            <a:off x="5107300" y="1800300"/>
            <a:ext cx="1724100" cy="189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6" name="Google Shape;896;p80"/>
          <p:cNvSpPr txBox="1"/>
          <p:nvPr/>
        </p:nvSpPr>
        <p:spPr>
          <a:xfrm>
            <a:off x="1021075" y="1895475"/>
            <a:ext cx="148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Intraspecific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Apparent Competition</a:t>
            </a:r>
            <a:endParaRPr/>
          </a:p>
        </p:txBody>
      </p:sp>
      <p:sp>
        <p:nvSpPr>
          <p:cNvPr id="902" name="Google Shape;902;p81"/>
          <p:cNvSpPr/>
          <p:nvPr/>
        </p:nvSpPr>
        <p:spPr>
          <a:xfrm>
            <a:off x="1306825" y="36957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A</a:t>
            </a:r>
            <a:endParaRPr/>
          </a:p>
        </p:txBody>
      </p:sp>
      <p:sp>
        <p:nvSpPr>
          <p:cNvPr id="903" name="Google Shape;903;p81"/>
          <p:cNvSpPr/>
          <p:nvPr/>
        </p:nvSpPr>
        <p:spPr>
          <a:xfrm>
            <a:off x="5421625" y="36957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B</a:t>
            </a:r>
            <a:endParaRPr/>
          </a:p>
        </p:txBody>
      </p:sp>
      <p:cxnSp>
        <p:nvCxnSpPr>
          <p:cNvPr id="904" name="Google Shape;904;p81"/>
          <p:cNvCxnSpPr>
            <a:stCxn id="905" idx="2"/>
          </p:cNvCxnSpPr>
          <p:nvPr/>
        </p:nvCxnSpPr>
        <p:spPr>
          <a:xfrm flipH="1">
            <a:off x="1849600" y="1800300"/>
            <a:ext cx="1876500" cy="186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6" name="Google Shape;906;p81"/>
          <p:cNvCxnSpPr>
            <a:endCxn id="905" idx="3"/>
          </p:cNvCxnSpPr>
          <p:nvPr/>
        </p:nvCxnSpPr>
        <p:spPr>
          <a:xfrm flipH="1" rot="10800000">
            <a:off x="2506972" y="2265081"/>
            <a:ext cx="1421400" cy="1401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5" name="Google Shape;905;p81"/>
          <p:cNvSpPr/>
          <p:nvPr/>
        </p:nvSpPr>
        <p:spPr>
          <a:xfrm>
            <a:off x="3726100" y="1143000"/>
            <a:ext cx="1381200" cy="1314600"/>
          </a:xfrm>
          <a:prstGeom prst="ellipse">
            <a:avLst/>
          </a:prstGeom>
          <a:solidFill>
            <a:srgbClr val="A61C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PredatorD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907" name="Google Shape;907;p81"/>
          <p:cNvCxnSpPr>
            <a:stCxn id="905" idx="5"/>
          </p:cNvCxnSpPr>
          <p:nvPr/>
        </p:nvCxnSpPr>
        <p:spPr>
          <a:xfrm>
            <a:off x="4905028" y="2265081"/>
            <a:ext cx="926100" cy="1430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8" name="Google Shape;908;p81"/>
          <p:cNvCxnSpPr>
            <a:endCxn id="905" idx="6"/>
          </p:cNvCxnSpPr>
          <p:nvPr/>
        </p:nvCxnSpPr>
        <p:spPr>
          <a:xfrm rot="10800000">
            <a:off x="5107300" y="1800300"/>
            <a:ext cx="1724100" cy="189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9" name="Google Shape;909;p81"/>
          <p:cNvSpPr txBox="1"/>
          <p:nvPr/>
        </p:nvSpPr>
        <p:spPr>
          <a:xfrm>
            <a:off x="3611875" y="3114675"/>
            <a:ext cx="148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</a:rPr>
              <a:t>Interspecific</a:t>
            </a:r>
            <a:endParaRPr sz="18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Apparent Competition</a:t>
            </a:r>
            <a:endParaRPr/>
          </a:p>
        </p:txBody>
      </p:sp>
      <p:sp>
        <p:nvSpPr>
          <p:cNvPr id="915" name="Google Shape;915;p82"/>
          <p:cNvSpPr/>
          <p:nvPr/>
        </p:nvSpPr>
        <p:spPr>
          <a:xfrm>
            <a:off x="3364300" y="22050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A</a:t>
            </a:r>
            <a:endParaRPr/>
          </a:p>
        </p:txBody>
      </p:sp>
      <p:sp>
        <p:nvSpPr>
          <p:cNvPr id="916" name="Google Shape;916;p82"/>
          <p:cNvSpPr/>
          <p:nvPr/>
        </p:nvSpPr>
        <p:spPr>
          <a:xfrm>
            <a:off x="7231375" y="22050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B</a:t>
            </a:r>
            <a:endParaRPr/>
          </a:p>
        </p:txBody>
      </p:sp>
      <p:cxnSp>
        <p:nvCxnSpPr>
          <p:cNvPr id="917" name="Google Shape;917;p82"/>
          <p:cNvCxnSpPr>
            <a:stCxn id="918" idx="2"/>
            <a:endCxn id="915" idx="0"/>
          </p:cNvCxnSpPr>
          <p:nvPr/>
        </p:nvCxnSpPr>
        <p:spPr>
          <a:xfrm flipH="1">
            <a:off x="4254900" y="790650"/>
            <a:ext cx="1155300" cy="14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9" name="Google Shape;919;p82"/>
          <p:cNvCxnSpPr>
            <a:stCxn id="915" idx="0"/>
          </p:cNvCxnSpPr>
          <p:nvPr/>
        </p:nvCxnSpPr>
        <p:spPr>
          <a:xfrm flipH="1" rot="10800000">
            <a:off x="4254850" y="1255500"/>
            <a:ext cx="1386300" cy="94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8" name="Google Shape;918;p82"/>
          <p:cNvSpPr/>
          <p:nvPr/>
        </p:nvSpPr>
        <p:spPr>
          <a:xfrm>
            <a:off x="5410200" y="133350"/>
            <a:ext cx="1381200" cy="1314600"/>
          </a:xfrm>
          <a:prstGeom prst="ellipse">
            <a:avLst/>
          </a:prstGeom>
          <a:solidFill>
            <a:srgbClr val="A61C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PredatorD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920" name="Google Shape;920;p82"/>
          <p:cNvCxnSpPr>
            <a:stCxn id="918" idx="5"/>
            <a:endCxn id="916" idx="0"/>
          </p:cNvCxnSpPr>
          <p:nvPr/>
        </p:nvCxnSpPr>
        <p:spPr>
          <a:xfrm>
            <a:off x="6589128" y="1255431"/>
            <a:ext cx="1532700" cy="94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1" name="Google Shape;921;p82"/>
          <p:cNvCxnSpPr>
            <a:stCxn id="916" idx="0"/>
            <a:endCxn id="918" idx="6"/>
          </p:cNvCxnSpPr>
          <p:nvPr/>
        </p:nvCxnSpPr>
        <p:spPr>
          <a:xfrm rot="10800000">
            <a:off x="6791425" y="790800"/>
            <a:ext cx="1330500" cy="141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2" name="Google Shape;922;p82"/>
          <p:cNvSpPr/>
          <p:nvPr/>
        </p:nvSpPr>
        <p:spPr>
          <a:xfrm>
            <a:off x="5478700" y="3733800"/>
            <a:ext cx="1381200" cy="13146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</a:t>
            </a:r>
            <a:endParaRPr/>
          </a:p>
        </p:txBody>
      </p:sp>
      <p:cxnSp>
        <p:nvCxnSpPr>
          <p:cNvPr id="923" name="Google Shape;923;p82"/>
          <p:cNvCxnSpPr>
            <a:stCxn id="915" idx="2"/>
            <a:endCxn id="922" idx="1"/>
          </p:cNvCxnSpPr>
          <p:nvPr/>
        </p:nvCxnSpPr>
        <p:spPr>
          <a:xfrm>
            <a:off x="4254850" y="2938500"/>
            <a:ext cx="1426200" cy="987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4" name="Google Shape;924;p82"/>
          <p:cNvCxnSpPr>
            <a:stCxn id="922" idx="7"/>
            <a:endCxn id="916" idx="2"/>
          </p:cNvCxnSpPr>
          <p:nvPr/>
        </p:nvCxnSpPr>
        <p:spPr>
          <a:xfrm flipH="1" rot="10800000">
            <a:off x="6657628" y="2938419"/>
            <a:ext cx="1464300" cy="987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5" name="Google Shape;925;p82"/>
          <p:cNvCxnSpPr>
            <a:stCxn id="922" idx="2"/>
            <a:endCxn id="915" idx="2"/>
          </p:cNvCxnSpPr>
          <p:nvPr/>
        </p:nvCxnSpPr>
        <p:spPr>
          <a:xfrm rot="10800000">
            <a:off x="4254700" y="2938500"/>
            <a:ext cx="1224000" cy="1452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6" name="Google Shape;926;p82"/>
          <p:cNvCxnSpPr>
            <a:stCxn id="916" idx="2"/>
            <a:endCxn id="922" idx="6"/>
          </p:cNvCxnSpPr>
          <p:nvPr/>
        </p:nvCxnSpPr>
        <p:spPr>
          <a:xfrm flipH="1">
            <a:off x="6859825" y="2938500"/>
            <a:ext cx="1262100" cy="1452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927" name="Google Shape;927;p82"/>
          <p:cNvPicPr preferRelativeResize="0"/>
          <p:nvPr/>
        </p:nvPicPr>
        <p:blipFill rotWithShape="1">
          <a:blip r:embed="rId3">
            <a:alphaModFix/>
          </a:blip>
          <a:srcRect b="56034" l="34456" r="16199" t="16791"/>
          <a:stretch/>
        </p:blipFill>
        <p:spPr>
          <a:xfrm>
            <a:off x="78100" y="4060500"/>
            <a:ext cx="3188971" cy="987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Apparent Competition</a:t>
            </a:r>
            <a:endParaRPr/>
          </a:p>
        </p:txBody>
      </p:sp>
      <p:sp>
        <p:nvSpPr>
          <p:cNvPr id="933" name="Google Shape;933;p83"/>
          <p:cNvSpPr/>
          <p:nvPr/>
        </p:nvSpPr>
        <p:spPr>
          <a:xfrm>
            <a:off x="3364300" y="22050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A</a:t>
            </a:r>
            <a:endParaRPr/>
          </a:p>
        </p:txBody>
      </p:sp>
      <p:sp>
        <p:nvSpPr>
          <p:cNvPr id="934" name="Google Shape;934;p83"/>
          <p:cNvSpPr/>
          <p:nvPr/>
        </p:nvSpPr>
        <p:spPr>
          <a:xfrm>
            <a:off x="7231375" y="2205000"/>
            <a:ext cx="1781100" cy="733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B</a:t>
            </a:r>
            <a:endParaRPr/>
          </a:p>
        </p:txBody>
      </p:sp>
      <p:cxnSp>
        <p:nvCxnSpPr>
          <p:cNvPr id="935" name="Google Shape;935;p83"/>
          <p:cNvCxnSpPr>
            <a:stCxn id="936" idx="2"/>
            <a:endCxn id="933" idx="0"/>
          </p:cNvCxnSpPr>
          <p:nvPr/>
        </p:nvCxnSpPr>
        <p:spPr>
          <a:xfrm flipH="1">
            <a:off x="4254900" y="790650"/>
            <a:ext cx="1155300" cy="14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7" name="Google Shape;937;p83"/>
          <p:cNvCxnSpPr>
            <a:stCxn id="933" idx="0"/>
          </p:cNvCxnSpPr>
          <p:nvPr/>
        </p:nvCxnSpPr>
        <p:spPr>
          <a:xfrm flipH="1" rot="10800000">
            <a:off x="4254850" y="1255500"/>
            <a:ext cx="1386300" cy="94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6" name="Google Shape;936;p83"/>
          <p:cNvSpPr/>
          <p:nvPr/>
        </p:nvSpPr>
        <p:spPr>
          <a:xfrm>
            <a:off x="5410200" y="133350"/>
            <a:ext cx="1381200" cy="1314600"/>
          </a:xfrm>
          <a:prstGeom prst="ellipse">
            <a:avLst/>
          </a:prstGeom>
          <a:solidFill>
            <a:srgbClr val="A61C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PredatorD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938" name="Google Shape;938;p83"/>
          <p:cNvCxnSpPr>
            <a:stCxn id="936" idx="5"/>
            <a:endCxn id="934" idx="0"/>
          </p:cNvCxnSpPr>
          <p:nvPr/>
        </p:nvCxnSpPr>
        <p:spPr>
          <a:xfrm>
            <a:off x="6589128" y="1255431"/>
            <a:ext cx="1532700" cy="94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9" name="Google Shape;939;p83"/>
          <p:cNvCxnSpPr>
            <a:stCxn id="934" idx="0"/>
            <a:endCxn id="936" idx="6"/>
          </p:cNvCxnSpPr>
          <p:nvPr/>
        </p:nvCxnSpPr>
        <p:spPr>
          <a:xfrm rot="10800000">
            <a:off x="6791425" y="790800"/>
            <a:ext cx="1330500" cy="141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0" name="Google Shape;940;p83"/>
          <p:cNvSpPr/>
          <p:nvPr/>
        </p:nvSpPr>
        <p:spPr>
          <a:xfrm>
            <a:off x="5478700" y="3733800"/>
            <a:ext cx="1381200" cy="13146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C</a:t>
            </a:r>
            <a:endParaRPr/>
          </a:p>
        </p:txBody>
      </p:sp>
      <p:cxnSp>
        <p:nvCxnSpPr>
          <p:cNvPr id="941" name="Google Shape;941;p83"/>
          <p:cNvCxnSpPr>
            <a:stCxn id="933" idx="2"/>
            <a:endCxn id="940" idx="1"/>
          </p:cNvCxnSpPr>
          <p:nvPr/>
        </p:nvCxnSpPr>
        <p:spPr>
          <a:xfrm>
            <a:off x="4254850" y="2938500"/>
            <a:ext cx="1426200" cy="987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2" name="Google Shape;942;p83"/>
          <p:cNvCxnSpPr>
            <a:stCxn id="940" idx="7"/>
            <a:endCxn id="934" idx="2"/>
          </p:cNvCxnSpPr>
          <p:nvPr/>
        </p:nvCxnSpPr>
        <p:spPr>
          <a:xfrm flipH="1" rot="10800000">
            <a:off x="6657628" y="2938419"/>
            <a:ext cx="1464300" cy="987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3" name="Google Shape;943;p83"/>
          <p:cNvCxnSpPr>
            <a:stCxn id="940" idx="2"/>
            <a:endCxn id="933" idx="2"/>
          </p:cNvCxnSpPr>
          <p:nvPr/>
        </p:nvCxnSpPr>
        <p:spPr>
          <a:xfrm rot="10800000">
            <a:off x="4254700" y="2938500"/>
            <a:ext cx="1224000" cy="1452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4" name="Google Shape;944;p83"/>
          <p:cNvCxnSpPr>
            <a:stCxn id="934" idx="2"/>
            <a:endCxn id="940" idx="6"/>
          </p:cNvCxnSpPr>
          <p:nvPr/>
        </p:nvCxnSpPr>
        <p:spPr>
          <a:xfrm flipH="1">
            <a:off x="6859825" y="2938500"/>
            <a:ext cx="1262100" cy="1452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945" name="Google Shape;945;p83"/>
          <p:cNvPicPr preferRelativeResize="0"/>
          <p:nvPr/>
        </p:nvPicPr>
        <p:blipFill rotWithShape="1">
          <a:blip r:embed="rId3">
            <a:alphaModFix/>
          </a:blip>
          <a:srcRect b="56034" l="34456" r="16199" t="16791"/>
          <a:stretch/>
        </p:blipFill>
        <p:spPr>
          <a:xfrm>
            <a:off x="78100" y="4060500"/>
            <a:ext cx="3188971" cy="987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46" name="Google Shape;946;p83"/>
          <p:cNvSpPr txBox="1"/>
          <p:nvPr/>
        </p:nvSpPr>
        <p:spPr>
          <a:xfrm>
            <a:off x="163675" y="1128450"/>
            <a:ext cx="29409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Competition and Predation are </a:t>
            </a:r>
            <a:r>
              <a:rPr lang="en" sz="1800">
                <a:solidFill>
                  <a:schemeClr val="dk2"/>
                </a:solidFill>
              </a:rPr>
              <a:t>symmetrical!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Promote coexistence in the same ways!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 species can coexist with 2 predators, 2 resources,  1 predator and 1 resource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</a:t>
            </a:r>
            <a:r>
              <a:rPr lang="en"/>
              <a:t>Takeaways</a:t>
            </a:r>
            <a:endParaRPr/>
          </a:p>
        </p:txBody>
      </p:sp>
      <p:sp>
        <p:nvSpPr>
          <p:cNvPr id="952" name="Google Shape;952;p8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coexist, species need to limit </a:t>
            </a:r>
            <a:r>
              <a:rPr lang="en"/>
              <a:t>their</a:t>
            </a:r>
            <a:r>
              <a:rPr lang="en"/>
              <a:t> own growth more than their </a:t>
            </a:r>
            <a:r>
              <a:rPr lang="en"/>
              <a:t>competitors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Species that can exist on the lowest amount of a resource will win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Predation is symmetrical with competition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class: </a:t>
            </a:r>
            <a:r>
              <a:rPr lang="en"/>
              <a:t>Coexistence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