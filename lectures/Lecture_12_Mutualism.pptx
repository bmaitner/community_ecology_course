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53C945-5812-4526-8F22-015326C0B4E2}">
  <a:tblStyle styleId="{1A53C945-5812-4526-8F22-015326C0B4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93ce3ef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93ce3ef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93ce3ef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93ce3ef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93ce3efa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93ce3efa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3ce3efa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93ce3efa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3ce3efa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93ce3efa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93ce3efa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93ce3ef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93ce3efa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93ce3efa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93ce3ef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93ce3ef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93ce3efa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93ce3efa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3ce3efa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3ce3efa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93ce3efa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93ce3efa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93ce3efa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93ce3efa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93ce3efa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93ce3efa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93ce3efa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93ce3efa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93ce3efa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93ce3efa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93ce3efa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93ce3efa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93ce3efa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93ce3efa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93ce3efa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93ce3efa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 = mutual exploitation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93ce3efa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93ce3efa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93ce3efa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93ce3efa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93ce3efa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93ce3efa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93ce3efa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93ce3efa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93ce3efa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93ce3efa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93ce3efa6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93ce3efa6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93ce3efa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93ce3efa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93ce3efa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393ce3efa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93ce3efa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93ce3efa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93ce3efa6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93ce3efa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93ce3efa6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93ce3efa6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93ce3efa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393ce3efa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93ce3efa6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393ce3efa6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93ce3efa6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93ce3efa6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393ce3efa6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393ce3efa6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93ce3efa6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393ce3efa6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93ce3efa6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393ce3efa6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93ce3efa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93ce3efa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393ce3efa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393ce3efa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393ce3efa6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393ce3efa6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393ce3efa6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393ce3efa6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393ce3efa6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393ce3efa6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93ce3efa6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93ce3efa6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93ce3efa6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93ce3efa6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393ce3efa6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393ce3efa6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393ce3efa6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393ce3efa6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93ce3efa6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93ce3efa6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393ce3efa6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393ce3efa6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don’t we see some of these other transitions?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93ce3efa6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393ce3efa6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Quiz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Preparing for the midterm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Network assignment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Mutualism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for the midterm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time is the midterm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questions will be recycled from the </a:t>
            </a:r>
            <a:r>
              <a:rPr lang="en"/>
              <a:t>quizzes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be modified (e.g., changed to multiple choice, reworded, etc)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look over </a:t>
            </a:r>
            <a:r>
              <a:rPr lang="en"/>
              <a:t>quizzes</a:t>
            </a:r>
            <a:r>
              <a:rPr lang="en"/>
              <a:t>, particularly missed questions!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few new things pulled from lectures or the book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Consists of 3 parts: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16 options given (see the assignment details on Canvas for the list)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Don’t have to read all, but should read a subset of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b="1" lang="en"/>
              <a:t>In-class discussion will be part of your grade!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about network(s) that might be useful for your question/system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which network type(s) or representation(s) seem best suited to your system/question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</a:t>
            </a:r>
            <a:r>
              <a:rPr b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these types/representations are well suited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why other types/representations may </a:t>
            </a:r>
            <a:r>
              <a:rPr b="1" lang="en">
                <a:solidFill>
                  <a:schemeClr val="dk1"/>
                </a:solidFill>
              </a:rPr>
              <a:t>not be</a:t>
            </a:r>
            <a:r>
              <a:rPr lang="en">
                <a:solidFill>
                  <a:schemeClr val="dk1"/>
                </a:solidFill>
              </a:rPr>
              <a:t> a good fit.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Support your arguments with ideas from class, your readings, or your own reasoning, but remember to cite anything that comes from a published article.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arenR"/>
            </a:pPr>
            <a:r>
              <a:rPr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ne to two pages, double spaced (citations don’t count against the word limit) 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about network(s) that might be useful for your question/system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How might network ecology help us to address big questions in ecology?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E.g., networks are integrated into species distribution modelling via joint SDMs, allowing prey distributions to inform predator distributions.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Write a short explanation (a page or so, double spaced) about how a major topic in ecology might benefit from integrating ecological networks.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For potential ideas of “major topics” you can look to your syllabus (competition, coexistence, biodiversity-ecosystem functioning, etc.), but aren’t limited to what is mentioned there.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Grade Breakdown:</a:t>
            </a:r>
            <a:endParaRPr i="1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In-class participation and discussion			30%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Written portion 1						50%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Written portion 2						20%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21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3">
            <a:alphaModFix/>
          </a:blip>
          <a:srcRect b="31517" l="39103" r="9740" t="30061"/>
          <a:stretch/>
        </p:blipFill>
        <p:spPr>
          <a:xfrm>
            <a:off x="6632475" y="51047"/>
            <a:ext cx="2511523" cy="10610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 b="31517" l="39103" r="9740" t="30061"/>
          <a:stretch/>
        </p:blipFill>
        <p:spPr>
          <a:xfrm>
            <a:off x="6632475" y="51047"/>
            <a:ext cx="2511523" cy="10610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Facilitation:</a:t>
            </a:r>
            <a:r>
              <a:rPr lang="en"/>
              <a:t> one species alters the environment in such a way that it </a:t>
            </a:r>
            <a:r>
              <a:rPr lang="en"/>
              <a:t>benefits</a:t>
            </a:r>
            <a:r>
              <a:rPr lang="en"/>
              <a:t> another species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vs facultative mutualisms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Obligate: need a specific partner to live/reproduce/etc.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Facultative: don’t require a specific partner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vs facultative mutualisms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Obligate: need a specific partner to live/reproduce/etc.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Facultative: don’t require a specific partner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Just because one partner is an obligate doesn’t mean the </a:t>
            </a:r>
            <a:r>
              <a:rPr lang="en"/>
              <a:t>other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lot of (most?) interactions are asymmetrical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Mutualism Example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7673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 rotWithShape="1">
          <a:blip r:embed="rId4">
            <a:alphaModFix/>
          </a:blip>
          <a:srcRect b="38156" l="34542" r="18113" t="18453"/>
          <a:stretch/>
        </p:blipFill>
        <p:spPr>
          <a:xfrm>
            <a:off x="6780700" y="212100"/>
            <a:ext cx="2229850" cy="11496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</a:t>
            </a:r>
            <a:r>
              <a:rPr lang="en"/>
              <a:t>Mutualism</a:t>
            </a:r>
            <a:r>
              <a:rPr lang="en"/>
              <a:t> Example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600" y="1090513"/>
            <a:ext cx="2266750" cy="15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6176150" y="2672950"/>
            <a:ext cx="27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Liometopum apiculatum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891799" y="36498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600" y="1090513"/>
            <a:ext cx="2266750" cy="15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6176150" y="2672950"/>
            <a:ext cx="27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Liometopum apiculatum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09250" y="43249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Extrafloral</a:t>
            </a:r>
            <a:r>
              <a:rPr lang="en" sz="1800">
                <a:solidFill>
                  <a:schemeClr val="dk2"/>
                </a:solidFill>
              </a:rPr>
              <a:t> nectaries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33810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Bad defense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3528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Good </a:t>
            </a:r>
            <a:r>
              <a:rPr lang="en" sz="1800">
                <a:solidFill>
                  <a:schemeClr val="dk2"/>
                </a:solidFill>
              </a:rPr>
              <a:t>Defense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891799" y="36498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409250" y="43249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3810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Bad defense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4350" y="1015575"/>
            <a:ext cx="4646500" cy="37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959762" y="634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34292" l="21874" r="25018" t="22160"/>
          <a:stretch/>
        </p:blipFill>
        <p:spPr>
          <a:xfrm>
            <a:off x="5959762" y="634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86" name="Google Shape;186;p30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5200" y="1961490"/>
            <a:ext cx="496450" cy="3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1000" y="1961490"/>
            <a:ext cx="496450" cy="33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6175" y="773700"/>
            <a:ext cx="496450" cy="66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Mutualism</a:t>
            </a:r>
            <a:endParaRPr/>
          </a:p>
        </p:txBody>
      </p:sp>
      <p:graphicFrame>
        <p:nvGraphicFramePr>
          <p:cNvPr id="196" name="Google Shape;196;p31"/>
          <p:cNvGraphicFramePr/>
          <p:nvPr/>
        </p:nvGraphicFramePr>
        <p:xfrm>
          <a:off x="2558375" y="19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31"/>
          <p:cNvSpPr txBox="1"/>
          <p:nvPr/>
        </p:nvSpPr>
        <p:spPr>
          <a:xfrm>
            <a:off x="190275" y="1104025"/>
            <a:ext cx="626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Costs vs benefits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Evolution only ‘cares’ about net benefits to a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Want to minimize costs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Selection pushes towards parasitism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Mutualism</a:t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190275" y="1104025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are mutualisms maintained?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Partner fidelity (e.g., lichen, chloroplasts)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Partner choice (only choose reliable partners)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in Evolutionary Time</a:t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72514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 rotWithShape="1">
          <a:blip r:embed="rId4">
            <a:alphaModFix/>
          </a:blip>
          <a:srcRect b="48977" l="42878" r="17621" t="18252"/>
          <a:stretch/>
        </p:blipFill>
        <p:spPr>
          <a:xfrm>
            <a:off x="5755675" y="176425"/>
            <a:ext cx="3155750" cy="1472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does mutualism lag behind competition and predation?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these competition models?</a:t>
            </a:r>
            <a:endParaRPr/>
          </a:p>
        </p:txBody>
      </p:sp>
      <p:sp>
        <p:nvSpPr>
          <p:cNvPr id="223" name="Google Shape;223;p35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25" name="Google Shape;225;p35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5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lang="en" sz="1800">
                <a:solidFill>
                  <a:srgbClr val="595959"/>
                </a:solidFill>
              </a:rPr>
              <a:t>-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30" name="Google Shape;230;p35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5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35" name="Google Shape;235;p35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5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-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40" name="Google Shape;240;p35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5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these competition models? - Now they’re mutualism models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51" name="Google Shape;251;p36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6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56" name="Google Shape;256;p36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6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6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64" name="Google Shape;264;p36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66" name="Google Shape;266;p36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Where can species 1 invade?</a:t>
            </a:r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77" name="Google Shape;277;p37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7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82" name="Google Shape;282;p37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7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87" name="Google Shape;287;p37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7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92" name="Google Shape;292;p37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7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00" name="Google Shape;300;p38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02" name="Google Shape;302;p38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8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07" name="Google Shape;307;p38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8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11" name="Google Shape;311;p38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8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16" name="Google Shape;316;p38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8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28" name="Google Shape;328;p39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9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3" name="Google Shape;333;p39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9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35" name="Google Shape;335;p39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9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0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46" name="Google Shape;346;p40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0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49" name="Google Shape;349;p40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0" name="Google Shape;350;p40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0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52" name="Google Shape;352;p40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40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59" name="Google Shape;359;p41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1" name="Google Shape;361;p41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70" name="Google Shape;370;p42"/>
          <p:cNvSpPr txBox="1"/>
          <p:nvPr/>
        </p:nvSpPr>
        <p:spPr>
          <a:xfrm>
            <a:off x="31170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+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3" name="Google Shape;373;p42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6619925" y="18999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</a:t>
            </a: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+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388" name="Google Shape;388;p43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94" name="Google Shape;394;p44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96" name="Google Shape;3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44"/>
          <p:cNvCxnSpPr/>
          <p:nvPr/>
        </p:nvCxnSpPr>
        <p:spPr>
          <a:xfrm rot="10800000">
            <a:off x="2259475" y="3242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44"/>
          <p:cNvCxnSpPr/>
          <p:nvPr/>
        </p:nvCxnSpPr>
        <p:spPr>
          <a:xfrm>
            <a:off x="925825" y="32994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44"/>
          <p:cNvCxnSpPr/>
          <p:nvPr/>
        </p:nvCxnSpPr>
        <p:spPr>
          <a:xfrm rot="10800000">
            <a:off x="2564275" y="15658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44"/>
          <p:cNvCxnSpPr/>
          <p:nvPr/>
        </p:nvCxnSpPr>
        <p:spPr>
          <a:xfrm>
            <a:off x="3116575" y="15658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4"/>
          <p:cNvCxnSpPr/>
          <p:nvPr/>
        </p:nvCxnSpPr>
        <p:spPr>
          <a:xfrm flipH="1" rot="10800000">
            <a:off x="1233950" y="4299600"/>
            <a:ext cx="415800" cy="1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44"/>
          <p:cNvCxnSpPr/>
          <p:nvPr/>
        </p:nvCxnSpPr>
        <p:spPr>
          <a:xfrm flipH="1" rot="10800000">
            <a:off x="2830825" y="29770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44"/>
          <p:cNvCxnSpPr/>
          <p:nvPr/>
        </p:nvCxnSpPr>
        <p:spPr>
          <a:xfrm flipH="1" rot="10800000">
            <a:off x="1230625" y="39676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906775" y="33184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10" name="Google Shape;410;p45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411" name="Google Shape;411;p45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412" name="Google Shape;4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5"/>
          <p:cNvCxnSpPr/>
          <p:nvPr/>
        </p:nvCxnSpPr>
        <p:spPr>
          <a:xfrm rot="10800000">
            <a:off x="2259475" y="3242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45"/>
          <p:cNvCxnSpPr/>
          <p:nvPr/>
        </p:nvCxnSpPr>
        <p:spPr>
          <a:xfrm>
            <a:off x="925825" y="32994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45"/>
          <p:cNvCxnSpPr/>
          <p:nvPr/>
        </p:nvCxnSpPr>
        <p:spPr>
          <a:xfrm rot="10800000">
            <a:off x="2564275" y="15658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45"/>
          <p:cNvCxnSpPr/>
          <p:nvPr/>
        </p:nvCxnSpPr>
        <p:spPr>
          <a:xfrm>
            <a:off x="3116575" y="15658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45"/>
          <p:cNvCxnSpPr/>
          <p:nvPr/>
        </p:nvCxnSpPr>
        <p:spPr>
          <a:xfrm flipH="1" rot="10800000">
            <a:off x="1233950" y="4299600"/>
            <a:ext cx="415800" cy="1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45"/>
          <p:cNvCxnSpPr/>
          <p:nvPr/>
        </p:nvCxnSpPr>
        <p:spPr>
          <a:xfrm flipH="1" rot="10800000">
            <a:off x="2830825" y="29770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45"/>
          <p:cNvCxnSpPr/>
          <p:nvPr/>
        </p:nvCxnSpPr>
        <p:spPr>
          <a:xfrm flipH="1" rot="10800000">
            <a:off x="1230625" y="39676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45"/>
          <p:cNvCxnSpPr/>
          <p:nvPr/>
        </p:nvCxnSpPr>
        <p:spPr>
          <a:xfrm>
            <a:off x="906775" y="33184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45"/>
          <p:cNvSpPr txBox="1"/>
          <p:nvPr/>
        </p:nvSpPr>
        <p:spPr>
          <a:xfrm>
            <a:off x="4957175" y="2313100"/>
            <a:ext cx="26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lead to coexistence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2" name="Google Shape;422;p45"/>
          <p:cNvSpPr/>
          <p:nvPr/>
        </p:nvSpPr>
        <p:spPr>
          <a:xfrm>
            <a:off x="1878325" y="3194900"/>
            <a:ext cx="171300" cy="171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28" name="Google Shape;428;p46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pic>
        <p:nvPicPr>
          <p:cNvPr id="429" name="Google Shape;4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6"/>
          <p:cNvCxnSpPr/>
          <p:nvPr/>
        </p:nvCxnSpPr>
        <p:spPr>
          <a:xfrm>
            <a:off x="2356225" y="2044575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46"/>
          <p:cNvCxnSpPr/>
          <p:nvPr/>
        </p:nvCxnSpPr>
        <p:spPr>
          <a:xfrm flipH="1" rot="10800000">
            <a:off x="2373625" y="17578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46"/>
          <p:cNvCxnSpPr/>
          <p:nvPr/>
        </p:nvCxnSpPr>
        <p:spPr>
          <a:xfrm rot="10800000">
            <a:off x="3326275" y="3623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46"/>
          <p:cNvCxnSpPr/>
          <p:nvPr/>
        </p:nvCxnSpPr>
        <p:spPr>
          <a:xfrm>
            <a:off x="679825" y="1358775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46"/>
          <p:cNvCxnSpPr/>
          <p:nvPr/>
        </p:nvCxnSpPr>
        <p:spPr>
          <a:xfrm>
            <a:off x="678175" y="13372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46"/>
          <p:cNvCxnSpPr/>
          <p:nvPr/>
        </p:nvCxnSpPr>
        <p:spPr>
          <a:xfrm flipH="1" rot="10800000">
            <a:off x="3897625" y="32818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46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sp>
        <p:nvSpPr>
          <p:cNvPr id="437" name="Google Shape;437;p46"/>
          <p:cNvSpPr txBox="1"/>
          <p:nvPr/>
        </p:nvSpPr>
        <p:spPr>
          <a:xfrm>
            <a:off x="4689600" y="2313100"/>
            <a:ext cx="385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also lead to unlimited growth!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443" name="Google Shape;443;p4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don’t we see this unlimited growth among mutualistic partners in nature?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449" name="Google Shape;449;p4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don’t we see this unlimited growth among mutualistic partners in nature?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Mutualisms have costs!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also why they </a:t>
            </a:r>
            <a:r>
              <a:rPr lang="en"/>
              <a:t>evolution</a:t>
            </a:r>
            <a:r>
              <a:rPr lang="en"/>
              <a:t> and context can alter them!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Changing conditions may lead to changes in </a:t>
            </a:r>
            <a:r>
              <a:rPr lang="en"/>
              <a:t>interaction</a:t>
            </a:r>
            <a:r>
              <a:rPr lang="en"/>
              <a:t> types</a:t>
            </a:r>
            <a:endParaRPr/>
          </a:p>
        </p:txBody>
      </p:sp>
      <p:graphicFrame>
        <p:nvGraphicFramePr>
          <p:cNvPr id="456" name="Google Shape;456;p49"/>
          <p:cNvGraphicFramePr/>
          <p:nvPr/>
        </p:nvGraphicFramePr>
        <p:xfrm>
          <a:off x="2558375" y="19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AMF+Plants</a:t>
            </a:r>
            <a:endParaRPr/>
          </a:p>
        </p:txBody>
      </p:sp>
      <p:pic>
        <p:nvPicPr>
          <p:cNvPr id="462" name="Google Shape;46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5" y="1160225"/>
            <a:ext cx="4035775" cy="26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/>
          <p:cNvPicPr preferRelativeResize="0"/>
          <p:nvPr/>
        </p:nvPicPr>
        <p:blipFill rotWithShape="1">
          <a:blip r:embed="rId4">
            <a:alphaModFix/>
          </a:blip>
          <a:srcRect b="35444" l="21985" r="23282" t="19790"/>
          <a:stretch/>
        </p:blipFill>
        <p:spPr>
          <a:xfrm>
            <a:off x="6661775" y="0"/>
            <a:ext cx="2428027" cy="1117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r>
              <a:rPr lang="en"/>
              <a:t>: AMF+Plants</a:t>
            </a:r>
            <a:endParaRPr/>
          </a:p>
        </p:txBody>
      </p:sp>
      <p:pic>
        <p:nvPicPr>
          <p:cNvPr id="469" name="Google Shape;46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5" y="1160225"/>
            <a:ext cx="4035775" cy="26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750" y="1170125"/>
            <a:ext cx="465363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 rotWithShape="1">
          <a:blip r:embed="rId5">
            <a:alphaModFix/>
          </a:blip>
          <a:srcRect b="35444" l="21985" r="23282" t="19790"/>
          <a:stretch/>
        </p:blipFill>
        <p:spPr>
          <a:xfrm>
            <a:off x="6661775" y="0"/>
            <a:ext cx="2428027" cy="1117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Seeds and Mice</a:t>
            </a:r>
            <a:endParaRPr/>
          </a:p>
        </p:txBody>
      </p:sp>
      <p:pic>
        <p:nvPicPr>
          <p:cNvPr id="477" name="Google Shape;47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3065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Seeds and Mice</a:t>
            </a:r>
            <a:endParaRPr/>
          </a:p>
        </p:txBody>
      </p:sp>
      <p:pic>
        <p:nvPicPr>
          <p:cNvPr id="483" name="Google Shape;4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3065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451" y="1170125"/>
            <a:ext cx="272766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490" name="Google Shape;4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800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4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7282375" y="560525"/>
            <a:ext cx="1765099" cy="52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497" name="Google Shape;49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80085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5"/>
          <p:cNvSpPr/>
          <p:nvPr/>
        </p:nvSpPr>
        <p:spPr>
          <a:xfrm>
            <a:off x="-354800" y="2382450"/>
            <a:ext cx="9623100" cy="93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55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7282375" y="560525"/>
            <a:ext cx="1765099" cy="52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505" name="Google Shape;50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10959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6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5406325" y="1017725"/>
            <a:ext cx="3641150" cy="1089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512" name="Google Shape;51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10959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90" y="1170125"/>
            <a:ext cx="2819088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 rotWithShape="1">
          <a:blip r:embed="rId5">
            <a:alphaModFix/>
          </a:blip>
          <a:srcRect b="53613" l="44274" r="15744" t="25127"/>
          <a:stretch/>
        </p:blipFill>
        <p:spPr>
          <a:xfrm>
            <a:off x="5406325" y="1017725"/>
            <a:ext cx="3641150" cy="1089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5" name="Google Shape;515;p57"/>
          <p:cNvSpPr txBox="1"/>
          <p:nvPr/>
        </p:nvSpPr>
        <p:spPr>
          <a:xfrm>
            <a:off x="6075250" y="2748100"/>
            <a:ext cx="309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4CCCC"/>
                </a:solidFill>
                <a:highlight>
                  <a:srgbClr val="F4CCCC"/>
                </a:highlight>
              </a:rPr>
              <a:t>Red       </a:t>
            </a:r>
            <a:r>
              <a:rPr lang="en" sz="1800">
                <a:solidFill>
                  <a:schemeClr val="dk2"/>
                </a:solidFill>
              </a:rPr>
              <a:t>= Parasitism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2CC"/>
                </a:solidFill>
                <a:highlight>
                  <a:srgbClr val="FFF2CC"/>
                </a:highlight>
              </a:rPr>
              <a:t>Yellow</a:t>
            </a:r>
            <a:r>
              <a:rPr lang="en" sz="1800">
                <a:solidFill>
                  <a:srgbClr val="FFF2CC"/>
                </a:solidFill>
                <a:highlight>
                  <a:srgbClr val="FFF2CC"/>
                </a:highlight>
              </a:rPr>
              <a:t>   </a:t>
            </a:r>
            <a:r>
              <a:rPr lang="en" sz="1800">
                <a:solidFill>
                  <a:schemeClr val="dk2"/>
                </a:solidFill>
              </a:rPr>
              <a:t>= Commensalism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rgbClr val="9FC5E8"/>
                </a:highlight>
              </a:rPr>
              <a:t>              </a:t>
            </a:r>
            <a:r>
              <a:rPr lang="en" sz="1800">
                <a:solidFill>
                  <a:schemeClr val="dk2"/>
                </a:solidFill>
              </a:rPr>
              <a:t>= Mutualism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graphicFrame>
        <p:nvGraphicFramePr>
          <p:cNvPr id="521" name="Google Shape;521;p58"/>
          <p:cNvGraphicFramePr/>
          <p:nvPr/>
        </p:nvGraphicFramePr>
        <p:xfrm>
          <a:off x="311700" y="9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2095250"/>
                <a:gridCol w="487025"/>
                <a:gridCol w="1852325"/>
                <a:gridCol w="1655600"/>
                <a:gridCol w="1424175"/>
              </a:tblGrid>
              <a:tr h="70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50832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graphicFrame>
        <p:nvGraphicFramePr>
          <p:cNvPr id="527" name="Google Shape;527;p59"/>
          <p:cNvGraphicFramePr/>
          <p:nvPr/>
        </p:nvGraphicFramePr>
        <p:xfrm>
          <a:off x="311700" y="9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{1A53C945-5812-4526-8F22-015326C0B4E2}</a:tableStyleId>
              </a:tblPr>
              <a:tblGrid>
                <a:gridCol w="2095250"/>
                <a:gridCol w="487025"/>
                <a:gridCol w="1852325"/>
                <a:gridCol w="1655600"/>
                <a:gridCol w="1424175"/>
              </a:tblGrid>
              <a:tr h="70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50832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8" name="Google Shape;528;p59"/>
          <p:cNvCxnSpPr/>
          <p:nvPr/>
        </p:nvCxnSpPr>
        <p:spPr>
          <a:xfrm>
            <a:off x="3822550" y="2376025"/>
            <a:ext cx="3443700" cy="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29" name="Google Shape;529;p59"/>
          <p:cNvCxnSpPr/>
          <p:nvPr/>
        </p:nvCxnSpPr>
        <p:spPr>
          <a:xfrm flipH="1">
            <a:off x="3054850" y="2528425"/>
            <a:ext cx="5700" cy="21609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 and conservation</a:t>
            </a:r>
            <a:endParaRPr/>
          </a:p>
        </p:txBody>
      </p:sp>
      <p:pic>
        <p:nvPicPr>
          <p:cNvPr id="535" name="Google Shape;5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389" y="0"/>
            <a:ext cx="4109610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6" name="Google Shape;536;p60"/>
          <p:cNvPicPr preferRelativeResize="0"/>
          <p:nvPr/>
        </p:nvPicPr>
        <p:blipFill rotWithShape="1">
          <a:blip r:embed="rId4">
            <a:alphaModFix/>
          </a:blip>
          <a:srcRect b="44374" l="21130" r="21668" t="17627"/>
          <a:stretch/>
        </p:blipFill>
        <p:spPr>
          <a:xfrm>
            <a:off x="462400" y="1480625"/>
            <a:ext cx="4109602" cy="153548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Midterm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