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4606db8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4606db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4606db87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4606db87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4606db87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4606db87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4606db87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4606db87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4606db87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4606db87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4606db87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4606db87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4606db87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4606db87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4606db87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4606db87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4606db87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4606db87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4606db87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4606db87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4606db87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4606db87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4606db87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4606db87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4606db87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24606db87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4606db87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24606db87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24606db87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24606db87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4606db87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4606db87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4606db87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4606db87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4606db87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4606db87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4606db87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24606db87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7a5c217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d7a5c217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7a5c2174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7a5c217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7a5c2174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7a5c2174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7a5c217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7a5c217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d7a5c217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d7a5c217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7a5c217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7a5c217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d7a5c2174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d7a5c2174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d7a5c2174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d7a5c2174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7a5c2174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7a5c2174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7a5c21749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7a5c2174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project onto a whiteboard and color in the overlapping areas with dry erase marker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7b1fd0d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7b1fd0d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d7b1fd0d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d7b1fd0d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d7b1fd0d0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d7b1fd0d0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9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97850"/>
            <a:ext cx="8520600" cy="25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 assignment,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1: Diversity Patterns,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Community Ecology,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Patterns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us: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Your research interests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Something interesting about yourself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Syllabus: basic stuff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Days: M, 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Time: 3:30 – 4:45 pm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Meeting Location: DAV 260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Instructor: Dr. Brian Maitner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Office Location: DAV 226 (but I’m usually in URL 106, because it’s warmer)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Office Hours: TBA - 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Email: bmaitner@usf.edu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Syllabus: Course structure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Lectures and book - provide overview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Assignments</a:t>
            </a:r>
            <a:r>
              <a:rPr lang="en"/>
              <a:t> - deeper dive into your own interests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small assignments = less stress</a:t>
            </a:r>
            <a:endParaRPr/>
          </a:p>
          <a:p>
            <a:pPr indent="0" lvl="0" marL="1082675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Graded Items		Percent of Final Grade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Projects (4x)					40%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In-class quizzes				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Midterm					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						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 presentation assignments (2x)		10%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Conceptual Figure Assignment		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Assignment				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Presentation Assignment		5%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082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TBD Assignment 				5%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725" y="277463"/>
            <a:ext cx="186690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Expectations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Participate! Ask questions. Share </a:t>
            </a:r>
            <a:r>
              <a:rPr lang="en"/>
              <a:t>ideas, experiences, and knowledge!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respectful.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 the syllabus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Read the 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 notes on paper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Plan ahead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presentation assignment 1: Due Jan 29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Find a paper on diversity patterns in your study system (or one you pick)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Make 2 slides explaining the paper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Slide 1) graphics made by you that explain what was done in the study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Slide 2) what they found (should include results figure(s) from paper)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Step 3: Present the paper using those two slides (5 minute max)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1: Diversity Patterns: Due Feb 7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Pick a diversity pattern(s) relevant for your study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Find and read 10-20 relevant papers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Write 2 pages about it (double spaced)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Introduction format, references don’t count against page limit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Potential things to include: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Description of</a:t>
            </a:r>
            <a:r>
              <a:rPr lang="en"/>
              <a:t> patterns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Hypothesized mechanisms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Tests of mechanisms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Gaps in our knowledge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 so far?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Community Ecology?</a:t>
            </a:r>
            <a:endParaRPr/>
          </a:p>
        </p:txBody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“Community ecology is that branch of science focused squarely on understanding Earth’s biodiversity, including the generation, maintenance, and distribution of the diversity of life in space and time.” - Mittelbach and McGill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Community Ecology?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-1702657">
            <a:off x="-420450" y="2238133"/>
            <a:ext cx="10404800" cy="102808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Molecule &lt; Organelle &lt; Cell &lt; Tissue &lt; Organ &lt; Organism &lt; Population &lt; </a:t>
            </a:r>
            <a:r>
              <a:rPr b="1" lang="en" sz="1600"/>
              <a:t>Community</a:t>
            </a:r>
            <a:r>
              <a:rPr lang="en" sz="1600"/>
              <a:t> &lt; Ecosystem &lt; Biosphere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Community Ecology?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focused on multiple, co-occurring species.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Overlaps with other branches of ecology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Best not to stress over an exact definition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Community Ecology?</a:t>
            </a:r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3240300" y="2043725"/>
            <a:ext cx="1542600" cy="88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Community Ecology?</a:t>
            </a: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3240300" y="2043725"/>
            <a:ext cx="1542600" cy="88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</a:t>
            </a:r>
            <a:endParaRPr/>
          </a:p>
        </p:txBody>
      </p:sp>
      <p:sp>
        <p:nvSpPr>
          <p:cNvPr id="139" name="Google Shape;139;p27"/>
          <p:cNvSpPr/>
          <p:nvPr/>
        </p:nvSpPr>
        <p:spPr>
          <a:xfrm>
            <a:off x="15184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dynamics</a:t>
            </a:r>
            <a:endParaRPr/>
          </a:p>
        </p:txBody>
      </p:sp>
      <p:sp>
        <p:nvSpPr>
          <p:cNvPr id="140" name="Google Shape;140;p27"/>
          <p:cNvSpPr/>
          <p:nvPr/>
        </p:nvSpPr>
        <p:spPr>
          <a:xfrm>
            <a:off x="50998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Community Ecology?</a:t>
            </a:r>
            <a:endParaRPr/>
          </a:p>
        </p:txBody>
      </p:sp>
      <p:sp>
        <p:nvSpPr>
          <p:cNvPr id="146" name="Google Shape;146;p28"/>
          <p:cNvSpPr/>
          <p:nvPr/>
        </p:nvSpPr>
        <p:spPr>
          <a:xfrm>
            <a:off x="3240300" y="2043725"/>
            <a:ext cx="1542600" cy="88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</a:t>
            </a:r>
            <a:endParaRPr/>
          </a:p>
        </p:txBody>
      </p:sp>
      <p:sp>
        <p:nvSpPr>
          <p:cNvPr id="147" name="Google Shape;147;p28"/>
          <p:cNvSpPr/>
          <p:nvPr/>
        </p:nvSpPr>
        <p:spPr>
          <a:xfrm>
            <a:off x="15184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dynamics</a:t>
            </a:r>
            <a:endParaRPr/>
          </a:p>
        </p:txBody>
      </p:sp>
      <p:sp>
        <p:nvSpPr>
          <p:cNvPr id="148" name="Google Shape;148;p28"/>
          <p:cNvSpPr/>
          <p:nvPr/>
        </p:nvSpPr>
        <p:spPr>
          <a:xfrm>
            <a:off x="50998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Functioning</a:t>
            </a:r>
            <a:endParaRPr/>
          </a:p>
        </p:txBody>
      </p:sp>
      <p:sp>
        <p:nvSpPr>
          <p:cNvPr id="149" name="Google Shape;149;p28"/>
          <p:cNvSpPr/>
          <p:nvPr/>
        </p:nvSpPr>
        <p:spPr>
          <a:xfrm>
            <a:off x="20732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Conservation</a:t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2444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</a:t>
            </a:r>
            <a:endParaRPr/>
          </a:p>
        </p:txBody>
      </p:sp>
      <p:sp>
        <p:nvSpPr>
          <p:cNvPr id="151" name="Google Shape;151;p28"/>
          <p:cNvSpPr/>
          <p:nvPr/>
        </p:nvSpPr>
        <p:spPr>
          <a:xfrm>
            <a:off x="244400" y="31856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Community Ecology?</a:t>
            </a:r>
            <a:endParaRPr/>
          </a:p>
        </p:txBody>
      </p:sp>
      <p:sp>
        <p:nvSpPr>
          <p:cNvPr id="157" name="Google Shape;157;p29"/>
          <p:cNvSpPr/>
          <p:nvPr/>
        </p:nvSpPr>
        <p:spPr>
          <a:xfrm>
            <a:off x="3240300" y="2043725"/>
            <a:ext cx="1542600" cy="8877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</a:t>
            </a:r>
            <a:endParaRPr/>
          </a:p>
        </p:txBody>
      </p:sp>
      <p:sp>
        <p:nvSpPr>
          <p:cNvPr id="158" name="Google Shape;158;p29"/>
          <p:cNvSpPr/>
          <p:nvPr/>
        </p:nvSpPr>
        <p:spPr>
          <a:xfrm>
            <a:off x="15184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dynamics</a:t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5099850" y="2071450"/>
            <a:ext cx="1266900" cy="86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Ecosystem Functioning</a:t>
            </a:r>
            <a:endParaRPr/>
          </a:p>
        </p:txBody>
      </p:sp>
      <p:sp>
        <p:nvSpPr>
          <p:cNvPr id="160" name="Google Shape;160;p29"/>
          <p:cNvSpPr/>
          <p:nvPr/>
        </p:nvSpPr>
        <p:spPr>
          <a:xfrm>
            <a:off x="20732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Conservation</a:t>
            </a:r>
            <a:endParaRPr/>
          </a:p>
        </p:txBody>
      </p:sp>
      <p:sp>
        <p:nvSpPr>
          <p:cNvPr id="161" name="Google Shape;161;p29"/>
          <p:cNvSpPr/>
          <p:nvPr/>
        </p:nvSpPr>
        <p:spPr>
          <a:xfrm>
            <a:off x="40544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health</a:t>
            </a:r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4206800" y="31856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Anthropology</a:t>
            </a:r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2301800" y="31856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>
            <a:off x="58070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Agriculture</a:t>
            </a:r>
            <a:endParaRPr/>
          </a:p>
        </p:txBody>
      </p:sp>
      <p:sp>
        <p:nvSpPr>
          <p:cNvPr id="165" name="Google Shape;165;p29"/>
          <p:cNvSpPr/>
          <p:nvPr/>
        </p:nvSpPr>
        <p:spPr>
          <a:xfrm>
            <a:off x="6111800" y="31094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Climate Models</a:t>
            </a:r>
            <a:endParaRPr/>
          </a:p>
        </p:txBody>
      </p:sp>
      <p:sp>
        <p:nvSpPr>
          <p:cNvPr id="166" name="Google Shape;166;p29"/>
          <p:cNvSpPr/>
          <p:nvPr/>
        </p:nvSpPr>
        <p:spPr>
          <a:xfrm>
            <a:off x="244400" y="11282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</a:t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244400" y="3185600"/>
            <a:ext cx="1368600" cy="6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history of community ecology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history of community ecology</a:t>
            </a:r>
            <a:endParaRPr/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Started with plant ecologists in the early 1900’s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Thought there were fixed types of communities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Communities progressed towards a stable “climax community”</a:t>
            </a:r>
            <a:endParaRPr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265650"/>
            <a:ext cx="5566184" cy="2303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2"/>
          <p:cNvSpPr txBox="1"/>
          <p:nvPr/>
        </p:nvSpPr>
        <p:spPr>
          <a:xfrm>
            <a:off x="0" y="4881900"/>
            <a:ext cx="6140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2"/>
                </a:solidFill>
              </a:rPr>
              <a:t>Image: Florida Department of Environmental Protection</a:t>
            </a:r>
            <a:endParaRPr sz="500">
              <a:solidFill>
                <a:schemeClr val="dk2"/>
              </a:solidFill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7877" y="2265650"/>
            <a:ext cx="3080600" cy="29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history of community ecology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of fixed types of communities has been abandoned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Communities as aggregations of individual species</a:t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50" y="2015775"/>
            <a:ext cx="3035650" cy="29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Meanwhile, in the animal world…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demographic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interspecific interaction (competition, predation)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Meanwhile, in the animal world…</a:t>
            </a:r>
            <a:endParaRPr/>
          </a:p>
        </p:txBody>
      </p:sp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demographic processes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interspecific interaction (competition, predation)</a:t>
            </a:r>
            <a:endParaRPr/>
          </a:p>
        </p:txBody>
      </p:sp>
      <p:pic>
        <p:nvPicPr>
          <p:cNvPr id="206" name="Google Shape;20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525" y="2071825"/>
            <a:ext cx="1967875" cy="119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5"/>
          <p:cNvSpPr txBox="1"/>
          <p:nvPr/>
        </p:nvSpPr>
        <p:spPr>
          <a:xfrm>
            <a:off x="385525" y="3504475"/>
            <a:ext cx="209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Lotka-Volterra Model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8" name="Google Shape;20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1125" y="2113700"/>
            <a:ext cx="4008825" cy="245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3076800" y="4851000"/>
            <a:ext cx="6067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By Lamiot - Own work based on Pilovsky et al. 2001 (p. 16, figure 1.13), CC BY-SA 4.0, https://commons.wikimedia.org/w/index.php?curid=45036611</a:t>
            </a:r>
            <a:endParaRPr sz="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Meanwhile, in the animal world…</a:t>
            </a:r>
            <a:endParaRPr/>
          </a:p>
        </p:txBody>
      </p:sp>
      <p:sp>
        <p:nvSpPr>
          <p:cNvPr id="215" name="Google Shape;2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Mathematical </a:t>
            </a:r>
            <a:r>
              <a:rPr lang="en"/>
              <a:t>equations</a:t>
            </a:r>
            <a:r>
              <a:rPr lang="en"/>
              <a:t> </a:t>
            </a:r>
            <a:r>
              <a:rPr lang="en"/>
              <a:t>let to predictions about coexistence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Tested in experimental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Competitive Exclusion Principle</a:t>
            </a:r>
            <a:endParaRPr/>
          </a:p>
        </p:txBody>
      </p:sp>
      <p:pic>
        <p:nvPicPr>
          <p:cNvPr id="216" name="Google Shape;21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650" y="1609450"/>
            <a:ext cx="4554226" cy="32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6"/>
          <p:cNvSpPr txBox="1"/>
          <p:nvPr/>
        </p:nvSpPr>
        <p:spPr>
          <a:xfrm>
            <a:off x="3435600" y="4905650"/>
            <a:ext cx="57084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CNX OpenStax - http://cnx.org/contents/GFy_h8cu@10.53:rZudN6XP@2/Introduction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Plants vs Animals</a:t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Plants - Focus on what lives 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Animals - Focus on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different focuses make sense!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Differences in generation times, predation vs herbivory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Niche Concept</a:t>
            </a:r>
            <a:endParaRPr/>
          </a:p>
        </p:txBody>
      </p:sp>
      <p:sp>
        <p:nvSpPr>
          <p:cNvPr id="229" name="Google Shape;229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Grinnellian (Abiotic) Niche: Environmental 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50" y="2666800"/>
            <a:ext cx="2434225" cy="2349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Niche Concept</a:t>
            </a:r>
            <a:endParaRPr/>
          </a:p>
        </p:txBody>
      </p:sp>
      <p:sp>
        <p:nvSpPr>
          <p:cNvPr id="236" name="Google Shape;23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Grinnellian (Abiotic) Niche: Environmental 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Eltonian (Biotic) Niche: Species’ interactions in a community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50" y="2666800"/>
            <a:ext cx="2434225" cy="2349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074" y="2666800"/>
            <a:ext cx="2434225" cy="234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Niche Concept</a:t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Grinnellian (Abiotic) Niche: Environmental requirements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Eltonian (Biotic) Niche: Species’ interactions in a community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Hutchinsonian (n-dimensional) Niche: Environment + Interactions</a:t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50" y="2666800"/>
            <a:ext cx="2434225" cy="2349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074" y="2666800"/>
            <a:ext cx="2434225" cy="2349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0"/>
          <p:cNvPicPr preferRelativeResize="0"/>
          <p:nvPr/>
        </p:nvPicPr>
        <p:blipFill rotWithShape="1">
          <a:blip r:embed="rId5">
            <a:alphaModFix/>
          </a:blip>
          <a:srcRect b="31824" l="7466" r="59305" t="16370"/>
          <a:stretch/>
        </p:blipFill>
        <p:spPr>
          <a:xfrm>
            <a:off x="5966025" y="2622800"/>
            <a:ext cx="2678626" cy="234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Niches to Competition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Competitive exclusion rule tied to niche overlap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niches have to be identical?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5900" y="1635075"/>
            <a:ext cx="3746400" cy="361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Limiting similarity</a:t>
            </a:r>
            <a:endParaRPr/>
          </a:p>
        </p:txBody>
      </p:sp>
      <p:sp>
        <p:nvSpPr>
          <p:cNvPr id="260" name="Google Shape;26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Improvement on the competitive exclusion principle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25" y="1922251"/>
            <a:ext cx="6893451" cy="30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Reality Set In</a:t>
            </a:r>
            <a:endParaRPr/>
          </a:p>
        </p:txBody>
      </p:sp>
      <p:sp>
        <p:nvSpPr>
          <p:cNvPr id="267" name="Google Shape;26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Nature is complicated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Competition isn’t the only thing to consider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Importance of null models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Different, interacting processes operate at different scales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Ecology Today</a:t>
            </a:r>
            <a:endParaRPr/>
          </a:p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of that “historical” stuff is still relevant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Embracing diversity of questions, mechanisms, approaches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Fancy stats and computational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Science / Open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lots of basic research and data to do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Diversity Patterns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