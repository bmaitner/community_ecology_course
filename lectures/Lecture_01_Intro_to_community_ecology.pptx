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24606db87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24606db87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24606db87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24606db87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24606db87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24606db87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24606db874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24606db874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24606db874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24606db874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24606db874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24606db874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24606db874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g324606db874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24606db874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24606db874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b66992c8b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b66992c8b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24606db874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" name="Google Shape;112;g324606db874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24606db874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324606db874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24606db874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g324606db874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24606db874_0_1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324606db874_0_1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24606db874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24606db874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24606db874_0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24606db874_0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24606db874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24606db874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24606db874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24606db874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24606db874_0_1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324606db874_0_1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24606db874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324606db874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24606db874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24606db874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2d7a5c2174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2d7a5c2174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2d7a5c21749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2d7a5c21749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2d7a5c21749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" name="Google Shape;208;g2d7a5c21749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2d7a5c21749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2d7a5c21749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2d7a5c21749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" name="Google Shape;226;g2d7a5c21749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d7a5c21749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2d7a5c21749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2d7a5c21749_0_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g2d7a5c21749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2d7a5c21749_0_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7" name="Google Shape;247;g2d7a5c21749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g2d7a5c21749_0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6" name="Google Shape;256;g2d7a5c21749_0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2d7a5c21749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2d7a5c21749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Can project onto a whiteboard and color in the overlapping areas with dry erase marker</a:t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2d7b1fd0d0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2d7b1fd0d0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2d7b1fd0d0f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6" name="Google Shape;276;g2d7b1fd0d0f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d7b1fd0d0f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2" name="Google Shape;282;g2d7b1fd0d0f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github.com/bmaitner/Community_ecology_course/blob/main/additional_materials/useful_links.md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Relationship Id="rId4" Type="http://schemas.openxmlformats.org/officeDocument/2006/relationships/image" Target="../media/image10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4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.png"/><Relationship Id="rId4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.png"/><Relationship Id="rId4" Type="http://schemas.openxmlformats.org/officeDocument/2006/relationships/image" Target="../media/image7.png"/><Relationship Id="rId5" Type="http://schemas.openxmlformats.org/officeDocument/2006/relationships/image" Target="../media/image11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7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0" y="744575"/>
            <a:ext cx="8520600" cy="996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Community Ecology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1897850"/>
            <a:ext cx="8520600" cy="255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0000" lnSpcReduction="2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Today’s agenda:</a:t>
            </a:r>
            <a:endParaRPr b="1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Quiz,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Introductions,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Syllabus,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Paper Presentation assignment,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 1: Diversity Patterns,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 to Community Ecology,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Diversity Patterns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Introductions</a:t>
            </a:r>
            <a:endParaRPr/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Tell us: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Your name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Your research interests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Something interesting about yourself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Syllabus: basic stuff</a:t>
            </a:r>
            <a:endParaRPr/>
          </a:p>
        </p:txBody>
      </p:sp>
      <p:sp>
        <p:nvSpPr>
          <p:cNvPr id="67" name="Google Shape;67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Class Meeting Days: M, W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Class Meeting Time: 3:30 – 4:45 pm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Class Meeting Location: DAV 260 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Instructor: Dr. Brian Maitner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Office Location: DAV 226 (but I’m usually in URL 106, because it’s warmer)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Office Hours: By appointment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Email: bmaitner@usf.edu</a:t>
            </a:r>
            <a:endParaRPr sz="2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Syllabus: Course structure</a:t>
            </a:r>
            <a:endParaRPr/>
          </a:p>
        </p:txBody>
      </p:sp>
      <p:sp>
        <p:nvSpPr>
          <p:cNvPr id="73" name="Google Shape;73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Lectures and book - provide overview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Assignments</a:t>
            </a:r>
            <a:r>
              <a:rPr lang="en"/>
              <a:t> - deeper dive into your own interests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Many small assignments = less stress</a:t>
            </a:r>
            <a:endParaRPr/>
          </a:p>
          <a:p>
            <a:pPr indent="0" lvl="0" marL="1082675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Graded Items		Percent of Final Grade</a:t>
            </a:r>
            <a:endParaRPr b="1"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108267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Projects (4x)					45%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108267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In-class quizzes				10%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108267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Midterm					10%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108267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Final						10%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108267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Paper presentation assignments (2x)		10%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108267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Conceptual Figure Assignment		5%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108267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Network Assignment				5%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108267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Group Presentation Assignment		5%</a:t>
            </a:r>
            <a:endParaRPr/>
          </a:p>
        </p:txBody>
      </p:sp>
      <p:pic>
        <p:nvPicPr>
          <p:cNvPr id="74" name="Google Shape;74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74725" y="277463"/>
            <a:ext cx="1866900" cy="2447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Expectations</a:t>
            </a:r>
            <a:endParaRPr/>
          </a:p>
        </p:txBody>
      </p:sp>
      <p:sp>
        <p:nvSpPr>
          <p:cNvPr id="80" name="Google Shape;80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Participate! Ask questions. Share </a:t>
            </a:r>
            <a:r>
              <a:rPr lang="en"/>
              <a:t>ideas, experiences, and knowledge!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Be respectful.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Recommendations</a:t>
            </a:r>
            <a:endParaRPr/>
          </a:p>
        </p:txBody>
      </p:sp>
      <p:sp>
        <p:nvSpPr>
          <p:cNvPr id="86" name="Google Shape;86;p1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Read the syllabus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Read the book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Take notes on paper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Plan ahead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Questions so far?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Paper presentation assignment 1: Due Jan 28</a:t>
            </a:r>
            <a:endParaRPr/>
          </a:p>
        </p:txBody>
      </p:sp>
      <p:sp>
        <p:nvSpPr>
          <p:cNvPr id="97" name="Google Shape;97;p2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 1: Find a paper on diversity patterns in your study system (or one you pick)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Step 2: Make 2 slides explaining the paper</a:t>
            </a:r>
            <a:endParaRPr/>
          </a:p>
          <a:p>
            <a:pPr indent="0" lvl="0" marL="9144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Slide 1) graphics made by you that explain what was done in the study</a:t>
            </a:r>
            <a:endParaRPr/>
          </a:p>
          <a:p>
            <a:pPr indent="0" lvl="0" marL="9144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Slide 2) what they found (should include results figure(s) from paper)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Step 3: Present the paper using those two slides (5 minute max)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 1: Diversity Patterns: Due Feb 6</a:t>
            </a:r>
            <a:endParaRPr/>
          </a:p>
        </p:txBody>
      </p:sp>
      <p:sp>
        <p:nvSpPr>
          <p:cNvPr id="103" name="Google Shape;103;p2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 1: Pick a diversity pattern(s) relevant for your study system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Step 2: Find and read 5+ relevant papers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Step 3: Write 2 pages about it (double spaced)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	Introduction format, references don’t count against page limit</a:t>
            </a:r>
            <a:endParaRPr/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Potential things to include:</a:t>
            </a:r>
            <a:endParaRPr/>
          </a:p>
          <a:p>
            <a:pPr indent="-342900" lvl="0" marL="9144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Description of</a:t>
            </a:r>
            <a:r>
              <a:rPr lang="en"/>
              <a:t> patterns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Hypothesized mechanisms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Tests of mechanisms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Gaps in our knowledge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Note: I’m </a:t>
            </a:r>
            <a:r>
              <a:rPr lang="en"/>
              <a:t>assembling</a:t>
            </a:r>
            <a:r>
              <a:rPr lang="en"/>
              <a:t> some links on research/writing</a:t>
            </a:r>
            <a:endParaRPr/>
          </a:p>
        </p:txBody>
      </p:sp>
      <p:sp>
        <p:nvSpPr>
          <p:cNvPr id="109" name="Google Shape;109;p2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 to date set of resources here: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https://github.com/bmaitner/Community_ecology_course/blob/main/additional_materials/useful_links.md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If you’re new to scientific writing and want more help, use office hours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 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Questions so far?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Community Ecology?</a:t>
            </a:r>
            <a:endParaRPr/>
          </a:p>
        </p:txBody>
      </p:sp>
      <p:sp>
        <p:nvSpPr>
          <p:cNvPr id="120" name="Google Shape;120;p2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“Community ecology is that branch of science focused squarely on understanding Earth’s biodiversity, including the generation, maintenance, and distribution of the diversity of life in space and time.” - Mittelbach and McGill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"/>
              <a:t>What is Community Ecology?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25"/>
          <p:cNvSpPr txBox="1"/>
          <p:nvPr>
            <p:ph idx="1" type="body"/>
          </p:nvPr>
        </p:nvSpPr>
        <p:spPr>
          <a:xfrm rot="-1702657">
            <a:off x="-420450" y="2238133"/>
            <a:ext cx="10404800" cy="102808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600"/>
              <a:t>Molecule &lt; Organelle &lt; Cell &lt; Tissue &lt; Organ &lt; Organism &lt; Population &lt; </a:t>
            </a:r>
            <a:r>
              <a:rPr b="1" lang="en" sz="1600"/>
              <a:t>Community</a:t>
            </a:r>
            <a:r>
              <a:rPr lang="en" sz="1600"/>
              <a:t> &lt; Ecosystem &lt; Biosphere</a:t>
            </a:r>
            <a:endParaRPr sz="16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Community Ecology?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2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Science focused on multiple, co-occurring species.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Overlaps with other branches of ecology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Best not to stress over an exact definition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Community Ecology?</a:t>
            </a:r>
            <a:endParaRPr/>
          </a:p>
        </p:txBody>
      </p:sp>
      <p:sp>
        <p:nvSpPr>
          <p:cNvPr id="138" name="Google Shape;138;p27"/>
          <p:cNvSpPr/>
          <p:nvPr/>
        </p:nvSpPr>
        <p:spPr>
          <a:xfrm>
            <a:off x="3240300" y="2043725"/>
            <a:ext cx="1542600" cy="887700"/>
          </a:xfrm>
          <a:prstGeom prst="roundRect">
            <a:avLst>
              <a:gd fmla="val 16667" name="adj"/>
            </a:avLst>
          </a:prstGeom>
          <a:solidFill>
            <a:srgbClr val="EAD1D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Community Ecology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Community Ecology?</a:t>
            </a:r>
            <a:endParaRPr/>
          </a:p>
        </p:txBody>
      </p:sp>
      <p:sp>
        <p:nvSpPr>
          <p:cNvPr id="144" name="Google Shape;144;p28"/>
          <p:cNvSpPr/>
          <p:nvPr/>
        </p:nvSpPr>
        <p:spPr>
          <a:xfrm>
            <a:off x="3240300" y="2043725"/>
            <a:ext cx="1542600" cy="887700"/>
          </a:xfrm>
          <a:prstGeom prst="roundRect">
            <a:avLst>
              <a:gd fmla="val 16667" name="adj"/>
            </a:avLst>
          </a:prstGeom>
          <a:solidFill>
            <a:srgbClr val="EAD1D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Community Ecology</a:t>
            </a:r>
            <a:endParaRPr/>
          </a:p>
        </p:txBody>
      </p:sp>
      <p:sp>
        <p:nvSpPr>
          <p:cNvPr id="145" name="Google Shape;145;p28"/>
          <p:cNvSpPr/>
          <p:nvPr/>
        </p:nvSpPr>
        <p:spPr>
          <a:xfrm>
            <a:off x="1518450" y="2071450"/>
            <a:ext cx="1266900" cy="8601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Population dynamics</a:t>
            </a:r>
            <a:endParaRPr/>
          </a:p>
        </p:txBody>
      </p:sp>
      <p:sp>
        <p:nvSpPr>
          <p:cNvPr id="146" name="Google Shape;146;p28"/>
          <p:cNvSpPr/>
          <p:nvPr/>
        </p:nvSpPr>
        <p:spPr>
          <a:xfrm>
            <a:off x="5099850" y="2071450"/>
            <a:ext cx="1266900" cy="8601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Ecosystem Functioning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Community Ecology?</a:t>
            </a:r>
            <a:endParaRPr/>
          </a:p>
        </p:txBody>
      </p:sp>
      <p:sp>
        <p:nvSpPr>
          <p:cNvPr id="152" name="Google Shape;152;p29"/>
          <p:cNvSpPr/>
          <p:nvPr/>
        </p:nvSpPr>
        <p:spPr>
          <a:xfrm>
            <a:off x="3240300" y="2043725"/>
            <a:ext cx="1542600" cy="887700"/>
          </a:xfrm>
          <a:prstGeom prst="roundRect">
            <a:avLst>
              <a:gd fmla="val 16667" name="adj"/>
            </a:avLst>
          </a:prstGeom>
          <a:solidFill>
            <a:srgbClr val="EAD1D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Community Ecology</a:t>
            </a:r>
            <a:endParaRPr/>
          </a:p>
        </p:txBody>
      </p:sp>
      <p:sp>
        <p:nvSpPr>
          <p:cNvPr id="153" name="Google Shape;153;p29"/>
          <p:cNvSpPr/>
          <p:nvPr/>
        </p:nvSpPr>
        <p:spPr>
          <a:xfrm>
            <a:off x="1518450" y="2071450"/>
            <a:ext cx="1266900" cy="8601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Population dynamics</a:t>
            </a:r>
            <a:endParaRPr/>
          </a:p>
        </p:txBody>
      </p:sp>
      <p:sp>
        <p:nvSpPr>
          <p:cNvPr id="154" name="Google Shape;154;p29"/>
          <p:cNvSpPr/>
          <p:nvPr/>
        </p:nvSpPr>
        <p:spPr>
          <a:xfrm>
            <a:off x="5099850" y="2071450"/>
            <a:ext cx="1266900" cy="8601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Ecosystem Functioning</a:t>
            </a:r>
            <a:endParaRPr/>
          </a:p>
        </p:txBody>
      </p:sp>
      <p:sp>
        <p:nvSpPr>
          <p:cNvPr id="155" name="Google Shape;155;p29"/>
          <p:cNvSpPr/>
          <p:nvPr/>
        </p:nvSpPr>
        <p:spPr>
          <a:xfrm>
            <a:off x="2073200" y="1128200"/>
            <a:ext cx="1368600" cy="6936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Conservation</a:t>
            </a:r>
            <a:endParaRPr/>
          </a:p>
        </p:txBody>
      </p:sp>
      <p:sp>
        <p:nvSpPr>
          <p:cNvPr id="156" name="Google Shape;156;p29"/>
          <p:cNvSpPr/>
          <p:nvPr/>
        </p:nvSpPr>
        <p:spPr>
          <a:xfrm>
            <a:off x="244400" y="1128200"/>
            <a:ext cx="1368600" cy="6936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Evolution</a:t>
            </a:r>
            <a:endParaRPr/>
          </a:p>
        </p:txBody>
      </p:sp>
      <p:sp>
        <p:nvSpPr>
          <p:cNvPr id="157" name="Google Shape;157;p29"/>
          <p:cNvSpPr/>
          <p:nvPr/>
        </p:nvSpPr>
        <p:spPr>
          <a:xfrm>
            <a:off x="244400" y="3185600"/>
            <a:ext cx="1368600" cy="6936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Behavior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3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Community Ecology?</a:t>
            </a:r>
            <a:endParaRPr/>
          </a:p>
        </p:txBody>
      </p:sp>
      <p:sp>
        <p:nvSpPr>
          <p:cNvPr id="163" name="Google Shape;163;p30"/>
          <p:cNvSpPr/>
          <p:nvPr/>
        </p:nvSpPr>
        <p:spPr>
          <a:xfrm>
            <a:off x="3240300" y="2043725"/>
            <a:ext cx="1542600" cy="887700"/>
          </a:xfrm>
          <a:prstGeom prst="roundRect">
            <a:avLst>
              <a:gd fmla="val 16667" name="adj"/>
            </a:avLst>
          </a:prstGeom>
          <a:solidFill>
            <a:srgbClr val="EAD1D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Community Ecology</a:t>
            </a:r>
            <a:endParaRPr/>
          </a:p>
        </p:txBody>
      </p:sp>
      <p:sp>
        <p:nvSpPr>
          <p:cNvPr id="164" name="Google Shape;164;p30"/>
          <p:cNvSpPr/>
          <p:nvPr/>
        </p:nvSpPr>
        <p:spPr>
          <a:xfrm>
            <a:off x="1518450" y="2071450"/>
            <a:ext cx="1266900" cy="8601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Population dynamics</a:t>
            </a:r>
            <a:endParaRPr/>
          </a:p>
        </p:txBody>
      </p:sp>
      <p:sp>
        <p:nvSpPr>
          <p:cNvPr id="165" name="Google Shape;165;p30"/>
          <p:cNvSpPr/>
          <p:nvPr/>
        </p:nvSpPr>
        <p:spPr>
          <a:xfrm>
            <a:off x="5099850" y="2071450"/>
            <a:ext cx="1266900" cy="8601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Ecosystem Functioning</a:t>
            </a:r>
            <a:endParaRPr/>
          </a:p>
        </p:txBody>
      </p:sp>
      <p:sp>
        <p:nvSpPr>
          <p:cNvPr id="166" name="Google Shape;166;p30"/>
          <p:cNvSpPr/>
          <p:nvPr/>
        </p:nvSpPr>
        <p:spPr>
          <a:xfrm>
            <a:off x="2073200" y="1128200"/>
            <a:ext cx="1368600" cy="6936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Conservation</a:t>
            </a:r>
            <a:endParaRPr/>
          </a:p>
        </p:txBody>
      </p:sp>
      <p:sp>
        <p:nvSpPr>
          <p:cNvPr id="167" name="Google Shape;167;p30"/>
          <p:cNvSpPr/>
          <p:nvPr/>
        </p:nvSpPr>
        <p:spPr>
          <a:xfrm>
            <a:off x="4054400" y="1128200"/>
            <a:ext cx="1368600" cy="6936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Human health</a:t>
            </a:r>
            <a:endParaRPr/>
          </a:p>
        </p:txBody>
      </p:sp>
      <p:sp>
        <p:nvSpPr>
          <p:cNvPr id="168" name="Google Shape;168;p30"/>
          <p:cNvSpPr/>
          <p:nvPr/>
        </p:nvSpPr>
        <p:spPr>
          <a:xfrm>
            <a:off x="4206800" y="3185600"/>
            <a:ext cx="1368600" cy="6936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Anthropology</a:t>
            </a:r>
            <a:endParaRPr/>
          </a:p>
        </p:txBody>
      </p:sp>
      <p:sp>
        <p:nvSpPr>
          <p:cNvPr id="169" name="Google Shape;169;p30"/>
          <p:cNvSpPr/>
          <p:nvPr/>
        </p:nvSpPr>
        <p:spPr>
          <a:xfrm>
            <a:off x="2301800" y="3185600"/>
            <a:ext cx="1368600" cy="6936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Business</a:t>
            </a:r>
            <a:endParaRPr/>
          </a:p>
        </p:txBody>
      </p:sp>
      <p:sp>
        <p:nvSpPr>
          <p:cNvPr id="170" name="Google Shape;170;p30"/>
          <p:cNvSpPr/>
          <p:nvPr/>
        </p:nvSpPr>
        <p:spPr>
          <a:xfrm>
            <a:off x="5807000" y="1128200"/>
            <a:ext cx="1368600" cy="6936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Agriculture</a:t>
            </a:r>
            <a:endParaRPr/>
          </a:p>
        </p:txBody>
      </p:sp>
      <p:sp>
        <p:nvSpPr>
          <p:cNvPr id="171" name="Google Shape;171;p30"/>
          <p:cNvSpPr/>
          <p:nvPr/>
        </p:nvSpPr>
        <p:spPr>
          <a:xfrm>
            <a:off x="6111800" y="3109400"/>
            <a:ext cx="1368600" cy="6936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Climate Models</a:t>
            </a:r>
            <a:endParaRPr/>
          </a:p>
        </p:txBody>
      </p:sp>
      <p:sp>
        <p:nvSpPr>
          <p:cNvPr id="172" name="Google Shape;172;p30"/>
          <p:cNvSpPr/>
          <p:nvPr/>
        </p:nvSpPr>
        <p:spPr>
          <a:xfrm>
            <a:off x="244400" y="1128200"/>
            <a:ext cx="1368600" cy="6936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Evolution</a:t>
            </a:r>
            <a:endParaRPr/>
          </a:p>
        </p:txBody>
      </p:sp>
      <p:sp>
        <p:nvSpPr>
          <p:cNvPr id="173" name="Google Shape;173;p30"/>
          <p:cNvSpPr/>
          <p:nvPr/>
        </p:nvSpPr>
        <p:spPr>
          <a:xfrm>
            <a:off x="244400" y="3185600"/>
            <a:ext cx="1368600" cy="6936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Behavior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Questions?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3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history of community ecology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history of community ecology</a:t>
            </a:r>
            <a:endParaRPr/>
          </a:p>
        </p:txBody>
      </p:sp>
      <p:sp>
        <p:nvSpPr>
          <p:cNvPr id="189" name="Google Shape;189;p3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Started with plant ecologists in the early 1900’s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Thought there were fixed types of communities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Communities progressed towards a stable “climax community”</a:t>
            </a:r>
            <a:endParaRPr/>
          </a:p>
        </p:txBody>
      </p:sp>
      <p:pic>
        <p:nvPicPr>
          <p:cNvPr id="190" name="Google Shape;190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2265650"/>
            <a:ext cx="5566184" cy="2303225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33"/>
          <p:cNvSpPr txBox="1"/>
          <p:nvPr/>
        </p:nvSpPr>
        <p:spPr>
          <a:xfrm>
            <a:off x="0" y="4881900"/>
            <a:ext cx="61404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>
                <a:solidFill>
                  <a:schemeClr val="dk2"/>
                </a:solidFill>
              </a:rPr>
              <a:t>Image: Florida Department of Environmental Protection</a:t>
            </a:r>
            <a:endParaRPr sz="500">
              <a:solidFill>
                <a:schemeClr val="dk2"/>
              </a:solidFill>
            </a:endParaRPr>
          </a:p>
        </p:txBody>
      </p:sp>
      <p:pic>
        <p:nvPicPr>
          <p:cNvPr id="192" name="Google Shape;192;p3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877877" y="2265650"/>
            <a:ext cx="3080600" cy="297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history of community ecology</a:t>
            </a:r>
            <a:endParaRPr/>
          </a:p>
        </p:txBody>
      </p:sp>
      <p:sp>
        <p:nvSpPr>
          <p:cNvPr id="198" name="Google Shape;198;p3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idea of fixed types of communities has been abandoned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Communities as aggregations of individual species</a:t>
            </a:r>
            <a:endParaRPr/>
          </a:p>
        </p:txBody>
      </p:sp>
      <p:pic>
        <p:nvPicPr>
          <p:cNvPr id="199" name="Google Shape;199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2450" y="2015775"/>
            <a:ext cx="3035650" cy="2929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3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Meanwhile, in the animal world…</a:t>
            </a:r>
            <a:endParaRPr/>
          </a:p>
        </p:txBody>
      </p:sp>
      <p:sp>
        <p:nvSpPr>
          <p:cNvPr id="205" name="Google Shape;205;p3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Focus on demographic processes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Focus on interspecific interaction (competition, predation)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Meanwhile, in the animal world…</a:t>
            </a:r>
            <a:endParaRPr/>
          </a:p>
        </p:txBody>
      </p:sp>
      <p:sp>
        <p:nvSpPr>
          <p:cNvPr id="211" name="Google Shape;211;p3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Focus on demographic processes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Focus on interspecific interaction (competition, predation)</a:t>
            </a:r>
            <a:endParaRPr/>
          </a:p>
        </p:txBody>
      </p:sp>
      <p:pic>
        <p:nvPicPr>
          <p:cNvPr id="212" name="Google Shape;212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5525" y="2071825"/>
            <a:ext cx="1967875" cy="1192650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36"/>
          <p:cNvSpPr txBox="1"/>
          <p:nvPr/>
        </p:nvSpPr>
        <p:spPr>
          <a:xfrm>
            <a:off x="385525" y="3504475"/>
            <a:ext cx="20940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Lotka-Volterra Model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214" name="Google Shape;214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61125" y="2113700"/>
            <a:ext cx="4008825" cy="2455175"/>
          </a:xfrm>
          <a:prstGeom prst="rect">
            <a:avLst/>
          </a:prstGeom>
          <a:noFill/>
          <a:ln>
            <a:noFill/>
          </a:ln>
        </p:spPr>
      </p:pic>
      <p:sp>
        <p:nvSpPr>
          <p:cNvPr id="215" name="Google Shape;215;p36"/>
          <p:cNvSpPr txBox="1"/>
          <p:nvPr/>
        </p:nvSpPr>
        <p:spPr>
          <a:xfrm>
            <a:off x="3076800" y="4851000"/>
            <a:ext cx="60672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/>
              <a:t>By Lamiot - Own work based on Pilovsky et al. 2001 (p. 16, figure 1.13), CC BY-SA 4.0, https://commons.wikimedia.org/w/index.php?curid=45036611</a:t>
            </a:r>
            <a:endParaRPr sz="70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"/>
              <a:t>Meanwhile, in the animal world…</a:t>
            </a:r>
            <a:endParaRPr/>
          </a:p>
        </p:txBody>
      </p:sp>
      <p:sp>
        <p:nvSpPr>
          <p:cNvPr id="221" name="Google Shape;221;p3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Mathematical </a:t>
            </a:r>
            <a:r>
              <a:rPr lang="en"/>
              <a:t>equations</a:t>
            </a:r>
            <a:r>
              <a:rPr lang="en"/>
              <a:t> </a:t>
            </a:r>
            <a:r>
              <a:rPr lang="en"/>
              <a:t>let to predictions about coexistence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Tested in experimental systems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Competitive Exclusion Principle</a:t>
            </a:r>
            <a:endParaRPr/>
          </a:p>
        </p:txBody>
      </p:sp>
      <p:pic>
        <p:nvPicPr>
          <p:cNvPr id="222" name="Google Shape;222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93650" y="1609450"/>
            <a:ext cx="4554226" cy="3296200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37"/>
          <p:cNvSpPr txBox="1"/>
          <p:nvPr/>
        </p:nvSpPr>
        <p:spPr>
          <a:xfrm>
            <a:off x="3435600" y="4905650"/>
            <a:ext cx="5708400" cy="22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2"/>
                </a:solidFill>
              </a:rPr>
              <a:t>CNX OpenStax - http://cnx.org/contents/GFy_h8cu@10.53:rZudN6XP@2/Introduction</a:t>
            </a:r>
            <a:endParaRPr sz="7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3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Plants vs Animals</a:t>
            </a:r>
            <a:endParaRPr/>
          </a:p>
        </p:txBody>
      </p:sp>
      <p:sp>
        <p:nvSpPr>
          <p:cNvPr id="229" name="Google Shape;229;p3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Plants - Focus on what lives where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Animals - Focus on interactions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These different focuses make sense!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Differences in generation times, predation vs herbivory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Niche Concept</a:t>
            </a:r>
            <a:endParaRPr/>
          </a:p>
        </p:txBody>
      </p:sp>
      <p:sp>
        <p:nvSpPr>
          <p:cNvPr id="235" name="Google Shape;235;p3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Grinnellian (Abiotic) Niche: Environmental requirements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236" name="Google Shape;236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7550" y="2666800"/>
            <a:ext cx="2434225" cy="23491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Niche Concept</a:t>
            </a:r>
            <a:endParaRPr/>
          </a:p>
        </p:txBody>
      </p:sp>
      <p:sp>
        <p:nvSpPr>
          <p:cNvPr id="242" name="Google Shape;242;p4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Grinnellian (Abiotic) Niche: Environmental requirements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Eltonian (Biotic) Niche: Species’ interactions in a community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243" name="Google Shape;243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7550" y="2666800"/>
            <a:ext cx="2434225" cy="2349131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Google Shape;244;p4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59074" y="2666800"/>
            <a:ext cx="2434225" cy="23491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Niche Concept</a:t>
            </a:r>
            <a:endParaRPr/>
          </a:p>
        </p:txBody>
      </p:sp>
      <p:sp>
        <p:nvSpPr>
          <p:cNvPr id="250" name="Google Shape;250;p4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Grinnellian (Abiotic) Niche: Environmental requirements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Eltonian (Biotic) Niche: Species’ interactions in a community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Hutchinsonian (n-dimensional) Niche: Environment + Interactions</a:t>
            </a:r>
            <a:endParaRPr/>
          </a:p>
        </p:txBody>
      </p:sp>
      <p:pic>
        <p:nvPicPr>
          <p:cNvPr id="251" name="Google Shape;251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7550" y="2666800"/>
            <a:ext cx="2434225" cy="234913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2" name="Google Shape;252;p4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59074" y="2666800"/>
            <a:ext cx="2434225" cy="2349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253" name="Google Shape;253;p41"/>
          <p:cNvPicPr preferRelativeResize="0"/>
          <p:nvPr/>
        </p:nvPicPr>
        <p:blipFill rotWithShape="1">
          <a:blip r:embed="rId5">
            <a:alphaModFix/>
          </a:blip>
          <a:srcRect b="31824" l="7466" r="59305" t="16370"/>
          <a:stretch/>
        </p:blipFill>
        <p:spPr>
          <a:xfrm>
            <a:off x="5966025" y="2622800"/>
            <a:ext cx="2678626" cy="23491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4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Linking Niches to Competition</a:t>
            </a:r>
            <a:endParaRPr/>
          </a:p>
        </p:txBody>
      </p:sp>
      <p:sp>
        <p:nvSpPr>
          <p:cNvPr id="259" name="Google Shape;259;p4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Competitive exclusion rule tied to niche overlap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 niches have to be identical?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260" name="Google Shape;260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85900" y="1635075"/>
            <a:ext cx="3746400" cy="3615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Limiting similarity</a:t>
            </a:r>
            <a:endParaRPr/>
          </a:p>
        </p:txBody>
      </p:sp>
      <p:sp>
        <p:nvSpPr>
          <p:cNvPr id="266" name="Google Shape;266;p4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Improvement on the competitive exclusion principle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267" name="Google Shape;267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8125" y="1922251"/>
            <a:ext cx="6893451" cy="3013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Reality Set In</a:t>
            </a:r>
            <a:endParaRPr/>
          </a:p>
        </p:txBody>
      </p:sp>
      <p:sp>
        <p:nvSpPr>
          <p:cNvPr id="273" name="Google Shape;273;p4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Nature is complicated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Competition isn’t the only thing to consider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Importance of null models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Different, interacting processes operate at different scales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Community Ecology Today</a:t>
            </a:r>
            <a:endParaRPr/>
          </a:p>
        </p:txBody>
      </p:sp>
      <p:sp>
        <p:nvSpPr>
          <p:cNvPr id="279" name="Google Shape;279;p4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Most of that “historical” stuff is still relevant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Embracing diversity of questions, mechanisms, approaches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Fancy stats and computational methods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New tools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Open Science / Open Data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Still lots of basic research to do and data to collect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Next Class: Diversity Patterns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