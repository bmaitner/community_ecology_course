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e41bf1c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e41bf1c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c63aa66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c63aa66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c63aa66c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c63aa66c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c63aa66c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c63aa66c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c63aa66c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c63aa66c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4c63aa66c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4c63aa66c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c63aa66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c63aa66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c63aa66c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c63aa66c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c63aa66c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c63aa66c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c63aa66c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c63aa66c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c63aa66c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c63aa66c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c63aa66c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c63aa66c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c63aa66c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c63aa66c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c63aa66c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c63aa66c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c63aa66c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c63aa66c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c63aa66c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4c63aa66c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c63aa66c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c63aa66c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c63aa66c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c63aa66c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c63aa66c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c63aa66c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Note: human usage is constrained by the animal ranges for this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4c63aa66c0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4c63aa66c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4c63aa66c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4c63aa66c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c63aa66c0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c63aa66c0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c63aa66c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c63aa66c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4c63aa66c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4c63aa66c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c63aa66c0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c63aa66c0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4c63aa66c0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4c63aa66c0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c63aa66c0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4c63aa66c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4c63aa66c0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4c63aa66c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1.png"/><Relationship Id="rId4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Trait-based Ecology IV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Traits and global change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focus on traits?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Rather than focusing on particular species in particular systems, we can say things </a:t>
            </a:r>
            <a:r>
              <a:rPr lang="en"/>
              <a:t>about all species in all systems (or at least a larger subset of species/systems).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Quantitative: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move from species (categorical) to continuous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Links to mechanism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can focus on traits that are linked to particular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if we want to work on predation, mouth size might be useful.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predictive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 us to say something about potential future scenarios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focus on traits?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Rather than focusing on particular species in particular systems, we can say things about all species in all systems (or at least a larger subset of species/systems).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Quantitative: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move from species (categorical) to continuous measurements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Links to mechanism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can focus on traits that are linked to particular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E.g., if we want to work on predation, mouth size might be useful.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predictive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Allow us to say something about potential future scenarios</a:t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358750" y="3429225"/>
            <a:ext cx="5757900" cy="987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global change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Overview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traits?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will species respond to climate change?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Fire regime shifts?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Which species are humans impacting?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global change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0225"/>
            <a:ext cx="5046373" cy="419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4">
            <a:alphaModFix/>
          </a:blip>
          <a:srcRect b="48552" l="19593" r="21336" t="23123"/>
          <a:stretch/>
        </p:blipFill>
        <p:spPr>
          <a:xfrm>
            <a:off x="5381817" y="2971"/>
            <a:ext cx="3762182" cy="10147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global change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6260782" cy="397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 rotWithShape="1">
          <a:blip r:embed="rId4">
            <a:alphaModFix/>
          </a:blip>
          <a:srcRect b="48552" l="19593" r="21336" t="23123"/>
          <a:stretch/>
        </p:blipFill>
        <p:spPr>
          <a:xfrm>
            <a:off x="5381817" y="2971"/>
            <a:ext cx="3762182" cy="10147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global change</a:t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399796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9"/>
          <p:cNvPicPr preferRelativeResize="0"/>
          <p:nvPr/>
        </p:nvPicPr>
        <p:blipFill rotWithShape="1">
          <a:blip r:embed="rId4">
            <a:alphaModFix/>
          </a:blip>
          <a:srcRect b="48552" l="19593" r="21336" t="23123"/>
          <a:stretch/>
        </p:blipFill>
        <p:spPr>
          <a:xfrm>
            <a:off x="5381817" y="2971"/>
            <a:ext cx="3762182" cy="101474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traits should we measure?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47129" l="8259" r="36789" t="16070"/>
          <a:stretch/>
        </p:blipFill>
        <p:spPr>
          <a:xfrm>
            <a:off x="5968049" y="0"/>
            <a:ext cx="3175949" cy="119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20"/>
          <p:cNvSpPr txBox="1"/>
          <p:nvPr/>
        </p:nvSpPr>
        <p:spPr>
          <a:xfrm>
            <a:off x="445250" y="1284775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Literature review of 10 years worth of papers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traits should we measure?</a:t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 rotWithShape="1">
          <a:blip r:embed="rId3">
            <a:alphaModFix/>
          </a:blip>
          <a:srcRect b="10133" l="29515" r="11864" t="18853"/>
          <a:stretch/>
        </p:blipFill>
        <p:spPr>
          <a:xfrm>
            <a:off x="81275" y="955375"/>
            <a:ext cx="6145752" cy="4188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1"/>
          <p:cNvPicPr preferRelativeResize="0"/>
          <p:nvPr/>
        </p:nvPicPr>
        <p:blipFill rotWithShape="1">
          <a:blip r:embed="rId4">
            <a:alphaModFix/>
          </a:blip>
          <a:srcRect b="47129" l="8259" r="36789" t="16070"/>
          <a:stretch/>
        </p:blipFill>
        <p:spPr>
          <a:xfrm>
            <a:off x="5968049" y="0"/>
            <a:ext cx="3175949" cy="119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" name="Google Shape;110;p21"/>
          <p:cNvSpPr txBox="1"/>
          <p:nvPr/>
        </p:nvSpPr>
        <p:spPr>
          <a:xfrm>
            <a:off x="6437125" y="1714500"/>
            <a:ext cx="250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80000"/>
                </a:solidFill>
              </a:rPr>
              <a:t>Biases in what we’re studying</a:t>
            </a:r>
            <a:endParaRPr b="1" sz="18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traits should we measure?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47129" l="8259" r="36789" t="16070"/>
          <a:stretch/>
        </p:blipFill>
        <p:spPr>
          <a:xfrm>
            <a:off x="5968049" y="0"/>
            <a:ext cx="3175949" cy="119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7" name="Google Shape;117;p22"/>
          <p:cNvPicPr preferRelativeResize="0"/>
          <p:nvPr/>
        </p:nvPicPr>
        <p:blipFill rotWithShape="1">
          <a:blip r:embed="rId4">
            <a:alphaModFix/>
          </a:blip>
          <a:srcRect b="57252" l="32747" r="41082" t="18005"/>
          <a:stretch/>
        </p:blipFill>
        <p:spPr>
          <a:xfrm>
            <a:off x="157250" y="1063250"/>
            <a:ext cx="5414851" cy="28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 rotWithShape="1">
          <a:blip r:embed="rId4">
            <a:alphaModFix/>
          </a:blip>
          <a:srcRect b="3236" l="32747" r="41082" t="90823"/>
          <a:stretch/>
        </p:blipFill>
        <p:spPr>
          <a:xfrm>
            <a:off x="235500" y="4178650"/>
            <a:ext cx="6020698" cy="76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traits should we measure?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47129" l="8259" r="36789" t="16070"/>
          <a:stretch/>
        </p:blipFill>
        <p:spPr>
          <a:xfrm>
            <a:off x="5968049" y="0"/>
            <a:ext cx="3175949" cy="119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4">
            <a:alphaModFix/>
          </a:blip>
          <a:srcRect b="32977" l="33495" r="40333" t="42840"/>
          <a:stretch/>
        </p:blipFill>
        <p:spPr>
          <a:xfrm>
            <a:off x="146175" y="1017725"/>
            <a:ext cx="5414851" cy="2814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 rotWithShape="1">
          <a:blip r:embed="rId4">
            <a:alphaModFix/>
          </a:blip>
          <a:srcRect b="3236" l="32747" r="41082" t="90823"/>
          <a:stretch/>
        </p:blipFill>
        <p:spPr>
          <a:xfrm>
            <a:off x="235500" y="4178650"/>
            <a:ext cx="6020698" cy="76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traits should we measure?</a:t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 rotWithShape="1">
          <a:blip r:embed="rId3">
            <a:alphaModFix/>
          </a:blip>
          <a:srcRect b="47129" l="8259" r="36789" t="16070"/>
          <a:stretch/>
        </p:blipFill>
        <p:spPr>
          <a:xfrm>
            <a:off x="5968049" y="0"/>
            <a:ext cx="3175949" cy="119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" name="Google Shape;133;p24"/>
          <p:cNvPicPr preferRelativeResize="0"/>
          <p:nvPr/>
        </p:nvPicPr>
        <p:blipFill rotWithShape="1">
          <a:blip r:embed="rId4">
            <a:alphaModFix/>
          </a:blip>
          <a:srcRect b="8526" l="33385" r="40443" t="66730"/>
          <a:stretch/>
        </p:blipFill>
        <p:spPr>
          <a:xfrm>
            <a:off x="146175" y="1017725"/>
            <a:ext cx="5414851" cy="287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 rotWithShape="1">
          <a:blip r:embed="rId4">
            <a:alphaModFix/>
          </a:blip>
          <a:srcRect b="3236" l="32747" r="41082" t="90823"/>
          <a:stretch/>
        </p:blipFill>
        <p:spPr>
          <a:xfrm>
            <a:off x="235500" y="4178650"/>
            <a:ext cx="6020698" cy="76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traits</a:t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625" y="1104900"/>
            <a:ext cx="5114625" cy="384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traits</a:t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25" y="1017725"/>
            <a:ext cx="6618450" cy="38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traits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489550" y="1406600"/>
            <a:ext cx="5708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Compared three </a:t>
            </a:r>
            <a:r>
              <a:rPr lang="en" sz="1800">
                <a:solidFill>
                  <a:schemeClr val="dk2"/>
                </a:solidFill>
              </a:rPr>
              <a:t>approaches: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Gradients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Transplants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OTCs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traits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447800"/>
            <a:ext cx="5943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8"/>
          <p:cNvSpPr txBox="1"/>
          <p:nvPr/>
        </p:nvSpPr>
        <p:spPr>
          <a:xfrm>
            <a:off x="463800" y="1162950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Gradient patterns: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825" y="74538"/>
            <a:ext cx="5124450" cy="599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traits</a:t>
            </a:r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124050" y="2110050"/>
            <a:ext cx="357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980000"/>
                </a:solidFill>
              </a:rPr>
              <a:t>Expected patterns from gradient</a:t>
            </a:r>
            <a:endParaRPr sz="1800">
              <a:solidFill>
                <a:srgbClr val="980000"/>
              </a:solidFill>
            </a:endParaRPr>
          </a:p>
        </p:txBody>
      </p:sp>
      <p:cxnSp>
        <p:nvCxnSpPr>
          <p:cNvPr id="167" name="Google Shape;167;p29"/>
          <p:cNvCxnSpPr/>
          <p:nvPr/>
        </p:nvCxnSpPr>
        <p:spPr>
          <a:xfrm flipH="1" rot="10800000">
            <a:off x="3502100" y="1351150"/>
            <a:ext cx="531600" cy="7089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9"/>
          <p:cNvCxnSpPr/>
          <p:nvPr/>
        </p:nvCxnSpPr>
        <p:spPr>
          <a:xfrm>
            <a:off x="3380275" y="2503075"/>
            <a:ext cx="841800" cy="686700"/>
          </a:xfrm>
          <a:prstGeom prst="straightConnector1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1825" y="74538"/>
            <a:ext cx="5124450" cy="599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traits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humans</a:t>
            </a:r>
            <a:endParaRPr/>
          </a:p>
        </p:txBody>
      </p:sp>
      <p:pic>
        <p:nvPicPr>
          <p:cNvPr id="180" name="Google Shape;180;p31"/>
          <p:cNvPicPr preferRelativeResize="0"/>
          <p:nvPr/>
        </p:nvPicPr>
        <p:blipFill rotWithShape="1">
          <a:blip r:embed="rId3">
            <a:alphaModFix/>
          </a:blip>
          <a:srcRect b="43955" l="34963" r="17915" t="18651"/>
          <a:stretch/>
        </p:blipFill>
        <p:spPr>
          <a:xfrm>
            <a:off x="5943150" y="17000"/>
            <a:ext cx="3200851" cy="14287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1" name="Google Shape;181;p31"/>
          <p:cNvPicPr preferRelativeResize="0"/>
          <p:nvPr/>
        </p:nvPicPr>
        <p:blipFill rotWithShape="1">
          <a:blip r:embed="rId4">
            <a:alphaModFix/>
          </a:blip>
          <a:srcRect b="67649" l="0" r="0" t="0"/>
          <a:stretch/>
        </p:blipFill>
        <p:spPr>
          <a:xfrm>
            <a:off x="152400" y="1826750"/>
            <a:ext cx="8475802" cy="15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humans</a:t>
            </a:r>
            <a:endParaRPr/>
          </a:p>
        </p:txBody>
      </p:sp>
      <p:pic>
        <p:nvPicPr>
          <p:cNvPr id="187" name="Google Shape;187;p32"/>
          <p:cNvPicPr preferRelativeResize="0"/>
          <p:nvPr/>
        </p:nvPicPr>
        <p:blipFill rotWithShape="1">
          <a:blip r:embed="rId3">
            <a:alphaModFix/>
          </a:blip>
          <a:srcRect b="43955" l="34963" r="17915" t="18651"/>
          <a:stretch/>
        </p:blipFill>
        <p:spPr>
          <a:xfrm>
            <a:off x="5943150" y="17000"/>
            <a:ext cx="3200851" cy="14287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32"/>
          <p:cNvPicPr preferRelativeResize="0"/>
          <p:nvPr/>
        </p:nvPicPr>
        <p:blipFill rotWithShape="1">
          <a:blip r:embed="rId4">
            <a:alphaModFix/>
          </a:blip>
          <a:srcRect b="64593" l="8969" r="10515" t="99993"/>
          <a:stretch/>
        </p:blipFill>
        <p:spPr>
          <a:xfrm flipH="1" rot="10800000">
            <a:off x="112825" y="1601699"/>
            <a:ext cx="6824699" cy="309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humans</a:t>
            </a:r>
            <a:endParaRPr/>
          </a:p>
        </p:txBody>
      </p:sp>
      <p:pic>
        <p:nvPicPr>
          <p:cNvPr id="194" name="Google Shape;194;p33"/>
          <p:cNvPicPr preferRelativeResize="0"/>
          <p:nvPr/>
        </p:nvPicPr>
        <p:blipFill rotWithShape="1">
          <a:blip r:embed="rId3">
            <a:alphaModFix/>
          </a:blip>
          <a:srcRect b="43955" l="34963" r="17915" t="18651"/>
          <a:stretch/>
        </p:blipFill>
        <p:spPr>
          <a:xfrm>
            <a:off x="5943150" y="17000"/>
            <a:ext cx="3200851" cy="14287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5" name="Google Shape;19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974700"/>
            <a:ext cx="4916675" cy="40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humans</a:t>
            </a:r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6775" y="392350"/>
            <a:ext cx="2806375" cy="486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4"/>
          <p:cNvPicPr preferRelativeResize="0"/>
          <p:nvPr/>
        </p:nvPicPr>
        <p:blipFill rotWithShape="1">
          <a:blip r:embed="rId4">
            <a:alphaModFix/>
          </a:blip>
          <a:srcRect b="43955" l="34963" r="17915" t="18651"/>
          <a:stretch/>
        </p:blipFill>
        <p:spPr>
          <a:xfrm>
            <a:off x="5943150" y="17000"/>
            <a:ext cx="3200851" cy="14287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humans</a:t>
            </a:r>
            <a:endParaRPr/>
          </a:p>
        </p:txBody>
      </p:sp>
      <p:pic>
        <p:nvPicPr>
          <p:cNvPr id="208" name="Google Shape;208;p35"/>
          <p:cNvPicPr preferRelativeResize="0"/>
          <p:nvPr/>
        </p:nvPicPr>
        <p:blipFill rotWithShape="1">
          <a:blip r:embed="rId3">
            <a:alphaModFix/>
          </a:blip>
          <a:srcRect b="43955" l="34963" r="17915" t="18651"/>
          <a:stretch/>
        </p:blipFill>
        <p:spPr>
          <a:xfrm>
            <a:off x="5943150" y="17000"/>
            <a:ext cx="3200851" cy="14287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9" name="Google Shape;2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22350"/>
            <a:ext cx="4163251" cy="414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humans</a:t>
            </a:r>
            <a:endParaRPr/>
          </a:p>
        </p:txBody>
      </p:sp>
      <p:pic>
        <p:nvPicPr>
          <p:cNvPr id="215" name="Google Shape;215;p36"/>
          <p:cNvPicPr preferRelativeResize="0"/>
          <p:nvPr/>
        </p:nvPicPr>
        <p:blipFill rotWithShape="1">
          <a:blip r:embed="rId3">
            <a:alphaModFix/>
          </a:blip>
          <a:srcRect b="43955" l="34963" r="17915" t="18651"/>
          <a:stretch/>
        </p:blipFill>
        <p:spPr>
          <a:xfrm>
            <a:off x="5943150" y="17000"/>
            <a:ext cx="3200851" cy="14287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6" name="Google Shape;2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922350"/>
            <a:ext cx="4163251" cy="4144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6"/>
          <p:cNvPicPr preferRelativeResize="0"/>
          <p:nvPr/>
        </p:nvPicPr>
        <p:blipFill rotWithShape="1">
          <a:blip r:embed="rId5">
            <a:alphaModFix/>
          </a:blip>
          <a:srcRect b="0" l="0" r="1361" t="0"/>
          <a:stretch/>
        </p:blipFill>
        <p:spPr>
          <a:xfrm>
            <a:off x="4315650" y="1521950"/>
            <a:ext cx="4462150" cy="33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conservation</a:t>
            </a:r>
            <a:endParaRPr/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394920" cy="382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7"/>
          <p:cNvPicPr preferRelativeResize="0"/>
          <p:nvPr/>
        </p:nvPicPr>
        <p:blipFill rotWithShape="1">
          <a:blip r:embed="rId4">
            <a:alphaModFix/>
          </a:blip>
          <a:srcRect b="57080" l="41129" r="22664" t="20660"/>
          <a:stretch/>
        </p:blipFill>
        <p:spPr>
          <a:xfrm>
            <a:off x="6022025" y="0"/>
            <a:ext cx="3121973" cy="1079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conservation</a:t>
            </a:r>
            <a:endParaRPr/>
          </a:p>
        </p:txBody>
      </p:sp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865367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8"/>
          <p:cNvPicPr preferRelativeResize="0"/>
          <p:nvPr/>
        </p:nvPicPr>
        <p:blipFill rotWithShape="1">
          <a:blip r:embed="rId4">
            <a:alphaModFix/>
          </a:blip>
          <a:srcRect b="57080" l="41129" r="22664" t="20660"/>
          <a:stretch/>
        </p:blipFill>
        <p:spPr>
          <a:xfrm>
            <a:off x="6022025" y="0"/>
            <a:ext cx="3121973" cy="1079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conservation</a:t>
            </a:r>
            <a:endParaRPr/>
          </a:p>
        </p:txBody>
      </p:sp>
      <p:pic>
        <p:nvPicPr>
          <p:cNvPr id="237" name="Google Shape;23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61750"/>
            <a:ext cx="5846024" cy="402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 rotWithShape="1">
          <a:blip r:embed="rId4">
            <a:alphaModFix/>
          </a:blip>
          <a:srcRect b="57080" l="41129" r="22664" t="20660"/>
          <a:stretch/>
        </p:blipFill>
        <p:spPr>
          <a:xfrm>
            <a:off x="6022025" y="0"/>
            <a:ext cx="3121973" cy="1079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conservation</a:t>
            </a:r>
            <a:endParaRPr/>
          </a:p>
        </p:txBody>
      </p:sp>
      <p:pic>
        <p:nvPicPr>
          <p:cNvPr id="244" name="Google Shape;24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908100"/>
            <a:ext cx="7718277" cy="419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0"/>
          <p:cNvPicPr preferRelativeResize="0"/>
          <p:nvPr/>
        </p:nvPicPr>
        <p:blipFill rotWithShape="1">
          <a:blip r:embed="rId4">
            <a:alphaModFix/>
          </a:blip>
          <a:srcRect b="50765" l="25857" r="26608" t="23717"/>
          <a:stretch/>
        </p:blipFill>
        <p:spPr>
          <a:xfrm>
            <a:off x="6292775" y="0"/>
            <a:ext cx="2851224" cy="860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Traits and conservation</a:t>
            </a:r>
            <a:endParaRPr/>
          </a:p>
        </p:txBody>
      </p:sp>
      <p:pic>
        <p:nvPicPr>
          <p:cNvPr id="251" name="Google Shape;25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037350"/>
            <a:ext cx="4020098" cy="4029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1"/>
          <p:cNvPicPr preferRelativeResize="0"/>
          <p:nvPr/>
        </p:nvPicPr>
        <p:blipFill rotWithShape="1">
          <a:blip r:embed="rId4">
            <a:alphaModFix/>
          </a:blip>
          <a:srcRect b="50765" l="25857" r="26608" t="23717"/>
          <a:stretch/>
        </p:blipFill>
        <p:spPr>
          <a:xfrm>
            <a:off x="6292775" y="0"/>
            <a:ext cx="2851224" cy="8609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Patchy environments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