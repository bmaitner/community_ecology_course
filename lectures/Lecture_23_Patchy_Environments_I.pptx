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d8981be037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d8981be03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521cc0de1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521cc0de1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521cc0de19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521cc0de19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521cc0de19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521cc0de19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521cc0de19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521cc0de19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521cc0de19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521cc0de19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521cc0de19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521cc0de19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521cc0de19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521cc0de19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521cc0de19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521cc0de19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521cc0de19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521cc0de19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521cc0de19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521cc0de19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21cc0de19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521cc0de19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521cc0de19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521cc0de19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521cc0de19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521cc0de19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521cc0de19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521cc0de19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521cc0de19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521cc0de19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521cc0de19_0_1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521cc0de19_0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521cc0de19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521cc0de19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521cc0de19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521cc0de19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521cc0de19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521cc0de19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521cc0de19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521cc0de19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Colonization rate ~ birth rate, m ~ death rate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521cc0de19_0_1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521cc0de19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 that this means that if you destroy patches equivalent to the equilibrium proportion occupied, extinction will occur. 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521cc0de19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521cc0de19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 that this means that if you destroy patches equivalent to the equilibrium proportion occupied, extinction will occur. 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521cc0de19_0_1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521cc0de19_0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 that this means that if you destroy patches equivalent to the equilibrium proportion occupied, extinction will occur. 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521cc0de19_0_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521cc0de19_0_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521cc0de19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521cc0de19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521cc0de19_0_2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521cc0de19_0_2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521cc0de19_0_2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521cc0de19_0_2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521cc0de19_0_2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3521cc0de19_0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521cc0de19_0_2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521cc0de19_0_2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521cc0de19_0_2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521cc0de19_0_2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521cc0de19_0_2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521cc0de19_0_2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521cc0de19_0_2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3521cc0de19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521cc0de19_0_2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3521cc0de19_0_2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521cc0de19_0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3521cc0de19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Grey = original glades, yellow = glades after fire suppression, dashed = area of prescribed burns</a:t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521cc0de19_0_2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521cc0de19_0_2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521cc0de19_0_2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3521cc0de19_0_2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521cc0de19_0_2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3521cc0de19_0_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521cc0de19_0_3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521cc0de19_0_3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d8981be037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2d8981be037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7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7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1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744575"/>
            <a:ext cx="8520600" cy="115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Patchy Environments I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389575"/>
            <a:ext cx="8520600" cy="243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Today’s Agenda: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Quiz</a:t>
            </a:r>
            <a:endParaRPr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Group Assignment</a:t>
            </a:r>
            <a:endParaRPr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Project 4</a:t>
            </a:r>
            <a:endParaRPr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Course Eval Reminder</a:t>
            </a:r>
            <a:endParaRPr/>
          </a:p>
          <a:p>
            <a:pPr indent="-39306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Patchy Environments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Group Assignment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Focus: variable/changing ecosystems in Florida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Variation due to: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Ecological succession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Temporally fluctuating environments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Global changes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obvious examples might be: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Fire-dependent ecosystems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Tidal systems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Hurricanes as successional drivers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Ephemeral water bodies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Group Assignment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Pick your own group  (Groups can be of one person)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Everyone in a group gets the same grade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Do/make something that explains your your chosen system to lay people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be anything that can convey a message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Possibly bonus points for creativity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Group Assignment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Products will be presented in class on April 29th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Show off what you created to the class (and me)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</a:t>
            </a:r>
            <a:r>
              <a:rPr lang="en"/>
              <a:t>our group should briefly explain: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you did/created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rationale behind the approach you took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it conveys the underlying concepts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so far?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4</a:t>
            </a:r>
            <a:endParaRPr/>
          </a:p>
        </p:txBody>
      </p:sp>
      <p:sp>
        <p:nvSpPr>
          <p:cNvPr id="84" name="Google Shape;84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Due May 8th before midnight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University policies force me to be a bit stricter about the deadlines on this one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Feel free to submit early to avoid the end-of-semester crunch!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4</a:t>
            </a:r>
            <a:endParaRPr/>
          </a:p>
        </p:txBody>
      </p:sp>
      <p:sp>
        <p:nvSpPr>
          <p:cNvPr id="90" name="Google Shape;90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Pick a research question about community ecology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Propose alternative research approaches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Three parts: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Intro (1-2 pages, 4 max)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Methods (</a:t>
            </a:r>
            <a:r>
              <a:rPr b="1" lang="en"/>
              <a:t>funded</a:t>
            </a:r>
            <a:r>
              <a:rPr lang="en"/>
              <a:t> version, 1-2 pages)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Methods (</a:t>
            </a:r>
            <a:r>
              <a:rPr b="1" lang="en"/>
              <a:t>free</a:t>
            </a:r>
            <a:r>
              <a:rPr lang="en"/>
              <a:t> version, 1-2 pages)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4</a:t>
            </a:r>
            <a:endParaRPr/>
          </a:p>
        </p:txBody>
      </p:sp>
      <p:sp>
        <p:nvSpPr>
          <p:cNvPr id="96" name="Google Shape;96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Ecology is cool because it can often be done for free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you can usually do even better work with some funding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Goal here is to think about different approaches to a question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4</a:t>
            </a:r>
            <a:endParaRPr/>
          </a:p>
        </p:txBody>
      </p:sp>
      <p:sp>
        <p:nvSpPr>
          <p:cNvPr id="102" name="Google Shape;102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set number of references to read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Re-use as much old text as you like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Remember to cite where you need to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Worth 15 points (other projects were 10)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Questions on Project 4?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</a:t>
            </a:r>
            <a:r>
              <a:rPr lang="en"/>
              <a:t>Evaluations</a:t>
            </a:r>
            <a:endParaRPr/>
          </a:p>
        </p:txBody>
      </p:sp>
      <p:sp>
        <p:nvSpPr>
          <p:cNvPr id="113" name="Google Shape;113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Going out soon apparently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Feedback is helpful (particularly for a new course like this)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Patchy Environments</a:t>
            </a:r>
            <a:endParaRPr/>
          </a:p>
        </p:txBody>
      </p:sp>
      <p:sp>
        <p:nvSpPr>
          <p:cNvPr id="119" name="Google Shape;119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Patches</a:t>
            </a:r>
            <a:r>
              <a:rPr lang="en"/>
              <a:t>: suitable habitat, surrounded by unsuitable habitat.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Metapopulation:</a:t>
            </a:r>
            <a:r>
              <a:rPr lang="en"/>
              <a:t> collection of connected populations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Multiple patches connected by dispersal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25" name="Google Shape;125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Assumptions: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Environment composed of identical patches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Patches connected by dispersal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Patches are either at carrying capacity or empty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Patches have a constant extinction rate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Colonization rate depends on number of patches occupied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31" name="Google Shape;131;p26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</a:t>
            </a:r>
            <a:r>
              <a:rPr lang="en"/>
              <a:t>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</a:t>
            </a:r>
            <a:r>
              <a:rPr lang="en"/>
              <a:t> = per-patch extinction rate</a:t>
            </a:r>
            <a:endParaRPr/>
          </a:p>
        </p:txBody>
      </p:sp>
      <p:sp>
        <p:nvSpPr>
          <p:cNvPr id="132" name="Google Shape;132;p26"/>
          <p:cNvSpPr txBox="1"/>
          <p:nvPr/>
        </p:nvSpPr>
        <p:spPr>
          <a:xfrm>
            <a:off x="5155400" y="1381500"/>
            <a:ext cx="38253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r>
              <a:rPr lang="en" sz="2700">
                <a:solidFill>
                  <a:schemeClr val="dk2"/>
                </a:solidFill>
              </a:rPr>
              <a:t> </a:t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38" name="Google Shape;138;p27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 = per-patch extinction rate</a:t>
            </a:r>
            <a:endParaRPr/>
          </a:p>
        </p:txBody>
      </p:sp>
      <p:sp>
        <p:nvSpPr>
          <p:cNvPr id="139" name="Google Shape;139;p27"/>
          <p:cNvSpPr txBox="1"/>
          <p:nvPr/>
        </p:nvSpPr>
        <p:spPr>
          <a:xfrm>
            <a:off x="5155400" y="1381500"/>
            <a:ext cx="3825300" cy="22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2700">
                <a:solidFill>
                  <a:schemeClr val="dk2"/>
                </a:solidFill>
              </a:rPr>
              <a:t>0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45" name="Google Shape;145;p28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 = per-patch extinction rate</a:t>
            </a:r>
            <a:endParaRPr/>
          </a:p>
        </p:txBody>
      </p:sp>
      <p:sp>
        <p:nvSpPr>
          <p:cNvPr id="146" name="Google Shape;146;p28"/>
          <p:cNvSpPr txBox="1"/>
          <p:nvPr/>
        </p:nvSpPr>
        <p:spPr>
          <a:xfrm>
            <a:off x="5155400" y="1381500"/>
            <a:ext cx="3825300" cy="3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0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mP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52" name="Google Shape;152;p29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 = per-patch extinction rate</a:t>
            </a:r>
            <a:endParaRPr/>
          </a:p>
        </p:txBody>
      </p:sp>
      <p:sp>
        <p:nvSpPr>
          <p:cNvPr id="153" name="Google Shape;153;p29"/>
          <p:cNvSpPr txBox="1"/>
          <p:nvPr/>
        </p:nvSpPr>
        <p:spPr>
          <a:xfrm>
            <a:off x="5155400" y="1381500"/>
            <a:ext cx="3825300" cy="43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0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mP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m/c</a:t>
            </a:r>
            <a:r>
              <a:rPr lang="en" sz="2700">
                <a:solidFill>
                  <a:schemeClr val="dk2"/>
                </a:solidFill>
              </a:rPr>
              <a:t>  = 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59" name="Google Shape;159;p30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 = per-patch extinction rate</a:t>
            </a:r>
            <a:endParaRPr/>
          </a:p>
        </p:txBody>
      </p:sp>
      <p:sp>
        <p:nvSpPr>
          <p:cNvPr id="160" name="Google Shape;160;p30"/>
          <p:cNvSpPr txBox="1"/>
          <p:nvPr/>
        </p:nvSpPr>
        <p:spPr>
          <a:xfrm>
            <a:off x="5155400" y="1000500"/>
            <a:ext cx="3825300" cy="51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0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mP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m/c</a:t>
            </a:r>
            <a:r>
              <a:rPr lang="en" sz="2700">
                <a:solidFill>
                  <a:schemeClr val="dk2"/>
                </a:solidFill>
              </a:rPr>
              <a:t>  = 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 </a:t>
            </a:r>
            <a:r>
              <a:rPr i="1" lang="en" sz="2700">
                <a:solidFill>
                  <a:schemeClr val="dk2"/>
                </a:solidFill>
              </a:rPr>
              <a:t>P </a:t>
            </a:r>
            <a:r>
              <a:rPr lang="en" sz="2700">
                <a:solidFill>
                  <a:schemeClr val="dk2"/>
                </a:solidFill>
              </a:rPr>
              <a:t>= 1 - </a:t>
            </a:r>
            <a:r>
              <a:rPr i="1" lang="en" sz="2700">
                <a:solidFill>
                  <a:schemeClr val="dk2"/>
                </a:solidFill>
              </a:rPr>
              <a:t>m/c</a:t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66" name="Google Shape;166;p31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 = per-patch extinction rate</a:t>
            </a:r>
            <a:endParaRPr/>
          </a:p>
        </p:txBody>
      </p:sp>
      <p:sp>
        <p:nvSpPr>
          <p:cNvPr id="167" name="Google Shape;167;p31"/>
          <p:cNvSpPr txBox="1"/>
          <p:nvPr/>
        </p:nvSpPr>
        <p:spPr>
          <a:xfrm>
            <a:off x="5155400" y="1000500"/>
            <a:ext cx="3825300" cy="517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0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mP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m/c</a:t>
            </a:r>
            <a:r>
              <a:rPr lang="en" sz="2700">
                <a:solidFill>
                  <a:schemeClr val="dk2"/>
                </a:solidFill>
              </a:rPr>
              <a:t>  = (1 -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</a:t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 </a:t>
            </a:r>
            <a:r>
              <a:rPr i="1" lang="en" sz="2700">
                <a:solidFill>
                  <a:schemeClr val="dk2"/>
                </a:solidFill>
              </a:rPr>
              <a:t>P </a:t>
            </a:r>
            <a:r>
              <a:rPr lang="en" sz="2700">
                <a:solidFill>
                  <a:schemeClr val="dk2"/>
                </a:solidFill>
              </a:rPr>
              <a:t>= 1 - </a:t>
            </a:r>
            <a:r>
              <a:rPr i="1" lang="en" sz="2700">
                <a:solidFill>
                  <a:schemeClr val="dk2"/>
                </a:solidFill>
              </a:rPr>
              <a:t>m/c</a:t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</p:txBody>
      </p:sp>
      <p:sp>
        <p:nvSpPr>
          <p:cNvPr id="168" name="Google Shape;168;p31"/>
          <p:cNvSpPr/>
          <p:nvPr/>
        </p:nvSpPr>
        <p:spPr>
          <a:xfrm>
            <a:off x="4719325" y="4384375"/>
            <a:ext cx="2874000" cy="5727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31"/>
          <p:cNvSpPr txBox="1"/>
          <p:nvPr/>
        </p:nvSpPr>
        <p:spPr>
          <a:xfrm>
            <a:off x="765100" y="4384375"/>
            <a:ext cx="5708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Patches occupied at equilibrium</a:t>
            </a:r>
            <a:endParaRPr b="1" sz="1800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</a:t>
            </a:r>
            <a:endParaRPr/>
          </a:p>
        </p:txBody>
      </p:sp>
      <p:sp>
        <p:nvSpPr>
          <p:cNvPr id="175" name="Google Shape;175;p32"/>
          <p:cNvSpPr txBox="1"/>
          <p:nvPr>
            <p:ph idx="1" type="body"/>
          </p:nvPr>
        </p:nvSpPr>
        <p:spPr>
          <a:xfrm>
            <a:off x="311700" y="1152475"/>
            <a:ext cx="377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 = per-patch extinction rate</a:t>
            </a:r>
            <a:endParaRPr/>
          </a:p>
        </p:txBody>
      </p:sp>
      <p:sp>
        <p:nvSpPr>
          <p:cNvPr id="176" name="Google Shape;176;p32"/>
          <p:cNvSpPr txBox="1"/>
          <p:nvPr/>
        </p:nvSpPr>
        <p:spPr>
          <a:xfrm>
            <a:off x="5155400" y="1000500"/>
            <a:ext cx="3825300" cy="143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 At equilibrium:</a:t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P </a:t>
            </a:r>
            <a:r>
              <a:rPr lang="en" sz="2700">
                <a:solidFill>
                  <a:schemeClr val="dk2"/>
                </a:solidFill>
              </a:rPr>
              <a:t>= 1 - </a:t>
            </a:r>
            <a:r>
              <a:rPr i="1" lang="en" sz="2700">
                <a:solidFill>
                  <a:schemeClr val="dk2"/>
                </a:solidFill>
              </a:rPr>
              <a:t>m/c</a:t>
            </a:r>
            <a:endParaRPr sz="2700">
              <a:solidFill>
                <a:schemeClr val="dk2"/>
              </a:solidFill>
            </a:endParaRPr>
          </a:p>
        </p:txBody>
      </p:sp>
      <p:sp>
        <p:nvSpPr>
          <p:cNvPr id="177" name="Google Shape;177;p32"/>
          <p:cNvSpPr txBox="1"/>
          <p:nvPr/>
        </p:nvSpPr>
        <p:spPr>
          <a:xfrm>
            <a:off x="5185125" y="2620300"/>
            <a:ext cx="3981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M decreases occupancy</a:t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C increases occupancy</a:t>
            </a:r>
            <a:endParaRPr b="1"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 and habitat loss</a:t>
            </a:r>
            <a:endParaRPr/>
          </a:p>
        </p:txBody>
      </p:sp>
      <p:sp>
        <p:nvSpPr>
          <p:cNvPr id="183" name="Google Shape;183;p33"/>
          <p:cNvSpPr txBox="1"/>
          <p:nvPr>
            <p:ph idx="1" type="body"/>
          </p:nvPr>
        </p:nvSpPr>
        <p:spPr>
          <a:xfrm>
            <a:off x="311700" y="1152475"/>
            <a:ext cx="3931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 = per-patch extinction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D = Proportion of patches destroyed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184" name="Google Shape;184;p33"/>
          <p:cNvSpPr txBox="1"/>
          <p:nvPr/>
        </p:nvSpPr>
        <p:spPr>
          <a:xfrm>
            <a:off x="4729250" y="1381500"/>
            <a:ext cx="42513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</a:t>
            </a:r>
            <a:r>
              <a:rPr lang="en" sz="2700">
                <a:solidFill>
                  <a:srgbClr val="980000"/>
                </a:solidFill>
              </a:rPr>
              <a:t>- D</a:t>
            </a:r>
            <a:r>
              <a:rPr lang="en" sz="2700">
                <a:solidFill>
                  <a:schemeClr val="dk2"/>
                </a:solidFill>
              </a:rPr>
              <a:t>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r>
              <a:rPr lang="en" sz="2700">
                <a:solidFill>
                  <a:schemeClr val="dk2"/>
                </a:solidFill>
              </a:rPr>
              <a:t> </a:t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 and habitat loss</a:t>
            </a:r>
            <a:endParaRPr/>
          </a:p>
        </p:txBody>
      </p:sp>
      <p:sp>
        <p:nvSpPr>
          <p:cNvPr id="190" name="Google Shape;190;p34"/>
          <p:cNvSpPr txBox="1"/>
          <p:nvPr>
            <p:ph idx="1" type="body"/>
          </p:nvPr>
        </p:nvSpPr>
        <p:spPr>
          <a:xfrm>
            <a:off x="311700" y="1152475"/>
            <a:ext cx="3931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 = per-patch extinction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D = Proportion of patches destroyed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191" name="Google Shape;191;p34"/>
          <p:cNvSpPr txBox="1"/>
          <p:nvPr/>
        </p:nvSpPr>
        <p:spPr>
          <a:xfrm>
            <a:off x="4729250" y="1381500"/>
            <a:ext cx="4251300" cy="22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</a:t>
            </a:r>
            <a:r>
              <a:rPr lang="en" sz="2700">
                <a:solidFill>
                  <a:srgbClr val="980000"/>
                </a:solidFill>
              </a:rPr>
              <a:t>- D</a:t>
            </a:r>
            <a:r>
              <a:rPr lang="en" sz="2700">
                <a:solidFill>
                  <a:schemeClr val="dk2"/>
                </a:solidFill>
              </a:rPr>
              <a:t>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a</a:t>
            </a:r>
            <a:r>
              <a:rPr lang="en" sz="2700">
                <a:solidFill>
                  <a:schemeClr val="dk2"/>
                </a:solidFill>
              </a:rPr>
              <a:t>t  </a:t>
            </a:r>
            <a:r>
              <a:rPr lang="en" sz="2700">
                <a:solidFill>
                  <a:schemeClr val="dk2"/>
                </a:solidFill>
              </a:rPr>
              <a:t> </a:t>
            </a:r>
            <a:r>
              <a:rPr i="1" lang="en" sz="2700">
                <a:solidFill>
                  <a:schemeClr val="dk2"/>
                </a:solidFill>
              </a:rPr>
              <a:t>D</a:t>
            </a:r>
            <a:r>
              <a:rPr i="1" lang="en" sz="2700">
                <a:solidFill>
                  <a:schemeClr val="dk2"/>
                </a:solidFill>
              </a:rPr>
              <a:t> </a:t>
            </a:r>
            <a:r>
              <a:rPr lang="en" sz="2700">
                <a:solidFill>
                  <a:schemeClr val="dk2"/>
                </a:solidFill>
              </a:rPr>
              <a:t>= 1 - </a:t>
            </a:r>
            <a:r>
              <a:rPr i="1" lang="en" sz="2700">
                <a:solidFill>
                  <a:schemeClr val="dk2"/>
                </a:solidFill>
              </a:rPr>
              <a:t>m/c 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Extinction occurs</a:t>
            </a:r>
            <a:endParaRPr sz="2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 and habitat loss</a:t>
            </a:r>
            <a:endParaRPr/>
          </a:p>
        </p:txBody>
      </p:sp>
      <p:sp>
        <p:nvSpPr>
          <p:cNvPr id="197" name="Google Shape;197;p35"/>
          <p:cNvSpPr txBox="1"/>
          <p:nvPr>
            <p:ph idx="1" type="body"/>
          </p:nvPr>
        </p:nvSpPr>
        <p:spPr>
          <a:xfrm>
            <a:off x="311700" y="1152475"/>
            <a:ext cx="3931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 = per-patch colonization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 = Proportion occupied patches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 = per-patch extinction rate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D = Proportion of patches destroyed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198" name="Google Shape;198;p35"/>
          <p:cNvSpPr txBox="1"/>
          <p:nvPr/>
        </p:nvSpPr>
        <p:spPr>
          <a:xfrm>
            <a:off x="4729250" y="1381500"/>
            <a:ext cx="4251300" cy="226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700">
                <a:solidFill>
                  <a:schemeClr val="dk2"/>
                </a:solidFill>
              </a:rPr>
              <a:t>dP</a:t>
            </a:r>
            <a:r>
              <a:rPr lang="en" sz="2700">
                <a:solidFill>
                  <a:schemeClr val="dk2"/>
                </a:solidFill>
              </a:rPr>
              <a:t>/</a:t>
            </a:r>
            <a:r>
              <a:rPr i="1" lang="en" sz="2700">
                <a:solidFill>
                  <a:schemeClr val="dk2"/>
                </a:solidFill>
              </a:rPr>
              <a:t>dt</a:t>
            </a:r>
            <a:r>
              <a:rPr lang="en" sz="2700">
                <a:solidFill>
                  <a:schemeClr val="dk2"/>
                </a:solidFill>
              </a:rPr>
              <a:t>  = </a:t>
            </a:r>
            <a:r>
              <a:rPr i="1" lang="en" sz="2700">
                <a:solidFill>
                  <a:schemeClr val="dk2"/>
                </a:solidFill>
              </a:rPr>
              <a:t>cP</a:t>
            </a:r>
            <a:r>
              <a:rPr lang="en" sz="2700">
                <a:solidFill>
                  <a:schemeClr val="dk2"/>
                </a:solidFill>
              </a:rPr>
              <a:t>(1 </a:t>
            </a:r>
            <a:r>
              <a:rPr lang="en" sz="2700">
                <a:solidFill>
                  <a:srgbClr val="980000"/>
                </a:solidFill>
              </a:rPr>
              <a:t>- D</a:t>
            </a:r>
            <a:r>
              <a:rPr lang="en" sz="2700">
                <a:solidFill>
                  <a:schemeClr val="dk2"/>
                </a:solidFill>
              </a:rPr>
              <a:t> - </a:t>
            </a:r>
            <a:r>
              <a:rPr i="1" lang="en" sz="2700">
                <a:solidFill>
                  <a:schemeClr val="dk2"/>
                </a:solidFill>
              </a:rPr>
              <a:t>P</a:t>
            </a:r>
            <a:r>
              <a:rPr lang="en" sz="2700">
                <a:solidFill>
                  <a:schemeClr val="dk2"/>
                </a:solidFill>
              </a:rPr>
              <a:t>) - </a:t>
            </a:r>
            <a:r>
              <a:rPr i="1" lang="en" sz="2700">
                <a:solidFill>
                  <a:schemeClr val="dk2"/>
                </a:solidFill>
              </a:rPr>
              <a:t>mP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at   </a:t>
            </a:r>
            <a:r>
              <a:rPr i="1" lang="en" sz="2700">
                <a:solidFill>
                  <a:schemeClr val="dk2"/>
                </a:solidFill>
              </a:rPr>
              <a:t>D </a:t>
            </a:r>
            <a:r>
              <a:rPr lang="en" sz="2700">
                <a:solidFill>
                  <a:schemeClr val="dk2"/>
                </a:solidFill>
              </a:rPr>
              <a:t>= 1 - </a:t>
            </a:r>
            <a:r>
              <a:rPr i="1" lang="en" sz="2700">
                <a:solidFill>
                  <a:schemeClr val="dk2"/>
                </a:solidFill>
              </a:rPr>
              <a:t>m/c </a:t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1" sz="27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2"/>
                </a:solidFill>
              </a:rPr>
              <a:t>Extinction occurs</a:t>
            </a:r>
            <a:endParaRPr sz="2700">
              <a:solidFill>
                <a:schemeClr val="dk2"/>
              </a:solidFill>
            </a:endParaRPr>
          </a:p>
        </p:txBody>
      </p:sp>
      <p:sp>
        <p:nvSpPr>
          <p:cNvPr id="199" name="Google Shape;199;p35"/>
          <p:cNvSpPr txBox="1"/>
          <p:nvPr/>
        </p:nvSpPr>
        <p:spPr>
          <a:xfrm>
            <a:off x="1389450" y="3968125"/>
            <a:ext cx="5708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Note that we can make </a:t>
            </a:r>
            <a:r>
              <a:rPr lang="en" sz="1800">
                <a:solidFill>
                  <a:schemeClr val="dk2"/>
                </a:solidFill>
              </a:rPr>
              <a:t>extinction</a:t>
            </a:r>
            <a:r>
              <a:rPr lang="en" sz="1800">
                <a:solidFill>
                  <a:schemeClr val="dk2"/>
                </a:solidFill>
              </a:rPr>
              <a:t> harder by increasing colonization or decreasing patch-level extinction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 and habitat loss</a:t>
            </a:r>
            <a:endParaRPr/>
          </a:p>
        </p:txBody>
      </p:sp>
      <p:sp>
        <p:nvSpPr>
          <p:cNvPr id="205" name="Google Shape;205;p36"/>
          <p:cNvSpPr txBox="1"/>
          <p:nvPr>
            <p:ph idx="1" type="body"/>
          </p:nvPr>
        </p:nvSpPr>
        <p:spPr>
          <a:xfrm>
            <a:off x="311700" y="1152475"/>
            <a:ext cx="7747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</a:t>
            </a:r>
            <a:r>
              <a:rPr lang="en"/>
              <a:t>implications</a:t>
            </a:r>
            <a:r>
              <a:rPr lang="en"/>
              <a:t>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980000"/>
              </a:buClr>
              <a:buSzPts val="1800"/>
              <a:buChar char="-"/>
            </a:pPr>
            <a:r>
              <a:rPr lang="en"/>
              <a:t>Empty patches are always expected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Even destroying an unoccupied patch can cause extinction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Extinction may not occur immediately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Occupied patches may persist, even if metapop can’t persist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“Extinction debt”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BIG concern in conservation biology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Levins Metapopulation Model and dispersal</a:t>
            </a:r>
            <a:endParaRPr/>
          </a:p>
        </p:txBody>
      </p:sp>
      <p:sp>
        <p:nvSpPr>
          <p:cNvPr id="211" name="Google Shape;211;p37"/>
          <p:cNvSpPr txBox="1"/>
          <p:nvPr>
            <p:ph idx="1" type="body"/>
          </p:nvPr>
        </p:nvSpPr>
        <p:spPr>
          <a:xfrm>
            <a:off x="311700" y="1152475"/>
            <a:ext cx="7747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Dispersal corridors: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980000"/>
              </a:buClr>
              <a:buSzPts val="1800"/>
              <a:buChar char="-"/>
            </a:pPr>
            <a:r>
              <a:rPr lang="en"/>
              <a:t>Increase colonization (reducing extinction)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980000"/>
              </a:buClr>
              <a:buSzPts val="1800"/>
              <a:buChar char="-"/>
            </a:pPr>
            <a:r>
              <a:rPr lang="en"/>
              <a:t>Meta-analyses suggest 50% increase in colonization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12" name="Google Shape;212;p37"/>
          <p:cNvPicPr preferRelativeResize="0"/>
          <p:nvPr/>
        </p:nvPicPr>
        <p:blipFill rotWithShape="1">
          <a:blip r:embed="rId3">
            <a:alphaModFix/>
          </a:blip>
          <a:srcRect b="51948" l="19960" r="21403" t="18379"/>
          <a:stretch/>
        </p:blipFill>
        <p:spPr>
          <a:xfrm>
            <a:off x="705625" y="3086150"/>
            <a:ext cx="5361523" cy="152619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Improving dispersal</a:t>
            </a:r>
            <a:endParaRPr/>
          </a:p>
        </p:txBody>
      </p:sp>
      <p:sp>
        <p:nvSpPr>
          <p:cNvPr id="218" name="Google Shape;218;p38"/>
          <p:cNvSpPr txBox="1"/>
          <p:nvPr>
            <p:ph idx="1" type="body"/>
          </p:nvPr>
        </p:nvSpPr>
        <p:spPr>
          <a:xfrm>
            <a:off x="311700" y="1152475"/>
            <a:ext cx="7747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How else might we improve dispersal?</a:t>
            </a:r>
            <a:endParaRPr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Assisted Migration</a:t>
            </a:r>
            <a:endParaRPr/>
          </a:p>
        </p:txBody>
      </p:sp>
      <p:sp>
        <p:nvSpPr>
          <p:cNvPr id="224" name="Google Shape;224;p3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AKA </a:t>
            </a:r>
            <a:r>
              <a:rPr lang="en"/>
              <a:t>assisted</a:t>
            </a:r>
            <a:r>
              <a:rPr lang="en"/>
              <a:t> dispersal, </a:t>
            </a:r>
            <a:r>
              <a:rPr lang="en"/>
              <a:t>assisted</a:t>
            </a:r>
            <a:r>
              <a:rPr lang="en"/>
              <a:t> colonization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Rationale: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Environment</a:t>
            </a:r>
            <a:r>
              <a:rPr lang="en"/>
              <a:t> changing faster than species can disperse naturally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Even if they could disperse fast enough, barriers may hinder this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can help disperse species where needed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Assisted Migration</a:t>
            </a:r>
            <a:endParaRPr/>
          </a:p>
        </p:txBody>
      </p:sp>
      <p:pic>
        <p:nvPicPr>
          <p:cNvPr id="230" name="Google Shape;230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9712" y="978075"/>
            <a:ext cx="4792189" cy="412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40"/>
          <p:cNvPicPr preferRelativeResize="0"/>
          <p:nvPr/>
        </p:nvPicPr>
        <p:blipFill rotWithShape="1">
          <a:blip r:embed="rId4">
            <a:alphaModFix/>
          </a:blip>
          <a:srcRect b="49151" l="19333" r="20120" t="19179"/>
          <a:stretch/>
        </p:blipFill>
        <p:spPr>
          <a:xfrm>
            <a:off x="5684924" y="0"/>
            <a:ext cx="3459077" cy="10177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2" name="Google Shape;232;p40"/>
          <p:cNvSpPr txBox="1"/>
          <p:nvPr/>
        </p:nvSpPr>
        <p:spPr>
          <a:xfrm>
            <a:off x="5302250" y="1546000"/>
            <a:ext cx="3685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Niche evolution is much slower than projected </a:t>
            </a:r>
            <a:r>
              <a:rPr lang="en" sz="1800">
                <a:solidFill>
                  <a:schemeClr val="dk2"/>
                </a:solidFill>
              </a:rPr>
              <a:t>climate</a:t>
            </a:r>
            <a:r>
              <a:rPr lang="en" sz="1800">
                <a:solidFill>
                  <a:schemeClr val="dk2"/>
                </a:solidFill>
              </a:rPr>
              <a:t> change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Assisted Migration</a:t>
            </a:r>
            <a:endParaRPr/>
          </a:p>
        </p:txBody>
      </p:sp>
      <p:pic>
        <p:nvPicPr>
          <p:cNvPr id="238" name="Google Shape;238;p41"/>
          <p:cNvPicPr preferRelativeResize="0"/>
          <p:nvPr/>
        </p:nvPicPr>
        <p:blipFill rotWithShape="1">
          <a:blip r:embed="rId3">
            <a:alphaModFix/>
          </a:blip>
          <a:srcRect b="0" l="50588" r="0" t="0"/>
          <a:stretch/>
        </p:blipFill>
        <p:spPr>
          <a:xfrm>
            <a:off x="311704" y="1096850"/>
            <a:ext cx="3574925" cy="382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71700" y="1096850"/>
            <a:ext cx="3398524" cy="3515702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41"/>
          <p:cNvSpPr txBox="1"/>
          <p:nvPr/>
        </p:nvSpPr>
        <p:spPr>
          <a:xfrm>
            <a:off x="5079900" y="4681800"/>
            <a:ext cx="4064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Species unable to track climate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41" name="Google Shape;241;p41"/>
          <p:cNvPicPr preferRelativeResize="0"/>
          <p:nvPr/>
        </p:nvPicPr>
        <p:blipFill rotWithShape="1">
          <a:blip r:embed="rId5">
            <a:alphaModFix/>
          </a:blip>
          <a:srcRect b="46191" l="17662" r="22508" t="27457"/>
          <a:stretch/>
        </p:blipFill>
        <p:spPr>
          <a:xfrm>
            <a:off x="4717051" y="0"/>
            <a:ext cx="4426949" cy="10968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Assisted Migration</a:t>
            </a:r>
            <a:endParaRPr/>
          </a:p>
        </p:txBody>
      </p:sp>
      <p:sp>
        <p:nvSpPr>
          <p:cNvPr id="247" name="Google Shape;247;p42"/>
          <p:cNvSpPr txBox="1"/>
          <p:nvPr/>
        </p:nvSpPr>
        <p:spPr>
          <a:xfrm>
            <a:off x="161175" y="1204050"/>
            <a:ext cx="57084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Mean rate of temperature change: 0.42 km/yr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>
                <a:solidFill>
                  <a:schemeClr val="dk2"/>
                </a:solidFill>
              </a:rPr>
              <a:t>Mean</a:t>
            </a:r>
            <a:r>
              <a:rPr lang="en" sz="1800">
                <a:solidFill>
                  <a:schemeClr val="dk2"/>
                </a:solidFill>
              </a:rPr>
              <a:t> of rate of precipitation change: 0.22 km/yr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Plant dispersal (high estimates) 1.7 m/yr - 1.5 km.yr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BUT actually likely lower because long dispersal is correlated with large size (long generations)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Most plants won’t be able to keep up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48" name="Google Shape;248;p42"/>
          <p:cNvPicPr preferRelativeResize="0"/>
          <p:nvPr/>
        </p:nvPicPr>
        <p:blipFill rotWithShape="1">
          <a:blip r:embed="rId3">
            <a:alphaModFix/>
          </a:blip>
          <a:srcRect b="63172" l="32015" r="31127" t="18785"/>
          <a:stretch/>
        </p:blipFill>
        <p:spPr>
          <a:xfrm>
            <a:off x="5214800" y="0"/>
            <a:ext cx="3929198" cy="10819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Assisted Migration</a:t>
            </a:r>
            <a:endParaRPr/>
          </a:p>
        </p:txBody>
      </p:sp>
      <p:sp>
        <p:nvSpPr>
          <p:cNvPr id="254" name="Google Shape;254;p43"/>
          <p:cNvSpPr txBox="1"/>
          <p:nvPr/>
        </p:nvSpPr>
        <p:spPr>
          <a:xfrm>
            <a:off x="161175" y="1204050"/>
            <a:ext cx="7510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Sometimes opposed due to parallels with introduced species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Runs counter to managing ecosystems by NOT changing them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55" name="Google Shape;255;p43"/>
          <p:cNvPicPr preferRelativeResize="0"/>
          <p:nvPr/>
        </p:nvPicPr>
        <p:blipFill rotWithShape="1">
          <a:blip r:embed="rId3">
            <a:alphaModFix/>
          </a:blip>
          <a:srcRect b="63172" l="32015" r="31127" t="18785"/>
          <a:stretch/>
        </p:blipFill>
        <p:spPr>
          <a:xfrm>
            <a:off x="5214800" y="0"/>
            <a:ext cx="3929198" cy="10819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Assisted Migration</a:t>
            </a:r>
            <a:endParaRPr/>
          </a:p>
        </p:txBody>
      </p:sp>
      <p:sp>
        <p:nvSpPr>
          <p:cNvPr id="261" name="Google Shape;261;p44"/>
          <p:cNvSpPr txBox="1"/>
          <p:nvPr/>
        </p:nvSpPr>
        <p:spPr>
          <a:xfrm>
            <a:off x="161175" y="1204050"/>
            <a:ext cx="7510200" cy="29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Sometimes opposed due to parallels with introduced species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Runs counter to managing ecosystems by NOT changing them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BUT: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Introductions aren’t usually bad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These aren’t being introduced into entirely new communities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Traits identifying a </a:t>
            </a:r>
            <a:r>
              <a:rPr lang="en" sz="1800">
                <a:solidFill>
                  <a:schemeClr val="dk2"/>
                </a:solidFill>
              </a:rPr>
              <a:t>candidate</a:t>
            </a:r>
            <a:r>
              <a:rPr lang="en" sz="1800">
                <a:solidFill>
                  <a:schemeClr val="dk2"/>
                </a:solidFill>
              </a:rPr>
              <a:t> for A.M. are the opposite of those of an invasive species</a:t>
            </a:r>
            <a:endParaRPr sz="1800">
              <a:solidFill>
                <a:schemeClr val="dk2"/>
              </a:solidFill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Slow spread, low population densities, etc.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The real concerns are with logistics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62" name="Google Shape;262;p44"/>
          <p:cNvPicPr preferRelativeResize="0"/>
          <p:nvPr/>
        </p:nvPicPr>
        <p:blipFill rotWithShape="1">
          <a:blip r:embed="rId3">
            <a:alphaModFix/>
          </a:blip>
          <a:srcRect b="63172" l="32015" r="31127" t="18785"/>
          <a:stretch/>
        </p:blipFill>
        <p:spPr>
          <a:xfrm>
            <a:off x="5214800" y="0"/>
            <a:ext cx="3929198" cy="108194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Metapopulation models and epidemiology</a:t>
            </a:r>
            <a:endParaRPr/>
          </a:p>
        </p:txBody>
      </p:sp>
      <p:sp>
        <p:nvSpPr>
          <p:cNvPr id="268" name="Google Shape;268;p4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Metapopulation models similar to infection models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Hosts = patches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Infection = colonization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Recovery = patch extinction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Host death = patch destruction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Vaccination = patch destruction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Metapopulation models and epidemiology</a:t>
            </a:r>
            <a:endParaRPr/>
          </a:p>
        </p:txBody>
      </p:sp>
      <p:sp>
        <p:nvSpPr>
          <p:cNvPr id="274" name="Google Shape;274;p4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Diseases require a sufficient number of infections to persist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Comparable to metapopulation dynamics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Just need to vaccinate 1–m/c proportion of people!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Metapopulations and restoration</a:t>
            </a:r>
            <a:endParaRPr/>
          </a:p>
        </p:txBody>
      </p:sp>
      <p:sp>
        <p:nvSpPr>
          <p:cNvPr id="280" name="Google Shape;280;p47"/>
          <p:cNvSpPr txBox="1"/>
          <p:nvPr/>
        </p:nvSpPr>
        <p:spPr>
          <a:xfrm>
            <a:off x="356575" y="1387225"/>
            <a:ext cx="5708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Eastern collared lizards (</a:t>
            </a:r>
            <a:r>
              <a:rPr i="1" lang="en" sz="1800">
                <a:solidFill>
                  <a:schemeClr val="dk2"/>
                </a:solidFill>
              </a:rPr>
              <a:t>Crotaphytus collaris collaris</a:t>
            </a:r>
            <a:r>
              <a:rPr lang="en" sz="1800">
                <a:solidFill>
                  <a:schemeClr val="dk2"/>
                </a:solidFill>
              </a:rPr>
              <a:t>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Live in dry, open glades (maintained by fire)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Fire suppression eliminated glades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In 1994 prescribed burns started</a:t>
            </a:r>
            <a:r>
              <a:rPr lang="en" sz="1800">
                <a:solidFill>
                  <a:schemeClr val="dk2"/>
                </a:solidFill>
              </a:rPr>
              <a:t> 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81" name="Google Shape;281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9950" y="2795975"/>
            <a:ext cx="3681758" cy="2158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51425" y="1824300"/>
            <a:ext cx="2992574" cy="3319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47"/>
          <p:cNvPicPr preferRelativeResize="0"/>
          <p:nvPr/>
        </p:nvPicPr>
        <p:blipFill rotWithShape="1">
          <a:blip r:embed="rId5">
            <a:alphaModFix/>
          </a:blip>
          <a:srcRect b="40140" l="21465" r="44881" t="20213"/>
          <a:stretch/>
        </p:blipFill>
        <p:spPr>
          <a:xfrm>
            <a:off x="6534776" y="0"/>
            <a:ext cx="2609227" cy="17291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8"/>
          <p:cNvSpPr txBox="1"/>
          <p:nvPr>
            <p:ph type="title"/>
          </p:nvPr>
        </p:nvSpPr>
        <p:spPr>
          <a:xfrm>
            <a:off x="227964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Metapopulations and restoration</a:t>
            </a:r>
            <a:endParaRPr/>
          </a:p>
        </p:txBody>
      </p:sp>
      <p:pic>
        <p:nvPicPr>
          <p:cNvPr id="289" name="Google Shape;289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017725"/>
            <a:ext cx="3509534" cy="3973376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48"/>
          <p:cNvSpPr txBox="1"/>
          <p:nvPr/>
        </p:nvSpPr>
        <p:spPr>
          <a:xfrm>
            <a:off x="4105525" y="1826850"/>
            <a:ext cx="5065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Solid lines = dispersal 1994-1998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Dashed lines = </a:t>
            </a:r>
            <a:r>
              <a:rPr lang="en" sz="1800">
                <a:solidFill>
                  <a:schemeClr val="dk2"/>
                </a:solidFill>
              </a:rPr>
              <a:t>dispersal</a:t>
            </a:r>
            <a:r>
              <a:rPr lang="en" sz="1800">
                <a:solidFill>
                  <a:schemeClr val="dk2"/>
                </a:solidFill>
              </a:rPr>
              <a:t> 1999-2000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91" name="Google Shape;291;p48"/>
          <p:cNvPicPr preferRelativeResize="0"/>
          <p:nvPr/>
        </p:nvPicPr>
        <p:blipFill rotWithShape="1">
          <a:blip r:embed="rId4">
            <a:alphaModFix/>
          </a:blip>
          <a:srcRect b="49848" l="35958" r="6739" t="17484"/>
          <a:stretch/>
        </p:blipFill>
        <p:spPr>
          <a:xfrm>
            <a:off x="5112042" y="0"/>
            <a:ext cx="4031957" cy="12930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Metapopulations and restoration</a:t>
            </a:r>
            <a:endParaRPr/>
          </a:p>
        </p:txBody>
      </p:sp>
      <p:pic>
        <p:nvPicPr>
          <p:cNvPr id="297" name="Google Shape;297;p49"/>
          <p:cNvPicPr preferRelativeResize="0"/>
          <p:nvPr/>
        </p:nvPicPr>
        <p:blipFill rotWithShape="1">
          <a:blip r:embed="rId3">
            <a:alphaModFix/>
          </a:blip>
          <a:srcRect b="11861" l="26557" r="27063" t="32531"/>
          <a:stretch/>
        </p:blipFill>
        <p:spPr>
          <a:xfrm>
            <a:off x="258900" y="1240700"/>
            <a:ext cx="5359598" cy="3614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49"/>
          <p:cNvPicPr preferRelativeResize="0"/>
          <p:nvPr/>
        </p:nvPicPr>
        <p:blipFill rotWithShape="1">
          <a:blip r:embed="rId4">
            <a:alphaModFix/>
          </a:blip>
          <a:srcRect b="49848" l="35958" r="6739" t="17484"/>
          <a:stretch/>
        </p:blipFill>
        <p:spPr>
          <a:xfrm>
            <a:off x="5112042" y="0"/>
            <a:ext cx="4031957" cy="12930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metapopulation structure</a:t>
            </a:r>
            <a:endParaRPr/>
          </a:p>
        </p:txBody>
      </p:sp>
      <p:pic>
        <p:nvPicPr>
          <p:cNvPr id="304" name="Google Shape;304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900" y="1509350"/>
            <a:ext cx="6069275" cy="2993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50"/>
          <p:cNvPicPr preferRelativeResize="0"/>
          <p:nvPr/>
        </p:nvPicPr>
        <p:blipFill rotWithShape="1">
          <a:blip r:embed="rId4">
            <a:alphaModFix/>
          </a:blip>
          <a:srcRect b="60087" l="31880" r="31129" t="22107"/>
          <a:stretch/>
        </p:blipFill>
        <p:spPr>
          <a:xfrm>
            <a:off x="5583125" y="0"/>
            <a:ext cx="3560875" cy="96412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metapopulation structure</a:t>
            </a:r>
            <a:endParaRPr/>
          </a:p>
        </p:txBody>
      </p:sp>
      <p:pic>
        <p:nvPicPr>
          <p:cNvPr id="311" name="Google Shape;311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900" y="1509350"/>
            <a:ext cx="6069275" cy="29933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1"/>
          <p:cNvPicPr preferRelativeResize="0"/>
          <p:nvPr/>
        </p:nvPicPr>
        <p:blipFill rotWithShape="1">
          <a:blip r:embed="rId4">
            <a:alphaModFix/>
          </a:blip>
          <a:srcRect b="60087" l="31880" r="31129" t="22107"/>
          <a:stretch/>
        </p:blipFill>
        <p:spPr>
          <a:xfrm>
            <a:off x="5583125" y="0"/>
            <a:ext cx="3560875" cy="96412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13" name="Google Shape;313;p51"/>
          <p:cNvSpPr txBox="1"/>
          <p:nvPr/>
        </p:nvSpPr>
        <p:spPr>
          <a:xfrm>
            <a:off x="6462350" y="1130775"/>
            <a:ext cx="2623200" cy="13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980000"/>
                </a:solidFill>
              </a:rPr>
              <a:t>Important conservation implications!</a:t>
            </a:r>
            <a:endParaRPr b="1" sz="1900"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900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class: More patchy environments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