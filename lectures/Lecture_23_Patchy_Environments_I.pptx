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21cc0de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21cc0de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21cc0de1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21cc0de1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21cc0de1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21cc0de1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21cc0de1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21cc0de1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21cc0de1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21cc0de1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21cc0de1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21cc0de1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21cc0de1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21cc0de1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21cc0de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21cc0de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21cc0de1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21cc0de1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21cc0de1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21cc0de1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21cc0de1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21cc0de1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21cc0de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21cc0de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21cc0de1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21cc0de1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21cc0de1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21cc0de1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21cc0de1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21cc0de1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21cc0de19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21cc0de19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21cc0de1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21cc0de1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21cc0de1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21cc0de1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21cc0de1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21cc0de1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21cc0de1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21cc0de1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21cc0de19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21cc0de19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21cc0de1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521cc0de1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this means that if you destroy patches equivalent to the equilibrium proportion occupied, extinction will occur.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21cc0de1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21cc0de1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this means that if you destroy patches equivalent to the equilibrium proportion occupied, extinction will occur.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21cc0de1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21cc0de1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this means that if you destroy patches equivalent to the equilibrium proportion occupied, extinction will occur.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21cc0de19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21cc0de19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21cc0de19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21cc0de19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21cc0de1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21cc0de1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521cc0de19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521cc0de19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521cc0de19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521cc0de1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521cc0de19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521cc0de19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21cc0de19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521cc0de1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21cc0de1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21cc0de1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21cc0de1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21cc0de1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521cc0de19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521cc0de19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21cc0de19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521cc0de19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Grey = original glades, yellow = glades after fire suppression, dashed = area of prescribed burns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21cc0de19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21cc0de19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21cc0de19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21cc0de19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521cc0de19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521cc0de19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521cc0de1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521cc0de1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Patchy Environments 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Quiz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Group Assignment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Project 4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Course Eval Reminder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Patchy Environments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Assignment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Focus: variable/changing ecosystems in Florida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Variation due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Ecological succession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Temporally fluctuating environments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obvious examples might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Fire-dependent ecosystems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Tidal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Hurricanes as successional drivers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Ephemeral water bodies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Assignment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your own group  (Groups can be of one person)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in a group gets the same grade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Do/make something that explains your your chosen system to lay people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anything that can convey a message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Possibly bonus points for creativity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Assignment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Products will be presented in class on April 30th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off what you created to the class (and 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</a:t>
            </a:r>
            <a:r>
              <a:rPr lang="en"/>
              <a:t>our group should briefly explain: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you did/created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rationale behind the approach you took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it conveys the underlying concepts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so far?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Due May 8th before midnight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University policies force me to be a bit stricter about the deadlines on this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Feel free to submit early to avoid the end-of-semester crunch!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a research question about community ecology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 alternative research approaches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parts: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Intro (1-2 pages, 4 max)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Methods (</a:t>
            </a:r>
            <a:r>
              <a:rPr b="1" lang="en"/>
              <a:t>funded</a:t>
            </a:r>
            <a:r>
              <a:rPr lang="en"/>
              <a:t> version, 1-2 pages)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Methods (</a:t>
            </a:r>
            <a:r>
              <a:rPr b="1" lang="en"/>
              <a:t>free</a:t>
            </a:r>
            <a:r>
              <a:rPr lang="en"/>
              <a:t> version, 1-2 pages)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Ecology is cool because it can often be done for 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you can usually do even better work with some funding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 here is to think about different approaches to a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4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set number of references to 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Re-use as much old text as you like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 to cite where you need 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Worth 15 points (other projects were 10)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on Project 4?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</a:t>
            </a:r>
            <a:r>
              <a:rPr lang="en"/>
              <a:t>Evaluations</a:t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Going out soon apparently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Feedback is helpful (particularly for a new course like this)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also always add feedback to Github</a:t>
            </a:r>
            <a:endParaRPr/>
          </a:p>
        </p:txBody>
      </p:sp>
      <p:pic>
        <p:nvPicPr>
          <p:cNvPr id="114" name="Google Shape;114;p23"/>
          <p:cNvPicPr preferRelativeResize="0"/>
          <p:nvPr/>
        </p:nvPicPr>
        <p:blipFill rotWithShape="1">
          <a:blip r:embed="rId3">
            <a:alphaModFix/>
          </a:blip>
          <a:srcRect b="35957" l="0" r="0" t="10093"/>
          <a:stretch/>
        </p:blipFill>
        <p:spPr>
          <a:xfrm>
            <a:off x="0" y="2243700"/>
            <a:ext cx="9144000" cy="2774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23"/>
          <p:cNvCxnSpPr/>
          <p:nvPr/>
        </p:nvCxnSpPr>
        <p:spPr>
          <a:xfrm>
            <a:off x="5076100" y="2075250"/>
            <a:ext cx="2497500" cy="911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Evaluations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Going out soon apparently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Feedback is helpful (particularly for a new course like this)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also always add feedback to Github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 rotWithShape="1">
          <a:blip r:embed="rId3">
            <a:alphaModFix/>
          </a:blip>
          <a:srcRect b="31521" l="7715" r="29963" t="22408"/>
          <a:stretch/>
        </p:blipFill>
        <p:spPr>
          <a:xfrm>
            <a:off x="61450" y="2199200"/>
            <a:ext cx="6660850" cy="276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/>
          <p:nvPr/>
        </p:nvSpPr>
        <p:spPr>
          <a:xfrm>
            <a:off x="715525" y="3961300"/>
            <a:ext cx="3597300" cy="555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/>
        </p:nvSpPr>
        <p:spPr>
          <a:xfrm>
            <a:off x="5056300" y="2600500"/>
            <a:ext cx="411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Your previous comments have been included and will be adopted!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125" name="Google Shape;125;p24"/>
          <p:cNvCxnSpPr/>
          <p:nvPr/>
        </p:nvCxnSpPr>
        <p:spPr>
          <a:xfrm flipH="1">
            <a:off x="4372350" y="3244675"/>
            <a:ext cx="753300" cy="6936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Patchy Environments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Patches</a:t>
            </a:r>
            <a:r>
              <a:rPr lang="en"/>
              <a:t>: suitable habitat, surrounded by unsuitable habitat.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Metapopulation:</a:t>
            </a:r>
            <a:r>
              <a:rPr lang="en"/>
              <a:t> collection of connected populations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 patches connected by dispersal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Environment composed of identical patches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Patches connected by dispersal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Patches are either at carrying capacity or empty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Patches have a constant extinctions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Colonization rate depends on number of patches occupied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</a:t>
            </a:r>
            <a:r>
              <a:rPr lang="en"/>
              <a:t> = per-patch extinction rate</a:t>
            </a:r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5155400" y="1381500"/>
            <a:ext cx="382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r>
              <a:rPr lang="en" sz="2700">
                <a:solidFill>
                  <a:schemeClr val="dk2"/>
                </a:solidFill>
              </a:rPr>
              <a:t> 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 = per-patch extinction rate</a:t>
            </a:r>
            <a:endParaRPr/>
          </a:p>
        </p:txBody>
      </p:sp>
      <p:sp>
        <p:nvSpPr>
          <p:cNvPr id="151" name="Google Shape;151;p28"/>
          <p:cNvSpPr txBox="1"/>
          <p:nvPr/>
        </p:nvSpPr>
        <p:spPr>
          <a:xfrm>
            <a:off x="5155400" y="1381500"/>
            <a:ext cx="3825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700">
                <a:solidFill>
                  <a:schemeClr val="dk2"/>
                </a:solidFill>
              </a:rPr>
              <a:t>0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 = per-patch extinction rate</a:t>
            </a:r>
            <a:endParaRPr/>
          </a:p>
        </p:txBody>
      </p:sp>
      <p:sp>
        <p:nvSpPr>
          <p:cNvPr id="158" name="Google Shape;158;p29"/>
          <p:cNvSpPr txBox="1"/>
          <p:nvPr/>
        </p:nvSpPr>
        <p:spPr>
          <a:xfrm>
            <a:off x="5155400" y="1381500"/>
            <a:ext cx="38253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0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mP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 = per-patch extinction rate</a:t>
            </a:r>
            <a:endParaRPr/>
          </a:p>
        </p:txBody>
      </p:sp>
      <p:sp>
        <p:nvSpPr>
          <p:cNvPr id="165" name="Google Shape;165;p30"/>
          <p:cNvSpPr txBox="1"/>
          <p:nvPr/>
        </p:nvSpPr>
        <p:spPr>
          <a:xfrm>
            <a:off x="5155400" y="1381500"/>
            <a:ext cx="3825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0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mP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m/c</a:t>
            </a:r>
            <a:r>
              <a:rPr lang="en" sz="2700">
                <a:solidFill>
                  <a:schemeClr val="dk2"/>
                </a:solidFill>
              </a:rPr>
              <a:t>  = 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 = per-patch extinction rate</a:t>
            </a:r>
            <a:endParaRPr/>
          </a:p>
        </p:txBody>
      </p:sp>
      <p:sp>
        <p:nvSpPr>
          <p:cNvPr id="172" name="Google Shape;172;p31"/>
          <p:cNvSpPr txBox="1"/>
          <p:nvPr/>
        </p:nvSpPr>
        <p:spPr>
          <a:xfrm>
            <a:off x="5155400" y="1000500"/>
            <a:ext cx="38253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0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mP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m/c</a:t>
            </a:r>
            <a:r>
              <a:rPr lang="en" sz="2700">
                <a:solidFill>
                  <a:schemeClr val="dk2"/>
                </a:solidFill>
              </a:rPr>
              <a:t>  = 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 </a:t>
            </a:r>
            <a:r>
              <a:rPr i="1" lang="en" sz="2700">
                <a:solidFill>
                  <a:schemeClr val="dk2"/>
                </a:solidFill>
              </a:rPr>
              <a:t>P </a:t>
            </a:r>
            <a:r>
              <a:rPr lang="en" sz="2700">
                <a:solidFill>
                  <a:schemeClr val="dk2"/>
                </a:solidFill>
              </a:rPr>
              <a:t>= 1 - </a:t>
            </a:r>
            <a:r>
              <a:rPr i="1" lang="en" sz="2700">
                <a:solidFill>
                  <a:schemeClr val="dk2"/>
                </a:solidFill>
              </a:rPr>
              <a:t>m/c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 = per-patch extinction rate</a:t>
            </a:r>
            <a:endParaRPr/>
          </a:p>
        </p:txBody>
      </p:sp>
      <p:sp>
        <p:nvSpPr>
          <p:cNvPr id="179" name="Google Shape;179;p32"/>
          <p:cNvSpPr txBox="1"/>
          <p:nvPr/>
        </p:nvSpPr>
        <p:spPr>
          <a:xfrm>
            <a:off x="5155400" y="1000500"/>
            <a:ext cx="38253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0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mP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m/c</a:t>
            </a:r>
            <a:r>
              <a:rPr lang="en" sz="2700">
                <a:solidFill>
                  <a:schemeClr val="dk2"/>
                </a:solidFill>
              </a:rPr>
              <a:t>  = 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 </a:t>
            </a:r>
            <a:r>
              <a:rPr i="1" lang="en" sz="2700">
                <a:solidFill>
                  <a:schemeClr val="dk2"/>
                </a:solidFill>
              </a:rPr>
              <a:t>P </a:t>
            </a:r>
            <a:r>
              <a:rPr lang="en" sz="2700">
                <a:solidFill>
                  <a:schemeClr val="dk2"/>
                </a:solidFill>
              </a:rPr>
              <a:t>= 1 - </a:t>
            </a:r>
            <a:r>
              <a:rPr i="1" lang="en" sz="2700">
                <a:solidFill>
                  <a:schemeClr val="dk2"/>
                </a:solidFill>
              </a:rPr>
              <a:t>m/c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80" name="Google Shape;180;p32"/>
          <p:cNvSpPr/>
          <p:nvPr/>
        </p:nvSpPr>
        <p:spPr>
          <a:xfrm>
            <a:off x="4719325" y="4384375"/>
            <a:ext cx="2874000" cy="57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2"/>
          <p:cNvSpPr txBox="1"/>
          <p:nvPr/>
        </p:nvSpPr>
        <p:spPr>
          <a:xfrm>
            <a:off x="765100" y="4384375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Patches occupied at equilibrium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 = per-patch extinction rate</a:t>
            </a:r>
            <a:endParaRPr/>
          </a:p>
        </p:txBody>
      </p:sp>
      <p:sp>
        <p:nvSpPr>
          <p:cNvPr id="188" name="Google Shape;188;p33"/>
          <p:cNvSpPr txBox="1"/>
          <p:nvPr/>
        </p:nvSpPr>
        <p:spPr>
          <a:xfrm>
            <a:off x="5155400" y="1000500"/>
            <a:ext cx="38253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 At equilibrium:</a:t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P </a:t>
            </a:r>
            <a:r>
              <a:rPr lang="en" sz="2700">
                <a:solidFill>
                  <a:schemeClr val="dk2"/>
                </a:solidFill>
              </a:rPr>
              <a:t>= 1 - </a:t>
            </a:r>
            <a:r>
              <a:rPr i="1" lang="en" sz="2700">
                <a:solidFill>
                  <a:schemeClr val="dk2"/>
                </a:solidFill>
              </a:rPr>
              <a:t>m/c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189" name="Google Shape;189;p33"/>
          <p:cNvSpPr txBox="1"/>
          <p:nvPr/>
        </p:nvSpPr>
        <p:spPr>
          <a:xfrm>
            <a:off x="5185125" y="2620300"/>
            <a:ext cx="398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 decreases occupancy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 increases occupancy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 and habitat loss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311700" y="1152475"/>
            <a:ext cx="393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 = per-patch extinction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D = Proportion of patches destroyed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96" name="Google Shape;196;p34"/>
          <p:cNvSpPr txBox="1"/>
          <p:nvPr/>
        </p:nvSpPr>
        <p:spPr>
          <a:xfrm>
            <a:off x="4729250" y="1381500"/>
            <a:ext cx="425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</a:t>
            </a:r>
            <a:r>
              <a:rPr lang="en" sz="2700">
                <a:solidFill>
                  <a:srgbClr val="980000"/>
                </a:solidFill>
              </a:rPr>
              <a:t>- D</a:t>
            </a:r>
            <a:r>
              <a:rPr lang="en" sz="2700">
                <a:solidFill>
                  <a:schemeClr val="dk2"/>
                </a:solidFill>
              </a:rPr>
              <a:t>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r>
              <a:rPr lang="en" sz="2700">
                <a:solidFill>
                  <a:schemeClr val="dk2"/>
                </a:solidFill>
              </a:rPr>
              <a:t> 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 and habitat loss</a:t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311700" y="1152475"/>
            <a:ext cx="393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 = per-patch extinction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D = Proportion of patches destroyed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03" name="Google Shape;203;p35"/>
          <p:cNvSpPr txBox="1"/>
          <p:nvPr/>
        </p:nvSpPr>
        <p:spPr>
          <a:xfrm>
            <a:off x="4729250" y="1381500"/>
            <a:ext cx="4251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</a:t>
            </a:r>
            <a:r>
              <a:rPr lang="en" sz="2700">
                <a:solidFill>
                  <a:srgbClr val="980000"/>
                </a:solidFill>
              </a:rPr>
              <a:t>- D</a:t>
            </a:r>
            <a:r>
              <a:rPr lang="en" sz="2700">
                <a:solidFill>
                  <a:schemeClr val="dk2"/>
                </a:solidFill>
              </a:rPr>
              <a:t>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a</a:t>
            </a:r>
            <a:r>
              <a:rPr lang="en" sz="2700">
                <a:solidFill>
                  <a:schemeClr val="dk2"/>
                </a:solidFill>
              </a:rPr>
              <a:t>t  </a:t>
            </a:r>
            <a:r>
              <a:rPr lang="en" sz="2700">
                <a:solidFill>
                  <a:schemeClr val="dk2"/>
                </a:solidFill>
              </a:rPr>
              <a:t> </a:t>
            </a:r>
            <a:r>
              <a:rPr i="1" lang="en" sz="2700">
                <a:solidFill>
                  <a:schemeClr val="dk2"/>
                </a:solidFill>
              </a:rPr>
              <a:t>D</a:t>
            </a:r>
            <a:r>
              <a:rPr i="1" lang="en" sz="2700">
                <a:solidFill>
                  <a:schemeClr val="dk2"/>
                </a:solidFill>
              </a:rPr>
              <a:t> </a:t>
            </a:r>
            <a:r>
              <a:rPr lang="en" sz="2700">
                <a:solidFill>
                  <a:schemeClr val="dk2"/>
                </a:solidFill>
              </a:rPr>
              <a:t>= 1 - </a:t>
            </a:r>
            <a:r>
              <a:rPr i="1" lang="en" sz="2700">
                <a:solidFill>
                  <a:schemeClr val="dk2"/>
                </a:solidFill>
              </a:rPr>
              <a:t>m/c 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Extinction occurs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 and habitat loss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152475"/>
            <a:ext cx="393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 = per-patch extinction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D = Proportion of patches destroyed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210" name="Google Shape;210;p36"/>
          <p:cNvSpPr txBox="1"/>
          <p:nvPr/>
        </p:nvSpPr>
        <p:spPr>
          <a:xfrm>
            <a:off x="4729250" y="1381500"/>
            <a:ext cx="4251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</a:t>
            </a:r>
            <a:r>
              <a:rPr lang="en" sz="2700">
                <a:solidFill>
                  <a:srgbClr val="980000"/>
                </a:solidFill>
              </a:rPr>
              <a:t>- D</a:t>
            </a:r>
            <a:r>
              <a:rPr lang="en" sz="2700">
                <a:solidFill>
                  <a:schemeClr val="dk2"/>
                </a:solidFill>
              </a:rPr>
              <a:t>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at   </a:t>
            </a:r>
            <a:r>
              <a:rPr i="1" lang="en" sz="2700">
                <a:solidFill>
                  <a:schemeClr val="dk2"/>
                </a:solidFill>
              </a:rPr>
              <a:t>D </a:t>
            </a:r>
            <a:r>
              <a:rPr lang="en" sz="2700">
                <a:solidFill>
                  <a:schemeClr val="dk2"/>
                </a:solidFill>
              </a:rPr>
              <a:t>= 1 - </a:t>
            </a:r>
            <a:r>
              <a:rPr i="1" lang="en" sz="2700">
                <a:solidFill>
                  <a:schemeClr val="dk2"/>
                </a:solidFill>
              </a:rPr>
              <a:t>m/c 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Extinction occurs</a:t>
            </a:r>
            <a:endParaRPr sz="2700">
              <a:solidFill>
                <a:schemeClr val="dk2"/>
              </a:solidFill>
            </a:endParaRPr>
          </a:p>
        </p:txBody>
      </p:sp>
      <p:sp>
        <p:nvSpPr>
          <p:cNvPr id="211" name="Google Shape;211;p36"/>
          <p:cNvSpPr txBox="1"/>
          <p:nvPr/>
        </p:nvSpPr>
        <p:spPr>
          <a:xfrm>
            <a:off x="1389450" y="3968125"/>
            <a:ext cx="57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Note that we can make </a:t>
            </a:r>
            <a:r>
              <a:rPr lang="en" sz="1800">
                <a:solidFill>
                  <a:schemeClr val="dk2"/>
                </a:solidFill>
              </a:rPr>
              <a:t>extinction</a:t>
            </a:r>
            <a:r>
              <a:rPr lang="en" sz="1800">
                <a:solidFill>
                  <a:schemeClr val="dk2"/>
                </a:solidFill>
              </a:rPr>
              <a:t> harder by increasing colonization or decreasing patch-level extinction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 and habitat loss</a:t>
            </a:r>
            <a:endParaRPr/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311700" y="1152475"/>
            <a:ext cx="77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</a:t>
            </a:r>
            <a:r>
              <a:rPr lang="en"/>
              <a:t>implications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/>
              <a:t>Empty patches are always expected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Even destroying an unoccupied patch can cause extinction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Extinction may not occur immediately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Occupied patches may persist, even if metapop can’t persist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“Extinction debt”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BIG concern in conservation biology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 and dispersal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311700" y="1152475"/>
            <a:ext cx="77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Dispersal corridors: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/>
              <a:t>Increase colonization (reducing extinction)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-"/>
            </a:pPr>
            <a:r>
              <a:rPr lang="en"/>
              <a:t>Meta-analyses suggest 50% increase in colonization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8"/>
          <p:cNvPicPr preferRelativeResize="0"/>
          <p:nvPr/>
        </p:nvPicPr>
        <p:blipFill rotWithShape="1">
          <a:blip r:embed="rId3">
            <a:alphaModFix/>
          </a:blip>
          <a:srcRect b="51948" l="19960" r="21402" t="18379"/>
          <a:stretch/>
        </p:blipFill>
        <p:spPr>
          <a:xfrm>
            <a:off x="705625" y="3086150"/>
            <a:ext cx="5361523" cy="1526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 dispersal</a:t>
            </a:r>
            <a:endParaRPr/>
          </a:p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>
            <a:off x="311700" y="1152475"/>
            <a:ext cx="774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else might we improve dispersal?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Assisted Migration</a:t>
            </a:r>
            <a:endParaRPr/>
          </a:p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AKA </a:t>
            </a:r>
            <a:r>
              <a:rPr lang="en"/>
              <a:t>assisted</a:t>
            </a:r>
            <a:r>
              <a:rPr lang="en"/>
              <a:t> dispersal, </a:t>
            </a:r>
            <a:r>
              <a:rPr lang="en"/>
              <a:t>assistant</a:t>
            </a:r>
            <a:r>
              <a:rPr lang="en"/>
              <a:t> colonization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Rationale: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Environment</a:t>
            </a:r>
            <a:r>
              <a:rPr lang="en"/>
              <a:t> changing faster than species can disperse naturally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Even if they could disperse fast enough, barriers may hinder this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help disperse species where needed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Assisted Migration</a:t>
            </a:r>
            <a:endParaRPr/>
          </a:p>
        </p:txBody>
      </p:sp>
      <p:pic>
        <p:nvPicPr>
          <p:cNvPr id="242" name="Google Shape;2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12" y="978075"/>
            <a:ext cx="4792189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1"/>
          <p:cNvPicPr preferRelativeResize="0"/>
          <p:nvPr/>
        </p:nvPicPr>
        <p:blipFill rotWithShape="1">
          <a:blip r:embed="rId4">
            <a:alphaModFix/>
          </a:blip>
          <a:srcRect b="49151" l="19332" r="20119" t="19179"/>
          <a:stretch/>
        </p:blipFill>
        <p:spPr>
          <a:xfrm>
            <a:off x="5684924" y="0"/>
            <a:ext cx="3459077" cy="1017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4" name="Google Shape;244;p41"/>
          <p:cNvSpPr txBox="1"/>
          <p:nvPr/>
        </p:nvSpPr>
        <p:spPr>
          <a:xfrm>
            <a:off x="5302250" y="1546000"/>
            <a:ext cx="368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Niche evolution is much slower than projected </a:t>
            </a:r>
            <a:r>
              <a:rPr lang="en" sz="1800">
                <a:solidFill>
                  <a:schemeClr val="dk2"/>
                </a:solidFill>
              </a:rPr>
              <a:t>climate</a:t>
            </a:r>
            <a:r>
              <a:rPr lang="en" sz="1800">
                <a:solidFill>
                  <a:schemeClr val="dk2"/>
                </a:solidFill>
              </a:rPr>
              <a:t> change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Assisted Migration</a:t>
            </a:r>
            <a:endParaRPr/>
          </a:p>
        </p:txBody>
      </p:sp>
      <p:pic>
        <p:nvPicPr>
          <p:cNvPr id="250" name="Google Shape;250;p42"/>
          <p:cNvPicPr preferRelativeResize="0"/>
          <p:nvPr/>
        </p:nvPicPr>
        <p:blipFill rotWithShape="1">
          <a:blip r:embed="rId3">
            <a:alphaModFix/>
          </a:blip>
          <a:srcRect b="0" l="50588" r="0" t="0"/>
          <a:stretch/>
        </p:blipFill>
        <p:spPr>
          <a:xfrm>
            <a:off x="311704" y="1096850"/>
            <a:ext cx="357492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700" y="1096850"/>
            <a:ext cx="3398524" cy="351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 txBox="1"/>
          <p:nvPr/>
        </p:nvSpPr>
        <p:spPr>
          <a:xfrm>
            <a:off x="5079900" y="4681800"/>
            <a:ext cx="406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unable to track climate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3" name="Google Shape;253;p42"/>
          <p:cNvPicPr preferRelativeResize="0"/>
          <p:nvPr/>
        </p:nvPicPr>
        <p:blipFill rotWithShape="1">
          <a:blip r:embed="rId5">
            <a:alphaModFix/>
          </a:blip>
          <a:srcRect b="46190" l="17661" r="22508" t="27456"/>
          <a:stretch/>
        </p:blipFill>
        <p:spPr>
          <a:xfrm>
            <a:off x="4717051" y="0"/>
            <a:ext cx="4426949" cy="10968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Assisted Migration</a:t>
            </a:r>
            <a:endParaRPr/>
          </a:p>
        </p:txBody>
      </p:sp>
      <p:sp>
        <p:nvSpPr>
          <p:cNvPr id="259" name="Google Shape;259;p43"/>
          <p:cNvSpPr txBox="1"/>
          <p:nvPr/>
        </p:nvSpPr>
        <p:spPr>
          <a:xfrm>
            <a:off x="161175" y="1204050"/>
            <a:ext cx="5708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Mean rate of temperature change: 0.42 km/yr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Mean</a:t>
            </a:r>
            <a:r>
              <a:rPr lang="en" sz="1800">
                <a:solidFill>
                  <a:schemeClr val="dk2"/>
                </a:solidFill>
              </a:rPr>
              <a:t> of rate of precipitation change: 0.22 km/yr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Plant dispersal (high estimates) 1.7 m/yr - 1.5 km.yr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BUT actually likely lower because long dispersal is correlated with large size (long generations)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Most plants won’t be able to keep up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0" name="Google Shape;260;p43"/>
          <p:cNvPicPr preferRelativeResize="0"/>
          <p:nvPr/>
        </p:nvPicPr>
        <p:blipFill rotWithShape="1">
          <a:blip r:embed="rId3">
            <a:alphaModFix/>
          </a:blip>
          <a:srcRect b="63171" l="32015" r="31126" t="18784"/>
          <a:stretch/>
        </p:blipFill>
        <p:spPr>
          <a:xfrm>
            <a:off x="5214800" y="0"/>
            <a:ext cx="3929198" cy="10819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Assisted Migration</a:t>
            </a:r>
            <a:endParaRPr/>
          </a:p>
        </p:txBody>
      </p:sp>
      <p:sp>
        <p:nvSpPr>
          <p:cNvPr id="266" name="Google Shape;266;p44"/>
          <p:cNvSpPr txBox="1"/>
          <p:nvPr/>
        </p:nvSpPr>
        <p:spPr>
          <a:xfrm>
            <a:off x="161175" y="1204050"/>
            <a:ext cx="751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Sometimes opposed due to parallels with introduced species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Runs counter to managing ecosystems by NOT changing them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7" name="Google Shape;267;p44"/>
          <p:cNvPicPr preferRelativeResize="0"/>
          <p:nvPr/>
        </p:nvPicPr>
        <p:blipFill rotWithShape="1">
          <a:blip r:embed="rId3">
            <a:alphaModFix/>
          </a:blip>
          <a:srcRect b="63171" l="32015" r="31126" t="18784"/>
          <a:stretch/>
        </p:blipFill>
        <p:spPr>
          <a:xfrm>
            <a:off x="5214800" y="0"/>
            <a:ext cx="3929198" cy="10819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Assisted Migration</a:t>
            </a:r>
            <a:endParaRPr/>
          </a:p>
        </p:txBody>
      </p:sp>
      <p:sp>
        <p:nvSpPr>
          <p:cNvPr id="273" name="Google Shape;273;p45"/>
          <p:cNvSpPr txBox="1"/>
          <p:nvPr/>
        </p:nvSpPr>
        <p:spPr>
          <a:xfrm>
            <a:off x="161175" y="1204050"/>
            <a:ext cx="7510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Sometimes opposed due to parallels with introduced species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Runs counter to managing ecosystems by NOT changing them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BUT: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Introductions aren’t usually bad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These aren’t being introduced into entirely new communities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Traits identifying a </a:t>
            </a:r>
            <a:r>
              <a:rPr lang="en" sz="1800">
                <a:solidFill>
                  <a:schemeClr val="dk2"/>
                </a:solidFill>
              </a:rPr>
              <a:t>candidate</a:t>
            </a:r>
            <a:r>
              <a:rPr lang="en" sz="1800">
                <a:solidFill>
                  <a:schemeClr val="dk2"/>
                </a:solidFill>
              </a:rPr>
              <a:t> for A.M. are the opposite of those of an invasive species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Slow spread, low population densities, etc.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The real concerns are with logistics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74" name="Google Shape;274;p45"/>
          <p:cNvPicPr preferRelativeResize="0"/>
          <p:nvPr/>
        </p:nvPicPr>
        <p:blipFill rotWithShape="1">
          <a:blip r:embed="rId3">
            <a:alphaModFix/>
          </a:blip>
          <a:srcRect b="63171" l="32015" r="31126" t="18784"/>
          <a:stretch/>
        </p:blipFill>
        <p:spPr>
          <a:xfrm>
            <a:off x="5214800" y="0"/>
            <a:ext cx="3929198" cy="10819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Metapopulation models and epidemiology</a:t>
            </a:r>
            <a:endParaRPr/>
          </a:p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Metapopulation models similar to infection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Hosts = patches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Infection = colonization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Recovery = patch extinction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Host death = patch destruction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Vaccination = patch destruction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Metapopulation models and epidemiology</a:t>
            </a:r>
            <a:endParaRPr/>
          </a:p>
        </p:txBody>
      </p:sp>
      <p:sp>
        <p:nvSpPr>
          <p:cNvPr id="286" name="Google Shape;28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Diseases require a sufficient number of infections to persist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Comparable to metapopulation dynamics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Just need to vaccinate 1–m/c proportion of people!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lizards</a:t>
            </a:r>
            <a:endParaRPr/>
          </a:p>
        </p:txBody>
      </p:sp>
      <p:sp>
        <p:nvSpPr>
          <p:cNvPr id="292" name="Google Shape;292;p48"/>
          <p:cNvSpPr txBox="1"/>
          <p:nvPr/>
        </p:nvSpPr>
        <p:spPr>
          <a:xfrm>
            <a:off x="356575" y="1387225"/>
            <a:ext cx="570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Eastern collared lizards (</a:t>
            </a:r>
            <a:r>
              <a:rPr i="1" lang="en" sz="1800">
                <a:solidFill>
                  <a:schemeClr val="dk2"/>
                </a:solidFill>
              </a:rPr>
              <a:t>Crotaphytus collaris collaris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Live in dry, open glades (maintained by fire)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Fire suppression eliminated glades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 1994 prescribed burns started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3" name="Google Shape;29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950" y="2795975"/>
            <a:ext cx="3681758" cy="215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1425" y="1824300"/>
            <a:ext cx="2992574" cy="331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8"/>
          <p:cNvPicPr preferRelativeResize="0"/>
          <p:nvPr/>
        </p:nvPicPr>
        <p:blipFill rotWithShape="1">
          <a:blip r:embed="rId5">
            <a:alphaModFix/>
          </a:blip>
          <a:srcRect b="40139" l="21464" r="44881" t="20212"/>
          <a:stretch/>
        </p:blipFill>
        <p:spPr>
          <a:xfrm>
            <a:off x="6534776" y="0"/>
            <a:ext cx="2609227" cy="1729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lizards</a:t>
            </a:r>
            <a:endParaRPr/>
          </a:p>
        </p:txBody>
      </p:sp>
      <p:pic>
        <p:nvPicPr>
          <p:cNvPr id="301" name="Google Shape;30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3509534" cy="397337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9"/>
          <p:cNvSpPr txBox="1"/>
          <p:nvPr/>
        </p:nvSpPr>
        <p:spPr>
          <a:xfrm>
            <a:off x="4105525" y="1826850"/>
            <a:ext cx="506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Solid lines = dispersal 1994-1998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Dashed lines = </a:t>
            </a:r>
            <a:r>
              <a:rPr lang="en" sz="1800">
                <a:solidFill>
                  <a:schemeClr val="dk2"/>
                </a:solidFill>
              </a:rPr>
              <a:t>dispersal</a:t>
            </a:r>
            <a:r>
              <a:rPr lang="en" sz="1800">
                <a:solidFill>
                  <a:schemeClr val="dk2"/>
                </a:solidFill>
              </a:rPr>
              <a:t> 1999-2000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3" name="Google Shape;303;p49"/>
          <p:cNvPicPr preferRelativeResize="0"/>
          <p:nvPr/>
        </p:nvPicPr>
        <p:blipFill rotWithShape="1">
          <a:blip r:embed="rId4">
            <a:alphaModFix/>
          </a:blip>
          <a:srcRect b="49848" l="35957" r="6738" t="17483"/>
          <a:stretch/>
        </p:blipFill>
        <p:spPr>
          <a:xfrm>
            <a:off x="5112042" y="0"/>
            <a:ext cx="4031957" cy="129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lizards</a:t>
            </a:r>
            <a:endParaRPr/>
          </a:p>
        </p:txBody>
      </p:sp>
      <p:pic>
        <p:nvPicPr>
          <p:cNvPr id="309" name="Google Shape;309;p50"/>
          <p:cNvPicPr preferRelativeResize="0"/>
          <p:nvPr/>
        </p:nvPicPr>
        <p:blipFill rotWithShape="1">
          <a:blip r:embed="rId3">
            <a:alphaModFix/>
          </a:blip>
          <a:srcRect b="11861" l="26557" r="27062" t="32530"/>
          <a:stretch/>
        </p:blipFill>
        <p:spPr>
          <a:xfrm>
            <a:off x="258900" y="1240700"/>
            <a:ext cx="5359598" cy="361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0"/>
          <p:cNvPicPr preferRelativeResize="0"/>
          <p:nvPr/>
        </p:nvPicPr>
        <p:blipFill rotWithShape="1">
          <a:blip r:embed="rId4">
            <a:alphaModFix/>
          </a:blip>
          <a:srcRect b="49848" l="35957" r="6738" t="17483"/>
          <a:stretch/>
        </p:blipFill>
        <p:spPr>
          <a:xfrm>
            <a:off x="5112042" y="0"/>
            <a:ext cx="4031957" cy="1293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metapopulation structure</a:t>
            </a:r>
            <a:endParaRPr/>
          </a:p>
        </p:txBody>
      </p:sp>
      <p:pic>
        <p:nvPicPr>
          <p:cNvPr id="316" name="Google Shape;31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0" y="1509350"/>
            <a:ext cx="6069275" cy="299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51"/>
          <p:cNvPicPr preferRelativeResize="0"/>
          <p:nvPr/>
        </p:nvPicPr>
        <p:blipFill rotWithShape="1">
          <a:blip r:embed="rId4">
            <a:alphaModFix/>
          </a:blip>
          <a:srcRect b="60086" l="31879" r="31128" t="22106"/>
          <a:stretch/>
        </p:blipFill>
        <p:spPr>
          <a:xfrm>
            <a:off x="5583125" y="0"/>
            <a:ext cx="3560875" cy="9641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metapopulation structure</a:t>
            </a:r>
            <a:endParaRPr/>
          </a:p>
        </p:txBody>
      </p:sp>
      <p:pic>
        <p:nvPicPr>
          <p:cNvPr id="323" name="Google Shape;32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0" y="1509350"/>
            <a:ext cx="6069275" cy="299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52"/>
          <p:cNvPicPr preferRelativeResize="0"/>
          <p:nvPr/>
        </p:nvPicPr>
        <p:blipFill rotWithShape="1">
          <a:blip r:embed="rId4">
            <a:alphaModFix/>
          </a:blip>
          <a:srcRect b="60086" l="31879" r="31128" t="22106"/>
          <a:stretch/>
        </p:blipFill>
        <p:spPr>
          <a:xfrm>
            <a:off x="5583125" y="0"/>
            <a:ext cx="3560875" cy="9641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5" name="Google Shape;325;p52"/>
          <p:cNvSpPr txBox="1"/>
          <p:nvPr/>
        </p:nvSpPr>
        <p:spPr>
          <a:xfrm>
            <a:off x="6462350" y="1130775"/>
            <a:ext cx="2623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80000"/>
                </a:solidFill>
              </a:rPr>
              <a:t>Important conservation implications!</a:t>
            </a:r>
            <a:endParaRPr b="1" sz="19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More patchy environments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