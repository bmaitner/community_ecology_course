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embeddedFontLst>
    <p:embeddedFont>
      <p:font typeface="Oswald ExtraLight"/>
      <p:regular r:id="rId50"/>
      <p:bold r:id="rId51"/>
    </p:embeddedFont>
    <p:embeddedFont>
      <p:font typeface="Source Code Pro Light"/>
      <p:regular r:id="rId52"/>
      <p:bold r:id="rId53"/>
      <p:italic r:id="rId54"/>
      <p:boldItalic r:id="rId55"/>
    </p:embeddedFont>
    <p:embeddedFont>
      <p:font typeface="Roboto"/>
      <p:regular r:id="rId56"/>
      <p:bold r:id="rId57"/>
      <p:italic r:id="rId58"/>
      <p:boldItalic r:id="rId59"/>
    </p:embeddedFont>
    <p:embeddedFont>
      <p:font typeface="Lato"/>
      <p:regular r:id="rId60"/>
      <p:bold r:id="rId61"/>
      <p:italic r:id="rId62"/>
      <p:boldItalic r:id="rId63"/>
    </p:embeddedFont>
    <p:embeddedFont>
      <p:font typeface="Source Code Pro"/>
      <p:regular r:id="rId64"/>
      <p:bold r:id="rId65"/>
      <p:italic r:id="rId66"/>
      <p:boldItalic r:id="rId67"/>
    </p:embeddedFont>
    <p:embeddedFont>
      <p:font typeface="Oswald Light"/>
      <p:regular r:id="rId68"/>
      <p:bold r:id="rId69"/>
    </p:embeddedFont>
    <p:embeddedFont>
      <p:font typeface="Oswald"/>
      <p:regular r:id="rId70"/>
      <p:bold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34F1BB-13AD-4E81-9E85-FFC51672E1EE}">
  <a:tblStyle styleId="{1A34F1BB-13AD-4E81-9E85-FFC51672E1E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D3C6839-8E4A-4D7E-B279-2D5DBB2FA352}"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swald-bold.fntdata"/><Relationship Id="rId70" Type="http://schemas.openxmlformats.org/officeDocument/2006/relationships/font" Target="fonts/Oswald-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ato-italic.fntdata"/><Relationship Id="rId61" Type="http://schemas.openxmlformats.org/officeDocument/2006/relationships/font" Target="fonts/Lato-bold.fntdata"/><Relationship Id="rId20" Type="http://schemas.openxmlformats.org/officeDocument/2006/relationships/slide" Target="slides/slide14.xml"/><Relationship Id="rId64" Type="http://schemas.openxmlformats.org/officeDocument/2006/relationships/font" Target="fonts/SourceCodePro-regular.fntdata"/><Relationship Id="rId63" Type="http://schemas.openxmlformats.org/officeDocument/2006/relationships/font" Target="fonts/Lato-boldItalic.fntdata"/><Relationship Id="rId22" Type="http://schemas.openxmlformats.org/officeDocument/2006/relationships/slide" Target="slides/slide16.xml"/><Relationship Id="rId66" Type="http://schemas.openxmlformats.org/officeDocument/2006/relationships/font" Target="fonts/SourceCodePro-italic.fntdata"/><Relationship Id="rId21" Type="http://schemas.openxmlformats.org/officeDocument/2006/relationships/slide" Target="slides/slide15.xml"/><Relationship Id="rId65" Type="http://schemas.openxmlformats.org/officeDocument/2006/relationships/font" Target="fonts/SourceCodePro-bold.fntdata"/><Relationship Id="rId24" Type="http://schemas.openxmlformats.org/officeDocument/2006/relationships/slide" Target="slides/slide18.xml"/><Relationship Id="rId68" Type="http://schemas.openxmlformats.org/officeDocument/2006/relationships/font" Target="fonts/OswaldLight-regular.fntdata"/><Relationship Id="rId23" Type="http://schemas.openxmlformats.org/officeDocument/2006/relationships/slide" Target="slides/slide17.xml"/><Relationship Id="rId67" Type="http://schemas.openxmlformats.org/officeDocument/2006/relationships/font" Target="fonts/SourceCodePro-boldItalic.fntdata"/><Relationship Id="rId60" Type="http://schemas.openxmlformats.org/officeDocument/2006/relationships/font" Target="fonts/Lato-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swaldLight-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swaldExtraLight-bold.fntdata"/><Relationship Id="rId50" Type="http://schemas.openxmlformats.org/officeDocument/2006/relationships/font" Target="fonts/OswaldExtraLight-regular.fntdata"/><Relationship Id="rId53" Type="http://schemas.openxmlformats.org/officeDocument/2006/relationships/font" Target="fonts/SourceCodeProLight-bold.fntdata"/><Relationship Id="rId52" Type="http://schemas.openxmlformats.org/officeDocument/2006/relationships/font" Target="fonts/SourceCodeProLight-regular.fntdata"/><Relationship Id="rId11" Type="http://schemas.openxmlformats.org/officeDocument/2006/relationships/slide" Target="slides/slide5.xml"/><Relationship Id="rId55" Type="http://schemas.openxmlformats.org/officeDocument/2006/relationships/font" Target="fonts/SourceCodeProLight-boldItalic.fntdata"/><Relationship Id="rId10" Type="http://schemas.openxmlformats.org/officeDocument/2006/relationships/slide" Target="slides/slide4.xml"/><Relationship Id="rId54" Type="http://schemas.openxmlformats.org/officeDocument/2006/relationships/font" Target="fonts/SourceCodeProLight-italic.fntdata"/><Relationship Id="rId13" Type="http://schemas.openxmlformats.org/officeDocument/2006/relationships/slide" Target="slides/slide7.xml"/><Relationship Id="rId57" Type="http://schemas.openxmlformats.org/officeDocument/2006/relationships/font" Target="fonts/Roboto-bold.fntdata"/><Relationship Id="rId12" Type="http://schemas.openxmlformats.org/officeDocument/2006/relationships/slide" Target="slides/slide6.xml"/><Relationship Id="rId56" Type="http://schemas.openxmlformats.org/officeDocument/2006/relationships/font" Target="fonts/Roboto-regular.fntdata"/><Relationship Id="rId15" Type="http://schemas.openxmlformats.org/officeDocument/2006/relationships/slide" Target="slides/slide9.xml"/><Relationship Id="rId59" Type="http://schemas.openxmlformats.org/officeDocument/2006/relationships/font" Target="fonts/Roboto-boldItalic.fntdata"/><Relationship Id="rId14" Type="http://schemas.openxmlformats.org/officeDocument/2006/relationships/slide" Target="slides/slide8.xml"/><Relationship Id="rId58" Type="http://schemas.openxmlformats.org/officeDocument/2006/relationships/font" Target="fonts/Robo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36e1135a32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36e1135a32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371749f9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371749f9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71749f91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371749f91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Insights as to the bigger picture - link between population and ecosystem level </a:t>
            </a:r>
            <a:r>
              <a:rPr lang="en-GB"/>
              <a:t>processes</a:t>
            </a:r>
            <a:r>
              <a:rPr lang="en-GB"/>
              <a:t> </a:t>
            </a:r>
            <a:endParaRPr/>
          </a:p>
          <a:p>
            <a:pPr indent="0" lvl="0" marL="0" rtl="0" algn="l">
              <a:spcBef>
                <a:spcPts val="0"/>
              </a:spcBef>
              <a:spcAft>
                <a:spcPts val="0"/>
              </a:spcAft>
              <a:buNone/>
            </a:pPr>
            <a:r>
              <a:rPr lang="en-GB"/>
              <a:t>Idea that there is information at a ‘static scale’ that is still meaningful e.g. what is the </a:t>
            </a:r>
            <a:r>
              <a:rPr lang="en-GB"/>
              <a:t>diet</a:t>
            </a:r>
            <a:r>
              <a:rPr lang="en-GB"/>
              <a:t> breadth of a spp?</a:t>
            </a:r>
            <a:endParaRPr/>
          </a:p>
          <a:p>
            <a:pPr indent="0" lvl="0" marL="0" rtl="0" algn="l">
              <a:spcBef>
                <a:spcPts val="0"/>
              </a:spcBef>
              <a:spcAft>
                <a:spcPts val="0"/>
              </a:spcAft>
              <a:buNone/>
            </a:pPr>
            <a:r>
              <a:rPr lang="en-GB"/>
              <a:t>But there is also power in the dynamics -&gt; which is sort of the goal in ecology?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36e1135a32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36e1135a32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6e1135a3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36e1135a3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6e1135a32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6e1135a32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6e1135a3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36e1135a3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3bafd5be4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3bafd5be4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3bafd5be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3bafd5be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37a66ea528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37a66ea528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6e1135a3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6e1135a3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37f28d5c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37f28d5c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Mismatch between me and Andrew - its not opposing theories but different lines of query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36e1135a32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36e1135a3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36e1135a32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36e1135a3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36e1135a32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36e1135a32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36e1135a3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36e1135a3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36e1135a32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36e1135a32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36e1135a3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36e1135a3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36e1135a32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36e1135a32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3a2c1cac7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3a2c1cac7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37a66ea528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37a66ea528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36e1135a32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36e1135a32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Mental shift as if we didn’t just have an existential crisis over network definitions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391582ca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391582ca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Mismatch between me and Andrew - its not opposing theories but different lines of query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36e1135a32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36e1135a32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37a66ea5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37a66ea5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37a66ea528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37a66ea528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37a66ea528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37a66ea528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37a66ea528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37a66ea528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37a66ea528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37a66ea528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37a66ea528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37a66ea528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37a66ea528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37a66ea528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37a66ea528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37a66ea528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Also worth mentioning biotic control of invasions. Things can go wrong…</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37a66ea528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37a66ea528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37a66ea528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37a66ea528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37a66ea528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37a66ea528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37a66ea528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37a66ea528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37a66ea528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37a66ea528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37a66ea528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37a66ea528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37a66ea528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37a66ea528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37a66ea528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37a66ea528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37a66ea528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37a66ea528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371749f91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371749f91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10.png"/><Relationship Id="rId7" Type="http://schemas.openxmlformats.org/officeDocument/2006/relationships/image" Target="../media/image12.png"/><Relationship Id="rId8"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6.jp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5.pn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9.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1" Type="http://schemas.openxmlformats.org/officeDocument/2006/relationships/hyperlink" Target="https://doi.org/10.1073/pnas.0710672105" TargetMode="External"/><Relationship Id="rId10" Type="http://schemas.openxmlformats.org/officeDocument/2006/relationships/hyperlink" Target="https://doi.org/10.1111/2041-210X.13835" TargetMode="External"/><Relationship Id="rId13" Type="http://schemas.openxmlformats.org/officeDocument/2006/relationships/hyperlink" Target="https://doi.org/10.1111/j.1461-0248.2006.00978.x" TargetMode="External"/><Relationship Id="rId12" Type="http://schemas.openxmlformats.org/officeDocument/2006/relationships/hyperlink" Target="https://doi.org/10.1073/pnas.0603039103" TargetMode="External"/><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doi.org/10.1016/j.tree.2015.03.014" TargetMode="External"/><Relationship Id="rId4" Type="http://schemas.openxmlformats.org/officeDocument/2006/relationships/hyperlink" Target="https://doi.org/10.1038/srep45908" TargetMode="External"/><Relationship Id="rId9" Type="http://schemas.openxmlformats.org/officeDocument/2006/relationships/hyperlink" Target="https://doi.org/10.1111/2041-210X.13835" TargetMode="External"/><Relationship Id="rId15" Type="http://schemas.openxmlformats.org/officeDocument/2006/relationships/hyperlink" Target="https://doi.org/10.1111/brv.12433" TargetMode="External"/><Relationship Id="rId14" Type="http://schemas.openxmlformats.org/officeDocument/2006/relationships/hyperlink" Target="https://doi.org/10.1038/35004572" TargetMode="External"/><Relationship Id="rId5" Type="http://schemas.openxmlformats.org/officeDocument/2006/relationships/hyperlink" Target="https://doi.org/10.1038/srep45908" TargetMode="External"/><Relationship Id="rId6" Type="http://schemas.openxmlformats.org/officeDocument/2006/relationships/hyperlink" Target="https://doi.org/10.1016/j.patter.2023.100738" TargetMode="External"/><Relationship Id="rId7" Type="http://schemas.openxmlformats.org/officeDocument/2006/relationships/hyperlink" Target="https://doi.org/10.1016/j.patter.2023.100738" TargetMode="External"/><Relationship Id="rId8" Type="http://schemas.openxmlformats.org/officeDocument/2006/relationships/hyperlink" Target="https://doi.org/10.1111/ele.1396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6200"/>
              <a:t>Species Interaction Networks</a:t>
            </a:r>
            <a:endParaRPr sz="6200"/>
          </a:p>
        </p:txBody>
      </p:sp>
      <p:sp>
        <p:nvSpPr>
          <p:cNvPr id="63" name="Google Shape;63;p13"/>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Tanya Strydom</a:t>
            </a:r>
            <a:endParaRPr/>
          </a:p>
          <a:p>
            <a:pPr indent="0" lvl="0" marL="0" rtl="0" algn="ctr">
              <a:spcBef>
                <a:spcPts val="0"/>
              </a:spcBef>
              <a:spcAft>
                <a:spcPts val="0"/>
              </a:spcAft>
              <a:buNone/>
            </a:pPr>
            <a:r>
              <a:rPr lang="en-GB" sz="1400">
                <a:latin typeface="Oswald Light"/>
                <a:ea typeface="Oswald Light"/>
                <a:cs typeface="Oswald Light"/>
                <a:sym typeface="Oswald Light"/>
              </a:rPr>
              <a:t>University of Sheffield</a:t>
            </a:r>
            <a:endParaRPr sz="1400">
              <a:latin typeface="Oswald Light"/>
              <a:ea typeface="Oswald Light"/>
              <a:cs typeface="Oswald Light"/>
              <a:sym typeface="Oswald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Themes</a:t>
            </a:r>
            <a:endParaRPr/>
          </a:p>
        </p:txBody>
      </p:sp>
      <p:sp>
        <p:nvSpPr>
          <p:cNvPr id="69" name="Google Shape;69;p1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Why Networks?</a:t>
            </a:r>
            <a:endParaRPr/>
          </a:p>
          <a:p>
            <a:pPr indent="-342900" lvl="0" marL="457200" rtl="0" algn="l">
              <a:spcBef>
                <a:spcPts val="0"/>
              </a:spcBef>
              <a:spcAft>
                <a:spcPts val="0"/>
              </a:spcAft>
              <a:buSzPts val="1800"/>
              <a:buAutoNum type="arabicPeriod"/>
            </a:pPr>
            <a:r>
              <a:rPr lang="en-GB"/>
              <a:t>Networks 101</a:t>
            </a:r>
            <a:endParaRPr/>
          </a:p>
          <a:p>
            <a:pPr indent="-342900" lvl="0" marL="457200" rtl="0" algn="l">
              <a:spcBef>
                <a:spcPts val="0"/>
              </a:spcBef>
              <a:spcAft>
                <a:spcPts val="0"/>
              </a:spcAft>
              <a:buSzPts val="1800"/>
              <a:buAutoNum type="arabicPeriod"/>
            </a:pPr>
            <a:r>
              <a:rPr lang="en-GB"/>
              <a:t>Constructing Food Webs</a:t>
            </a:r>
            <a:endParaRPr/>
          </a:p>
          <a:p>
            <a:pPr indent="-342900" lvl="0" marL="457200" rtl="0" algn="l">
              <a:spcBef>
                <a:spcPts val="0"/>
              </a:spcBef>
              <a:spcAft>
                <a:spcPts val="0"/>
              </a:spcAft>
              <a:buSzPts val="1800"/>
              <a:buAutoNum type="arabicPeriod"/>
            </a:pPr>
            <a:r>
              <a:rPr lang="en-GB"/>
              <a:t>Measuring Networks</a:t>
            </a:r>
            <a:endParaRPr/>
          </a:p>
          <a:p>
            <a:pPr indent="-342900" lvl="0" marL="457200" rtl="0" algn="l">
              <a:spcBef>
                <a:spcPts val="0"/>
              </a:spcBef>
              <a:spcAft>
                <a:spcPts val="0"/>
              </a:spcAft>
              <a:buSzPts val="1800"/>
              <a:buAutoNum type="arabicPeriod"/>
            </a:pPr>
            <a:r>
              <a:rPr lang="en-GB"/>
              <a:t>Information about the Part</a:t>
            </a:r>
            <a:endParaRPr/>
          </a:p>
          <a:p>
            <a:pPr indent="-342900" lvl="0" marL="457200" rtl="0" algn="l">
              <a:spcBef>
                <a:spcPts val="0"/>
              </a:spcBef>
              <a:spcAft>
                <a:spcPts val="0"/>
              </a:spcAft>
              <a:buSzPts val="1800"/>
              <a:buAutoNum type="arabicPeriod"/>
            </a:pPr>
            <a:r>
              <a:rPr lang="en-GB"/>
              <a:t>Trophic Cascades</a:t>
            </a:r>
            <a:endParaRPr/>
          </a:p>
          <a:p>
            <a:pPr indent="-342900" lvl="0" marL="457200" rtl="0" algn="l">
              <a:spcBef>
                <a:spcPts val="0"/>
              </a:spcBef>
              <a:spcAft>
                <a:spcPts val="0"/>
              </a:spcAft>
              <a:buSzPts val="1800"/>
              <a:buAutoNum type="arabicPeriod"/>
            </a:pPr>
            <a:r>
              <a:rPr lang="en-GB"/>
              <a:t>Where to next?</a:t>
            </a:r>
            <a:endParaRPr/>
          </a:p>
        </p:txBody>
      </p:sp>
      <p:sp>
        <p:nvSpPr>
          <p:cNvPr id="70" name="Google Shape;70;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Why Networks?</a:t>
            </a:r>
            <a:endParaRPr/>
          </a:p>
        </p:txBody>
      </p:sp>
      <p:sp>
        <p:nvSpPr>
          <p:cNvPr id="76" name="Google Shape;76;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What can we learn?</a:t>
            </a:r>
            <a:endParaRPr/>
          </a:p>
        </p:txBody>
      </p:sp>
      <p:sp>
        <p:nvSpPr>
          <p:cNvPr id="82" name="Google Shape;82;p16"/>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Population -&gt; Community -&gt; Ecosystem</a:t>
            </a:r>
            <a:endParaRPr/>
          </a:p>
          <a:p>
            <a:pPr indent="-342900" lvl="0" marL="457200" rtl="0" algn="l">
              <a:spcBef>
                <a:spcPts val="0"/>
              </a:spcBef>
              <a:spcAft>
                <a:spcPts val="0"/>
              </a:spcAft>
              <a:buSzPts val="1800"/>
              <a:buChar char="●"/>
            </a:pPr>
            <a:r>
              <a:rPr lang="en-GB"/>
              <a:t>How does a part fit into the whole</a:t>
            </a:r>
            <a:endParaRPr/>
          </a:p>
          <a:p>
            <a:pPr indent="-317500" lvl="1" marL="914400" rtl="0" algn="l">
              <a:spcBef>
                <a:spcPts val="0"/>
              </a:spcBef>
              <a:spcAft>
                <a:spcPts val="0"/>
              </a:spcAft>
              <a:buSzPts val="1400"/>
              <a:buChar char="○"/>
            </a:pPr>
            <a:r>
              <a:rPr lang="en-GB"/>
              <a:t>Invasive species (rewilding)</a:t>
            </a:r>
            <a:endParaRPr/>
          </a:p>
          <a:p>
            <a:pPr indent="-317500" lvl="1" marL="914400" rtl="0" algn="l">
              <a:spcBef>
                <a:spcPts val="0"/>
              </a:spcBef>
              <a:spcAft>
                <a:spcPts val="0"/>
              </a:spcAft>
              <a:buSzPts val="1400"/>
              <a:buChar char="○"/>
            </a:pPr>
            <a:r>
              <a:rPr lang="en-GB"/>
              <a:t>Extinctions</a:t>
            </a:r>
            <a:endParaRPr/>
          </a:p>
          <a:p>
            <a:pPr indent="-317500" lvl="1" marL="914400" rtl="0" algn="l">
              <a:spcBef>
                <a:spcPts val="0"/>
              </a:spcBef>
              <a:spcAft>
                <a:spcPts val="0"/>
              </a:spcAft>
              <a:buSzPts val="1400"/>
              <a:buChar char="○"/>
            </a:pPr>
            <a:r>
              <a:rPr lang="en-GB"/>
              <a:t>Diets</a:t>
            </a:r>
            <a:endParaRPr/>
          </a:p>
          <a:p>
            <a:pPr indent="-342900" lvl="0" marL="457200" rtl="0" algn="l">
              <a:spcBef>
                <a:spcPts val="0"/>
              </a:spcBef>
              <a:spcAft>
                <a:spcPts val="0"/>
              </a:spcAft>
              <a:buSzPts val="1800"/>
              <a:buChar char="●"/>
            </a:pPr>
            <a:r>
              <a:rPr lang="en-GB"/>
              <a:t>Dynamics: no species is an island</a:t>
            </a:r>
            <a:endParaRPr/>
          </a:p>
          <a:p>
            <a:pPr indent="-317500" lvl="1" marL="914400" rtl="0" algn="l">
              <a:spcBef>
                <a:spcPts val="0"/>
              </a:spcBef>
              <a:spcAft>
                <a:spcPts val="0"/>
              </a:spcAft>
              <a:buSzPts val="1400"/>
              <a:buChar char="○"/>
            </a:pPr>
            <a:r>
              <a:rPr lang="en-GB"/>
              <a:t>Propagation</a:t>
            </a:r>
            <a:r>
              <a:rPr lang="en-GB"/>
              <a:t> of change/stress</a:t>
            </a:r>
            <a:endParaRPr/>
          </a:p>
          <a:p>
            <a:pPr indent="-317500" lvl="1" marL="914400" rtl="0" algn="l">
              <a:spcBef>
                <a:spcPts val="0"/>
              </a:spcBef>
              <a:spcAft>
                <a:spcPts val="0"/>
              </a:spcAft>
              <a:buSzPts val="1400"/>
              <a:buChar char="○"/>
            </a:pPr>
            <a:r>
              <a:rPr lang="en-GB"/>
              <a:t>Top-down/bottom-up control</a:t>
            </a:r>
            <a:endParaRPr/>
          </a:p>
          <a:p>
            <a:pPr indent="-317500" lvl="1" marL="914400" rtl="0" algn="l">
              <a:spcBef>
                <a:spcPts val="0"/>
              </a:spcBef>
              <a:spcAft>
                <a:spcPts val="0"/>
              </a:spcAft>
              <a:buSzPts val="1400"/>
              <a:buChar char="○"/>
            </a:pPr>
            <a:r>
              <a:rPr lang="en-GB"/>
              <a:t>Species persistence/co-existence (stability)</a:t>
            </a:r>
            <a:endParaRPr/>
          </a:p>
        </p:txBody>
      </p:sp>
      <p:sp>
        <p:nvSpPr>
          <p:cNvPr id="83" name="Google Shape;8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Networks</a:t>
            </a:r>
            <a:r>
              <a:rPr lang="en-GB"/>
              <a:t> 101</a:t>
            </a:r>
            <a:endParaRPr/>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95" name="Google Shape;95;p18"/>
          <p:cNvGraphicFramePr/>
          <p:nvPr/>
        </p:nvGraphicFramePr>
        <p:xfrm>
          <a:off x="366475" y="1589075"/>
          <a:ext cx="3000000" cy="3000000"/>
        </p:xfrm>
        <a:graphic>
          <a:graphicData uri="http://schemas.openxmlformats.org/drawingml/2006/table">
            <a:tbl>
              <a:tblPr>
                <a:noFill/>
                <a:tableStyleId>{1A34F1BB-13AD-4E81-9E85-FFC51672E1EE}</a:tableStyleId>
              </a:tblPr>
              <a:tblGrid>
                <a:gridCol w="705000"/>
                <a:gridCol w="705000"/>
                <a:gridCol w="705000"/>
                <a:gridCol w="705000"/>
              </a:tblGrid>
              <a:tr h="675600">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chemeClr val="accent3"/>
                    </a:solidFill>
                  </a:tcPr>
                </a:tc>
              </a:tr>
              <a:tr h="675600">
                <a:tc>
                  <a:txBody>
                    <a:bodyPr/>
                    <a:lstStyle/>
                    <a:p>
                      <a:pPr indent="0" lvl="0" marL="0" rtl="0" algn="l">
                        <a:spcBef>
                          <a:spcPts val="0"/>
                        </a:spcBef>
                        <a:spcAft>
                          <a:spcPts val="0"/>
                        </a:spcAft>
                        <a:buNone/>
                      </a:pPr>
                      <a:r>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chemeClr val="accent3"/>
                    </a:solidFill>
                  </a:tcPr>
                </a:tc>
              </a:tr>
              <a:tr h="675600">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chemeClr val="accent3"/>
                    </a:solidFill>
                  </a:tcPr>
                </a:tc>
              </a:tr>
              <a:tr h="675600">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GB"/>
                        <a:t> </a:t>
                      </a:r>
                      <a:endParaRPr/>
                    </a:p>
                  </a:txBody>
                  <a:tcPr marT="95250" marB="95250" marR="95250" marL="95250">
                    <a:lnL cap="flat" cmpd="sng" w="38025">
                      <a:solidFill>
                        <a:srgbClr val="FFFFFF"/>
                      </a:solidFill>
                      <a:prstDash val="solid"/>
                      <a:round/>
                      <a:headEnd len="sm" w="sm" type="none"/>
                      <a:tailEnd len="sm" w="sm" type="none"/>
                    </a:lnL>
                    <a:lnR cap="flat" cmpd="sng" w="38025">
                      <a:solidFill>
                        <a:srgbClr val="FFFFFF"/>
                      </a:solidFill>
                      <a:prstDash val="solid"/>
                      <a:round/>
                      <a:headEnd len="sm" w="sm" type="none"/>
                      <a:tailEnd len="sm" w="sm" type="none"/>
                    </a:lnR>
                    <a:lnT cap="flat" cmpd="sng" w="38025">
                      <a:solidFill>
                        <a:srgbClr val="FFFFFF"/>
                      </a:solidFill>
                      <a:prstDash val="solid"/>
                      <a:round/>
                      <a:headEnd len="sm" w="sm" type="none"/>
                      <a:tailEnd len="sm" w="sm" type="none"/>
                    </a:lnT>
                    <a:lnB cap="flat" cmpd="sng" w="38025">
                      <a:solidFill>
                        <a:srgbClr val="FFFFFF"/>
                      </a:solidFill>
                      <a:prstDash val="solid"/>
                      <a:round/>
                      <a:headEnd len="sm" w="sm" type="none"/>
                      <a:tailEnd len="sm" w="sm" type="none"/>
                    </a:lnB>
                    <a:solidFill>
                      <a:schemeClr val="accent3"/>
                    </a:solidFill>
                  </a:tcPr>
                </a:tc>
              </a:tr>
            </a:tbl>
          </a:graphicData>
        </a:graphic>
      </p:graphicFrame>
      <p:pic>
        <p:nvPicPr>
          <p:cNvPr id="96" name="Google Shape;96;p18"/>
          <p:cNvPicPr preferRelativeResize="0"/>
          <p:nvPr/>
        </p:nvPicPr>
        <p:blipFill rotWithShape="1">
          <a:blip r:embed="rId3">
            <a:alphaModFix/>
          </a:blip>
          <a:srcRect b="1681" l="0" r="8550" t="0"/>
          <a:stretch/>
        </p:blipFill>
        <p:spPr>
          <a:xfrm>
            <a:off x="5267725" y="43350"/>
            <a:ext cx="3876276" cy="5056800"/>
          </a:xfrm>
          <a:prstGeom prst="rect">
            <a:avLst/>
          </a:prstGeom>
          <a:noFill/>
          <a:ln>
            <a:noFill/>
          </a:ln>
        </p:spPr>
      </p:pic>
      <p:sp>
        <p:nvSpPr>
          <p:cNvPr id="97" name="Google Shape;97;p18"/>
          <p:cNvSpPr/>
          <p:nvPr/>
        </p:nvSpPr>
        <p:spPr>
          <a:xfrm>
            <a:off x="3562275" y="2316150"/>
            <a:ext cx="1912800" cy="5112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98" name="Google Shape;98;p18"/>
          <p:cNvSpPr txBox="1"/>
          <p:nvPr/>
        </p:nvSpPr>
        <p:spPr>
          <a:xfrm>
            <a:off x="311700" y="4494050"/>
            <a:ext cx="28749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Adjacency Matrix</a:t>
            </a:r>
            <a:endParaRPr sz="1800">
              <a:solidFill>
                <a:schemeClr val="dk2"/>
              </a:solidFill>
              <a:latin typeface="Source Code Pro"/>
              <a:ea typeface="Source Code Pro"/>
              <a:cs typeface="Source Code Pro"/>
              <a:sym typeface="Source Code Pro"/>
            </a:endParaRPr>
          </a:p>
        </p:txBody>
      </p:sp>
      <p:sp>
        <p:nvSpPr>
          <p:cNvPr id="99" name="Google Shape;99;p18"/>
          <p:cNvSpPr/>
          <p:nvPr/>
        </p:nvSpPr>
        <p:spPr>
          <a:xfrm rot="-326">
            <a:off x="3113307" y="304075"/>
            <a:ext cx="3540229" cy="1271986"/>
          </a:xfrm>
          <a:custGeom>
            <a:rect b="b" l="l" r="r" t="t"/>
            <a:pathLst>
              <a:path extrusionOk="0" h="51383" w="134125">
                <a:moveTo>
                  <a:pt x="134125" y="51383"/>
                </a:moveTo>
                <a:cubicBezTo>
                  <a:pt x="130697" y="40244"/>
                  <a:pt x="125020" y="29267"/>
                  <a:pt x="116778" y="21027"/>
                </a:cubicBezTo>
                <a:cubicBezTo>
                  <a:pt x="104448" y="8700"/>
                  <a:pt x="86141" y="1718"/>
                  <a:pt x="68766" y="274"/>
                </a:cubicBezTo>
                <a:cubicBezTo>
                  <a:pt x="42398" y="-1918"/>
                  <a:pt x="11840" y="16260"/>
                  <a:pt x="0" y="39922"/>
                </a:cubicBezTo>
              </a:path>
            </a:pathLst>
          </a:custGeom>
          <a:noFill/>
          <a:ln cap="flat" cmpd="sng" w="28575">
            <a:solidFill>
              <a:schemeClr val="lt2"/>
            </a:solidFill>
            <a:prstDash val="solid"/>
            <a:round/>
            <a:headEnd len="med" w="med" type="none"/>
            <a:tailEnd len="med" w="med" type="triangle"/>
          </a:ln>
        </p:spPr>
      </p:sp>
      <p:sp>
        <p:nvSpPr>
          <p:cNvPr id="100" name="Google Shape;100;p18"/>
          <p:cNvSpPr/>
          <p:nvPr/>
        </p:nvSpPr>
        <p:spPr>
          <a:xfrm>
            <a:off x="6258950" y="1589075"/>
            <a:ext cx="912000" cy="912000"/>
          </a:xfrm>
          <a:prstGeom prst="ellipse">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01" name="Google Shape;101;p18"/>
          <p:cNvSpPr txBox="1"/>
          <p:nvPr/>
        </p:nvSpPr>
        <p:spPr>
          <a:xfrm>
            <a:off x="3861550" y="80050"/>
            <a:ext cx="1728300" cy="797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Source Code Pro"/>
                <a:ea typeface="Source Code Pro"/>
                <a:cs typeface="Source Code Pro"/>
                <a:sym typeface="Source Code Pro"/>
              </a:rPr>
              <a:t>Node</a:t>
            </a:r>
            <a:endParaRPr b="1" sz="18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rPr lang="en-GB" sz="1200">
                <a:solidFill>
                  <a:schemeClr val="dk2"/>
                </a:solidFill>
                <a:latin typeface="Source Code Pro"/>
                <a:ea typeface="Source Code Pro"/>
                <a:cs typeface="Source Code Pro"/>
                <a:sym typeface="Source Code Pro"/>
              </a:rPr>
              <a:t>(species/</a:t>
            </a:r>
            <a:endParaRPr sz="12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rPr lang="en-GB" sz="1200">
                <a:solidFill>
                  <a:schemeClr val="dk2"/>
                </a:solidFill>
                <a:latin typeface="Source Code Pro"/>
                <a:ea typeface="Source Code Pro"/>
                <a:cs typeface="Source Code Pro"/>
                <a:sym typeface="Source Code Pro"/>
              </a:rPr>
              <a:t>individual/</a:t>
            </a:r>
            <a:endParaRPr sz="12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rPr lang="en-GB" sz="1200">
                <a:solidFill>
                  <a:schemeClr val="dk2"/>
                </a:solidFill>
                <a:latin typeface="Source Code Pro"/>
                <a:ea typeface="Source Code Pro"/>
                <a:cs typeface="Source Code Pro"/>
                <a:sym typeface="Source Code Pro"/>
              </a:rPr>
              <a:t>trophic species)</a:t>
            </a:r>
            <a:endParaRPr sz="1200">
              <a:solidFill>
                <a:schemeClr val="dk2"/>
              </a:solidFill>
              <a:latin typeface="Source Code Pro"/>
              <a:ea typeface="Source Code Pro"/>
              <a:cs typeface="Source Code Pro"/>
              <a:sym typeface="Source Code Pro"/>
            </a:endParaRPr>
          </a:p>
        </p:txBody>
      </p:sp>
      <p:cxnSp>
        <p:nvCxnSpPr>
          <p:cNvPr id="102" name="Google Shape;102;p18"/>
          <p:cNvCxnSpPr/>
          <p:nvPr/>
        </p:nvCxnSpPr>
        <p:spPr>
          <a:xfrm rot="10800000">
            <a:off x="2927350" y="3309175"/>
            <a:ext cx="3136200" cy="340800"/>
          </a:xfrm>
          <a:prstGeom prst="straightConnector1">
            <a:avLst/>
          </a:prstGeom>
          <a:noFill/>
          <a:ln cap="flat" cmpd="sng" w="28575">
            <a:solidFill>
              <a:schemeClr val="lt2"/>
            </a:solidFill>
            <a:prstDash val="solid"/>
            <a:round/>
            <a:headEnd len="med" w="med" type="none"/>
            <a:tailEnd len="med" w="med" type="triangle"/>
          </a:ln>
        </p:spPr>
      </p:cxnSp>
      <p:sp>
        <p:nvSpPr>
          <p:cNvPr id="103" name="Google Shape;103;p18"/>
          <p:cNvSpPr txBox="1"/>
          <p:nvPr/>
        </p:nvSpPr>
        <p:spPr>
          <a:xfrm>
            <a:off x="4034500" y="3262600"/>
            <a:ext cx="1380600" cy="51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Source Code Pro"/>
                <a:ea typeface="Source Code Pro"/>
                <a:cs typeface="Source Code Pro"/>
                <a:sym typeface="Source Code Pro"/>
              </a:rPr>
              <a:t>Edge</a:t>
            </a:r>
            <a:endParaRPr b="1" sz="18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rPr lang="en-GB" sz="1200">
                <a:solidFill>
                  <a:schemeClr val="dk2"/>
                </a:solidFill>
                <a:latin typeface="Source Code Pro"/>
                <a:ea typeface="Source Code Pro"/>
                <a:cs typeface="Source Code Pro"/>
                <a:sym typeface="Source Code Pro"/>
              </a:rPr>
              <a:t>(interaction)</a:t>
            </a:r>
            <a:endParaRPr sz="1200">
              <a:solidFill>
                <a:schemeClr val="dk2"/>
              </a:solidFill>
              <a:latin typeface="Source Code Pro"/>
              <a:ea typeface="Source Code Pro"/>
              <a:cs typeface="Source Code Pro"/>
              <a:sym typeface="Source Code Pro"/>
            </a:endParaRPr>
          </a:p>
        </p:txBody>
      </p:sp>
      <p:sp>
        <p:nvSpPr>
          <p:cNvPr id="104" name="Google Shape;104;p18"/>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Networks 101</a:t>
            </a:r>
            <a:endParaRPr sz="1100">
              <a:solidFill>
                <a:schemeClr val="dk2"/>
              </a:solidFill>
              <a:latin typeface="Source Code Pro Light"/>
              <a:ea typeface="Source Code Pro Light"/>
              <a:cs typeface="Source Code Pro Light"/>
              <a:sym typeface="Source Code Pr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0" name="Google Shape;110;p19"/>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Networks 101</a:t>
            </a:r>
            <a:endParaRPr sz="1100">
              <a:solidFill>
                <a:schemeClr val="dk2"/>
              </a:solidFill>
              <a:latin typeface="Source Code Pro Light"/>
              <a:ea typeface="Source Code Pro Light"/>
              <a:cs typeface="Source Code Pro Light"/>
              <a:sym typeface="Source Code Pro Light"/>
            </a:endParaRPr>
          </a:p>
        </p:txBody>
      </p:sp>
      <p:sp>
        <p:nvSpPr>
          <p:cNvPr id="111" name="Google Shape;111;p19"/>
          <p:cNvSpPr/>
          <p:nvPr/>
        </p:nvSpPr>
        <p:spPr>
          <a:xfrm>
            <a:off x="388600" y="631850"/>
            <a:ext cx="20211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300">
                <a:solidFill>
                  <a:schemeClr val="lt1"/>
                </a:solidFill>
                <a:latin typeface="Source Code Pro"/>
                <a:ea typeface="Source Code Pro"/>
                <a:cs typeface="Source Code Pro"/>
                <a:sym typeface="Source Code Pro"/>
              </a:rPr>
              <a:t>NODES</a:t>
            </a:r>
            <a:endParaRPr sz="2300">
              <a:solidFill>
                <a:schemeClr val="lt1"/>
              </a:solidFill>
              <a:latin typeface="Source Code Pro"/>
              <a:ea typeface="Source Code Pro"/>
              <a:cs typeface="Source Code Pro"/>
              <a:sym typeface="Source Code Pro"/>
            </a:endParaRPr>
          </a:p>
        </p:txBody>
      </p:sp>
      <p:sp>
        <p:nvSpPr>
          <p:cNvPr id="112" name="Google Shape;112;p19"/>
          <p:cNvSpPr/>
          <p:nvPr/>
        </p:nvSpPr>
        <p:spPr>
          <a:xfrm>
            <a:off x="3890900" y="631850"/>
            <a:ext cx="20211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300">
                <a:solidFill>
                  <a:schemeClr val="lt1"/>
                </a:solidFill>
                <a:latin typeface="Source Code Pro"/>
                <a:ea typeface="Source Code Pro"/>
                <a:cs typeface="Source Code Pro"/>
                <a:sym typeface="Source Code Pro"/>
              </a:rPr>
              <a:t>EDGES</a:t>
            </a:r>
            <a:endParaRPr sz="2300">
              <a:solidFill>
                <a:schemeClr val="lt1"/>
              </a:solidFill>
              <a:latin typeface="Source Code Pro"/>
              <a:ea typeface="Source Code Pro"/>
              <a:cs typeface="Source Code Pro"/>
              <a:sym typeface="Source Code Pro"/>
            </a:endParaRPr>
          </a:p>
        </p:txBody>
      </p:sp>
      <p:pic>
        <p:nvPicPr>
          <p:cNvPr id="113" name="Google Shape;113;p19"/>
          <p:cNvPicPr preferRelativeResize="0"/>
          <p:nvPr/>
        </p:nvPicPr>
        <p:blipFill>
          <a:blip r:embed="rId3">
            <a:alphaModFix/>
          </a:blip>
          <a:stretch>
            <a:fillRect/>
          </a:stretch>
        </p:blipFill>
        <p:spPr>
          <a:xfrm flipH="1">
            <a:off x="388600" y="1455225"/>
            <a:ext cx="2334626" cy="1051400"/>
          </a:xfrm>
          <a:prstGeom prst="rect">
            <a:avLst/>
          </a:prstGeom>
          <a:noFill/>
          <a:ln>
            <a:noFill/>
          </a:ln>
        </p:spPr>
      </p:pic>
      <p:pic>
        <p:nvPicPr>
          <p:cNvPr id="114" name="Google Shape;114;p19"/>
          <p:cNvPicPr preferRelativeResize="0"/>
          <p:nvPr/>
        </p:nvPicPr>
        <p:blipFill>
          <a:blip r:embed="rId4">
            <a:alphaModFix/>
          </a:blip>
          <a:stretch>
            <a:fillRect/>
          </a:stretch>
        </p:blipFill>
        <p:spPr>
          <a:xfrm flipH="1">
            <a:off x="323475" y="2653175"/>
            <a:ext cx="924300" cy="947900"/>
          </a:xfrm>
          <a:prstGeom prst="rect">
            <a:avLst/>
          </a:prstGeom>
          <a:noFill/>
          <a:ln>
            <a:noFill/>
          </a:ln>
        </p:spPr>
      </p:pic>
      <p:pic>
        <p:nvPicPr>
          <p:cNvPr id="115" name="Google Shape;115;p19"/>
          <p:cNvPicPr preferRelativeResize="0"/>
          <p:nvPr/>
        </p:nvPicPr>
        <p:blipFill>
          <a:blip r:embed="rId5">
            <a:alphaModFix/>
          </a:blip>
          <a:stretch>
            <a:fillRect/>
          </a:stretch>
        </p:blipFill>
        <p:spPr>
          <a:xfrm>
            <a:off x="323475" y="3747625"/>
            <a:ext cx="1340537" cy="1051399"/>
          </a:xfrm>
          <a:prstGeom prst="rect">
            <a:avLst/>
          </a:prstGeom>
          <a:noFill/>
          <a:ln>
            <a:noFill/>
          </a:ln>
        </p:spPr>
      </p:pic>
      <p:sp>
        <p:nvSpPr>
          <p:cNvPr id="116" name="Google Shape;116;p19"/>
          <p:cNvSpPr txBox="1"/>
          <p:nvPr/>
        </p:nvSpPr>
        <p:spPr>
          <a:xfrm>
            <a:off x="388613" y="1362250"/>
            <a:ext cx="23346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Species</a:t>
            </a:r>
            <a:endParaRPr sz="1600">
              <a:solidFill>
                <a:schemeClr val="dk2"/>
              </a:solidFill>
              <a:latin typeface="Source Code Pro"/>
              <a:ea typeface="Source Code Pro"/>
              <a:cs typeface="Source Code Pro"/>
              <a:sym typeface="Source Code Pro"/>
            </a:endParaRPr>
          </a:p>
        </p:txBody>
      </p:sp>
      <p:sp>
        <p:nvSpPr>
          <p:cNvPr id="117" name="Google Shape;117;p19"/>
          <p:cNvSpPr txBox="1"/>
          <p:nvPr/>
        </p:nvSpPr>
        <p:spPr>
          <a:xfrm>
            <a:off x="388613" y="2653175"/>
            <a:ext cx="23346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Individuals</a:t>
            </a:r>
            <a:endParaRPr sz="1600">
              <a:solidFill>
                <a:schemeClr val="dk2"/>
              </a:solidFill>
              <a:latin typeface="Source Code Pro"/>
              <a:ea typeface="Source Code Pro"/>
              <a:cs typeface="Source Code Pro"/>
              <a:sym typeface="Source Code Pro"/>
            </a:endParaRPr>
          </a:p>
        </p:txBody>
      </p:sp>
      <p:sp>
        <p:nvSpPr>
          <p:cNvPr id="118" name="Google Shape;118;p19"/>
          <p:cNvSpPr txBox="1"/>
          <p:nvPr/>
        </p:nvSpPr>
        <p:spPr>
          <a:xfrm>
            <a:off x="388613" y="3633650"/>
            <a:ext cx="23346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Trophic</a:t>
            </a:r>
            <a:endParaRPr b="1" sz="1600">
              <a:solidFill>
                <a:schemeClr val="dk2"/>
              </a:solidFill>
              <a:latin typeface="Source Code Pro"/>
              <a:ea typeface="Source Code Pro"/>
              <a:cs typeface="Source Code Pro"/>
              <a:sym typeface="Source Code Pro"/>
            </a:endParaRPr>
          </a:p>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species</a:t>
            </a:r>
            <a:endParaRPr b="1" sz="1600">
              <a:solidFill>
                <a:schemeClr val="dk2"/>
              </a:solidFill>
              <a:latin typeface="Source Code Pro"/>
              <a:ea typeface="Source Code Pro"/>
              <a:cs typeface="Source Code Pro"/>
              <a:sym typeface="Source Code Pro"/>
            </a:endParaRPr>
          </a:p>
        </p:txBody>
      </p:sp>
      <p:sp>
        <p:nvSpPr>
          <p:cNvPr id="119" name="Google Shape;119;p19"/>
          <p:cNvSpPr txBox="1"/>
          <p:nvPr/>
        </p:nvSpPr>
        <p:spPr>
          <a:xfrm>
            <a:off x="1623300" y="4318500"/>
            <a:ext cx="1059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dk2"/>
                </a:solidFill>
                <a:latin typeface="Source Code Pro"/>
                <a:ea typeface="Source Code Pro"/>
                <a:cs typeface="Source Code Pro"/>
                <a:sym typeface="Source Code Pro"/>
              </a:rPr>
              <a:t>Same predators and prey</a:t>
            </a:r>
            <a:endParaRPr sz="800">
              <a:solidFill>
                <a:schemeClr val="dk2"/>
              </a:solidFill>
              <a:latin typeface="Source Code Pro"/>
              <a:ea typeface="Source Code Pro"/>
              <a:cs typeface="Source Code Pro"/>
              <a:sym typeface="Source Code Pro"/>
            </a:endParaRPr>
          </a:p>
        </p:txBody>
      </p:sp>
      <p:pic>
        <p:nvPicPr>
          <p:cNvPr id="120" name="Google Shape;120;p19"/>
          <p:cNvPicPr preferRelativeResize="0"/>
          <p:nvPr/>
        </p:nvPicPr>
        <p:blipFill>
          <a:blip r:embed="rId6">
            <a:alphaModFix/>
          </a:blip>
          <a:stretch>
            <a:fillRect/>
          </a:stretch>
        </p:blipFill>
        <p:spPr>
          <a:xfrm>
            <a:off x="3890900" y="1273438"/>
            <a:ext cx="1134801" cy="1111075"/>
          </a:xfrm>
          <a:prstGeom prst="rect">
            <a:avLst/>
          </a:prstGeom>
          <a:noFill/>
          <a:ln>
            <a:noFill/>
          </a:ln>
        </p:spPr>
      </p:pic>
      <p:pic>
        <p:nvPicPr>
          <p:cNvPr id="121" name="Google Shape;121;p19"/>
          <p:cNvPicPr preferRelativeResize="0"/>
          <p:nvPr/>
        </p:nvPicPr>
        <p:blipFill rotWithShape="1">
          <a:blip r:embed="rId7">
            <a:alphaModFix/>
          </a:blip>
          <a:srcRect b="0" l="0" r="2922" t="3474"/>
          <a:stretch/>
        </p:blipFill>
        <p:spPr>
          <a:xfrm>
            <a:off x="3890888" y="2507325"/>
            <a:ext cx="1134800" cy="1003519"/>
          </a:xfrm>
          <a:prstGeom prst="rect">
            <a:avLst/>
          </a:prstGeom>
          <a:noFill/>
          <a:ln>
            <a:noFill/>
          </a:ln>
        </p:spPr>
      </p:pic>
      <p:pic>
        <p:nvPicPr>
          <p:cNvPr id="122" name="Google Shape;122;p19"/>
          <p:cNvPicPr preferRelativeResize="0"/>
          <p:nvPr/>
        </p:nvPicPr>
        <p:blipFill>
          <a:blip r:embed="rId8">
            <a:alphaModFix/>
          </a:blip>
          <a:stretch>
            <a:fillRect/>
          </a:stretch>
        </p:blipFill>
        <p:spPr>
          <a:xfrm>
            <a:off x="3890900" y="3633662"/>
            <a:ext cx="1211441" cy="1111076"/>
          </a:xfrm>
          <a:prstGeom prst="rect">
            <a:avLst/>
          </a:prstGeom>
          <a:noFill/>
          <a:ln>
            <a:noFill/>
          </a:ln>
        </p:spPr>
      </p:pic>
      <p:sp>
        <p:nvSpPr>
          <p:cNvPr id="123" name="Google Shape;123;p19"/>
          <p:cNvSpPr txBox="1"/>
          <p:nvPr/>
        </p:nvSpPr>
        <p:spPr>
          <a:xfrm>
            <a:off x="3890900" y="1229725"/>
            <a:ext cx="2646300" cy="923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Potential</a:t>
            </a:r>
            <a:endParaRPr b="1" sz="1600">
              <a:solidFill>
                <a:schemeClr val="dk2"/>
              </a:solidFill>
              <a:latin typeface="Source Code Pro"/>
              <a:ea typeface="Source Code Pro"/>
              <a:cs typeface="Source Code Pro"/>
              <a:sym typeface="Source Code Pro"/>
            </a:endParaRPr>
          </a:p>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feeding</a:t>
            </a:r>
            <a:endParaRPr b="1" sz="1600">
              <a:solidFill>
                <a:schemeClr val="dk2"/>
              </a:solidFill>
              <a:latin typeface="Source Code Pro"/>
              <a:ea typeface="Source Code Pro"/>
              <a:cs typeface="Source Code Pro"/>
              <a:sym typeface="Source Code Pro"/>
            </a:endParaRPr>
          </a:p>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links</a:t>
            </a:r>
            <a:endParaRPr sz="1600">
              <a:solidFill>
                <a:schemeClr val="dk2"/>
              </a:solidFill>
              <a:latin typeface="Source Code Pro"/>
              <a:ea typeface="Source Code Pro"/>
              <a:cs typeface="Source Code Pro"/>
              <a:sym typeface="Source Code Pro"/>
            </a:endParaRPr>
          </a:p>
        </p:txBody>
      </p:sp>
      <p:sp>
        <p:nvSpPr>
          <p:cNvPr id="124" name="Google Shape;124;p19"/>
          <p:cNvSpPr txBox="1"/>
          <p:nvPr/>
        </p:nvSpPr>
        <p:spPr>
          <a:xfrm>
            <a:off x="3890900" y="2495050"/>
            <a:ext cx="26463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Feeding</a:t>
            </a:r>
            <a:endParaRPr b="1" sz="1600">
              <a:solidFill>
                <a:schemeClr val="dk2"/>
              </a:solidFill>
              <a:latin typeface="Source Code Pro"/>
              <a:ea typeface="Source Code Pro"/>
              <a:cs typeface="Source Code Pro"/>
              <a:sym typeface="Source Code Pro"/>
            </a:endParaRPr>
          </a:p>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preference</a:t>
            </a:r>
            <a:endParaRPr b="1" sz="1600">
              <a:solidFill>
                <a:schemeClr val="dk2"/>
              </a:solidFill>
              <a:latin typeface="Source Code Pro"/>
              <a:ea typeface="Source Code Pro"/>
              <a:cs typeface="Source Code Pro"/>
              <a:sym typeface="Source Code Pro"/>
            </a:endParaRPr>
          </a:p>
        </p:txBody>
      </p:sp>
      <p:sp>
        <p:nvSpPr>
          <p:cNvPr id="125" name="Google Shape;125;p19"/>
          <p:cNvSpPr txBox="1"/>
          <p:nvPr/>
        </p:nvSpPr>
        <p:spPr>
          <a:xfrm>
            <a:off x="3890900" y="3622325"/>
            <a:ext cx="26463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Spatial</a:t>
            </a:r>
            <a:endParaRPr b="1" sz="1600">
              <a:solidFill>
                <a:schemeClr val="dk2"/>
              </a:solidFill>
              <a:latin typeface="Source Code Pro"/>
              <a:ea typeface="Source Code Pro"/>
              <a:cs typeface="Source Code Pro"/>
              <a:sym typeface="Source Code Pro"/>
            </a:endParaRPr>
          </a:p>
          <a:p>
            <a:pPr indent="0" lvl="0" marL="0" rtl="0" algn="r">
              <a:spcBef>
                <a:spcPts val="0"/>
              </a:spcBef>
              <a:spcAft>
                <a:spcPts val="0"/>
              </a:spcAft>
              <a:buNone/>
            </a:pPr>
            <a:r>
              <a:rPr b="1" lang="en-GB" sz="1600">
                <a:solidFill>
                  <a:schemeClr val="dk2"/>
                </a:solidFill>
                <a:latin typeface="Source Code Pro"/>
                <a:ea typeface="Source Code Pro"/>
                <a:cs typeface="Source Code Pro"/>
                <a:sym typeface="Source Code Pro"/>
              </a:rPr>
              <a:t>associations</a:t>
            </a:r>
            <a:endParaRPr b="1" sz="1600">
              <a:solidFill>
                <a:schemeClr val="dk2"/>
              </a:solidFill>
              <a:latin typeface="Source Code Pro"/>
              <a:ea typeface="Source Code Pro"/>
              <a:cs typeface="Source Code Pro"/>
              <a:sym typeface="Source Code Pro"/>
            </a:endParaRPr>
          </a:p>
        </p:txBody>
      </p:sp>
      <p:sp>
        <p:nvSpPr>
          <p:cNvPr id="126" name="Google Shape;126;p19"/>
          <p:cNvSpPr txBox="1"/>
          <p:nvPr/>
        </p:nvSpPr>
        <p:spPr>
          <a:xfrm>
            <a:off x="5102350" y="4232125"/>
            <a:ext cx="1434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dk2"/>
                </a:solidFill>
                <a:latin typeface="Source Code Pro"/>
                <a:ea typeface="Source Code Pro"/>
                <a:cs typeface="Source Code Pro"/>
                <a:sym typeface="Source Code Pro"/>
              </a:rPr>
              <a:t>Co-</a:t>
            </a:r>
            <a:r>
              <a:rPr lang="en-GB" sz="800">
                <a:solidFill>
                  <a:schemeClr val="dk2"/>
                </a:solidFill>
                <a:latin typeface="Source Code Pro"/>
                <a:ea typeface="Source Code Pro"/>
                <a:cs typeface="Source Code Pro"/>
                <a:sym typeface="Source Code Pro"/>
              </a:rPr>
              <a:t>occurrence</a:t>
            </a:r>
            <a:r>
              <a:rPr lang="en-GB" sz="800">
                <a:solidFill>
                  <a:schemeClr val="dk2"/>
                </a:solidFill>
                <a:latin typeface="Source Code Pro"/>
                <a:ea typeface="Source Code Pro"/>
                <a:cs typeface="Source Code Pro"/>
                <a:sym typeface="Source Code Pro"/>
              </a:rPr>
              <a:t> networks</a:t>
            </a:r>
            <a:endParaRPr sz="800">
              <a:solidFill>
                <a:schemeClr val="dk2"/>
              </a:solidFill>
              <a:latin typeface="Source Code Pro"/>
              <a:ea typeface="Source Code Pro"/>
              <a:cs typeface="Source Code Pro"/>
              <a:sym typeface="Source Code Pro"/>
            </a:endParaRPr>
          </a:p>
        </p:txBody>
      </p:sp>
      <p:grpSp>
        <p:nvGrpSpPr>
          <p:cNvPr id="127" name="Google Shape;127;p19"/>
          <p:cNvGrpSpPr/>
          <p:nvPr/>
        </p:nvGrpSpPr>
        <p:grpSpPr>
          <a:xfrm>
            <a:off x="6896375" y="1823050"/>
            <a:ext cx="2076900" cy="2021100"/>
            <a:chOff x="6896375" y="1823050"/>
            <a:chExt cx="2076900" cy="2021100"/>
          </a:xfrm>
        </p:grpSpPr>
        <p:sp>
          <p:nvSpPr>
            <p:cNvPr id="128" name="Google Shape;128;p19"/>
            <p:cNvSpPr txBox="1"/>
            <p:nvPr/>
          </p:nvSpPr>
          <p:spPr>
            <a:xfrm>
              <a:off x="6896375" y="1928650"/>
              <a:ext cx="2076900" cy="180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Source Code Pro"/>
                  <a:ea typeface="Source Code Pro"/>
                  <a:cs typeface="Source Code Pro"/>
                  <a:sym typeface="Source Code Pro"/>
                </a:rPr>
                <a:t>Quantifying an edge</a:t>
              </a:r>
              <a:endParaRPr b="1" sz="18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Binary</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Probabilistic</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Quantitative</a:t>
              </a:r>
              <a:endParaRPr sz="1200">
                <a:solidFill>
                  <a:schemeClr val="dk2"/>
                </a:solidFill>
                <a:latin typeface="Source Code Pro"/>
                <a:ea typeface="Source Code Pro"/>
                <a:cs typeface="Source Code Pro"/>
                <a:sym typeface="Source Code Pro"/>
              </a:endParaRPr>
            </a:p>
          </p:txBody>
        </p:sp>
        <p:sp>
          <p:nvSpPr>
            <p:cNvPr id="129" name="Google Shape;129;p19"/>
            <p:cNvSpPr/>
            <p:nvPr/>
          </p:nvSpPr>
          <p:spPr>
            <a:xfrm>
              <a:off x="6924275" y="1823050"/>
              <a:ext cx="2021100" cy="20211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0"/>
          <p:cNvPicPr preferRelativeResize="0"/>
          <p:nvPr/>
        </p:nvPicPr>
        <p:blipFill rotWithShape="1">
          <a:blip r:embed="rId3">
            <a:alphaModFix/>
          </a:blip>
          <a:srcRect b="1681" l="0" r="8550" t="0"/>
          <a:stretch/>
        </p:blipFill>
        <p:spPr>
          <a:xfrm>
            <a:off x="5267725" y="43350"/>
            <a:ext cx="3876276" cy="5056800"/>
          </a:xfrm>
          <a:prstGeom prst="rect">
            <a:avLst/>
          </a:prstGeom>
          <a:noFill/>
          <a:ln>
            <a:noFill/>
          </a:ln>
        </p:spPr>
      </p:pic>
      <p:sp>
        <p:nvSpPr>
          <p:cNvPr id="135" name="Google Shape;135;p2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Types of Networks</a:t>
            </a: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37" name="Google Shape;137;p20"/>
          <p:cNvSpPr/>
          <p:nvPr/>
        </p:nvSpPr>
        <p:spPr>
          <a:xfrm>
            <a:off x="5715075" y="157475"/>
            <a:ext cx="20211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300">
                <a:solidFill>
                  <a:schemeClr val="lt1"/>
                </a:solidFill>
                <a:latin typeface="Source Code Pro"/>
                <a:ea typeface="Source Code Pro"/>
                <a:cs typeface="Source Code Pro"/>
                <a:sym typeface="Source Code Pro"/>
              </a:rPr>
              <a:t>FOOD WEBS</a:t>
            </a:r>
            <a:endParaRPr sz="2300">
              <a:solidFill>
                <a:schemeClr val="lt1"/>
              </a:solidFill>
              <a:latin typeface="Source Code Pro"/>
              <a:ea typeface="Source Code Pro"/>
              <a:cs typeface="Source Code Pro"/>
              <a:sym typeface="Source Code Pro"/>
            </a:endParaRPr>
          </a:p>
        </p:txBody>
      </p:sp>
      <p:sp>
        <p:nvSpPr>
          <p:cNvPr id="138" name="Google Shape;138;p20"/>
          <p:cNvSpPr/>
          <p:nvPr/>
        </p:nvSpPr>
        <p:spPr>
          <a:xfrm>
            <a:off x="311700" y="1436172"/>
            <a:ext cx="23214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300">
                <a:solidFill>
                  <a:schemeClr val="lt1"/>
                </a:solidFill>
                <a:latin typeface="Source Code Pro"/>
                <a:ea typeface="Source Code Pro"/>
                <a:cs typeface="Source Code Pro"/>
                <a:sym typeface="Source Code Pro"/>
              </a:rPr>
              <a:t>NON TROPHIC</a:t>
            </a:r>
            <a:endParaRPr sz="2300">
              <a:solidFill>
                <a:schemeClr val="lt1"/>
              </a:solidFill>
              <a:latin typeface="Source Code Pro"/>
              <a:ea typeface="Source Code Pro"/>
              <a:cs typeface="Source Code Pro"/>
              <a:sym typeface="Source Code Pro"/>
            </a:endParaRPr>
          </a:p>
        </p:txBody>
      </p:sp>
      <p:sp>
        <p:nvSpPr>
          <p:cNvPr id="139" name="Google Shape;139;p20"/>
          <p:cNvSpPr txBox="1"/>
          <p:nvPr/>
        </p:nvSpPr>
        <p:spPr>
          <a:xfrm>
            <a:off x="311700" y="1884375"/>
            <a:ext cx="390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Source Code Pro"/>
                <a:ea typeface="Source Code Pro"/>
                <a:cs typeface="Source Code Pro"/>
                <a:sym typeface="Source Code Pro"/>
              </a:rPr>
              <a:t>Plant-pollinator, host-parasite, plant-herbivore</a:t>
            </a:r>
            <a:endParaRPr sz="1200">
              <a:solidFill>
                <a:schemeClr val="dk2"/>
              </a:solidFill>
              <a:latin typeface="Source Code Pro"/>
              <a:ea typeface="Source Code Pro"/>
              <a:cs typeface="Source Code Pro"/>
              <a:sym typeface="Source Code Pro"/>
            </a:endParaRPr>
          </a:p>
        </p:txBody>
      </p:sp>
      <p:sp>
        <p:nvSpPr>
          <p:cNvPr id="140" name="Google Shape;140;p20"/>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Networks</a:t>
            </a:r>
            <a:r>
              <a:rPr lang="en-GB" sz="1100">
                <a:solidFill>
                  <a:schemeClr val="dk2"/>
                </a:solidFill>
                <a:latin typeface="Source Code Pro Light"/>
                <a:ea typeface="Source Code Pro Light"/>
                <a:cs typeface="Source Code Pro Light"/>
                <a:sym typeface="Source Code Pro Light"/>
              </a:rPr>
              <a:t> 101</a:t>
            </a:r>
            <a:endParaRPr sz="1100">
              <a:solidFill>
                <a:schemeClr val="dk2"/>
              </a:solidFill>
              <a:latin typeface="Source Code Pro Light"/>
              <a:ea typeface="Source Code Pro Light"/>
              <a:cs typeface="Source Code Pro Light"/>
              <a:sym typeface="Source Code Pro Light"/>
            </a:endParaRPr>
          </a:p>
        </p:txBody>
      </p:sp>
      <p:pic>
        <p:nvPicPr>
          <p:cNvPr id="141" name="Google Shape;141;p20"/>
          <p:cNvPicPr preferRelativeResize="0"/>
          <p:nvPr/>
        </p:nvPicPr>
        <p:blipFill rotWithShape="1">
          <a:blip r:embed="rId4">
            <a:alphaModFix/>
          </a:blip>
          <a:srcRect b="10485" l="6733" r="0" t="26351"/>
          <a:stretch/>
        </p:blipFill>
        <p:spPr>
          <a:xfrm>
            <a:off x="311700" y="2499475"/>
            <a:ext cx="4117545" cy="19483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1"/>
          <p:cNvPicPr preferRelativeResize="0"/>
          <p:nvPr/>
        </p:nvPicPr>
        <p:blipFill rotWithShape="1">
          <a:blip r:embed="rId3">
            <a:alphaModFix/>
          </a:blip>
          <a:srcRect b="1681" l="0" r="8550" t="0"/>
          <a:stretch/>
        </p:blipFill>
        <p:spPr>
          <a:xfrm>
            <a:off x="5267725" y="43350"/>
            <a:ext cx="3876276" cy="5056800"/>
          </a:xfrm>
          <a:prstGeom prst="rect">
            <a:avLst/>
          </a:prstGeom>
          <a:noFill/>
          <a:ln>
            <a:noFill/>
          </a:ln>
        </p:spPr>
      </p:pic>
      <p:sp>
        <p:nvSpPr>
          <p:cNvPr id="147" name="Google Shape;147;p2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Types of Networks</a:t>
            </a:r>
            <a:endParaRPr/>
          </a:p>
        </p:txBody>
      </p:sp>
      <p:sp>
        <p:nvSpPr>
          <p:cNvPr id="148" name="Google Shape;14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49" name="Google Shape;149;p21"/>
          <p:cNvSpPr/>
          <p:nvPr/>
        </p:nvSpPr>
        <p:spPr>
          <a:xfrm>
            <a:off x="5715075" y="157475"/>
            <a:ext cx="20211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300">
                <a:solidFill>
                  <a:schemeClr val="lt1"/>
                </a:solidFill>
                <a:latin typeface="Source Code Pro"/>
                <a:ea typeface="Source Code Pro"/>
                <a:cs typeface="Source Code Pro"/>
                <a:sym typeface="Source Code Pro"/>
              </a:rPr>
              <a:t>FOOD WEBS</a:t>
            </a:r>
            <a:endParaRPr sz="2300">
              <a:solidFill>
                <a:schemeClr val="lt1"/>
              </a:solidFill>
              <a:latin typeface="Source Code Pro"/>
              <a:ea typeface="Source Code Pro"/>
              <a:cs typeface="Source Code Pro"/>
              <a:sym typeface="Source Code Pro"/>
            </a:endParaRPr>
          </a:p>
        </p:txBody>
      </p:sp>
      <p:sp>
        <p:nvSpPr>
          <p:cNvPr id="150" name="Google Shape;150;p21"/>
          <p:cNvSpPr/>
          <p:nvPr/>
        </p:nvSpPr>
        <p:spPr>
          <a:xfrm>
            <a:off x="311700" y="1436172"/>
            <a:ext cx="23214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300">
                <a:solidFill>
                  <a:schemeClr val="lt1"/>
                </a:solidFill>
                <a:latin typeface="Source Code Pro"/>
                <a:ea typeface="Source Code Pro"/>
                <a:cs typeface="Source Code Pro"/>
                <a:sym typeface="Source Code Pro"/>
              </a:rPr>
              <a:t>NON TROPHIC</a:t>
            </a:r>
            <a:endParaRPr sz="2300">
              <a:solidFill>
                <a:schemeClr val="lt1"/>
              </a:solidFill>
              <a:latin typeface="Source Code Pro"/>
              <a:ea typeface="Source Code Pro"/>
              <a:cs typeface="Source Code Pro"/>
              <a:sym typeface="Source Code Pro"/>
            </a:endParaRPr>
          </a:p>
        </p:txBody>
      </p:sp>
      <p:sp>
        <p:nvSpPr>
          <p:cNvPr id="151" name="Google Shape;151;p21"/>
          <p:cNvSpPr txBox="1"/>
          <p:nvPr/>
        </p:nvSpPr>
        <p:spPr>
          <a:xfrm>
            <a:off x="311700" y="1884375"/>
            <a:ext cx="390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Source Code Pro"/>
                <a:ea typeface="Source Code Pro"/>
                <a:cs typeface="Source Code Pro"/>
                <a:sym typeface="Source Code Pro"/>
              </a:rPr>
              <a:t>Plant-pollinator, host-parasite, plant-herbivore</a:t>
            </a:r>
            <a:endParaRPr sz="1200">
              <a:solidFill>
                <a:schemeClr val="dk2"/>
              </a:solidFill>
              <a:latin typeface="Source Code Pro"/>
              <a:ea typeface="Source Code Pro"/>
              <a:cs typeface="Source Code Pro"/>
              <a:sym typeface="Source Code Pro"/>
            </a:endParaRPr>
          </a:p>
        </p:txBody>
      </p:sp>
      <p:sp>
        <p:nvSpPr>
          <p:cNvPr id="152" name="Google Shape;152;p21"/>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Networks 101</a:t>
            </a:r>
            <a:endParaRPr sz="1100">
              <a:solidFill>
                <a:schemeClr val="dk2"/>
              </a:solidFill>
              <a:latin typeface="Source Code Pro Light"/>
              <a:ea typeface="Source Code Pro Light"/>
              <a:cs typeface="Source Code Pro Light"/>
              <a:sym typeface="Source Code Pro Light"/>
            </a:endParaRPr>
          </a:p>
        </p:txBody>
      </p:sp>
      <p:pic>
        <p:nvPicPr>
          <p:cNvPr id="153" name="Google Shape;153;p21"/>
          <p:cNvPicPr preferRelativeResize="0"/>
          <p:nvPr/>
        </p:nvPicPr>
        <p:blipFill rotWithShape="1">
          <a:blip r:embed="rId4">
            <a:alphaModFix/>
          </a:blip>
          <a:srcRect b="10485" l="6733" r="0" t="26351"/>
          <a:stretch/>
        </p:blipFill>
        <p:spPr>
          <a:xfrm>
            <a:off x="311700" y="2499475"/>
            <a:ext cx="4117545" cy="1948324"/>
          </a:xfrm>
          <a:prstGeom prst="rect">
            <a:avLst/>
          </a:prstGeom>
          <a:noFill/>
          <a:ln>
            <a:noFill/>
          </a:ln>
        </p:spPr>
      </p:pic>
      <p:sp>
        <p:nvSpPr>
          <p:cNvPr id="154" name="Google Shape;154;p21"/>
          <p:cNvSpPr/>
          <p:nvPr/>
        </p:nvSpPr>
        <p:spPr>
          <a:xfrm>
            <a:off x="311700" y="4406961"/>
            <a:ext cx="3195000" cy="616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100">
                <a:solidFill>
                  <a:schemeClr val="dk2"/>
                </a:solidFill>
                <a:latin typeface="Source Code Pro"/>
                <a:ea typeface="Source Code Pro"/>
                <a:cs typeface="Source Code Pro"/>
                <a:sym typeface="Source Code Pro"/>
              </a:rPr>
              <a:t>BIPARTITE</a:t>
            </a:r>
            <a:endParaRPr sz="3100">
              <a:solidFill>
                <a:schemeClr val="dk2"/>
              </a:solidFill>
              <a:latin typeface="Source Code Pro"/>
              <a:ea typeface="Source Code Pro"/>
              <a:cs typeface="Source Code Pro"/>
              <a:sym typeface="Source Code Pro"/>
            </a:endParaRPr>
          </a:p>
        </p:txBody>
      </p:sp>
      <p:sp>
        <p:nvSpPr>
          <p:cNvPr id="155" name="Google Shape;155;p21"/>
          <p:cNvSpPr/>
          <p:nvPr/>
        </p:nvSpPr>
        <p:spPr>
          <a:xfrm>
            <a:off x="3913896" y="674076"/>
            <a:ext cx="3195000" cy="616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100">
                <a:solidFill>
                  <a:schemeClr val="dk2"/>
                </a:solidFill>
                <a:latin typeface="Source Code Pro"/>
                <a:ea typeface="Source Code Pro"/>
                <a:cs typeface="Source Code Pro"/>
                <a:sym typeface="Source Code Pro"/>
              </a:rPr>
              <a:t>UNIPARTITE</a:t>
            </a:r>
            <a:endParaRPr sz="3100">
              <a:solidFill>
                <a:schemeClr val="dk2"/>
              </a:solidFill>
              <a:latin typeface="Source Code Pro"/>
              <a:ea typeface="Source Code Pro"/>
              <a:cs typeface="Source Code Pro"/>
              <a:sym typeface="Source Code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Types of Networks</a:t>
            </a:r>
            <a:endParaRPr/>
          </a:p>
        </p:txBody>
      </p:sp>
      <p:sp>
        <p:nvSpPr>
          <p:cNvPr id="161" name="Google Shape;16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62" name="Google Shape;162;p22"/>
          <p:cNvSpPr/>
          <p:nvPr/>
        </p:nvSpPr>
        <p:spPr>
          <a:xfrm>
            <a:off x="5715075" y="157475"/>
            <a:ext cx="20211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300">
                <a:solidFill>
                  <a:schemeClr val="lt1"/>
                </a:solidFill>
                <a:latin typeface="Source Code Pro"/>
                <a:ea typeface="Source Code Pro"/>
                <a:cs typeface="Source Code Pro"/>
                <a:sym typeface="Source Code Pro"/>
              </a:rPr>
              <a:t>FOOD WEBS</a:t>
            </a:r>
            <a:endParaRPr sz="2300">
              <a:solidFill>
                <a:schemeClr val="lt1"/>
              </a:solidFill>
              <a:latin typeface="Source Code Pro"/>
              <a:ea typeface="Source Code Pro"/>
              <a:cs typeface="Source Code Pro"/>
              <a:sym typeface="Source Code Pro"/>
            </a:endParaRPr>
          </a:p>
        </p:txBody>
      </p:sp>
      <p:sp>
        <p:nvSpPr>
          <p:cNvPr id="163" name="Google Shape;163;p22"/>
          <p:cNvSpPr/>
          <p:nvPr/>
        </p:nvSpPr>
        <p:spPr>
          <a:xfrm>
            <a:off x="311700" y="1436172"/>
            <a:ext cx="23214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300">
                <a:solidFill>
                  <a:schemeClr val="lt1"/>
                </a:solidFill>
                <a:latin typeface="Source Code Pro"/>
                <a:ea typeface="Source Code Pro"/>
                <a:cs typeface="Source Code Pro"/>
                <a:sym typeface="Source Code Pro"/>
              </a:rPr>
              <a:t>NON TROPHIC</a:t>
            </a:r>
            <a:endParaRPr sz="2300">
              <a:solidFill>
                <a:schemeClr val="lt1"/>
              </a:solidFill>
              <a:latin typeface="Source Code Pro"/>
              <a:ea typeface="Source Code Pro"/>
              <a:cs typeface="Source Code Pro"/>
              <a:sym typeface="Source Code Pro"/>
            </a:endParaRPr>
          </a:p>
        </p:txBody>
      </p:sp>
      <p:sp>
        <p:nvSpPr>
          <p:cNvPr id="164" name="Google Shape;164;p22"/>
          <p:cNvSpPr txBox="1"/>
          <p:nvPr/>
        </p:nvSpPr>
        <p:spPr>
          <a:xfrm>
            <a:off x="311700" y="1884375"/>
            <a:ext cx="390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Source Code Pro"/>
                <a:ea typeface="Source Code Pro"/>
                <a:cs typeface="Source Code Pro"/>
                <a:sym typeface="Source Code Pro"/>
              </a:rPr>
              <a:t>Plant-pollinator, host-parasite, plant-herbivore</a:t>
            </a:r>
            <a:endParaRPr sz="1200">
              <a:solidFill>
                <a:schemeClr val="dk2"/>
              </a:solidFill>
              <a:latin typeface="Source Code Pro"/>
              <a:ea typeface="Source Code Pro"/>
              <a:cs typeface="Source Code Pro"/>
              <a:sym typeface="Source Code Pro"/>
            </a:endParaRPr>
          </a:p>
        </p:txBody>
      </p:sp>
      <p:grpSp>
        <p:nvGrpSpPr>
          <p:cNvPr id="165" name="Google Shape;165;p22"/>
          <p:cNvGrpSpPr/>
          <p:nvPr/>
        </p:nvGrpSpPr>
        <p:grpSpPr>
          <a:xfrm>
            <a:off x="5334400" y="810275"/>
            <a:ext cx="3404675" cy="3971750"/>
            <a:chOff x="5334400" y="810275"/>
            <a:chExt cx="3404675" cy="3971750"/>
          </a:xfrm>
        </p:grpSpPr>
        <p:pic>
          <p:nvPicPr>
            <p:cNvPr id="166" name="Google Shape;166;p22"/>
            <p:cNvPicPr preferRelativeResize="0"/>
            <p:nvPr/>
          </p:nvPicPr>
          <p:blipFill rotWithShape="1">
            <a:blip r:embed="rId3">
              <a:alphaModFix/>
            </a:blip>
            <a:srcRect b="0" l="0" r="2922" t="3474"/>
            <a:stretch/>
          </p:blipFill>
          <p:spPr>
            <a:xfrm>
              <a:off x="5334400" y="3181175"/>
              <a:ext cx="1810275" cy="1600850"/>
            </a:xfrm>
            <a:prstGeom prst="rect">
              <a:avLst/>
            </a:prstGeom>
            <a:noFill/>
            <a:ln cap="flat" cmpd="sng" w="28575">
              <a:solidFill>
                <a:schemeClr val="dk1"/>
              </a:solidFill>
              <a:prstDash val="solid"/>
              <a:round/>
              <a:headEnd len="sm" w="sm" type="none"/>
              <a:tailEnd len="sm" w="sm" type="none"/>
            </a:ln>
          </p:spPr>
        </p:pic>
        <p:pic>
          <p:nvPicPr>
            <p:cNvPr id="167" name="Google Shape;167;p22"/>
            <p:cNvPicPr preferRelativeResize="0"/>
            <p:nvPr/>
          </p:nvPicPr>
          <p:blipFill>
            <a:blip r:embed="rId4">
              <a:alphaModFix/>
            </a:blip>
            <a:stretch>
              <a:fillRect/>
            </a:stretch>
          </p:blipFill>
          <p:spPr>
            <a:xfrm>
              <a:off x="5334400" y="1106000"/>
              <a:ext cx="1810275" cy="1772433"/>
            </a:xfrm>
            <a:prstGeom prst="rect">
              <a:avLst/>
            </a:prstGeom>
            <a:noFill/>
            <a:ln cap="flat" cmpd="sng" w="28575">
              <a:solidFill>
                <a:schemeClr val="dk1"/>
              </a:solidFill>
              <a:prstDash val="solid"/>
              <a:round/>
              <a:headEnd len="sm" w="sm" type="none"/>
              <a:tailEnd len="sm" w="sm" type="none"/>
            </a:ln>
          </p:spPr>
        </p:pic>
        <p:sp>
          <p:nvSpPr>
            <p:cNvPr id="168" name="Google Shape;168;p22"/>
            <p:cNvSpPr/>
            <p:nvPr/>
          </p:nvSpPr>
          <p:spPr>
            <a:xfrm>
              <a:off x="6439513" y="2935025"/>
              <a:ext cx="1532700" cy="554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lt1"/>
                  </a:solidFill>
                  <a:latin typeface="Source Code Pro"/>
                  <a:ea typeface="Source Code Pro"/>
                  <a:cs typeface="Source Code Pro"/>
                  <a:sym typeface="Source Code Pro"/>
                </a:rPr>
                <a:t>REALISED WEB</a:t>
              </a:r>
              <a:endParaRPr sz="1800">
                <a:solidFill>
                  <a:schemeClr val="lt1"/>
                </a:solidFill>
                <a:latin typeface="Source Code Pro"/>
                <a:ea typeface="Source Code Pro"/>
                <a:cs typeface="Source Code Pro"/>
                <a:sym typeface="Source Code Pro"/>
              </a:endParaRPr>
            </a:p>
          </p:txBody>
        </p:sp>
        <p:sp>
          <p:nvSpPr>
            <p:cNvPr id="169" name="Google Shape;169;p22"/>
            <p:cNvSpPr/>
            <p:nvPr/>
          </p:nvSpPr>
          <p:spPr>
            <a:xfrm>
              <a:off x="6439500" y="810275"/>
              <a:ext cx="1532700" cy="393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lt1"/>
                  </a:solidFill>
                  <a:latin typeface="Source Code Pro"/>
                  <a:ea typeface="Source Code Pro"/>
                  <a:cs typeface="Source Code Pro"/>
                  <a:sym typeface="Source Code Pro"/>
                </a:rPr>
                <a:t>METAWEB</a:t>
              </a:r>
              <a:endParaRPr sz="1800">
                <a:solidFill>
                  <a:schemeClr val="lt1"/>
                </a:solidFill>
                <a:latin typeface="Source Code Pro"/>
                <a:ea typeface="Source Code Pro"/>
                <a:cs typeface="Source Code Pro"/>
                <a:sym typeface="Source Code Pro"/>
              </a:endParaRPr>
            </a:p>
          </p:txBody>
        </p:sp>
        <p:sp>
          <p:nvSpPr>
            <p:cNvPr id="170" name="Google Shape;170;p22"/>
            <p:cNvSpPr txBox="1"/>
            <p:nvPr/>
          </p:nvSpPr>
          <p:spPr>
            <a:xfrm>
              <a:off x="7200475" y="1715163"/>
              <a:ext cx="1494600" cy="5541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Source Code Pro"/>
                  <a:ea typeface="Source Code Pro"/>
                  <a:cs typeface="Source Code Pro"/>
                  <a:sym typeface="Source Code Pro"/>
                </a:rPr>
                <a:t>Who </a:t>
              </a:r>
              <a:r>
                <a:rPr i="1" lang="en-GB" sz="1200">
                  <a:solidFill>
                    <a:schemeClr val="dk2"/>
                  </a:solidFill>
                  <a:latin typeface="Source Code Pro"/>
                  <a:ea typeface="Source Code Pro"/>
                  <a:cs typeface="Source Code Pro"/>
                  <a:sym typeface="Source Code Pro"/>
                </a:rPr>
                <a:t>can</a:t>
              </a:r>
              <a:r>
                <a:rPr lang="en-GB" sz="1200">
                  <a:solidFill>
                    <a:schemeClr val="dk2"/>
                  </a:solidFill>
                  <a:latin typeface="Source Code Pro"/>
                  <a:ea typeface="Source Code Pro"/>
                  <a:cs typeface="Source Code Pro"/>
                  <a:sym typeface="Source Code Pro"/>
                </a:rPr>
                <a:t> eat who?</a:t>
              </a:r>
              <a:endParaRPr sz="1200">
                <a:solidFill>
                  <a:schemeClr val="dk2"/>
                </a:solidFill>
                <a:latin typeface="Source Code Pro"/>
                <a:ea typeface="Source Code Pro"/>
                <a:cs typeface="Source Code Pro"/>
                <a:sym typeface="Source Code Pro"/>
              </a:endParaRPr>
            </a:p>
          </p:txBody>
        </p:sp>
        <p:sp>
          <p:nvSpPr>
            <p:cNvPr id="171" name="Google Shape;171;p22"/>
            <p:cNvSpPr txBox="1"/>
            <p:nvPr/>
          </p:nvSpPr>
          <p:spPr>
            <a:xfrm>
              <a:off x="7244475" y="3704538"/>
              <a:ext cx="1494600" cy="7389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Source Code Pro"/>
                  <a:ea typeface="Source Code Pro"/>
                  <a:cs typeface="Source Code Pro"/>
                  <a:sym typeface="Source Code Pro"/>
                </a:rPr>
                <a:t>What does a </a:t>
              </a:r>
              <a:r>
                <a:rPr i="1" lang="en-GB" sz="1200">
                  <a:solidFill>
                    <a:schemeClr val="dk2"/>
                  </a:solidFill>
                  <a:latin typeface="Source Code Pro"/>
                  <a:ea typeface="Source Code Pro"/>
                  <a:cs typeface="Source Code Pro"/>
                  <a:sym typeface="Source Code Pro"/>
                </a:rPr>
                <a:t>predator</a:t>
              </a:r>
              <a:r>
                <a:rPr lang="en-GB" sz="1200">
                  <a:solidFill>
                    <a:schemeClr val="dk2"/>
                  </a:solidFill>
                  <a:latin typeface="Source Code Pro"/>
                  <a:ea typeface="Source Code Pro"/>
                  <a:cs typeface="Source Code Pro"/>
                  <a:sym typeface="Source Code Pro"/>
                </a:rPr>
                <a:t> choose to eat</a:t>
              </a:r>
              <a:endParaRPr sz="1200">
                <a:solidFill>
                  <a:schemeClr val="dk2"/>
                </a:solidFill>
                <a:latin typeface="Source Code Pro"/>
                <a:ea typeface="Source Code Pro"/>
                <a:cs typeface="Source Code Pro"/>
                <a:sym typeface="Source Code Pro"/>
              </a:endParaRPr>
            </a:p>
          </p:txBody>
        </p:sp>
      </p:grpSp>
      <p:sp>
        <p:nvSpPr>
          <p:cNvPr id="172" name="Google Shape;172;p22"/>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Networks 101</a:t>
            </a:r>
            <a:endParaRPr sz="1100">
              <a:solidFill>
                <a:schemeClr val="dk2"/>
              </a:solidFill>
              <a:latin typeface="Source Code Pro Light"/>
              <a:ea typeface="Source Code Pro Light"/>
              <a:cs typeface="Source Code Pro Light"/>
              <a:sym typeface="Source Code Pro Light"/>
            </a:endParaRPr>
          </a:p>
        </p:txBody>
      </p:sp>
      <p:pic>
        <p:nvPicPr>
          <p:cNvPr id="173" name="Google Shape;173;p22"/>
          <p:cNvPicPr preferRelativeResize="0"/>
          <p:nvPr/>
        </p:nvPicPr>
        <p:blipFill rotWithShape="1">
          <a:blip r:embed="rId5">
            <a:alphaModFix/>
          </a:blip>
          <a:srcRect b="10485" l="6733" r="0" t="26351"/>
          <a:stretch/>
        </p:blipFill>
        <p:spPr>
          <a:xfrm>
            <a:off x="311700" y="2499475"/>
            <a:ext cx="4117545" cy="19483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Takeaways</a:t>
            </a:r>
            <a:endParaRPr/>
          </a:p>
        </p:txBody>
      </p:sp>
      <p:sp>
        <p:nvSpPr>
          <p:cNvPr id="179" name="Google Shape;179;p23"/>
          <p:cNvSpPr txBox="1"/>
          <p:nvPr>
            <p:ph idx="1" type="subTitle"/>
          </p:nvPr>
        </p:nvSpPr>
        <p:spPr>
          <a:xfrm>
            <a:off x="265500" y="2921401"/>
            <a:ext cx="4045200" cy="134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It is possible to encode completely different processes within a network</a:t>
            </a:r>
            <a:endParaRPr/>
          </a:p>
        </p:txBody>
      </p:sp>
      <p:sp>
        <p:nvSpPr>
          <p:cNvPr id="180" name="Google Shape;18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1" name="Google Shape;181;p23"/>
          <p:cNvPicPr preferRelativeResize="0"/>
          <p:nvPr/>
        </p:nvPicPr>
        <p:blipFill>
          <a:blip r:embed="rId3">
            <a:alphaModFix/>
          </a:blip>
          <a:stretch>
            <a:fillRect/>
          </a:stretch>
        </p:blipFill>
        <p:spPr>
          <a:xfrm>
            <a:off x="4601550" y="518135"/>
            <a:ext cx="4419600" cy="39401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Constructing Food Webs</a:t>
            </a:r>
            <a:endParaRPr/>
          </a:p>
        </p:txBody>
      </p:sp>
      <p:sp>
        <p:nvSpPr>
          <p:cNvPr id="187" name="Google Shape;18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5"/>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 two-body problem</a:t>
            </a:r>
            <a:endParaRPr/>
          </a:p>
        </p:txBody>
      </p:sp>
      <p:sp>
        <p:nvSpPr>
          <p:cNvPr id="193" name="Google Shape;193;p25"/>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AutoNum type="arabicPeriod"/>
            </a:pPr>
            <a:r>
              <a:rPr lang="en-GB"/>
              <a:t>A need for real world data</a:t>
            </a:r>
            <a:endParaRPr/>
          </a:p>
          <a:p>
            <a:pPr indent="-349250" lvl="0" marL="457200" rtl="0" algn="l">
              <a:spcBef>
                <a:spcPts val="0"/>
              </a:spcBef>
              <a:spcAft>
                <a:spcPts val="0"/>
              </a:spcAft>
              <a:buSzPts val="1900"/>
              <a:buAutoNum type="arabicPeriod"/>
            </a:pPr>
            <a:r>
              <a:rPr lang="en-GB"/>
              <a:t>The development of theory and concepts</a:t>
            </a:r>
            <a:endParaRPr/>
          </a:p>
        </p:txBody>
      </p:sp>
      <p:sp>
        <p:nvSpPr>
          <p:cNvPr id="194" name="Google Shape;19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95" name="Google Shape;195;p25"/>
          <p:cNvPicPr preferRelativeResize="0"/>
          <p:nvPr/>
        </p:nvPicPr>
        <p:blipFill rotWithShape="1">
          <a:blip r:embed="rId3">
            <a:alphaModFix/>
          </a:blip>
          <a:srcRect b="0" l="16715" r="0" t="0"/>
          <a:stretch/>
        </p:blipFill>
        <p:spPr>
          <a:xfrm flipH="1">
            <a:off x="4685675" y="1399544"/>
            <a:ext cx="4335475" cy="23444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The Challenge: Observing interactions is hard!</a:t>
            </a:r>
            <a:endParaRPr/>
          </a:p>
        </p:txBody>
      </p:sp>
      <p:sp>
        <p:nvSpPr>
          <p:cNvPr id="201" name="Google Shape;201;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02" name="Google Shape;202;p26"/>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Constructing Food Webs</a:t>
            </a:r>
            <a:endParaRPr sz="1100">
              <a:solidFill>
                <a:schemeClr val="dk2"/>
              </a:solidFill>
              <a:latin typeface="Source Code Pro Light"/>
              <a:ea typeface="Source Code Pro Light"/>
              <a:cs typeface="Source Code Pro Light"/>
              <a:sym typeface="Source Code Pro Light"/>
            </a:endParaRPr>
          </a:p>
        </p:txBody>
      </p:sp>
      <p:grpSp>
        <p:nvGrpSpPr>
          <p:cNvPr id="203" name="Google Shape;203;p26"/>
          <p:cNvGrpSpPr/>
          <p:nvPr/>
        </p:nvGrpSpPr>
        <p:grpSpPr>
          <a:xfrm>
            <a:off x="911716" y="1382178"/>
            <a:ext cx="7320563" cy="3566784"/>
            <a:chOff x="4533266" y="1580826"/>
            <a:chExt cx="4451814" cy="2169049"/>
          </a:xfrm>
        </p:grpSpPr>
        <p:grpSp>
          <p:nvGrpSpPr>
            <p:cNvPr id="204" name="Google Shape;204;p26"/>
            <p:cNvGrpSpPr/>
            <p:nvPr/>
          </p:nvGrpSpPr>
          <p:grpSpPr>
            <a:xfrm>
              <a:off x="4533266" y="1580826"/>
              <a:ext cx="4451814" cy="1981846"/>
              <a:chOff x="50750" y="813975"/>
              <a:chExt cx="9006300" cy="4009400"/>
            </a:xfrm>
          </p:grpSpPr>
          <p:pic>
            <p:nvPicPr>
              <p:cNvPr id="205" name="Google Shape;205;p26"/>
              <p:cNvPicPr preferRelativeResize="0"/>
              <p:nvPr/>
            </p:nvPicPr>
            <p:blipFill rotWithShape="1">
              <a:blip r:embed="rId3">
                <a:alphaModFix/>
              </a:blip>
              <a:srcRect b="0" l="0" r="0" t="0"/>
              <a:stretch/>
            </p:blipFill>
            <p:spPr>
              <a:xfrm>
                <a:off x="68825" y="813975"/>
                <a:ext cx="8970173" cy="3867500"/>
              </a:xfrm>
              <a:prstGeom prst="rect">
                <a:avLst/>
              </a:prstGeom>
              <a:noFill/>
              <a:ln>
                <a:noFill/>
              </a:ln>
            </p:spPr>
          </p:pic>
          <p:sp>
            <p:nvSpPr>
              <p:cNvPr id="206" name="Google Shape;206;p26"/>
              <p:cNvSpPr/>
              <p:nvPr/>
            </p:nvSpPr>
            <p:spPr>
              <a:xfrm>
                <a:off x="50750" y="4681475"/>
                <a:ext cx="9006300" cy="1419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7" name="Google Shape;207;p26"/>
            <p:cNvSpPr txBox="1"/>
            <p:nvPr/>
          </p:nvSpPr>
          <p:spPr>
            <a:xfrm>
              <a:off x="7401825" y="3562675"/>
              <a:ext cx="1583100" cy="1872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solidFill>
                    <a:srgbClr val="000000"/>
                  </a:solidFill>
                  <a:latin typeface="Source Code Pro Light"/>
                  <a:ea typeface="Source Code Pro Light"/>
                  <a:cs typeface="Source Code Pro Light"/>
                  <a:sym typeface="Source Code Pro Light"/>
                </a:rPr>
                <a:t>Poisot et al. (2021) G</a:t>
              </a:r>
              <a:r>
                <a:rPr lang="en-GB" sz="800">
                  <a:latin typeface="Source Code Pro Light"/>
                  <a:ea typeface="Source Code Pro Light"/>
                  <a:cs typeface="Source Code Pro Light"/>
                  <a:sym typeface="Source Code Pro Light"/>
                </a:rPr>
                <a:t>l</a:t>
              </a:r>
              <a:r>
                <a:rPr lang="en-GB" sz="800">
                  <a:solidFill>
                    <a:srgbClr val="000000"/>
                  </a:solidFill>
                  <a:latin typeface="Source Code Pro Light"/>
                  <a:ea typeface="Source Code Pro Light"/>
                  <a:cs typeface="Source Code Pro Light"/>
                  <a:sym typeface="Source Code Pro Light"/>
                </a:rPr>
                <a:t>obal C</a:t>
              </a:r>
              <a:r>
                <a:rPr lang="en-GB" sz="800">
                  <a:latin typeface="Source Code Pro Light"/>
                  <a:ea typeface="Source Code Pro Light"/>
                  <a:cs typeface="Source Code Pro Light"/>
                  <a:sym typeface="Source Code Pro Light"/>
                </a:rPr>
                <a:t>hange</a:t>
              </a:r>
              <a:endParaRPr sz="800">
                <a:latin typeface="Source Code Pro Light"/>
                <a:ea typeface="Source Code Pro Light"/>
                <a:cs typeface="Source Code Pro Light"/>
                <a:sym typeface="Source Code Pro Light"/>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Predicting Interactions: Mechanistic Models</a:t>
            </a:r>
            <a:endParaRPr/>
          </a:p>
        </p:txBody>
      </p:sp>
      <p:sp>
        <p:nvSpPr>
          <p:cNvPr id="213" name="Google Shape;213;p27"/>
          <p:cNvSpPr txBox="1"/>
          <p:nvPr>
            <p:ph idx="1" type="body"/>
          </p:nvPr>
        </p:nvSpPr>
        <p:spPr>
          <a:xfrm>
            <a:off x="311700" y="1468825"/>
            <a:ext cx="52083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Construct </a:t>
            </a:r>
            <a:r>
              <a:rPr b="1" i="1" lang="en-GB"/>
              <a:t>metawebs</a:t>
            </a:r>
            <a:endParaRPr b="1" i="1"/>
          </a:p>
          <a:p>
            <a:pPr indent="-342900" lvl="0" marL="457200" rtl="0" algn="l">
              <a:spcBef>
                <a:spcPts val="0"/>
              </a:spcBef>
              <a:spcAft>
                <a:spcPts val="0"/>
              </a:spcAft>
              <a:buSzPts val="1800"/>
              <a:buChar char="●"/>
            </a:pPr>
            <a:r>
              <a:rPr lang="en-GB"/>
              <a:t>Does </a:t>
            </a:r>
            <a:r>
              <a:rPr i="1" lang="en-GB"/>
              <a:t>sp</a:t>
            </a:r>
            <a:r>
              <a:rPr baseline="-25000" i="1" lang="en-GB"/>
              <a:t>a</a:t>
            </a:r>
            <a:r>
              <a:rPr lang="en-GB"/>
              <a:t> have the capacity to eat </a:t>
            </a:r>
            <a:r>
              <a:rPr i="1" lang="en-GB"/>
              <a:t>sp</a:t>
            </a:r>
            <a:r>
              <a:rPr baseline="-25000" i="1" lang="en-GB"/>
              <a:t>b</a:t>
            </a:r>
            <a:r>
              <a:rPr i="1" lang="en-GB"/>
              <a:t>?</a:t>
            </a:r>
            <a:endParaRPr/>
          </a:p>
          <a:p>
            <a:pPr indent="-342900" lvl="0" marL="457200" rtl="0" algn="l">
              <a:spcBef>
                <a:spcPts val="0"/>
              </a:spcBef>
              <a:spcAft>
                <a:spcPts val="0"/>
              </a:spcAft>
              <a:buSzPts val="1800"/>
              <a:buChar char="●"/>
            </a:pPr>
            <a:r>
              <a:rPr lang="en-GB"/>
              <a:t>Assumption that ‘feeding rules’ determine interactions</a:t>
            </a:r>
            <a:endParaRPr/>
          </a:p>
          <a:p>
            <a:pPr indent="-317500" lvl="1" marL="914400" rtl="0" algn="l">
              <a:spcBef>
                <a:spcPts val="0"/>
              </a:spcBef>
              <a:spcAft>
                <a:spcPts val="0"/>
              </a:spcAft>
              <a:buSzPts val="1400"/>
              <a:buChar char="○"/>
            </a:pPr>
            <a:r>
              <a:rPr lang="en-GB"/>
              <a:t>Rules can be defined </a:t>
            </a:r>
            <a:r>
              <a:rPr i="1" lang="en-GB"/>
              <a:t>a priori</a:t>
            </a:r>
            <a:r>
              <a:rPr baseline="30000" lang="en-GB"/>
              <a:t>[1]</a:t>
            </a:r>
            <a:endParaRPr i="1"/>
          </a:p>
          <a:p>
            <a:pPr indent="-317500" lvl="1" marL="914400" rtl="0" algn="l">
              <a:spcBef>
                <a:spcPts val="0"/>
              </a:spcBef>
              <a:spcAft>
                <a:spcPts val="0"/>
              </a:spcAft>
              <a:buSzPts val="1400"/>
              <a:buChar char="○"/>
            </a:pPr>
            <a:r>
              <a:rPr lang="en-GB"/>
              <a:t>Inferred from known networks</a:t>
            </a:r>
            <a:r>
              <a:rPr baseline="30000" lang="en-GB"/>
              <a:t>[2,3]</a:t>
            </a:r>
            <a:endParaRPr/>
          </a:p>
          <a:p>
            <a:pPr indent="-317500" lvl="1" marL="914400" rtl="0" algn="l">
              <a:spcBef>
                <a:spcPts val="0"/>
              </a:spcBef>
              <a:spcAft>
                <a:spcPts val="0"/>
              </a:spcAft>
              <a:buSzPts val="1400"/>
              <a:buChar char="○"/>
            </a:pPr>
            <a:r>
              <a:rPr lang="en-GB"/>
              <a:t>Use of ecological proxies (</a:t>
            </a:r>
            <a:r>
              <a:rPr i="1" lang="en-GB"/>
              <a:t>e.g.,</a:t>
            </a:r>
            <a:r>
              <a:rPr lang="en-GB"/>
              <a:t> phylogeny)</a:t>
            </a:r>
            <a:r>
              <a:rPr baseline="30000" lang="en-GB"/>
              <a:t>[4,5]</a:t>
            </a:r>
            <a:endParaRPr/>
          </a:p>
        </p:txBody>
      </p:sp>
      <p:sp>
        <p:nvSpPr>
          <p:cNvPr id="214" name="Google Shape;21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15" name="Google Shape;215;p27"/>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Constructing Food Webs</a:t>
            </a:r>
            <a:endParaRPr sz="1100">
              <a:solidFill>
                <a:schemeClr val="dk2"/>
              </a:solidFill>
              <a:latin typeface="Source Code Pro Light"/>
              <a:ea typeface="Source Code Pro Light"/>
              <a:cs typeface="Source Code Pro Light"/>
              <a:sym typeface="Source Code Pro Light"/>
            </a:endParaRPr>
          </a:p>
        </p:txBody>
      </p:sp>
      <p:pic>
        <p:nvPicPr>
          <p:cNvPr id="216" name="Google Shape;216;p27"/>
          <p:cNvPicPr preferRelativeResize="0"/>
          <p:nvPr/>
        </p:nvPicPr>
        <p:blipFill>
          <a:blip r:embed="rId3">
            <a:alphaModFix/>
          </a:blip>
          <a:stretch>
            <a:fillRect/>
          </a:stretch>
        </p:blipFill>
        <p:spPr>
          <a:xfrm>
            <a:off x="6155075" y="1851937"/>
            <a:ext cx="2383500" cy="2333676"/>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22" name="Google Shape;222;p28"/>
          <p:cNvPicPr preferRelativeResize="0"/>
          <p:nvPr/>
        </p:nvPicPr>
        <p:blipFill>
          <a:blip r:embed="rId3">
            <a:alphaModFix/>
          </a:blip>
          <a:stretch>
            <a:fillRect/>
          </a:stretch>
        </p:blipFill>
        <p:spPr>
          <a:xfrm>
            <a:off x="478975" y="94575"/>
            <a:ext cx="8186035" cy="4568651"/>
          </a:xfrm>
          <a:prstGeom prst="rect">
            <a:avLst/>
          </a:prstGeom>
          <a:noFill/>
          <a:ln>
            <a:noFill/>
          </a:ln>
        </p:spPr>
      </p:pic>
      <p:sp>
        <p:nvSpPr>
          <p:cNvPr id="223" name="Google Shape;223;p28"/>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Constructing Food Webs</a:t>
            </a:r>
            <a:endParaRPr sz="1100">
              <a:solidFill>
                <a:schemeClr val="dk2"/>
              </a:solidFill>
              <a:latin typeface="Source Code Pro Light"/>
              <a:ea typeface="Source Code Pro Light"/>
              <a:cs typeface="Source Code Pro Light"/>
              <a:sym typeface="Source Code Pro Light"/>
            </a:endParaRPr>
          </a:p>
        </p:txBody>
      </p:sp>
      <p:sp>
        <p:nvSpPr>
          <p:cNvPr id="224" name="Google Shape;224;p28"/>
          <p:cNvSpPr/>
          <p:nvPr/>
        </p:nvSpPr>
        <p:spPr>
          <a:xfrm>
            <a:off x="1826225" y="2922050"/>
            <a:ext cx="2989200" cy="1741200"/>
          </a:xfrm>
          <a:prstGeom prst="rect">
            <a:avLst/>
          </a:prstGeom>
          <a:solidFill>
            <a:srgbClr val="FFFFFF">
              <a:alpha val="863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25" name="Google Shape;225;p28"/>
          <p:cNvSpPr/>
          <p:nvPr/>
        </p:nvSpPr>
        <p:spPr>
          <a:xfrm>
            <a:off x="4815375" y="2325750"/>
            <a:ext cx="3849900" cy="2337600"/>
          </a:xfrm>
          <a:prstGeom prst="rect">
            <a:avLst/>
          </a:prstGeom>
          <a:solidFill>
            <a:srgbClr val="FFFFFF">
              <a:alpha val="863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26" name="Google Shape;226;p28"/>
          <p:cNvSpPr/>
          <p:nvPr/>
        </p:nvSpPr>
        <p:spPr>
          <a:xfrm>
            <a:off x="478975" y="2976250"/>
            <a:ext cx="1347300" cy="1687200"/>
          </a:xfrm>
          <a:prstGeom prst="rect">
            <a:avLst/>
          </a:prstGeom>
          <a:solidFill>
            <a:srgbClr val="FFFFFF">
              <a:alpha val="863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27" name="Google Shape;227;p28"/>
          <p:cNvSpPr/>
          <p:nvPr/>
        </p:nvSpPr>
        <p:spPr>
          <a:xfrm>
            <a:off x="6526775" y="94575"/>
            <a:ext cx="2174700" cy="2231100"/>
          </a:xfrm>
          <a:prstGeom prst="rect">
            <a:avLst/>
          </a:prstGeom>
          <a:solidFill>
            <a:srgbClr val="FFFFFF">
              <a:alpha val="863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28" name="Google Shape;228;p28"/>
          <p:cNvSpPr txBox="1"/>
          <p:nvPr/>
        </p:nvSpPr>
        <p:spPr>
          <a:xfrm>
            <a:off x="5675800" y="4355650"/>
            <a:ext cx="29892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latin typeface="Source Code Pro Light"/>
                <a:ea typeface="Source Code Pro Light"/>
                <a:cs typeface="Source Code Pro Light"/>
                <a:sym typeface="Source Code Pro Light"/>
              </a:rPr>
              <a:t>Strydom &amp; Catchen</a:t>
            </a:r>
            <a:r>
              <a:rPr lang="en-GB" sz="800">
                <a:solidFill>
                  <a:srgbClr val="000000"/>
                </a:solidFill>
                <a:latin typeface="Source Code Pro Light"/>
                <a:ea typeface="Source Code Pro Light"/>
                <a:cs typeface="Source Code Pro Light"/>
                <a:sym typeface="Source Code Pro Light"/>
              </a:rPr>
              <a:t> et al.</a:t>
            </a:r>
            <a:r>
              <a:rPr lang="en-GB" sz="800">
                <a:latin typeface="Source Code Pro Light"/>
                <a:ea typeface="Source Code Pro Light"/>
                <a:cs typeface="Source Code Pro Light"/>
                <a:sym typeface="Source Code Pro Light"/>
              </a:rPr>
              <a:t> (</a:t>
            </a:r>
            <a:r>
              <a:rPr lang="en-GB" sz="800">
                <a:solidFill>
                  <a:srgbClr val="000000"/>
                </a:solidFill>
                <a:latin typeface="Source Code Pro Light"/>
                <a:ea typeface="Source Code Pro Light"/>
                <a:cs typeface="Source Code Pro Light"/>
                <a:sym typeface="Source Code Pro Light"/>
              </a:rPr>
              <a:t>2021</a:t>
            </a:r>
            <a:r>
              <a:rPr lang="en-GB" sz="800">
                <a:latin typeface="Source Code Pro Light"/>
                <a:ea typeface="Source Code Pro Light"/>
                <a:cs typeface="Source Code Pro Light"/>
                <a:sym typeface="Source Code Pro Light"/>
              </a:rPr>
              <a:t>) Phil. Trans. B</a:t>
            </a:r>
            <a:endParaRPr sz="800">
              <a:latin typeface="Source Code Pro Light"/>
              <a:ea typeface="Source Code Pro Light"/>
              <a:cs typeface="Source Code Pro Light"/>
              <a:sym typeface="Source Code Pro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Predicting Interactions: Deductive Models</a:t>
            </a:r>
            <a:endParaRPr/>
          </a:p>
        </p:txBody>
      </p:sp>
      <p:sp>
        <p:nvSpPr>
          <p:cNvPr id="234" name="Google Shape;23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35" name="Google Shape;235;p29"/>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Constructing Food Webs</a:t>
            </a:r>
            <a:endParaRPr sz="1100">
              <a:solidFill>
                <a:schemeClr val="dk2"/>
              </a:solidFill>
              <a:latin typeface="Source Code Pro Light"/>
              <a:ea typeface="Source Code Pro Light"/>
              <a:cs typeface="Source Code Pro Light"/>
              <a:sym typeface="Source Code Pro Light"/>
            </a:endParaRPr>
          </a:p>
        </p:txBody>
      </p:sp>
      <p:pic>
        <p:nvPicPr>
          <p:cNvPr id="236" name="Google Shape;236;p29"/>
          <p:cNvPicPr preferRelativeResize="0"/>
          <p:nvPr/>
        </p:nvPicPr>
        <p:blipFill rotWithShape="1">
          <a:blip r:embed="rId3">
            <a:alphaModFix/>
          </a:blip>
          <a:srcRect b="0" l="0" r="2922" t="3474"/>
          <a:stretch/>
        </p:blipFill>
        <p:spPr>
          <a:xfrm>
            <a:off x="6379825" y="1245200"/>
            <a:ext cx="1810275" cy="1600850"/>
          </a:xfrm>
          <a:prstGeom prst="rect">
            <a:avLst/>
          </a:prstGeom>
          <a:noFill/>
          <a:ln cap="flat" cmpd="sng" w="28575">
            <a:solidFill>
              <a:schemeClr val="dk1"/>
            </a:solidFill>
            <a:prstDash val="solid"/>
            <a:round/>
            <a:headEnd len="sm" w="sm" type="none"/>
            <a:tailEnd len="sm" w="sm" type="none"/>
          </a:ln>
        </p:spPr>
      </p:pic>
      <p:sp>
        <p:nvSpPr>
          <p:cNvPr id="237" name="Google Shape;237;p29"/>
          <p:cNvSpPr txBox="1"/>
          <p:nvPr>
            <p:ph idx="1" type="body"/>
          </p:nvPr>
        </p:nvSpPr>
        <p:spPr>
          <a:xfrm>
            <a:off x="311700" y="1468825"/>
            <a:ext cx="52083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Construct </a:t>
            </a:r>
            <a:r>
              <a:rPr b="1" i="1" lang="en-GB"/>
              <a:t>realised webs</a:t>
            </a:r>
            <a:endParaRPr b="1" i="1"/>
          </a:p>
          <a:p>
            <a:pPr indent="-342900" lvl="0" marL="457200" rtl="0" algn="l">
              <a:spcBef>
                <a:spcPts val="0"/>
              </a:spcBef>
              <a:spcAft>
                <a:spcPts val="0"/>
              </a:spcAft>
              <a:buSzPts val="1800"/>
              <a:buChar char="●"/>
            </a:pPr>
            <a:r>
              <a:rPr lang="en-GB"/>
              <a:t>Reflect the realisation of feasible links</a:t>
            </a:r>
            <a:endParaRPr/>
          </a:p>
          <a:p>
            <a:pPr indent="-342900" lvl="0" marL="457200" rtl="0" algn="l">
              <a:spcBef>
                <a:spcPts val="0"/>
              </a:spcBef>
              <a:spcAft>
                <a:spcPts val="0"/>
              </a:spcAft>
              <a:buSzPts val="1800"/>
              <a:buChar char="●"/>
            </a:pPr>
            <a:r>
              <a:rPr lang="en-GB"/>
              <a:t>Intersection of profitability, abundance, non-consumptive interactions</a:t>
            </a:r>
            <a:endParaRPr/>
          </a:p>
          <a:p>
            <a:pPr indent="-317500" lvl="1" marL="914400" rtl="0" algn="l">
              <a:spcBef>
                <a:spcPts val="0"/>
              </a:spcBef>
              <a:spcAft>
                <a:spcPts val="0"/>
              </a:spcAft>
              <a:buSzPts val="1400"/>
              <a:buChar char="○"/>
            </a:pPr>
            <a:r>
              <a:rPr lang="en-GB"/>
              <a:t>Foraging ecology</a:t>
            </a:r>
            <a:r>
              <a:rPr baseline="30000" lang="en-GB"/>
              <a:t>[6,7]</a:t>
            </a:r>
            <a:endParaRPr baseline="30000"/>
          </a:p>
          <a:p>
            <a:pPr indent="-317500" lvl="1" marL="914400" rtl="0" algn="l">
              <a:spcBef>
                <a:spcPts val="0"/>
              </a:spcBef>
              <a:spcAft>
                <a:spcPts val="0"/>
              </a:spcAft>
              <a:buSzPts val="1400"/>
              <a:buChar char="○"/>
            </a:pPr>
            <a:r>
              <a:rPr lang="en-GB"/>
              <a:t>Allometry (body size)</a:t>
            </a:r>
            <a:r>
              <a:rPr baseline="30000" lang="en-GB"/>
              <a:t>[8]</a:t>
            </a:r>
            <a:endParaRPr/>
          </a:p>
          <a:p>
            <a:pPr indent="-342900" lvl="0" marL="457200" rtl="0" algn="l">
              <a:spcBef>
                <a:spcPts val="0"/>
              </a:spcBef>
              <a:spcAft>
                <a:spcPts val="0"/>
              </a:spcAft>
              <a:buSzPts val="1800"/>
              <a:buChar char="●"/>
            </a:pPr>
            <a:r>
              <a:rPr b="1" i="1" lang="en-GB"/>
              <a:t>Dynamic</a:t>
            </a:r>
            <a:endParaRPr b="1" i="1"/>
          </a:p>
        </p:txBody>
      </p:sp>
      <p:pic>
        <p:nvPicPr>
          <p:cNvPr id="238" name="Google Shape;238;p29"/>
          <p:cNvPicPr preferRelativeResize="0"/>
          <p:nvPr/>
        </p:nvPicPr>
        <p:blipFill>
          <a:blip r:embed="rId4">
            <a:alphaModFix/>
          </a:blip>
          <a:stretch>
            <a:fillRect/>
          </a:stretch>
        </p:blipFill>
        <p:spPr>
          <a:xfrm>
            <a:off x="5971600" y="2984175"/>
            <a:ext cx="2626725" cy="154092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Predicting Structure</a:t>
            </a:r>
            <a:endParaRPr/>
          </a:p>
        </p:txBody>
      </p:sp>
      <p:sp>
        <p:nvSpPr>
          <p:cNvPr id="244" name="Google Shape;24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45" name="Google Shape;245;p30"/>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Constructing Food Webs</a:t>
            </a:r>
            <a:endParaRPr sz="1100">
              <a:solidFill>
                <a:schemeClr val="dk2"/>
              </a:solidFill>
              <a:latin typeface="Source Code Pro Light"/>
              <a:ea typeface="Source Code Pro Light"/>
              <a:cs typeface="Source Code Pro Light"/>
              <a:sym typeface="Source Code Pro Light"/>
            </a:endParaRPr>
          </a:p>
        </p:txBody>
      </p:sp>
      <p:sp>
        <p:nvSpPr>
          <p:cNvPr id="246" name="Google Shape;246;p30"/>
          <p:cNvSpPr txBox="1"/>
          <p:nvPr>
            <p:ph idx="1" type="body"/>
          </p:nvPr>
        </p:nvSpPr>
        <p:spPr>
          <a:xfrm>
            <a:off x="311700" y="1468825"/>
            <a:ext cx="52083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Construct </a:t>
            </a:r>
            <a:r>
              <a:rPr b="1" i="1" lang="en-GB"/>
              <a:t>topologies</a:t>
            </a:r>
            <a:endParaRPr b="1" i="1"/>
          </a:p>
          <a:p>
            <a:pPr indent="-342900" lvl="0" marL="457200" rtl="0" algn="l">
              <a:spcBef>
                <a:spcPts val="0"/>
              </a:spcBef>
              <a:spcAft>
                <a:spcPts val="0"/>
              </a:spcAft>
              <a:buSzPts val="1800"/>
              <a:buChar char="●"/>
            </a:pPr>
            <a:r>
              <a:rPr lang="en-GB"/>
              <a:t>Assumptions of expected structure of a network (distribution of links)</a:t>
            </a:r>
            <a:endParaRPr/>
          </a:p>
          <a:p>
            <a:pPr indent="-317500" lvl="1" marL="914400" rtl="0" algn="l">
              <a:spcBef>
                <a:spcPts val="0"/>
              </a:spcBef>
              <a:spcAft>
                <a:spcPts val="0"/>
              </a:spcAft>
              <a:buSzPts val="1400"/>
              <a:buChar char="○"/>
            </a:pPr>
            <a:r>
              <a:rPr lang="en-GB"/>
              <a:t>Random</a:t>
            </a:r>
            <a:endParaRPr/>
          </a:p>
          <a:p>
            <a:pPr indent="-317500" lvl="1" marL="914400" rtl="0" algn="l">
              <a:spcBef>
                <a:spcPts val="0"/>
              </a:spcBef>
              <a:spcAft>
                <a:spcPts val="0"/>
              </a:spcAft>
              <a:buSzPts val="1400"/>
              <a:buChar char="○"/>
            </a:pPr>
            <a:r>
              <a:rPr lang="en-GB"/>
              <a:t>Neutral (abundance)</a:t>
            </a:r>
            <a:endParaRPr/>
          </a:p>
          <a:p>
            <a:pPr indent="-317500" lvl="1" marL="914400" rtl="0" algn="l">
              <a:spcBef>
                <a:spcPts val="0"/>
              </a:spcBef>
              <a:spcAft>
                <a:spcPts val="0"/>
              </a:spcAft>
              <a:buSzPts val="1400"/>
              <a:buChar char="○"/>
            </a:pPr>
            <a:r>
              <a:rPr lang="en-GB"/>
              <a:t>Stochastic</a:t>
            </a:r>
            <a:r>
              <a:rPr baseline="30000" lang="en-GB"/>
              <a:t>[9]</a:t>
            </a:r>
            <a:endParaRPr b="1" i="1"/>
          </a:p>
        </p:txBody>
      </p:sp>
      <p:grpSp>
        <p:nvGrpSpPr>
          <p:cNvPr id="247" name="Google Shape;247;p30"/>
          <p:cNvGrpSpPr/>
          <p:nvPr/>
        </p:nvGrpSpPr>
        <p:grpSpPr>
          <a:xfrm>
            <a:off x="5776125" y="1265275"/>
            <a:ext cx="2494125" cy="2448675"/>
            <a:chOff x="5613300" y="1183875"/>
            <a:chExt cx="2494125" cy="2448675"/>
          </a:xfrm>
        </p:grpSpPr>
        <p:sp>
          <p:nvSpPr>
            <p:cNvPr id="248" name="Google Shape;248;p30"/>
            <p:cNvSpPr/>
            <p:nvPr/>
          </p:nvSpPr>
          <p:spPr>
            <a:xfrm>
              <a:off x="5613300" y="29854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49" name="Google Shape;249;p30"/>
            <p:cNvSpPr/>
            <p:nvPr/>
          </p:nvSpPr>
          <p:spPr>
            <a:xfrm>
              <a:off x="6665850" y="11838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50" name="Google Shape;250;p30"/>
            <p:cNvSpPr/>
            <p:nvPr/>
          </p:nvSpPr>
          <p:spPr>
            <a:xfrm>
              <a:off x="6074313"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51" name="Google Shape;251;p30"/>
            <p:cNvSpPr/>
            <p:nvPr/>
          </p:nvSpPr>
          <p:spPr>
            <a:xfrm>
              <a:off x="7350725"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52" name="Google Shape;252;p30"/>
            <p:cNvSpPr/>
            <p:nvPr/>
          </p:nvSpPr>
          <p:spPr>
            <a:xfrm>
              <a:off x="7676025" y="32011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53" name="Google Shape;253;p30"/>
            <p:cNvSpPr/>
            <p:nvPr/>
          </p:nvSpPr>
          <p:spPr>
            <a:xfrm>
              <a:off x="6691013" y="28030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cxnSp>
          <p:nvCxnSpPr>
            <p:cNvPr id="254" name="Google Shape;254;p30"/>
            <p:cNvCxnSpPr>
              <a:stCxn id="250" idx="7"/>
              <a:endCxn id="249" idx="3"/>
            </p:cNvCxnSpPr>
            <p:nvPr/>
          </p:nvCxnSpPr>
          <p:spPr>
            <a:xfrm flipH="1" rot="10800000">
              <a:off x="6442535" y="1552227"/>
              <a:ext cx="286500" cy="588000"/>
            </a:xfrm>
            <a:prstGeom prst="straightConnector1">
              <a:avLst/>
            </a:prstGeom>
            <a:noFill/>
            <a:ln cap="flat" cmpd="sng" w="38100">
              <a:solidFill>
                <a:schemeClr val="accent3"/>
              </a:solidFill>
              <a:prstDash val="solid"/>
              <a:round/>
              <a:headEnd len="med" w="med" type="none"/>
              <a:tailEnd len="med" w="med" type="none"/>
            </a:ln>
          </p:spPr>
        </p:cxnSp>
        <p:cxnSp>
          <p:nvCxnSpPr>
            <p:cNvPr id="255" name="Google Shape;255;p30"/>
            <p:cNvCxnSpPr>
              <a:stCxn id="251" idx="1"/>
              <a:endCxn id="249" idx="5"/>
            </p:cNvCxnSpPr>
            <p:nvPr/>
          </p:nvCxnSpPr>
          <p:spPr>
            <a:xfrm rot="10800000">
              <a:off x="7034102" y="1552227"/>
              <a:ext cx="379800" cy="588000"/>
            </a:xfrm>
            <a:prstGeom prst="straightConnector1">
              <a:avLst/>
            </a:prstGeom>
            <a:noFill/>
            <a:ln cap="flat" cmpd="sng" w="38100">
              <a:solidFill>
                <a:schemeClr val="accent3"/>
              </a:solidFill>
              <a:prstDash val="solid"/>
              <a:round/>
              <a:headEnd len="med" w="med" type="none"/>
              <a:tailEnd len="med" w="med" type="none"/>
            </a:ln>
          </p:spPr>
        </p:cxnSp>
        <p:cxnSp>
          <p:nvCxnSpPr>
            <p:cNvPr id="256" name="Google Shape;256;p30"/>
            <p:cNvCxnSpPr>
              <a:stCxn id="253" idx="0"/>
              <a:endCxn id="249" idx="4"/>
            </p:cNvCxnSpPr>
            <p:nvPr/>
          </p:nvCxnSpPr>
          <p:spPr>
            <a:xfrm rot="10800000">
              <a:off x="6881513" y="1615375"/>
              <a:ext cx="25200" cy="1187700"/>
            </a:xfrm>
            <a:prstGeom prst="straightConnector1">
              <a:avLst/>
            </a:prstGeom>
            <a:noFill/>
            <a:ln cap="flat" cmpd="sng" w="38100">
              <a:solidFill>
                <a:schemeClr val="accent3"/>
              </a:solidFill>
              <a:prstDash val="solid"/>
              <a:round/>
              <a:headEnd len="med" w="med" type="none"/>
              <a:tailEnd len="med" w="med" type="none"/>
            </a:ln>
          </p:spPr>
        </p:cxnSp>
        <p:cxnSp>
          <p:nvCxnSpPr>
            <p:cNvPr id="257" name="Google Shape;257;p30"/>
            <p:cNvCxnSpPr>
              <a:stCxn id="253" idx="1"/>
              <a:endCxn id="250" idx="5"/>
            </p:cNvCxnSpPr>
            <p:nvPr/>
          </p:nvCxnSpPr>
          <p:spPr>
            <a:xfrm rot="10800000">
              <a:off x="6442490" y="2445352"/>
              <a:ext cx="311700" cy="420900"/>
            </a:xfrm>
            <a:prstGeom prst="straightConnector1">
              <a:avLst/>
            </a:prstGeom>
            <a:noFill/>
            <a:ln cap="flat" cmpd="sng" w="38100">
              <a:solidFill>
                <a:schemeClr val="accent3"/>
              </a:solidFill>
              <a:prstDash val="solid"/>
              <a:round/>
              <a:headEnd len="med" w="med" type="none"/>
              <a:tailEnd len="med" w="med" type="none"/>
            </a:ln>
          </p:spPr>
        </p:cxnSp>
        <p:cxnSp>
          <p:nvCxnSpPr>
            <p:cNvPr id="258" name="Google Shape;258;p30"/>
            <p:cNvCxnSpPr>
              <a:stCxn id="248" idx="0"/>
              <a:endCxn id="250" idx="3"/>
            </p:cNvCxnSpPr>
            <p:nvPr/>
          </p:nvCxnSpPr>
          <p:spPr>
            <a:xfrm flipH="1" rot="10800000">
              <a:off x="5829000" y="2445150"/>
              <a:ext cx="308400" cy="540300"/>
            </a:xfrm>
            <a:prstGeom prst="straightConnector1">
              <a:avLst/>
            </a:prstGeom>
            <a:noFill/>
            <a:ln cap="flat" cmpd="sng" w="38100">
              <a:solidFill>
                <a:schemeClr val="accent3"/>
              </a:solidFill>
              <a:prstDash val="solid"/>
              <a:round/>
              <a:headEnd len="med" w="med" type="none"/>
              <a:tailEnd len="med" w="med" type="none"/>
            </a:ln>
          </p:spPr>
        </p:cxnSp>
        <p:cxnSp>
          <p:nvCxnSpPr>
            <p:cNvPr id="259" name="Google Shape;259;p30"/>
            <p:cNvCxnSpPr>
              <a:stCxn id="252" idx="2"/>
              <a:endCxn id="253" idx="5"/>
            </p:cNvCxnSpPr>
            <p:nvPr/>
          </p:nvCxnSpPr>
          <p:spPr>
            <a:xfrm rot="10800000">
              <a:off x="7059225" y="3171150"/>
              <a:ext cx="616800" cy="245700"/>
            </a:xfrm>
            <a:prstGeom prst="straightConnector1">
              <a:avLst/>
            </a:prstGeom>
            <a:noFill/>
            <a:ln cap="flat" cmpd="sng" w="38100">
              <a:solidFill>
                <a:schemeClr val="accent3"/>
              </a:solidFill>
              <a:prstDash val="solid"/>
              <a:round/>
              <a:headEnd len="med" w="med" type="none"/>
              <a:tailEnd len="med" w="med" type="none"/>
            </a:ln>
          </p:spPr>
        </p:cxnSp>
        <p:cxnSp>
          <p:nvCxnSpPr>
            <p:cNvPr id="260" name="Google Shape;260;p30"/>
            <p:cNvCxnSpPr>
              <a:stCxn id="252" idx="0"/>
              <a:endCxn id="251" idx="4"/>
            </p:cNvCxnSpPr>
            <p:nvPr/>
          </p:nvCxnSpPr>
          <p:spPr>
            <a:xfrm rot="10800000">
              <a:off x="7566525" y="2508450"/>
              <a:ext cx="325200" cy="692700"/>
            </a:xfrm>
            <a:prstGeom prst="straightConnector1">
              <a:avLst/>
            </a:prstGeom>
            <a:noFill/>
            <a:ln cap="flat" cmpd="sng" w="38100">
              <a:solidFill>
                <a:schemeClr val="accent3"/>
              </a:solidFill>
              <a:prstDash val="solid"/>
              <a:round/>
              <a:headEnd len="med" w="med" type="none"/>
              <a:tailEnd len="med" w="med" type="none"/>
            </a:ln>
          </p:spPr>
        </p:cxn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p:nvPr/>
        </p:nvSpPr>
        <p:spPr>
          <a:xfrm>
            <a:off x="4637100" y="1434513"/>
            <a:ext cx="1677900" cy="3174600"/>
          </a:xfrm>
          <a:prstGeom prst="roundRect">
            <a:avLst>
              <a:gd fmla="val 16667" name="adj"/>
            </a:avLst>
          </a:prstGeom>
          <a:solidFill>
            <a:srgbClr val="F2BA52">
              <a:alpha val="64999"/>
            </a:srgbClr>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GB" sz="1000">
                <a:solidFill>
                  <a:schemeClr val="lt1"/>
                </a:solidFill>
                <a:latin typeface="Source Code Pro"/>
                <a:ea typeface="Source Code Pro"/>
                <a:cs typeface="Source Code Pro"/>
                <a:sym typeface="Source Code Pro"/>
              </a:rPr>
              <a:t>Interaction</a:t>
            </a:r>
            <a:r>
              <a:rPr lang="en-GB" sz="1000">
                <a:solidFill>
                  <a:schemeClr val="lt1"/>
                </a:solidFill>
                <a:latin typeface="Source Code Pro"/>
                <a:ea typeface="Source Code Pro"/>
                <a:cs typeface="Source Code Pro"/>
                <a:sym typeface="Source Code Pro"/>
              </a:rPr>
              <a:t> </a:t>
            </a:r>
            <a:endParaRPr sz="1000">
              <a:solidFill>
                <a:schemeClr val="lt1"/>
              </a:solidFill>
              <a:latin typeface="Source Code Pro"/>
              <a:ea typeface="Source Code Pro"/>
              <a:cs typeface="Source Code Pro"/>
              <a:sym typeface="Source Code Pro"/>
            </a:endParaRPr>
          </a:p>
          <a:p>
            <a:pPr indent="0" lvl="0" marL="0" rtl="0" algn="r">
              <a:spcBef>
                <a:spcPts val="0"/>
              </a:spcBef>
              <a:spcAft>
                <a:spcPts val="0"/>
              </a:spcAft>
              <a:buNone/>
            </a:pPr>
            <a:r>
              <a:rPr lang="en-GB" sz="1000">
                <a:solidFill>
                  <a:schemeClr val="lt1"/>
                </a:solidFill>
                <a:latin typeface="Source Code Pro"/>
                <a:ea typeface="Source Code Pro"/>
                <a:cs typeface="Source Code Pro"/>
                <a:sym typeface="Source Code Pro"/>
              </a:rPr>
              <a:t>= ‘real’</a:t>
            </a:r>
            <a:endParaRPr sz="1000">
              <a:solidFill>
                <a:schemeClr val="lt1"/>
              </a:solidFill>
              <a:latin typeface="Source Code Pro"/>
              <a:ea typeface="Source Code Pro"/>
              <a:cs typeface="Source Code Pro"/>
              <a:sym typeface="Source Code Pro"/>
            </a:endParaRPr>
          </a:p>
        </p:txBody>
      </p:sp>
      <p:sp>
        <p:nvSpPr>
          <p:cNvPr id="266" name="Google Shape;266;p31"/>
          <p:cNvSpPr/>
          <p:nvPr/>
        </p:nvSpPr>
        <p:spPr>
          <a:xfrm>
            <a:off x="2828991" y="1382791"/>
            <a:ext cx="3486000" cy="1587300"/>
          </a:xfrm>
          <a:prstGeom prst="roundRect">
            <a:avLst>
              <a:gd fmla="val 16667" name="adj"/>
            </a:avLst>
          </a:prstGeom>
          <a:solidFill>
            <a:srgbClr val="0B8C7F">
              <a:alpha val="64999"/>
            </a:srgbClr>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GB" sz="1000">
                <a:solidFill>
                  <a:schemeClr val="lt1"/>
                </a:solidFill>
                <a:latin typeface="Source Code Pro"/>
                <a:ea typeface="Source Code Pro"/>
                <a:cs typeface="Source Code Pro"/>
                <a:sym typeface="Source Code Pro"/>
              </a:rPr>
              <a:t>Structure = ‘real’</a:t>
            </a:r>
            <a:endParaRPr sz="1000">
              <a:solidFill>
                <a:schemeClr val="lt1"/>
              </a:solidFill>
              <a:latin typeface="Source Code Pro"/>
              <a:ea typeface="Source Code Pro"/>
              <a:cs typeface="Source Code Pro"/>
              <a:sym typeface="Source Code Pro"/>
            </a:endParaRPr>
          </a:p>
        </p:txBody>
      </p:sp>
      <p:sp>
        <p:nvSpPr>
          <p:cNvPr id="267" name="Google Shape;267;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68" name="Google Shape;268;p31"/>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Constructing Food Webs</a:t>
            </a:r>
            <a:endParaRPr sz="1100">
              <a:solidFill>
                <a:schemeClr val="dk2"/>
              </a:solidFill>
              <a:latin typeface="Source Code Pro Light"/>
              <a:ea typeface="Source Code Pro Light"/>
              <a:cs typeface="Source Code Pro Light"/>
              <a:sym typeface="Source Code Pro Light"/>
            </a:endParaRPr>
          </a:p>
        </p:txBody>
      </p:sp>
      <p:sp>
        <p:nvSpPr>
          <p:cNvPr id="269" name="Google Shape;269;p3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Predicting Networks: The Divergence</a:t>
            </a:r>
            <a:endParaRPr/>
          </a:p>
        </p:txBody>
      </p:sp>
      <p:grpSp>
        <p:nvGrpSpPr>
          <p:cNvPr id="270" name="Google Shape;270;p31"/>
          <p:cNvGrpSpPr/>
          <p:nvPr/>
        </p:nvGrpSpPr>
        <p:grpSpPr>
          <a:xfrm>
            <a:off x="2741232" y="1294026"/>
            <a:ext cx="3661537" cy="3455586"/>
            <a:chOff x="2654874" y="1427475"/>
            <a:chExt cx="3493500" cy="3297000"/>
          </a:xfrm>
        </p:grpSpPr>
        <p:cxnSp>
          <p:nvCxnSpPr>
            <p:cNvPr id="271" name="Google Shape;271;p31"/>
            <p:cNvCxnSpPr/>
            <p:nvPr/>
          </p:nvCxnSpPr>
          <p:spPr>
            <a:xfrm>
              <a:off x="4401774" y="1427475"/>
              <a:ext cx="0" cy="3297000"/>
            </a:xfrm>
            <a:prstGeom prst="straightConnector1">
              <a:avLst/>
            </a:prstGeom>
            <a:noFill/>
            <a:ln cap="flat" cmpd="sng" w="28575">
              <a:solidFill>
                <a:schemeClr val="dk2"/>
              </a:solidFill>
              <a:prstDash val="solid"/>
              <a:round/>
              <a:headEnd len="med" w="med" type="none"/>
              <a:tailEnd len="med" w="med" type="none"/>
            </a:ln>
          </p:spPr>
        </p:cxnSp>
        <p:cxnSp>
          <p:nvCxnSpPr>
            <p:cNvPr id="272" name="Google Shape;272;p31"/>
            <p:cNvCxnSpPr/>
            <p:nvPr/>
          </p:nvCxnSpPr>
          <p:spPr>
            <a:xfrm rot="10800000">
              <a:off x="2654874" y="3076085"/>
              <a:ext cx="3493500" cy="0"/>
            </a:xfrm>
            <a:prstGeom prst="straightConnector1">
              <a:avLst/>
            </a:prstGeom>
            <a:noFill/>
            <a:ln cap="flat" cmpd="sng" w="28575">
              <a:solidFill>
                <a:schemeClr val="dk2"/>
              </a:solidFill>
              <a:prstDash val="solid"/>
              <a:round/>
              <a:headEnd len="med" w="med" type="none"/>
              <a:tailEnd len="med" w="med" type="none"/>
            </a:ln>
          </p:spPr>
        </p:cxnSp>
      </p:grpSp>
      <p:pic>
        <p:nvPicPr>
          <p:cNvPr id="273" name="Google Shape;273;p31"/>
          <p:cNvPicPr preferRelativeResize="0"/>
          <p:nvPr/>
        </p:nvPicPr>
        <p:blipFill>
          <a:blip r:embed="rId3">
            <a:alphaModFix/>
          </a:blip>
          <a:stretch>
            <a:fillRect/>
          </a:stretch>
        </p:blipFill>
        <p:spPr>
          <a:xfrm>
            <a:off x="4973913" y="3100773"/>
            <a:ext cx="1004275" cy="983300"/>
          </a:xfrm>
          <a:prstGeom prst="rect">
            <a:avLst/>
          </a:prstGeom>
          <a:noFill/>
          <a:ln cap="flat" cmpd="sng" w="28575">
            <a:solidFill>
              <a:schemeClr val="dk1"/>
            </a:solidFill>
            <a:prstDash val="solid"/>
            <a:round/>
            <a:headEnd len="sm" w="sm" type="none"/>
            <a:tailEnd len="sm" w="sm" type="none"/>
          </a:ln>
        </p:spPr>
      </p:pic>
      <p:pic>
        <p:nvPicPr>
          <p:cNvPr id="274" name="Google Shape;274;p31"/>
          <p:cNvPicPr preferRelativeResize="0"/>
          <p:nvPr/>
        </p:nvPicPr>
        <p:blipFill rotWithShape="1">
          <a:blip r:embed="rId4">
            <a:alphaModFix/>
          </a:blip>
          <a:srcRect b="0" l="0" r="2922" t="3474"/>
          <a:stretch/>
        </p:blipFill>
        <p:spPr>
          <a:xfrm>
            <a:off x="4929425" y="1561421"/>
            <a:ext cx="1093249" cy="966768"/>
          </a:xfrm>
          <a:prstGeom prst="rect">
            <a:avLst/>
          </a:prstGeom>
          <a:noFill/>
          <a:ln cap="flat" cmpd="sng" w="28575">
            <a:solidFill>
              <a:schemeClr val="dk1"/>
            </a:solidFill>
            <a:prstDash val="solid"/>
            <a:round/>
            <a:headEnd len="sm" w="sm" type="none"/>
            <a:tailEnd len="sm" w="sm" type="none"/>
          </a:ln>
        </p:spPr>
      </p:pic>
      <p:sp>
        <p:nvSpPr>
          <p:cNvPr id="275" name="Google Shape;275;p31"/>
          <p:cNvSpPr/>
          <p:nvPr/>
        </p:nvSpPr>
        <p:spPr>
          <a:xfrm>
            <a:off x="48975" y="2779475"/>
            <a:ext cx="3150954" cy="2124036"/>
          </a:xfrm>
          <a:prstGeom prst="irregularSeal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Source Code Pro"/>
                <a:ea typeface="Source Code Pro"/>
                <a:cs typeface="Source Code Pro"/>
                <a:sym typeface="Source Code Pro"/>
              </a:rPr>
              <a:t>OK but who should we ‘believe’?</a:t>
            </a:r>
            <a:endParaRPr>
              <a:latin typeface="Source Code Pro"/>
              <a:ea typeface="Source Code Pro"/>
              <a:cs typeface="Source Code Pro"/>
              <a:sym typeface="Source Code Pro"/>
            </a:endParaRPr>
          </a:p>
        </p:txBody>
      </p:sp>
      <p:sp>
        <p:nvSpPr>
          <p:cNvPr id="276" name="Google Shape;276;p31"/>
          <p:cNvSpPr txBox="1"/>
          <p:nvPr/>
        </p:nvSpPr>
        <p:spPr>
          <a:xfrm>
            <a:off x="6455850" y="1888164"/>
            <a:ext cx="2565300" cy="19929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dk2"/>
              </a:buClr>
              <a:buSzPts val="1400"/>
              <a:buFont typeface="Source Code Pro"/>
              <a:buChar char="●"/>
            </a:pPr>
            <a:r>
              <a:rPr lang="en-GB">
                <a:solidFill>
                  <a:schemeClr val="dk2"/>
                </a:solidFill>
                <a:latin typeface="Source Code Pro"/>
                <a:ea typeface="Source Code Pro"/>
                <a:cs typeface="Source Code Pro"/>
                <a:sym typeface="Source Code Pro"/>
              </a:rPr>
              <a:t>Currencies</a:t>
            </a:r>
            <a:endParaRPr>
              <a:solidFill>
                <a:schemeClr val="dk2"/>
              </a:solidFill>
              <a:latin typeface="Source Code Pro"/>
              <a:ea typeface="Source Code Pro"/>
              <a:cs typeface="Source Code Pro"/>
              <a:sym typeface="Source Code Pro"/>
            </a:endParaRPr>
          </a:p>
          <a:p>
            <a:pPr indent="-317500" lvl="0" marL="457200" rtl="0" algn="l">
              <a:spcBef>
                <a:spcPts val="0"/>
              </a:spcBef>
              <a:spcAft>
                <a:spcPts val="0"/>
              </a:spcAft>
              <a:buClr>
                <a:schemeClr val="dk2"/>
              </a:buClr>
              <a:buSzPts val="1400"/>
              <a:buFont typeface="Source Code Pro"/>
              <a:buChar char="●"/>
            </a:pPr>
            <a:r>
              <a:rPr lang="en-GB">
                <a:solidFill>
                  <a:schemeClr val="dk2"/>
                </a:solidFill>
                <a:latin typeface="Source Code Pro"/>
                <a:ea typeface="Source Code Pro"/>
                <a:cs typeface="Source Code Pro"/>
                <a:sym typeface="Source Code Pro"/>
              </a:rPr>
              <a:t>Use: Theory v. applied</a:t>
            </a:r>
            <a:endParaRPr>
              <a:solidFill>
                <a:schemeClr val="dk2"/>
              </a:solidFill>
              <a:latin typeface="Source Code Pro"/>
              <a:ea typeface="Source Code Pro"/>
              <a:cs typeface="Source Code Pro"/>
              <a:sym typeface="Source Code Pro"/>
            </a:endParaRPr>
          </a:p>
          <a:p>
            <a:pPr indent="-317500" lvl="0" marL="457200" rtl="0" algn="l">
              <a:spcBef>
                <a:spcPts val="0"/>
              </a:spcBef>
              <a:spcAft>
                <a:spcPts val="0"/>
              </a:spcAft>
              <a:buClr>
                <a:schemeClr val="dk2"/>
              </a:buClr>
              <a:buSzPts val="1400"/>
              <a:buFont typeface="Source Code Pro"/>
              <a:buChar char="●"/>
            </a:pPr>
            <a:r>
              <a:rPr lang="en-GB">
                <a:solidFill>
                  <a:schemeClr val="dk2"/>
                </a:solidFill>
                <a:latin typeface="Source Code Pro"/>
                <a:ea typeface="Source Code Pro"/>
                <a:cs typeface="Source Code Pro"/>
                <a:sym typeface="Source Code Pro"/>
              </a:rPr>
              <a:t>Scale: Realised v. bigger picture</a:t>
            </a:r>
            <a:endParaRPr>
              <a:solidFill>
                <a:schemeClr val="dk2"/>
              </a:solidFill>
              <a:latin typeface="Source Code Pro"/>
              <a:ea typeface="Source Code Pro"/>
              <a:cs typeface="Source Code Pro"/>
              <a:sym typeface="Source Code Pro"/>
            </a:endParaRPr>
          </a:p>
          <a:p>
            <a:pPr indent="-317500" lvl="0" marL="457200" rtl="0" algn="l">
              <a:spcBef>
                <a:spcPts val="0"/>
              </a:spcBef>
              <a:spcAft>
                <a:spcPts val="0"/>
              </a:spcAft>
              <a:buClr>
                <a:schemeClr val="dk2"/>
              </a:buClr>
              <a:buSzPts val="1400"/>
              <a:buFont typeface="Source Code Pro"/>
              <a:buChar char="●"/>
            </a:pPr>
            <a:r>
              <a:rPr lang="en-GB">
                <a:solidFill>
                  <a:schemeClr val="dk2"/>
                </a:solidFill>
                <a:latin typeface="Source Code Pro"/>
                <a:ea typeface="Source Code Pro"/>
                <a:cs typeface="Source Code Pro"/>
                <a:sym typeface="Source Code Pro"/>
              </a:rPr>
              <a:t>‘Accuracy’: Model v. reality</a:t>
            </a:r>
            <a:endParaRPr>
              <a:solidFill>
                <a:schemeClr val="dk2"/>
              </a:solidFill>
              <a:latin typeface="Source Code Pro"/>
              <a:ea typeface="Source Code Pro"/>
              <a:cs typeface="Source Code Pro"/>
              <a:sym typeface="Source Code Pro"/>
            </a:endParaRPr>
          </a:p>
        </p:txBody>
      </p:sp>
      <p:sp>
        <p:nvSpPr>
          <p:cNvPr id="277" name="Google Shape;277;p31"/>
          <p:cNvSpPr/>
          <p:nvPr/>
        </p:nvSpPr>
        <p:spPr>
          <a:xfrm>
            <a:off x="3199925" y="1629850"/>
            <a:ext cx="1093200" cy="1093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grpSp>
        <p:nvGrpSpPr>
          <p:cNvPr id="278" name="Google Shape;278;p31"/>
          <p:cNvGrpSpPr/>
          <p:nvPr/>
        </p:nvGrpSpPr>
        <p:grpSpPr>
          <a:xfrm>
            <a:off x="3276384" y="1714874"/>
            <a:ext cx="940285" cy="923150"/>
            <a:chOff x="5613300" y="1183875"/>
            <a:chExt cx="2494125" cy="2448675"/>
          </a:xfrm>
        </p:grpSpPr>
        <p:sp>
          <p:nvSpPr>
            <p:cNvPr id="279" name="Google Shape;279;p31"/>
            <p:cNvSpPr/>
            <p:nvPr/>
          </p:nvSpPr>
          <p:spPr>
            <a:xfrm>
              <a:off x="5613300" y="29854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80" name="Google Shape;280;p31"/>
            <p:cNvSpPr/>
            <p:nvPr/>
          </p:nvSpPr>
          <p:spPr>
            <a:xfrm>
              <a:off x="6665850" y="11838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81" name="Google Shape;281;p31"/>
            <p:cNvSpPr/>
            <p:nvPr/>
          </p:nvSpPr>
          <p:spPr>
            <a:xfrm>
              <a:off x="6074313"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82" name="Google Shape;282;p31"/>
            <p:cNvSpPr/>
            <p:nvPr/>
          </p:nvSpPr>
          <p:spPr>
            <a:xfrm>
              <a:off x="7350725"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83" name="Google Shape;283;p31"/>
            <p:cNvSpPr/>
            <p:nvPr/>
          </p:nvSpPr>
          <p:spPr>
            <a:xfrm>
              <a:off x="7676025" y="32011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84" name="Google Shape;284;p31"/>
            <p:cNvSpPr/>
            <p:nvPr/>
          </p:nvSpPr>
          <p:spPr>
            <a:xfrm>
              <a:off x="6691013" y="28030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cxnSp>
          <p:nvCxnSpPr>
            <p:cNvPr id="285" name="Google Shape;285;p31"/>
            <p:cNvCxnSpPr>
              <a:stCxn id="281" idx="7"/>
              <a:endCxn id="280" idx="3"/>
            </p:cNvCxnSpPr>
            <p:nvPr/>
          </p:nvCxnSpPr>
          <p:spPr>
            <a:xfrm flipH="1" rot="10800000">
              <a:off x="6442535" y="1552227"/>
              <a:ext cx="286500" cy="588000"/>
            </a:xfrm>
            <a:prstGeom prst="straightConnector1">
              <a:avLst/>
            </a:prstGeom>
            <a:noFill/>
            <a:ln cap="flat" cmpd="sng" w="19050">
              <a:solidFill>
                <a:schemeClr val="accent3"/>
              </a:solidFill>
              <a:prstDash val="solid"/>
              <a:round/>
              <a:headEnd len="med" w="med" type="none"/>
              <a:tailEnd len="med" w="med" type="none"/>
            </a:ln>
          </p:spPr>
        </p:cxnSp>
        <p:cxnSp>
          <p:nvCxnSpPr>
            <p:cNvPr id="286" name="Google Shape;286;p31"/>
            <p:cNvCxnSpPr>
              <a:stCxn id="282" idx="1"/>
              <a:endCxn id="280" idx="5"/>
            </p:cNvCxnSpPr>
            <p:nvPr/>
          </p:nvCxnSpPr>
          <p:spPr>
            <a:xfrm rot="10800000">
              <a:off x="7034102" y="1552227"/>
              <a:ext cx="379800" cy="588000"/>
            </a:xfrm>
            <a:prstGeom prst="straightConnector1">
              <a:avLst/>
            </a:prstGeom>
            <a:noFill/>
            <a:ln cap="flat" cmpd="sng" w="19050">
              <a:solidFill>
                <a:schemeClr val="accent3"/>
              </a:solidFill>
              <a:prstDash val="solid"/>
              <a:round/>
              <a:headEnd len="med" w="med" type="none"/>
              <a:tailEnd len="med" w="med" type="none"/>
            </a:ln>
          </p:spPr>
        </p:cxnSp>
        <p:cxnSp>
          <p:nvCxnSpPr>
            <p:cNvPr id="287" name="Google Shape;287;p31"/>
            <p:cNvCxnSpPr>
              <a:stCxn id="284" idx="0"/>
              <a:endCxn id="280" idx="4"/>
            </p:cNvCxnSpPr>
            <p:nvPr/>
          </p:nvCxnSpPr>
          <p:spPr>
            <a:xfrm rot="10800000">
              <a:off x="6881513" y="1615375"/>
              <a:ext cx="25200" cy="1187700"/>
            </a:xfrm>
            <a:prstGeom prst="straightConnector1">
              <a:avLst/>
            </a:prstGeom>
            <a:noFill/>
            <a:ln cap="flat" cmpd="sng" w="19050">
              <a:solidFill>
                <a:schemeClr val="accent3"/>
              </a:solidFill>
              <a:prstDash val="solid"/>
              <a:round/>
              <a:headEnd len="med" w="med" type="none"/>
              <a:tailEnd len="med" w="med" type="none"/>
            </a:ln>
          </p:spPr>
        </p:cxnSp>
        <p:cxnSp>
          <p:nvCxnSpPr>
            <p:cNvPr id="288" name="Google Shape;288;p31"/>
            <p:cNvCxnSpPr>
              <a:stCxn id="284" idx="1"/>
              <a:endCxn id="281" idx="5"/>
            </p:cNvCxnSpPr>
            <p:nvPr/>
          </p:nvCxnSpPr>
          <p:spPr>
            <a:xfrm rot="10800000">
              <a:off x="6442490" y="2445352"/>
              <a:ext cx="311700" cy="420900"/>
            </a:xfrm>
            <a:prstGeom prst="straightConnector1">
              <a:avLst/>
            </a:prstGeom>
            <a:noFill/>
            <a:ln cap="flat" cmpd="sng" w="19050">
              <a:solidFill>
                <a:schemeClr val="accent3"/>
              </a:solidFill>
              <a:prstDash val="solid"/>
              <a:round/>
              <a:headEnd len="med" w="med" type="none"/>
              <a:tailEnd len="med" w="med" type="none"/>
            </a:ln>
          </p:spPr>
        </p:cxnSp>
        <p:cxnSp>
          <p:nvCxnSpPr>
            <p:cNvPr id="289" name="Google Shape;289;p31"/>
            <p:cNvCxnSpPr>
              <a:stCxn id="279" idx="0"/>
              <a:endCxn id="281" idx="3"/>
            </p:cNvCxnSpPr>
            <p:nvPr/>
          </p:nvCxnSpPr>
          <p:spPr>
            <a:xfrm flipH="1" rot="10800000">
              <a:off x="5829000" y="2445150"/>
              <a:ext cx="308400" cy="540300"/>
            </a:xfrm>
            <a:prstGeom prst="straightConnector1">
              <a:avLst/>
            </a:prstGeom>
            <a:noFill/>
            <a:ln cap="flat" cmpd="sng" w="19050">
              <a:solidFill>
                <a:schemeClr val="accent3"/>
              </a:solidFill>
              <a:prstDash val="solid"/>
              <a:round/>
              <a:headEnd len="med" w="med" type="none"/>
              <a:tailEnd len="med" w="med" type="none"/>
            </a:ln>
          </p:spPr>
        </p:cxnSp>
        <p:cxnSp>
          <p:nvCxnSpPr>
            <p:cNvPr id="290" name="Google Shape;290;p31"/>
            <p:cNvCxnSpPr>
              <a:stCxn id="283" idx="2"/>
              <a:endCxn id="284" idx="5"/>
            </p:cNvCxnSpPr>
            <p:nvPr/>
          </p:nvCxnSpPr>
          <p:spPr>
            <a:xfrm rot="10800000">
              <a:off x="7059225" y="3171150"/>
              <a:ext cx="616800" cy="245700"/>
            </a:xfrm>
            <a:prstGeom prst="straightConnector1">
              <a:avLst/>
            </a:prstGeom>
            <a:noFill/>
            <a:ln cap="flat" cmpd="sng" w="19050">
              <a:solidFill>
                <a:schemeClr val="accent3"/>
              </a:solidFill>
              <a:prstDash val="solid"/>
              <a:round/>
              <a:headEnd len="med" w="med" type="none"/>
              <a:tailEnd len="med" w="med" type="none"/>
            </a:ln>
          </p:spPr>
        </p:cxnSp>
        <p:cxnSp>
          <p:nvCxnSpPr>
            <p:cNvPr id="291" name="Google Shape;291;p31"/>
            <p:cNvCxnSpPr>
              <a:stCxn id="283" idx="0"/>
              <a:endCxn id="282" idx="4"/>
            </p:cNvCxnSpPr>
            <p:nvPr/>
          </p:nvCxnSpPr>
          <p:spPr>
            <a:xfrm rot="10800000">
              <a:off x="7566525" y="2508450"/>
              <a:ext cx="325200" cy="692700"/>
            </a:xfrm>
            <a:prstGeom prst="straightConnector1">
              <a:avLst/>
            </a:prstGeom>
            <a:noFill/>
            <a:ln cap="flat" cmpd="sng" w="19050">
              <a:solidFill>
                <a:schemeClr val="accent3"/>
              </a:solidFill>
              <a:prstDash val="solid"/>
              <a:round/>
              <a:headEnd len="med" w="med" type="none"/>
              <a:tailEnd len="med" w="med" type="none"/>
            </a:ln>
          </p:spPr>
        </p:cxn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97" name="Google Shape;297;p32"/>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Constructing Food Webs</a:t>
            </a:r>
            <a:endParaRPr sz="1100">
              <a:solidFill>
                <a:schemeClr val="dk2"/>
              </a:solidFill>
              <a:latin typeface="Source Code Pro Light"/>
              <a:ea typeface="Source Code Pro Light"/>
              <a:cs typeface="Source Code Pro Light"/>
              <a:sym typeface="Source Code Pro Light"/>
            </a:endParaRPr>
          </a:p>
        </p:txBody>
      </p:sp>
      <p:pic>
        <p:nvPicPr>
          <p:cNvPr id="298" name="Google Shape;298;p32"/>
          <p:cNvPicPr preferRelativeResize="0"/>
          <p:nvPr/>
        </p:nvPicPr>
        <p:blipFill>
          <a:blip r:embed="rId3">
            <a:alphaModFix/>
          </a:blip>
          <a:stretch>
            <a:fillRect/>
          </a:stretch>
        </p:blipFill>
        <p:spPr>
          <a:xfrm>
            <a:off x="1134513" y="164976"/>
            <a:ext cx="6874962" cy="44982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04" name="Google Shape;304;p33"/>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Constructing Food Webs</a:t>
            </a:r>
            <a:endParaRPr sz="1100">
              <a:solidFill>
                <a:schemeClr val="dk2"/>
              </a:solidFill>
              <a:latin typeface="Source Code Pro Light"/>
              <a:ea typeface="Source Code Pro Light"/>
              <a:cs typeface="Source Code Pro Light"/>
              <a:sym typeface="Source Code Pro Light"/>
            </a:endParaRPr>
          </a:p>
        </p:txBody>
      </p:sp>
      <p:sp>
        <p:nvSpPr>
          <p:cNvPr id="305" name="Google Shape;305;p33"/>
          <p:cNvSpPr txBox="1"/>
          <p:nvPr>
            <p:ph type="title"/>
          </p:nvPr>
        </p:nvSpPr>
        <p:spPr>
          <a:xfrm>
            <a:off x="311700" y="37250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What are the opportunities that different network representations afford us?</a:t>
            </a:r>
            <a:endParaRPr/>
          </a:p>
        </p:txBody>
      </p:sp>
      <p:graphicFrame>
        <p:nvGraphicFramePr>
          <p:cNvPr id="306" name="Google Shape;306;p33"/>
          <p:cNvGraphicFramePr/>
          <p:nvPr/>
        </p:nvGraphicFramePr>
        <p:xfrm>
          <a:off x="311700" y="1417350"/>
          <a:ext cx="3000000" cy="3000000"/>
        </p:xfrm>
        <a:graphic>
          <a:graphicData uri="http://schemas.openxmlformats.org/drawingml/2006/table">
            <a:tbl>
              <a:tblPr>
                <a:noFill/>
                <a:tableStyleId>{4D3C6839-8E4A-4D7E-B279-2D5DBB2FA352}</a:tableStyleId>
              </a:tblPr>
              <a:tblGrid>
                <a:gridCol w="2840200"/>
                <a:gridCol w="2840200"/>
                <a:gridCol w="2840200"/>
              </a:tblGrid>
              <a:tr h="427725">
                <a:tc>
                  <a:txBody>
                    <a:bodyPr/>
                    <a:lstStyle/>
                    <a:p>
                      <a:pPr indent="0" lvl="0" marL="0" rtl="0" algn="l">
                        <a:spcBef>
                          <a:spcPts val="0"/>
                        </a:spcBef>
                        <a:spcAft>
                          <a:spcPts val="0"/>
                        </a:spcAft>
                        <a:buNone/>
                      </a:pPr>
                      <a:r>
                        <a:rPr lang="en-GB">
                          <a:latin typeface="Lato"/>
                          <a:ea typeface="Lato"/>
                          <a:cs typeface="Lato"/>
                          <a:sym typeface="Lato"/>
                        </a:rPr>
                        <a:t>Metawebs</a:t>
                      </a:r>
                      <a:endParaRPr>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GB">
                          <a:latin typeface="Lato"/>
                          <a:ea typeface="Lato"/>
                          <a:cs typeface="Lato"/>
                          <a:sym typeface="Lato"/>
                        </a:rPr>
                        <a:t>Realised webs</a:t>
                      </a:r>
                      <a:endParaRPr>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GB">
                          <a:latin typeface="Lato"/>
                          <a:ea typeface="Lato"/>
                          <a:cs typeface="Lato"/>
                          <a:sym typeface="Lato"/>
                        </a:rPr>
                        <a:t>Topological webs</a:t>
                      </a:r>
                      <a:endParaRPr>
                        <a:latin typeface="Lato"/>
                        <a:ea typeface="Lato"/>
                        <a:cs typeface="Lato"/>
                        <a:sym typeface="Lato"/>
                      </a:endParaRPr>
                    </a:p>
                  </a:txBody>
                  <a:tcPr marT="91425" marB="91425" marR="91425" marL="91425"/>
                </a:tc>
              </a:tr>
              <a:tr h="2775700">
                <a:tc>
                  <a:txBody>
                    <a:bodyPr/>
                    <a:lstStyle/>
                    <a:p>
                      <a:pPr indent="-317500" lvl="0" marL="457200" rtl="0" algn="l">
                        <a:spcBef>
                          <a:spcPts val="0"/>
                        </a:spcBef>
                        <a:spcAft>
                          <a:spcPts val="0"/>
                        </a:spcAft>
                        <a:buSzPts val="1400"/>
                        <a:buFont typeface="Lato"/>
                        <a:buChar char="●"/>
                      </a:pPr>
                      <a:r>
                        <a:rPr lang="en-GB">
                          <a:latin typeface="Lato"/>
                          <a:ea typeface="Lato"/>
                          <a:cs typeface="Lato"/>
                          <a:sym typeface="Lato"/>
                        </a:rPr>
                        <a:t>‘Global overview’</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Who *could* eat who?</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‘Condition invariant’</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Full breadth - fundamental niche</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On the ground applications? Data light, easy to obtain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txBody>
                  <a:tcPr marT="91425" marB="91425" marR="91425" marL="91425"/>
                </a:tc>
                <a:tc>
                  <a:txBody>
                    <a:bodyPr/>
                    <a:lstStyle/>
                    <a:p>
                      <a:pPr indent="-317500" lvl="0" marL="457200" rtl="0" algn="l">
                        <a:spcBef>
                          <a:spcPts val="0"/>
                        </a:spcBef>
                        <a:spcAft>
                          <a:spcPts val="0"/>
                        </a:spcAft>
                        <a:buSzPts val="1400"/>
                        <a:buFont typeface="Lato"/>
                        <a:buChar char="●"/>
                      </a:pPr>
                      <a:r>
                        <a:rPr lang="en-GB">
                          <a:latin typeface="Lato"/>
                          <a:ea typeface="Lato"/>
                          <a:cs typeface="Lato"/>
                          <a:sym typeface="Lato"/>
                        </a:rPr>
                        <a:t>Here and now</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Who *chooses* to eat who</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Dynamic - depends on bigger community/environment context</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‘Realized niche’ </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Structure realistic - actual energy flows/pathways &amp;&amp; species info</a:t>
                      </a:r>
                      <a:endParaRPr>
                        <a:latin typeface="Lato"/>
                        <a:ea typeface="Lato"/>
                        <a:cs typeface="Lato"/>
                        <a:sym typeface="Lato"/>
                      </a:endParaRPr>
                    </a:p>
                  </a:txBody>
                  <a:tcPr marT="91425" marB="91425" marR="91425" marL="91425"/>
                </a:tc>
                <a:tc>
                  <a:txBody>
                    <a:bodyPr/>
                    <a:lstStyle/>
                    <a:p>
                      <a:pPr indent="-317500" lvl="0" marL="457200" rtl="0" algn="l">
                        <a:spcBef>
                          <a:spcPts val="0"/>
                        </a:spcBef>
                        <a:spcAft>
                          <a:spcPts val="0"/>
                        </a:spcAft>
                        <a:buSzPts val="1400"/>
                        <a:buFont typeface="Lato"/>
                        <a:buChar char="●"/>
                      </a:pPr>
                      <a:r>
                        <a:rPr lang="en-GB">
                          <a:latin typeface="Lato"/>
                          <a:ea typeface="Lato"/>
                          <a:cs typeface="Lato"/>
                          <a:sym typeface="Lato"/>
                        </a:rPr>
                        <a:t>Useful in theoretical scenarios/contexts</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Real world abstraction - operate in synthetic space</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n-GB">
                          <a:latin typeface="Lato"/>
                          <a:ea typeface="Lato"/>
                          <a:cs typeface="Lato"/>
                          <a:sym typeface="Lato"/>
                        </a:rPr>
                        <a:t>Structure = informative -&gt; ecosystem level processes</a:t>
                      </a:r>
                      <a:endParaRPr>
                        <a:latin typeface="Lato"/>
                        <a:ea typeface="Lato"/>
                        <a:cs typeface="Lato"/>
                        <a:sym typeface="Lato"/>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Takeaways</a:t>
            </a:r>
            <a:endParaRPr/>
          </a:p>
        </p:txBody>
      </p:sp>
      <p:sp>
        <p:nvSpPr>
          <p:cNvPr id="312" name="Google Shape;312;p34"/>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GB"/>
              <a:t>Prediction vs Modelling</a:t>
            </a:r>
            <a:endParaRPr/>
          </a:p>
          <a:p>
            <a:pPr indent="-349250" lvl="0" marL="457200" rtl="0" algn="l">
              <a:spcBef>
                <a:spcPts val="0"/>
              </a:spcBef>
              <a:spcAft>
                <a:spcPts val="0"/>
              </a:spcAft>
              <a:buSzPts val="1900"/>
              <a:buChar char="●"/>
            </a:pPr>
            <a:r>
              <a:rPr lang="en-GB"/>
              <a:t>Different families/approaches</a:t>
            </a:r>
            <a:endParaRPr/>
          </a:p>
          <a:p>
            <a:pPr indent="-349250" lvl="0" marL="457200" rtl="0" algn="l">
              <a:spcBef>
                <a:spcPts val="0"/>
              </a:spcBef>
              <a:spcAft>
                <a:spcPts val="0"/>
              </a:spcAft>
              <a:buSzPts val="1900"/>
              <a:buChar char="●"/>
            </a:pPr>
            <a:r>
              <a:rPr lang="en-GB"/>
              <a:t>Different end uses</a:t>
            </a:r>
            <a:endParaRPr/>
          </a:p>
        </p:txBody>
      </p:sp>
      <p:sp>
        <p:nvSpPr>
          <p:cNvPr id="313" name="Google Shape;31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14" name="Google Shape;314;p34"/>
          <p:cNvPicPr preferRelativeResize="0"/>
          <p:nvPr/>
        </p:nvPicPr>
        <p:blipFill>
          <a:blip r:embed="rId3">
            <a:alphaModFix/>
          </a:blip>
          <a:stretch>
            <a:fillRect/>
          </a:stretch>
        </p:blipFill>
        <p:spPr>
          <a:xfrm>
            <a:off x="4601550" y="518135"/>
            <a:ext cx="4419600" cy="394011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5"/>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Measuring Networks</a:t>
            </a:r>
            <a:r>
              <a:rPr baseline="30000" lang="en-GB"/>
              <a:t>[10]</a:t>
            </a:r>
            <a:endParaRPr baseline="30000"/>
          </a:p>
        </p:txBody>
      </p:sp>
      <p:sp>
        <p:nvSpPr>
          <p:cNvPr id="320" name="Google Shape;32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6"/>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It’s not just about diets </a:t>
            </a:r>
            <a:endParaRPr/>
          </a:p>
        </p:txBody>
      </p:sp>
      <p:sp>
        <p:nvSpPr>
          <p:cNvPr id="326" name="Google Shape;326;p36"/>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AutoNum type="arabicPeriod"/>
            </a:pPr>
            <a:r>
              <a:rPr lang="en-GB"/>
              <a:t>What can we learn from network structure?</a:t>
            </a:r>
            <a:endParaRPr/>
          </a:p>
          <a:p>
            <a:pPr indent="-349250" lvl="0" marL="457200" rtl="0" algn="l">
              <a:spcBef>
                <a:spcPts val="0"/>
              </a:spcBef>
              <a:spcAft>
                <a:spcPts val="0"/>
              </a:spcAft>
              <a:buSzPts val="1900"/>
              <a:buAutoNum type="arabicPeriod"/>
            </a:pPr>
            <a:r>
              <a:rPr lang="en-GB"/>
              <a:t>The role of species?</a:t>
            </a:r>
            <a:endParaRPr/>
          </a:p>
        </p:txBody>
      </p:sp>
      <p:sp>
        <p:nvSpPr>
          <p:cNvPr id="327" name="Google Shape;32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28" name="Google Shape;328;p36"/>
          <p:cNvPicPr preferRelativeResize="0"/>
          <p:nvPr/>
        </p:nvPicPr>
        <p:blipFill>
          <a:blip r:embed="rId3">
            <a:alphaModFix/>
          </a:blip>
          <a:stretch>
            <a:fillRect/>
          </a:stretch>
        </p:blipFill>
        <p:spPr>
          <a:xfrm>
            <a:off x="4766550" y="1352562"/>
            <a:ext cx="4254598" cy="24383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37"/>
          <p:cNvPicPr preferRelativeResize="0"/>
          <p:nvPr/>
        </p:nvPicPr>
        <p:blipFill rotWithShape="1">
          <a:blip r:embed="rId3">
            <a:alphaModFix/>
          </a:blip>
          <a:srcRect b="1681" l="0" r="8550" t="0"/>
          <a:stretch/>
        </p:blipFill>
        <p:spPr>
          <a:xfrm>
            <a:off x="5267725" y="43350"/>
            <a:ext cx="3876276" cy="5056800"/>
          </a:xfrm>
          <a:prstGeom prst="rect">
            <a:avLst/>
          </a:prstGeom>
          <a:noFill/>
          <a:ln>
            <a:noFill/>
          </a:ln>
        </p:spPr>
      </p:pic>
      <p:sp>
        <p:nvSpPr>
          <p:cNvPr id="334" name="Google Shape;334;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35" name="Google Shape;335;p37"/>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Measuring Networks</a:t>
            </a:r>
            <a:endParaRPr sz="1100">
              <a:solidFill>
                <a:schemeClr val="dk2"/>
              </a:solidFill>
              <a:latin typeface="Source Code Pro Light"/>
              <a:ea typeface="Source Code Pro Light"/>
              <a:cs typeface="Source Code Pro Light"/>
              <a:sym typeface="Source Code Pro Light"/>
            </a:endParaRPr>
          </a:p>
        </p:txBody>
      </p:sp>
      <p:sp>
        <p:nvSpPr>
          <p:cNvPr id="336" name="Google Shape;336;p37"/>
          <p:cNvSpPr/>
          <p:nvPr/>
        </p:nvSpPr>
        <p:spPr>
          <a:xfrm>
            <a:off x="2408975" y="43350"/>
            <a:ext cx="410400" cy="4989300"/>
          </a:xfrm>
          <a:prstGeom prst="leftBrace">
            <a:avLst>
              <a:gd fmla="val 50000" name="adj1"/>
              <a:gd fmla="val 2370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37" name="Google Shape;337;p37"/>
          <p:cNvSpPr/>
          <p:nvPr/>
        </p:nvSpPr>
        <p:spPr>
          <a:xfrm>
            <a:off x="5473075" y="3330175"/>
            <a:ext cx="309900" cy="1026300"/>
          </a:xfrm>
          <a:prstGeom prst="leftBrace">
            <a:avLst>
              <a:gd fmla="val 50000" name="adj1"/>
              <a:gd fmla="val 5000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38" name="Google Shape;338;p37"/>
          <p:cNvSpPr txBox="1"/>
          <p:nvPr/>
        </p:nvSpPr>
        <p:spPr>
          <a:xfrm>
            <a:off x="130300" y="185050"/>
            <a:ext cx="2222400" cy="20787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Source Code Pro"/>
                <a:ea typeface="Source Code Pro"/>
                <a:cs typeface="Source Code Pro"/>
                <a:sym typeface="Source Code Pro"/>
              </a:rPr>
              <a:t>Macro</a:t>
            </a:r>
            <a:endParaRPr b="1" sz="18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rPr lang="en-GB" sz="1200">
                <a:solidFill>
                  <a:schemeClr val="dk2"/>
                </a:solidFill>
                <a:latin typeface="Source Code Pro"/>
                <a:ea typeface="Source Code Pro"/>
                <a:cs typeface="Source Code Pro"/>
                <a:sym typeface="Source Code Pro"/>
              </a:rPr>
              <a:t>(Whole network)</a:t>
            </a:r>
            <a:endParaRPr sz="12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Connectance</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Diameter</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Trophic levels</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Nestedness</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Modularity</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Complexity</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Redundancy</a:t>
            </a:r>
            <a:endParaRPr sz="1200">
              <a:solidFill>
                <a:schemeClr val="dk2"/>
              </a:solidFill>
              <a:latin typeface="Source Code Pro"/>
              <a:ea typeface="Source Code Pro"/>
              <a:cs typeface="Source Code Pro"/>
              <a:sym typeface="Source Code Pro"/>
            </a:endParaRPr>
          </a:p>
        </p:txBody>
      </p:sp>
      <p:sp>
        <p:nvSpPr>
          <p:cNvPr id="339" name="Google Shape;339;p37"/>
          <p:cNvSpPr txBox="1"/>
          <p:nvPr/>
        </p:nvSpPr>
        <p:spPr>
          <a:xfrm>
            <a:off x="3414000" y="97375"/>
            <a:ext cx="2316000" cy="17637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Source Code Pro"/>
                <a:ea typeface="Source Code Pro"/>
                <a:cs typeface="Source Code Pro"/>
                <a:sym typeface="Source Code Pro"/>
              </a:rPr>
              <a:t>Micro</a:t>
            </a:r>
            <a:endParaRPr b="1" sz="18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rPr lang="en-GB" sz="1200">
                <a:solidFill>
                  <a:schemeClr val="dk2"/>
                </a:solidFill>
                <a:latin typeface="Source Code Pro"/>
                <a:ea typeface="Source Code Pro"/>
                <a:cs typeface="Source Code Pro"/>
                <a:sym typeface="Source Code Pro"/>
              </a:rPr>
              <a:t>(Species)</a:t>
            </a:r>
            <a:endParaRPr sz="12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Specificity</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Centrality</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Degree</a:t>
            </a:r>
            <a:endParaRPr sz="1200">
              <a:solidFill>
                <a:schemeClr val="dk2"/>
              </a:solidFill>
              <a:latin typeface="Source Code Pro"/>
              <a:ea typeface="Source Code Pro"/>
              <a:cs typeface="Source Code Pro"/>
              <a:sym typeface="Source Code Pro"/>
            </a:endParaRPr>
          </a:p>
          <a:p>
            <a:pPr indent="-304800" lvl="1" marL="9144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Generality</a:t>
            </a:r>
            <a:endParaRPr sz="1200">
              <a:solidFill>
                <a:schemeClr val="dk2"/>
              </a:solidFill>
              <a:latin typeface="Source Code Pro"/>
              <a:ea typeface="Source Code Pro"/>
              <a:cs typeface="Source Code Pro"/>
              <a:sym typeface="Source Code Pro"/>
            </a:endParaRPr>
          </a:p>
          <a:p>
            <a:pPr indent="-304800" lvl="1" marL="9144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Vulnerability</a:t>
            </a:r>
            <a:endParaRPr sz="1200">
              <a:solidFill>
                <a:schemeClr val="dk2"/>
              </a:solidFill>
              <a:latin typeface="Source Code Pro"/>
              <a:ea typeface="Source Code Pro"/>
              <a:cs typeface="Source Code Pro"/>
              <a:sym typeface="Source Code Pro"/>
            </a:endParaRPr>
          </a:p>
        </p:txBody>
      </p:sp>
      <p:cxnSp>
        <p:nvCxnSpPr>
          <p:cNvPr id="340" name="Google Shape;340;p37"/>
          <p:cNvCxnSpPr/>
          <p:nvPr/>
        </p:nvCxnSpPr>
        <p:spPr>
          <a:xfrm rot="10800000">
            <a:off x="5101925" y="536925"/>
            <a:ext cx="1277700" cy="1243500"/>
          </a:xfrm>
          <a:prstGeom prst="straightConnector1">
            <a:avLst/>
          </a:prstGeom>
          <a:noFill/>
          <a:ln cap="flat" cmpd="sng" w="28575">
            <a:solidFill>
              <a:schemeClr val="dk1"/>
            </a:solidFill>
            <a:prstDash val="solid"/>
            <a:round/>
            <a:headEnd len="med" w="med" type="triangle"/>
            <a:tailEnd len="med" w="med" type="none"/>
          </a:ln>
        </p:spPr>
      </p:cxnSp>
      <p:sp>
        <p:nvSpPr>
          <p:cNvPr id="341" name="Google Shape;341;p37"/>
          <p:cNvSpPr txBox="1"/>
          <p:nvPr/>
        </p:nvSpPr>
        <p:spPr>
          <a:xfrm>
            <a:off x="3630550" y="3247375"/>
            <a:ext cx="1842600" cy="11919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Source Code Pro"/>
                <a:ea typeface="Source Code Pro"/>
                <a:cs typeface="Source Code Pro"/>
                <a:sym typeface="Source Code Pro"/>
              </a:rPr>
              <a:t>Meso</a:t>
            </a:r>
            <a:endParaRPr b="1" sz="18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rPr lang="en-GB" sz="1200">
                <a:solidFill>
                  <a:schemeClr val="dk2"/>
                </a:solidFill>
                <a:latin typeface="Source Code Pro"/>
                <a:ea typeface="Source Code Pro"/>
                <a:cs typeface="Source Code Pro"/>
                <a:sym typeface="Source Code Pro"/>
              </a:rPr>
              <a:t>(‘Units’)</a:t>
            </a:r>
            <a:endParaRPr sz="1200">
              <a:solidFill>
                <a:schemeClr val="dk2"/>
              </a:solidFill>
              <a:latin typeface="Source Code Pro"/>
              <a:ea typeface="Source Code Pro"/>
              <a:cs typeface="Source Code Pro"/>
              <a:sym typeface="Source Code Pro"/>
            </a:endParaRPr>
          </a:p>
          <a:p>
            <a:pPr indent="0" lvl="0" marL="0" rtl="0" algn="ctr">
              <a:spcBef>
                <a:spcPts val="0"/>
              </a:spcBef>
              <a:spcAft>
                <a:spcPts val="0"/>
              </a:spcAft>
              <a:buNone/>
            </a:pPr>
            <a:r>
              <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Motifs</a:t>
            </a:r>
            <a:r>
              <a:rPr baseline="30000" lang="en-GB" sz="1200">
                <a:solidFill>
                  <a:schemeClr val="dk2"/>
                </a:solidFill>
                <a:latin typeface="Source Code Pro"/>
                <a:ea typeface="Source Code Pro"/>
                <a:cs typeface="Source Code Pro"/>
                <a:sym typeface="Source Code Pro"/>
              </a:rPr>
              <a:t>[Stouffer]</a:t>
            </a:r>
            <a:endParaRPr sz="1200">
              <a:solidFill>
                <a:schemeClr val="dk2"/>
              </a:solidFill>
              <a:latin typeface="Source Code Pro"/>
              <a:ea typeface="Source Code Pro"/>
              <a:cs typeface="Source Code Pro"/>
              <a:sym typeface="Source Code Pro"/>
            </a:endParaRPr>
          </a:p>
          <a:p>
            <a:pPr indent="-304800" lvl="0" marL="457200" rtl="0" algn="l">
              <a:spcBef>
                <a:spcPts val="0"/>
              </a:spcBef>
              <a:spcAft>
                <a:spcPts val="0"/>
              </a:spcAft>
              <a:buClr>
                <a:schemeClr val="dk2"/>
              </a:buClr>
              <a:buSzPts val="1200"/>
              <a:buFont typeface="Source Code Pro"/>
              <a:buChar char="●"/>
            </a:pPr>
            <a:r>
              <a:rPr lang="en-GB" sz="1200">
                <a:solidFill>
                  <a:schemeClr val="dk2"/>
                </a:solidFill>
                <a:latin typeface="Source Code Pro"/>
                <a:ea typeface="Source Code Pro"/>
                <a:cs typeface="Source Code Pro"/>
                <a:sym typeface="Source Code Pro"/>
              </a:rPr>
              <a:t>Path length</a:t>
            </a:r>
            <a:endParaRPr sz="1200">
              <a:solidFill>
                <a:schemeClr val="dk2"/>
              </a:solidFill>
              <a:latin typeface="Source Code Pro"/>
              <a:ea typeface="Source Code Pro"/>
              <a:cs typeface="Source Code Pro"/>
              <a:sym typeface="Source Code Pr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47" name="Google Shape;347;p38"/>
          <p:cNvSpPr/>
          <p:nvPr/>
        </p:nvSpPr>
        <p:spPr>
          <a:xfrm>
            <a:off x="3646700" y="299260"/>
            <a:ext cx="2252400" cy="4261500"/>
          </a:xfrm>
          <a:prstGeom prst="roundRect">
            <a:avLst>
              <a:gd fmla="val 16667" name="adj"/>
            </a:avLst>
          </a:prstGeom>
          <a:solidFill>
            <a:srgbClr val="F2BA52">
              <a:alpha val="64999"/>
            </a:srgbClr>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GB" sz="1000">
                <a:solidFill>
                  <a:schemeClr val="lt1"/>
                </a:solidFill>
                <a:latin typeface="Source Code Pro"/>
                <a:ea typeface="Source Code Pro"/>
                <a:cs typeface="Source Code Pro"/>
                <a:sym typeface="Source Code Pro"/>
              </a:rPr>
              <a:t>Interaction </a:t>
            </a:r>
            <a:endParaRPr sz="1000">
              <a:solidFill>
                <a:schemeClr val="lt1"/>
              </a:solidFill>
              <a:latin typeface="Source Code Pro"/>
              <a:ea typeface="Source Code Pro"/>
              <a:cs typeface="Source Code Pro"/>
              <a:sym typeface="Source Code Pro"/>
            </a:endParaRPr>
          </a:p>
          <a:p>
            <a:pPr indent="0" lvl="0" marL="0" rtl="0" algn="r">
              <a:spcBef>
                <a:spcPts val="0"/>
              </a:spcBef>
              <a:spcAft>
                <a:spcPts val="0"/>
              </a:spcAft>
              <a:buNone/>
            </a:pPr>
            <a:r>
              <a:rPr lang="en-GB" sz="1000">
                <a:solidFill>
                  <a:schemeClr val="lt1"/>
                </a:solidFill>
                <a:latin typeface="Source Code Pro"/>
                <a:ea typeface="Source Code Pro"/>
                <a:cs typeface="Source Code Pro"/>
                <a:sym typeface="Source Code Pro"/>
              </a:rPr>
              <a:t>= ‘real’</a:t>
            </a:r>
            <a:endParaRPr sz="1000">
              <a:solidFill>
                <a:schemeClr val="lt1"/>
              </a:solidFill>
              <a:latin typeface="Source Code Pro"/>
              <a:ea typeface="Source Code Pro"/>
              <a:cs typeface="Source Code Pro"/>
              <a:sym typeface="Source Code Pro"/>
            </a:endParaRPr>
          </a:p>
        </p:txBody>
      </p:sp>
      <p:sp>
        <p:nvSpPr>
          <p:cNvPr id="348" name="Google Shape;348;p38"/>
          <p:cNvSpPr/>
          <p:nvPr/>
        </p:nvSpPr>
        <p:spPr>
          <a:xfrm>
            <a:off x="1219481" y="229829"/>
            <a:ext cx="4679700" cy="2130900"/>
          </a:xfrm>
          <a:prstGeom prst="roundRect">
            <a:avLst>
              <a:gd fmla="val 16667" name="adj"/>
            </a:avLst>
          </a:prstGeom>
          <a:solidFill>
            <a:srgbClr val="0B8C7F">
              <a:alpha val="64999"/>
            </a:srgbClr>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GB" sz="1000">
                <a:solidFill>
                  <a:schemeClr val="lt1"/>
                </a:solidFill>
                <a:latin typeface="Source Code Pro"/>
                <a:ea typeface="Source Code Pro"/>
                <a:cs typeface="Source Code Pro"/>
                <a:sym typeface="Source Code Pro"/>
              </a:rPr>
              <a:t>Structure = ‘real’</a:t>
            </a:r>
            <a:endParaRPr sz="1000">
              <a:solidFill>
                <a:schemeClr val="lt1"/>
              </a:solidFill>
              <a:latin typeface="Source Code Pro"/>
              <a:ea typeface="Source Code Pro"/>
              <a:cs typeface="Source Code Pro"/>
              <a:sym typeface="Source Code Pro"/>
            </a:endParaRPr>
          </a:p>
        </p:txBody>
      </p:sp>
      <p:grpSp>
        <p:nvGrpSpPr>
          <p:cNvPr id="349" name="Google Shape;349;p38"/>
          <p:cNvGrpSpPr/>
          <p:nvPr/>
        </p:nvGrpSpPr>
        <p:grpSpPr>
          <a:xfrm>
            <a:off x="1101733" y="110716"/>
            <a:ext cx="4915355" cy="4638879"/>
            <a:chOff x="2654874" y="1427475"/>
            <a:chExt cx="3493500" cy="3297000"/>
          </a:xfrm>
        </p:grpSpPr>
        <p:cxnSp>
          <p:nvCxnSpPr>
            <p:cNvPr id="350" name="Google Shape;350;p38"/>
            <p:cNvCxnSpPr/>
            <p:nvPr/>
          </p:nvCxnSpPr>
          <p:spPr>
            <a:xfrm>
              <a:off x="4401774" y="1427475"/>
              <a:ext cx="0" cy="3297000"/>
            </a:xfrm>
            <a:prstGeom prst="straightConnector1">
              <a:avLst/>
            </a:prstGeom>
            <a:noFill/>
            <a:ln cap="flat" cmpd="sng" w="28575">
              <a:solidFill>
                <a:schemeClr val="dk2"/>
              </a:solidFill>
              <a:prstDash val="solid"/>
              <a:round/>
              <a:headEnd len="med" w="med" type="none"/>
              <a:tailEnd len="med" w="med" type="none"/>
            </a:ln>
          </p:spPr>
        </p:cxnSp>
        <p:cxnSp>
          <p:nvCxnSpPr>
            <p:cNvPr id="351" name="Google Shape;351;p38"/>
            <p:cNvCxnSpPr/>
            <p:nvPr/>
          </p:nvCxnSpPr>
          <p:spPr>
            <a:xfrm rot="10800000">
              <a:off x="2654874" y="3076085"/>
              <a:ext cx="3493500" cy="0"/>
            </a:xfrm>
            <a:prstGeom prst="straightConnector1">
              <a:avLst/>
            </a:prstGeom>
            <a:noFill/>
            <a:ln cap="flat" cmpd="sng" w="28575">
              <a:solidFill>
                <a:schemeClr val="dk2"/>
              </a:solidFill>
              <a:prstDash val="solid"/>
              <a:round/>
              <a:headEnd len="med" w="med" type="none"/>
              <a:tailEnd len="med" w="med" type="none"/>
            </a:ln>
          </p:spPr>
        </p:cxnSp>
      </p:grpSp>
      <p:pic>
        <p:nvPicPr>
          <p:cNvPr id="352" name="Google Shape;352;p38"/>
          <p:cNvPicPr preferRelativeResize="0"/>
          <p:nvPr/>
        </p:nvPicPr>
        <p:blipFill rotWithShape="1">
          <a:blip r:embed="rId3">
            <a:alphaModFix/>
          </a:blip>
          <a:srcRect b="51203" l="12633" r="63777" t="12669"/>
          <a:stretch/>
        </p:blipFill>
        <p:spPr>
          <a:xfrm>
            <a:off x="1645707" y="635245"/>
            <a:ext cx="1467585" cy="1319981"/>
          </a:xfrm>
          <a:prstGeom prst="rect">
            <a:avLst/>
          </a:prstGeom>
          <a:noFill/>
          <a:ln>
            <a:noFill/>
          </a:ln>
        </p:spPr>
      </p:pic>
      <p:pic>
        <p:nvPicPr>
          <p:cNvPr id="353" name="Google Shape;353;p38"/>
          <p:cNvPicPr preferRelativeResize="0"/>
          <p:nvPr/>
        </p:nvPicPr>
        <p:blipFill>
          <a:blip r:embed="rId4">
            <a:alphaModFix/>
          </a:blip>
          <a:stretch>
            <a:fillRect/>
          </a:stretch>
        </p:blipFill>
        <p:spPr>
          <a:xfrm>
            <a:off x="4098839" y="2536047"/>
            <a:ext cx="1348146" cy="1319980"/>
          </a:xfrm>
          <a:prstGeom prst="rect">
            <a:avLst/>
          </a:prstGeom>
          <a:noFill/>
          <a:ln cap="flat" cmpd="sng" w="28575">
            <a:solidFill>
              <a:schemeClr val="dk1"/>
            </a:solidFill>
            <a:prstDash val="solid"/>
            <a:round/>
            <a:headEnd len="sm" w="sm" type="none"/>
            <a:tailEnd len="sm" w="sm" type="none"/>
          </a:ln>
        </p:spPr>
      </p:pic>
      <p:pic>
        <p:nvPicPr>
          <p:cNvPr id="354" name="Google Shape;354;p38"/>
          <p:cNvPicPr preferRelativeResize="0"/>
          <p:nvPr/>
        </p:nvPicPr>
        <p:blipFill rotWithShape="1">
          <a:blip r:embed="rId5">
            <a:alphaModFix/>
          </a:blip>
          <a:srcRect b="0" l="0" r="2922" t="3474"/>
          <a:stretch/>
        </p:blipFill>
        <p:spPr>
          <a:xfrm>
            <a:off x="4039119" y="469621"/>
            <a:ext cx="1467587" cy="1297788"/>
          </a:xfrm>
          <a:prstGeom prst="rect">
            <a:avLst/>
          </a:prstGeom>
          <a:noFill/>
          <a:ln cap="flat" cmpd="sng" w="28575">
            <a:solidFill>
              <a:schemeClr val="dk1"/>
            </a:solidFill>
            <a:prstDash val="solid"/>
            <a:round/>
            <a:headEnd len="sm" w="sm" type="none"/>
            <a:tailEnd len="sm" w="sm" type="none"/>
          </a:ln>
        </p:spPr>
      </p:pic>
      <p:sp>
        <p:nvSpPr>
          <p:cNvPr id="355" name="Google Shape;355;p38"/>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Measuring Networks</a:t>
            </a:r>
            <a:endParaRPr sz="1100">
              <a:solidFill>
                <a:schemeClr val="dk2"/>
              </a:solidFill>
              <a:latin typeface="Source Code Pro Light"/>
              <a:ea typeface="Source Code Pro Light"/>
              <a:cs typeface="Source Code Pro Light"/>
              <a:sym typeface="Source Code Pro Light"/>
            </a:endParaRPr>
          </a:p>
        </p:txBody>
      </p:sp>
      <p:sp>
        <p:nvSpPr>
          <p:cNvPr id="356" name="Google Shape;356;p38"/>
          <p:cNvSpPr/>
          <p:nvPr/>
        </p:nvSpPr>
        <p:spPr>
          <a:xfrm>
            <a:off x="65250" y="2571750"/>
            <a:ext cx="3266568" cy="2524446"/>
          </a:xfrm>
          <a:prstGeom prst="irregularSeal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Source Code Pro"/>
                <a:ea typeface="Source Code Pro"/>
                <a:cs typeface="Source Code Pro"/>
                <a:sym typeface="Source Code Pro"/>
              </a:rPr>
              <a:t>Are certain properties only relevant for certain types of networks?</a:t>
            </a:r>
            <a:endParaRPr sz="1200">
              <a:latin typeface="Source Code Pro"/>
              <a:ea typeface="Source Code Pro"/>
              <a:cs typeface="Source Code Pro"/>
              <a:sym typeface="Source Code Pro"/>
            </a:endParaRPr>
          </a:p>
        </p:txBody>
      </p:sp>
      <p:pic>
        <p:nvPicPr>
          <p:cNvPr id="357" name="Google Shape;357;p38"/>
          <p:cNvPicPr preferRelativeResize="0"/>
          <p:nvPr/>
        </p:nvPicPr>
        <p:blipFill rotWithShape="1">
          <a:blip r:embed="rId6">
            <a:alphaModFix/>
          </a:blip>
          <a:srcRect b="1681" l="0" r="8550" t="0"/>
          <a:stretch/>
        </p:blipFill>
        <p:spPr>
          <a:xfrm>
            <a:off x="6515862" y="2019675"/>
            <a:ext cx="2092624" cy="2729926"/>
          </a:xfrm>
          <a:prstGeom prst="rect">
            <a:avLst/>
          </a:prstGeom>
          <a:noFill/>
          <a:ln>
            <a:noFill/>
          </a:ln>
        </p:spPr>
      </p:pic>
      <p:pic>
        <p:nvPicPr>
          <p:cNvPr id="358" name="Google Shape;358;p38"/>
          <p:cNvPicPr preferRelativeResize="0"/>
          <p:nvPr/>
        </p:nvPicPr>
        <p:blipFill rotWithShape="1">
          <a:blip r:embed="rId7">
            <a:alphaModFix/>
          </a:blip>
          <a:srcRect b="10485" l="6733" r="0" t="26351"/>
          <a:stretch/>
        </p:blipFill>
        <p:spPr>
          <a:xfrm>
            <a:off x="6172450" y="371500"/>
            <a:ext cx="2779459" cy="131517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Takeaways</a:t>
            </a:r>
            <a:endParaRPr/>
          </a:p>
        </p:txBody>
      </p:sp>
      <p:sp>
        <p:nvSpPr>
          <p:cNvPr id="364" name="Google Shape;364;p3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GB"/>
              <a:t>Information</a:t>
            </a:r>
            <a:r>
              <a:rPr lang="en-GB"/>
              <a:t> at different scales</a:t>
            </a:r>
            <a:endParaRPr/>
          </a:p>
          <a:p>
            <a:pPr indent="-349250" lvl="0" marL="457200" rtl="0" algn="l">
              <a:spcBef>
                <a:spcPts val="0"/>
              </a:spcBef>
              <a:spcAft>
                <a:spcPts val="0"/>
              </a:spcAft>
              <a:buSzPts val="1900"/>
              <a:buChar char="●"/>
            </a:pPr>
            <a:r>
              <a:rPr lang="en-GB"/>
              <a:t>Properties inform on behaviour of system</a:t>
            </a:r>
            <a:endParaRPr/>
          </a:p>
        </p:txBody>
      </p:sp>
      <p:sp>
        <p:nvSpPr>
          <p:cNvPr id="365" name="Google Shape;365;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66" name="Google Shape;366;p39"/>
          <p:cNvPicPr preferRelativeResize="0"/>
          <p:nvPr/>
        </p:nvPicPr>
        <p:blipFill>
          <a:blip r:embed="rId3">
            <a:alphaModFix/>
          </a:blip>
          <a:stretch>
            <a:fillRect/>
          </a:stretch>
        </p:blipFill>
        <p:spPr>
          <a:xfrm>
            <a:off x="4601550" y="518135"/>
            <a:ext cx="4419600" cy="394011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0"/>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From networks to the ‘real world’</a:t>
            </a:r>
            <a:endParaRPr/>
          </a:p>
        </p:txBody>
      </p:sp>
      <p:sp>
        <p:nvSpPr>
          <p:cNvPr id="372" name="Google Shape;37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1"/>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Information about the part</a:t>
            </a:r>
            <a:endParaRPr/>
          </a:p>
        </p:txBody>
      </p:sp>
      <p:sp>
        <p:nvSpPr>
          <p:cNvPr id="378" name="Google Shape;37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2"/>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Propagation</a:t>
            </a:r>
            <a:r>
              <a:rPr lang="en-GB"/>
              <a:t> of change</a:t>
            </a:r>
            <a:endParaRPr/>
          </a:p>
        </p:txBody>
      </p:sp>
      <p:sp>
        <p:nvSpPr>
          <p:cNvPr id="384" name="Google Shape;38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85" name="Google Shape;385;p42"/>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Information about the part</a:t>
            </a:r>
            <a:endParaRPr sz="1100">
              <a:solidFill>
                <a:schemeClr val="dk2"/>
              </a:solidFill>
              <a:latin typeface="Source Code Pro Light"/>
              <a:ea typeface="Source Code Pro Light"/>
              <a:cs typeface="Source Code Pro Light"/>
              <a:sym typeface="Source Code Pro Light"/>
            </a:endParaRPr>
          </a:p>
        </p:txBody>
      </p:sp>
      <p:sp>
        <p:nvSpPr>
          <p:cNvPr id="386" name="Google Shape;386;p42"/>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Changes in one node </a:t>
            </a:r>
            <a:r>
              <a:rPr lang="en-GB"/>
              <a:t>propagate</a:t>
            </a:r>
            <a:r>
              <a:rPr lang="en-GB"/>
              <a:t> through the network.</a:t>
            </a:r>
            <a:endParaRPr/>
          </a:p>
        </p:txBody>
      </p:sp>
      <p:grpSp>
        <p:nvGrpSpPr>
          <p:cNvPr id="387" name="Google Shape;387;p42"/>
          <p:cNvGrpSpPr/>
          <p:nvPr/>
        </p:nvGrpSpPr>
        <p:grpSpPr>
          <a:xfrm>
            <a:off x="5713887" y="1274072"/>
            <a:ext cx="2643523" cy="2595351"/>
            <a:chOff x="5613300" y="1183875"/>
            <a:chExt cx="2494125" cy="2448675"/>
          </a:xfrm>
        </p:grpSpPr>
        <p:sp>
          <p:nvSpPr>
            <p:cNvPr id="388" name="Google Shape;388;p42"/>
            <p:cNvSpPr/>
            <p:nvPr/>
          </p:nvSpPr>
          <p:spPr>
            <a:xfrm>
              <a:off x="5613300" y="29854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89" name="Google Shape;389;p42"/>
            <p:cNvSpPr/>
            <p:nvPr/>
          </p:nvSpPr>
          <p:spPr>
            <a:xfrm>
              <a:off x="6665850" y="11838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90" name="Google Shape;390;p42"/>
            <p:cNvSpPr/>
            <p:nvPr/>
          </p:nvSpPr>
          <p:spPr>
            <a:xfrm>
              <a:off x="6074313"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91" name="Google Shape;391;p42"/>
            <p:cNvSpPr/>
            <p:nvPr/>
          </p:nvSpPr>
          <p:spPr>
            <a:xfrm>
              <a:off x="7350725"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92" name="Google Shape;392;p42"/>
            <p:cNvSpPr/>
            <p:nvPr/>
          </p:nvSpPr>
          <p:spPr>
            <a:xfrm>
              <a:off x="7676025" y="32011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93" name="Google Shape;393;p42"/>
            <p:cNvSpPr/>
            <p:nvPr/>
          </p:nvSpPr>
          <p:spPr>
            <a:xfrm>
              <a:off x="6691013" y="28030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cxnSp>
          <p:nvCxnSpPr>
            <p:cNvPr id="394" name="Google Shape;394;p42"/>
            <p:cNvCxnSpPr>
              <a:stCxn id="390" idx="7"/>
              <a:endCxn id="389" idx="3"/>
            </p:cNvCxnSpPr>
            <p:nvPr/>
          </p:nvCxnSpPr>
          <p:spPr>
            <a:xfrm flipH="1" rot="10800000">
              <a:off x="6442535" y="1552227"/>
              <a:ext cx="286500" cy="588000"/>
            </a:xfrm>
            <a:prstGeom prst="straightConnector1">
              <a:avLst/>
            </a:prstGeom>
            <a:noFill/>
            <a:ln cap="flat" cmpd="sng" w="38100">
              <a:solidFill>
                <a:schemeClr val="dk1"/>
              </a:solidFill>
              <a:prstDash val="solid"/>
              <a:round/>
              <a:headEnd len="med" w="med" type="none"/>
              <a:tailEnd len="med" w="med" type="stealth"/>
            </a:ln>
          </p:spPr>
        </p:cxnSp>
        <p:cxnSp>
          <p:nvCxnSpPr>
            <p:cNvPr id="395" name="Google Shape;395;p42"/>
            <p:cNvCxnSpPr>
              <a:stCxn id="391" idx="1"/>
              <a:endCxn id="389" idx="5"/>
            </p:cNvCxnSpPr>
            <p:nvPr/>
          </p:nvCxnSpPr>
          <p:spPr>
            <a:xfrm rot="10800000">
              <a:off x="7034102" y="1552227"/>
              <a:ext cx="379800" cy="588000"/>
            </a:xfrm>
            <a:prstGeom prst="straightConnector1">
              <a:avLst/>
            </a:prstGeom>
            <a:noFill/>
            <a:ln cap="flat" cmpd="sng" w="38100">
              <a:solidFill>
                <a:schemeClr val="accent3"/>
              </a:solidFill>
              <a:prstDash val="solid"/>
              <a:round/>
              <a:headEnd len="med" w="med" type="none"/>
              <a:tailEnd len="med" w="med" type="none"/>
            </a:ln>
          </p:spPr>
        </p:cxnSp>
        <p:cxnSp>
          <p:nvCxnSpPr>
            <p:cNvPr id="396" name="Google Shape;396;p42"/>
            <p:cNvCxnSpPr>
              <a:stCxn id="393" idx="0"/>
              <a:endCxn id="389" idx="4"/>
            </p:cNvCxnSpPr>
            <p:nvPr/>
          </p:nvCxnSpPr>
          <p:spPr>
            <a:xfrm rot="10800000">
              <a:off x="6881513" y="1615375"/>
              <a:ext cx="25200" cy="1187700"/>
            </a:xfrm>
            <a:prstGeom prst="straightConnector1">
              <a:avLst/>
            </a:prstGeom>
            <a:noFill/>
            <a:ln cap="flat" cmpd="sng" w="38100">
              <a:solidFill>
                <a:schemeClr val="accent3"/>
              </a:solidFill>
              <a:prstDash val="solid"/>
              <a:round/>
              <a:headEnd len="med" w="med" type="none"/>
              <a:tailEnd len="med" w="med" type="none"/>
            </a:ln>
          </p:spPr>
        </p:cxnSp>
        <p:cxnSp>
          <p:nvCxnSpPr>
            <p:cNvPr id="397" name="Google Shape;397;p42"/>
            <p:cNvCxnSpPr>
              <a:stCxn id="393" idx="1"/>
              <a:endCxn id="390" idx="5"/>
            </p:cNvCxnSpPr>
            <p:nvPr/>
          </p:nvCxnSpPr>
          <p:spPr>
            <a:xfrm rot="10800000">
              <a:off x="6442490" y="2445352"/>
              <a:ext cx="311700" cy="420900"/>
            </a:xfrm>
            <a:prstGeom prst="straightConnector1">
              <a:avLst/>
            </a:prstGeom>
            <a:noFill/>
            <a:ln cap="flat" cmpd="sng" w="38100">
              <a:solidFill>
                <a:schemeClr val="dk1"/>
              </a:solidFill>
              <a:prstDash val="solid"/>
              <a:round/>
              <a:headEnd len="med" w="med" type="stealth"/>
              <a:tailEnd len="med" w="med" type="none"/>
            </a:ln>
          </p:spPr>
        </p:cxnSp>
        <p:cxnSp>
          <p:nvCxnSpPr>
            <p:cNvPr id="398" name="Google Shape;398;p42"/>
            <p:cNvCxnSpPr>
              <a:stCxn id="388" idx="0"/>
              <a:endCxn id="390" idx="3"/>
            </p:cNvCxnSpPr>
            <p:nvPr/>
          </p:nvCxnSpPr>
          <p:spPr>
            <a:xfrm flipH="1" rot="10800000">
              <a:off x="5829000" y="2445150"/>
              <a:ext cx="308400" cy="540300"/>
            </a:xfrm>
            <a:prstGeom prst="straightConnector1">
              <a:avLst/>
            </a:prstGeom>
            <a:noFill/>
            <a:ln cap="flat" cmpd="sng" w="38100">
              <a:solidFill>
                <a:schemeClr val="dk1"/>
              </a:solidFill>
              <a:prstDash val="solid"/>
              <a:round/>
              <a:headEnd len="med" w="med" type="stealth"/>
              <a:tailEnd len="med" w="med" type="none"/>
            </a:ln>
          </p:spPr>
        </p:cxnSp>
        <p:cxnSp>
          <p:nvCxnSpPr>
            <p:cNvPr id="399" name="Google Shape;399;p42"/>
            <p:cNvCxnSpPr>
              <a:stCxn id="392" idx="2"/>
              <a:endCxn id="393" idx="5"/>
            </p:cNvCxnSpPr>
            <p:nvPr/>
          </p:nvCxnSpPr>
          <p:spPr>
            <a:xfrm rot="10800000">
              <a:off x="7059225" y="3171150"/>
              <a:ext cx="616800" cy="245700"/>
            </a:xfrm>
            <a:prstGeom prst="straightConnector1">
              <a:avLst/>
            </a:prstGeom>
            <a:noFill/>
            <a:ln cap="flat" cmpd="sng" w="38100">
              <a:solidFill>
                <a:schemeClr val="accent3"/>
              </a:solidFill>
              <a:prstDash val="solid"/>
              <a:round/>
              <a:headEnd len="med" w="med" type="none"/>
              <a:tailEnd len="med" w="med" type="none"/>
            </a:ln>
          </p:spPr>
        </p:cxnSp>
        <p:cxnSp>
          <p:nvCxnSpPr>
            <p:cNvPr id="400" name="Google Shape;400;p42"/>
            <p:cNvCxnSpPr>
              <a:stCxn id="392" idx="0"/>
              <a:endCxn id="391" idx="4"/>
            </p:cNvCxnSpPr>
            <p:nvPr/>
          </p:nvCxnSpPr>
          <p:spPr>
            <a:xfrm rot="10800000">
              <a:off x="7566525" y="2508450"/>
              <a:ext cx="325200" cy="692700"/>
            </a:xfrm>
            <a:prstGeom prst="straightConnector1">
              <a:avLst/>
            </a:prstGeom>
            <a:noFill/>
            <a:ln cap="flat" cmpd="sng" w="38100">
              <a:solidFill>
                <a:schemeClr val="accent3"/>
              </a:solidFill>
              <a:prstDash val="solid"/>
              <a:round/>
              <a:headEnd len="med" w="med" type="none"/>
              <a:tailEnd len="med" w="med" type="none"/>
            </a:ln>
          </p:spPr>
        </p:cxnSp>
      </p:grpSp>
      <p:sp>
        <p:nvSpPr>
          <p:cNvPr id="401" name="Google Shape;401;p42"/>
          <p:cNvSpPr/>
          <p:nvPr/>
        </p:nvSpPr>
        <p:spPr>
          <a:xfrm rot="2044476">
            <a:off x="5764955" y="2050040"/>
            <a:ext cx="483515" cy="19786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02" name="Google Shape;402;p42"/>
          <p:cNvSpPr txBox="1"/>
          <p:nvPr/>
        </p:nvSpPr>
        <p:spPr>
          <a:xfrm>
            <a:off x="4889500" y="1699150"/>
            <a:ext cx="948000" cy="335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GB" sz="1200">
                <a:latin typeface="Roboto"/>
                <a:ea typeface="Roboto"/>
                <a:cs typeface="Roboto"/>
                <a:sym typeface="Roboto"/>
              </a:rPr>
              <a:t>Change</a:t>
            </a:r>
            <a:endParaRPr b="1" sz="800">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Extinctions</a:t>
            </a:r>
            <a:endParaRPr/>
          </a:p>
        </p:txBody>
      </p:sp>
      <p:sp>
        <p:nvSpPr>
          <p:cNvPr id="408" name="Google Shape;40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09" name="Google Shape;409;p43"/>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Information about the part</a:t>
            </a:r>
            <a:endParaRPr sz="1100">
              <a:solidFill>
                <a:schemeClr val="dk2"/>
              </a:solidFill>
              <a:latin typeface="Source Code Pro Light"/>
              <a:ea typeface="Source Code Pro Light"/>
              <a:cs typeface="Source Code Pro Light"/>
              <a:sym typeface="Source Code Pro Light"/>
            </a:endParaRPr>
          </a:p>
        </p:txBody>
      </p:sp>
      <p:grpSp>
        <p:nvGrpSpPr>
          <p:cNvPr id="410" name="Google Shape;410;p43"/>
          <p:cNvGrpSpPr/>
          <p:nvPr/>
        </p:nvGrpSpPr>
        <p:grpSpPr>
          <a:xfrm>
            <a:off x="311793" y="2032057"/>
            <a:ext cx="1989065" cy="1952818"/>
            <a:chOff x="5613300" y="1183875"/>
            <a:chExt cx="2494125" cy="2448675"/>
          </a:xfrm>
        </p:grpSpPr>
        <p:sp>
          <p:nvSpPr>
            <p:cNvPr id="411" name="Google Shape;411;p43"/>
            <p:cNvSpPr/>
            <p:nvPr/>
          </p:nvSpPr>
          <p:spPr>
            <a:xfrm>
              <a:off x="5613300" y="29854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12" name="Google Shape;412;p43"/>
            <p:cNvSpPr/>
            <p:nvPr/>
          </p:nvSpPr>
          <p:spPr>
            <a:xfrm>
              <a:off x="6665850" y="11838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13" name="Google Shape;413;p43"/>
            <p:cNvSpPr/>
            <p:nvPr/>
          </p:nvSpPr>
          <p:spPr>
            <a:xfrm>
              <a:off x="6074313"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14" name="Google Shape;414;p43"/>
            <p:cNvSpPr/>
            <p:nvPr/>
          </p:nvSpPr>
          <p:spPr>
            <a:xfrm>
              <a:off x="7350725"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15" name="Google Shape;415;p43"/>
            <p:cNvSpPr/>
            <p:nvPr/>
          </p:nvSpPr>
          <p:spPr>
            <a:xfrm>
              <a:off x="7676025" y="32011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16" name="Google Shape;416;p43"/>
            <p:cNvSpPr/>
            <p:nvPr/>
          </p:nvSpPr>
          <p:spPr>
            <a:xfrm>
              <a:off x="6691013" y="28030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cxnSp>
          <p:nvCxnSpPr>
            <p:cNvPr id="417" name="Google Shape;417;p43"/>
            <p:cNvCxnSpPr>
              <a:stCxn id="413" idx="7"/>
              <a:endCxn id="412" idx="3"/>
            </p:cNvCxnSpPr>
            <p:nvPr/>
          </p:nvCxnSpPr>
          <p:spPr>
            <a:xfrm flipH="1" rot="10800000">
              <a:off x="6442535" y="1552227"/>
              <a:ext cx="286500" cy="588000"/>
            </a:xfrm>
            <a:prstGeom prst="straightConnector1">
              <a:avLst/>
            </a:prstGeom>
            <a:noFill/>
            <a:ln cap="flat" cmpd="sng" w="38100">
              <a:solidFill>
                <a:schemeClr val="accent3"/>
              </a:solidFill>
              <a:prstDash val="solid"/>
              <a:round/>
              <a:headEnd len="med" w="med" type="none"/>
              <a:tailEnd len="med" w="med" type="none"/>
            </a:ln>
          </p:spPr>
        </p:cxnSp>
        <p:cxnSp>
          <p:nvCxnSpPr>
            <p:cNvPr id="418" name="Google Shape;418;p43"/>
            <p:cNvCxnSpPr>
              <a:stCxn id="414" idx="1"/>
              <a:endCxn id="412" idx="5"/>
            </p:cNvCxnSpPr>
            <p:nvPr/>
          </p:nvCxnSpPr>
          <p:spPr>
            <a:xfrm rot="10800000">
              <a:off x="7034102" y="1552227"/>
              <a:ext cx="379800" cy="588000"/>
            </a:xfrm>
            <a:prstGeom prst="straightConnector1">
              <a:avLst/>
            </a:prstGeom>
            <a:noFill/>
            <a:ln cap="flat" cmpd="sng" w="38100">
              <a:solidFill>
                <a:schemeClr val="accent3"/>
              </a:solidFill>
              <a:prstDash val="solid"/>
              <a:round/>
              <a:headEnd len="med" w="med" type="none"/>
              <a:tailEnd len="med" w="med" type="none"/>
            </a:ln>
          </p:spPr>
        </p:cxnSp>
        <p:cxnSp>
          <p:nvCxnSpPr>
            <p:cNvPr id="419" name="Google Shape;419;p43"/>
            <p:cNvCxnSpPr>
              <a:stCxn id="416" idx="0"/>
              <a:endCxn id="412" idx="4"/>
            </p:cNvCxnSpPr>
            <p:nvPr/>
          </p:nvCxnSpPr>
          <p:spPr>
            <a:xfrm rot="10800000">
              <a:off x="6881513" y="1615375"/>
              <a:ext cx="25200" cy="1187700"/>
            </a:xfrm>
            <a:prstGeom prst="straightConnector1">
              <a:avLst/>
            </a:prstGeom>
            <a:noFill/>
            <a:ln cap="flat" cmpd="sng" w="38100">
              <a:solidFill>
                <a:schemeClr val="accent3"/>
              </a:solidFill>
              <a:prstDash val="solid"/>
              <a:round/>
              <a:headEnd len="med" w="med" type="none"/>
              <a:tailEnd len="med" w="med" type="none"/>
            </a:ln>
          </p:spPr>
        </p:cxnSp>
        <p:cxnSp>
          <p:nvCxnSpPr>
            <p:cNvPr id="420" name="Google Shape;420;p43"/>
            <p:cNvCxnSpPr>
              <a:stCxn id="416" idx="1"/>
              <a:endCxn id="413" idx="5"/>
            </p:cNvCxnSpPr>
            <p:nvPr/>
          </p:nvCxnSpPr>
          <p:spPr>
            <a:xfrm rot="10800000">
              <a:off x="6442490" y="2445352"/>
              <a:ext cx="311700" cy="420900"/>
            </a:xfrm>
            <a:prstGeom prst="straightConnector1">
              <a:avLst/>
            </a:prstGeom>
            <a:noFill/>
            <a:ln cap="flat" cmpd="sng" w="38100">
              <a:solidFill>
                <a:schemeClr val="accent3"/>
              </a:solidFill>
              <a:prstDash val="solid"/>
              <a:round/>
              <a:headEnd len="med" w="med" type="none"/>
              <a:tailEnd len="med" w="med" type="none"/>
            </a:ln>
          </p:spPr>
        </p:cxnSp>
        <p:cxnSp>
          <p:nvCxnSpPr>
            <p:cNvPr id="421" name="Google Shape;421;p43"/>
            <p:cNvCxnSpPr>
              <a:stCxn id="411" idx="0"/>
              <a:endCxn id="413" idx="3"/>
            </p:cNvCxnSpPr>
            <p:nvPr/>
          </p:nvCxnSpPr>
          <p:spPr>
            <a:xfrm flipH="1" rot="10800000">
              <a:off x="5829000" y="2445150"/>
              <a:ext cx="308400" cy="540300"/>
            </a:xfrm>
            <a:prstGeom prst="straightConnector1">
              <a:avLst/>
            </a:prstGeom>
            <a:noFill/>
            <a:ln cap="flat" cmpd="sng" w="38100">
              <a:solidFill>
                <a:schemeClr val="accent3"/>
              </a:solidFill>
              <a:prstDash val="solid"/>
              <a:round/>
              <a:headEnd len="med" w="med" type="none"/>
              <a:tailEnd len="med" w="med" type="none"/>
            </a:ln>
          </p:spPr>
        </p:cxnSp>
        <p:cxnSp>
          <p:nvCxnSpPr>
            <p:cNvPr id="422" name="Google Shape;422;p43"/>
            <p:cNvCxnSpPr>
              <a:stCxn id="415" idx="2"/>
              <a:endCxn id="416" idx="5"/>
            </p:cNvCxnSpPr>
            <p:nvPr/>
          </p:nvCxnSpPr>
          <p:spPr>
            <a:xfrm rot="10800000">
              <a:off x="7059225" y="3171150"/>
              <a:ext cx="616800" cy="245700"/>
            </a:xfrm>
            <a:prstGeom prst="straightConnector1">
              <a:avLst/>
            </a:prstGeom>
            <a:noFill/>
            <a:ln cap="flat" cmpd="sng" w="38100">
              <a:solidFill>
                <a:schemeClr val="accent3"/>
              </a:solidFill>
              <a:prstDash val="solid"/>
              <a:round/>
              <a:headEnd len="med" w="med" type="none"/>
              <a:tailEnd len="med" w="med" type="none"/>
            </a:ln>
          </p:spPr>
        </p:cxnSp>
        <p:cxnSp>
          <p:nvCxnSpPr>
            <p:cNvPr id="423" name="Google Shape;423;p43"/>
            <p:cNvCxnSpPr>
              <a:stCxn id="415" idx="0"/>
              <a:endCxn id="414" idx="4"/>
            </p:cNvCxnSpPr>
            <p:nvPr/>
          </p:nvCxnSpPr>
          <p:spPr>
            <a:xfrm rot="10800000">
              <a:off x="7566525" y="2508450"/>
              <a:ext cx="325200" cy="692700"/>
            </a:xfrm>
            <a:prstGeom prst="straightConnector1">
              <a:avLst/>
            </a:prstGeom>
            <a:noFill/>
            <a:ln cap="flat" cmpd="sng" w="38100">
              <a:solidFill>
                <a:schemeClr val="accent3"/>
              </a:solidFill>
              <a:prstDash val="solid"/>
              <a:round/>
              <a:headEnd len="med" w="med" type="none"/>
              <a:tailEnd len="med" w="med" type="none"/>
            </a:ln>
          </p:spPr>
        </p:cxnSp>
      </p:grpSp>
      <p:grpSp>
        <p:nvGrpSpPr>
          <p:cNvPr id="424" name="Google Shape;424;p43"/>
          <p:cNvGrpSpPr/>
          <p:nvPr/>
        </p:nvGrpSpPr>
        <p:grpSpPr>
          <a:xfrm>
            <a:off x="3318124" y="1904726"/>
            <a:ext cx="2248454" cy="2207481"/>
            <a:chOff x="5613300" y="1183875"/>
            <a:chExt cx="2494125" cy="2448675"/>
          </a:xfrm>
        </p:grpSpPr>
        <p:sp>
          <p:nvSpPr>
            <p:cNvPr id="425" name="Google Shape;425;p43"/>
            <p:cNvSpPr/>
            <p:nvPr/>
          </p:nvSpPr>
          <p:spPr>
            <a:xfrm>
              <a:off x="5613300" y="29854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26" name="Google Shape;426;p43"/>
            <p:cNvSpPr/>
            <p:nvPr/>
          </p:nvSpPr>
          <p:spPr>
            <a:xfrm>
              <a:off x="6665850" y="11838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27" name="Google Shape;427;p43"/>
            <p:cNvSpPr/>
            <p:nvPr/>
          </p:nvSpPr>
          <p:spPr>
            <a:xfrm>
              <a:off x="6074313"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28" name="Google Shape;428;p43"/>
            <p:cNvSpPr/>
            <p:nvPr/>
          </p:nvSpPr>
          <p:spPr>
            <a:xfrm>
              <a:off x="7350725"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29" name="Google Shape;429;p43"/>
            <p:cNvSpPr/>
            <p:nvPr/>
          </p:nvSpPr>
          <p:spPr>
            <a:xfrm>
              <a:off x="7676025" y="32011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30" name="Google Shape;430;p43"/>
            <p:cNvSpPr/>
            <p:nvPr/>
          </p:nvSpPr>
          <p:spPr>
            <a:xfrm>
              <a:off x="6691013" y="28030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cxnSp>
          <p:nvCxnSpPr>
            <p:cNvPr id="431" name="Google Shape;431;p43"/>
            <p:cNvCxnSpPr>
              <a:stCxn id="427" idx="7"/>
              <a:endCxn id="426" idx="3"/>
            </p:cNvCxnSpPr>
            <p:nvPr/>
          </p:nvCxnSpPr>
          <p:spPr>
            <a:xfrm flipH="1" rot="10800000">
              <a:off x="6442535" y="1552227"/>
              <a:ext cx="286500" cy="588000"/>
            </a:xfrm>
            <a:prstGeom prst="straightConnector1">
              <a:avLst/>
            </a:prstGeom>
            <a:noFill/>
            <a:ln cap="flat" cmpd="sng" w="38100">
              <a:solidFill>
                <a:schemeClr val="accent3"/>
              </a:solidFill>
              <a:prstDash val="solid"/>
              <a:round/>
              <a:headEnd len="med" w="med" type="none"/>
              <a:tailEnd len="med" w="med" type="none"/>
            </a:ln>
          </p:spPr>
        </p:cxnSp>
        <p:cxnSp>
          <p:nvCxnSpPr>
            <p:cNvPr id="432" name="Google Shape;432;p43"/>
            <p:cNvCxnSpPr>
              <a:stCxn id="428" idx="1"/>
              <a:endCxn id="426" idx="5"/>
            </p:cNvCxnSpPr>
            <p:nvPr/>
          </p:nvCxnSpPr>
          <p:spPr>
            <a:xfrm rot="10800000">
              <a:off x="7034102" y="1552227"/>
              <a:ext cx="379800" cy="588000"/>
            </a:xfrm>
            <a:prstGeom prst="straightConnector1">
              <a:avLst/>
            </a:prstGeom>
            <a:noFill/>
            <a:ln cap="flat" cmpd="sng" w="38100">
              <a:solidFill>
                <a:schemeClr val="accent3"/>
              </a:solidFill>
              <a:prstDash val="solid"/>
              <a:round/>
              <a:headEnd len="med" w="med" type="none"/>
              <a:tailEnd len="med" w="med" type="none"/>
            </a:ln>
          </p:spPr>
        </p:cxnSp>
        <p:cxnSp>
          <p:nvCxnSpPr>
            <p:cNvPr id="433" name="Google Shape;433;p43"/>
            <p:cNvCxnSpPr>
              <a:stCxn id="430" idx="0"/>
              <a:endCxn id="426" idx="4"/>
            </p:cNvCxnSpPr>
            <p:nvPr/>
          </p:nvCxnSpPr>
          <p:spPr>
            <a:xfrm rot="10800000">
              <a:off x="6881513" y="1615375"/>
              <a:ext cx="25200" cy="1187700"/>
            </a:xfrm>
            <a:prstGeom prst="straightConnector1">
              <a:avLst/>
            </a:prstGeom>
            <a:noFill/>
            <a:ln cap="flat" cmpd="sng" w="38100">
              <a:solidFill>
                <a:schemeClr val="accent3"/>
              </a:solidFill>
              <a:prstDash val="solid"/>
              <a:round/>
              <a:headEnd len="med" w="med" type="none"/>
              <a:tailEnd len="med" w="med" type="none"/>
            </a:ln>
          </p:spPr>
        </p:cxnSp>
        <p:cxnSp>
          <p:nvCxnSpPr>
            <p:cNvPr id="434" name="Google Shape;434;p43"/>
            <p:cNvCxnSpPr>
              <a:stCxn id="430" idx="1"/>
              <a:endCxn id="427" idx="5"/>
            </p:cNvCxnSpPr>
            <p:nvPr/>
          </p:nvCxnSpPr>
          <p:spPr>
            <a:xfrm rot="10800000">
              <a:off x="6442490" y="2445352"/>
              <a:ext cx="311700" cy="420900"/>
            </a:xfrm>
            <a:prstGeom prst="straightConnector1">
              <a:avLst/>
            </a:prstGeom>
            <a:noFill/>
            <a:ln cap="flat" cmpd="sng" w="38100">
              <a:solidFill>
                <a:schemeClr val="accent3"/>
              </a:solidFill>
              <a:prstDash val="solid"/>
              <a:round/>
              <a:headEnd len="med" w="med" type="none"/>
              <a:tailEnd len="med" w="med" type="none"/>
            </a:ln>
          </p:spPr>
        </p:cxnSp>
        <p:cxnSp>
          <p:nvCxnSpPr>
            <p:cNvPr id="435" name="Google Shape;435;p43"/>
            <p:cNvCxnSpPr>
              <a:stCxn id="425" idx="0"/>
              <a:endCxn id="427" idx="3"/>
            </p:cNvCxnSpPr>
            <p:nvPr/>
          </p:nvCxnSpPr>
          <p:spPr>
            <a:xfrm flipH="1" rot="10800000">
              <a:off x="5829000" y="2445150"/>
              <a:ext cx="308400" cy="540300"/>
            </a:xfrm>
            <a:prstGeom prst="straightConnector1">
              <a:avLst/>
            </a:prstGeom>
            <a:noFill/>
            <a:ln cap="flat" cmpd="sng" w="38100">
              <a:solidFill>
                <a:schemeClr val="accent3"/>
              </a:solidFill>
              <a:prstDash val="solid"/>
              <a:round/>
              <a:headEnd len="med" w="med" type="none"/>
              <a:tailEnd len="med" w="med" type="none"/>
            </a:ln>
          </p:spPr>
        </p:cxnSp>
        <p:cxnSp>
          <p:nvCxnSpPr>
            <p:cNvPr id="436" name="Google Shape;436;p43"/>
            <p:cNvCxnSpPr>
              <a:stCxn id="429" idx="2"/>
              <a:endCxn id="430" idx="5"/>
            </p:cNvCxnSpPr>
            <p:nvPr/>
          </p:nvCxnSpPr>
          <p:spPr>
            <a:xfrm rot="10800000">
              <a:off x="7059225" y="3171150"/>
              <a:ext cx="616800" cy="245700"/>
            </a:xfrm>
            <a:prstGeom prst="straightConnector1">
              <a:avLst/>
            </a:prstGeom>
            <a:noFill/>
            <a:ln cap="flat" cmpd="sng" w="38100">
              <a:solidFill>
                <a:schemeClr val="accent3"/>
              </a:solidFill>
              <a:prstDash val="dash"/>
              <a:round/>
              <a:headEnd len="med" w="med" type="none"/>
              <a:tailEnd len="med" w="med" type="none"/>
            </a:ln>
          </p:spPr>
        </p:cxnSp>
        <p:cxnSp>
          <p:nvCxnSpPr>
            <p:cNvPr id="437" name="Google Shape;437;p43"/>
            <p:cNvCxnSpPr>
              <a:stCxn id="429" idx="0"/>
              <a:endCxn id="428" idx="4"/>
            </p:cNvCxnSpPr>
            <p:nvPr/>
          </p:nvCxnSpPr>
          <p:spPr>
            <a:xfrm rot="10800000">
              <a:off x="7566525" y="2508450"/>
              <a:ext cx="325200" cy="692700"/>
            </a:xfrm>
            <a:prstGeom prst="straightConnector1">
              <a:avLst/>
            </a:prstGeom>
            <a:noFill/>
            <a:ln cap="flat" cmpd="sng" w="38100">
              <a:solidFill>
                <a:schemeClr val="accent3"/>
              </a:solidFill>
              <a:prstDash val="dash"/>
              <a:round/>
              <a:headEnd len="med" w="med" type="none"/>
              <a:tailEnd len="med" w="med" type="none"/>
            </a:ln>
          </p:spPr>
        </p:cxnSp>
      </p:grpSp>
      <p:sp>
        <p:nvSpPr>
          <p:cNvPr id="438" name="Google Shape;438;p43"/>
          <p:cNvSpPr/>
          <p:nvPr/>
        </p:nvSpPr>
        <p:spPr>
          <a:xfrm>
            <a:off x="2333750" y="2852025"/>
            <a:ext cx="1032000" cy="232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39" name="Google Shape;439;p43"/>
          <p:cNvSpPr/>
          <p:nvPr/>
        </p:nvSpPr>
        <p:spPr>
          <a:xfrm>
            <a:off x="5551850" y="2852025"/>
            <a:ext cx="1032000" cy="232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40" name="Google Shape;440;p43"/>
          <p:cNvSpPr/>
          <p:nvPr/>
        </p:nvSpPr>
        <p:spPr>
          <a:xfrm>
            <a:off x="5016625" y="3550163"/>
            <a:ext cx="733500" cy="733500"/>
          </a:xfrm>
          <a:prstGeom prst="mathMultiply">
            <a:avLst>
              <a:gd fmla="val 12986" name="adj1"/>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41" name="Google Shape;441;p43"/>
          <p:cNvSpPr/>
          <p:nvPr/>
        </p:nvSpPr>
        <p:spPr>
          <a:xfrm>
            <a:off x="3431801" y="1201500"/>
            <a:ext cx="20211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Source Code Pro"/>
                <a:ea typeface="Source Code Pro"/>
                <a:cs typeface="Source Code Pro"/>
                <a:sym typeface="Source Code Pro"/>
              </a:rPr>
              <a:t>Primary Extinction</a:t>
            </a:r>
            <a:endParaRPr sz="1500">
              <a:solidFill>
                <a:schemeClr val="lt1"/>
              </a:solidFill>
              <a:latin typeface="Source Code Pro"/>
              <a:ea typeface="Source Code Pro"/>
              <a:cs typeface="Source Code Pro"/>
              <a:sym typeface="Source Code Pro"/>
            </a:endParaRPr>
          </a:p>
        </p:txBody>
      </p:sp>
      <p:sp>
        <p:nvSpPr>
          <p:cNvPr id="442" name="Google Shape;442;p43"/>
          <p:cNvSpPr/>
          <p:nvPr/>
        </p:nvSpPr>
        <p:spPr>
          <a:xfrm>
            <a:off x="6697526" y="1201500"/>
            <a:ext cx="2021100" cy="4482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Source Code Pro"/>
                <a:ea typeface="Source Code Pro"/>
                <a:cs typeface="Source Code Pro"/>
                <a:sym typeface="Source Code Pro"/>
              </a:rPr>
              <a:t>Secondary</a:t>
            </a:r>
            <a:r>
              <a:rPr lang="en-GB" sz="1500">
                <a:solidFill>
                  <a:schemeClr val="lt1"/>
                </a:solidFill>
                <a:latin typeface="Source Code Pro"/>
                <a:ea typeface="Source Code Pro"/>
                <a:cs typeface="Source Code Pro"/>
                <a:sym typeface="Source Code Pro"/>
              </a:rPr>
              <a:t> Extinctions</a:t>
            </a:r>
            <a:endParaRPr sz="1500">
              <a:solidFill>
                <a:schemeClr val="lt1"/>
              </a:solidFill>
              <a:latin typeface="Source Code Pro"/>
              <a:ea typeface="Source Code Pro"/>
              <a:cs typeface="Source Code Pro"/>
              <a:sym typeface="Source Code Pro"/>
            </a:endParaRPr>
          </a:p>
        </p:txBody>
      </p:sp>
      <p:grpSp>
        <p:nvGrpSpPr>
          <p:cNvPr id="443" name="Google Shape;443;p43"/>
          <p:cNvGrpSpPr/>
          <p:nvPr/>
        </p:nvGrpSpPr>
        <p:grpSpPr>
          <a:xfrm>
            <a:off x="6583845" y="1904726"/>
            <a:ext cx="1955196" cy="2013027"/>
            <a:chOff x="5613300" y="1183875"/>
            <a:chExt cx="2168825" cy="2232975"/>
          </a:xfrm>
        </p:grpSpPr>
        <p:sp>
          <p:nvSpPr>
            <p:cNvPr id="444" name="Google Shape;444;p43"/>
            <p:cNvSpPr/>
            <p:nvPr/>
          </p:nvSpPr>
          <p:spPr>
            <a:xfrm>
              <a:off x="5613300" y="29854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45" name="Google Shape;445;p43"/>
            <p:cNvSpPr/>
            <p:nvPr/>
          </p:nvSpPr>
          <p:spPr>
            <a:xfrm>
              <a:off x="6665850" y="11838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46" name="Google Shape;446;p43"/>
            <p:cNvSpPr/>
            <p:nvPr/>
          </p:nvSpPr>
          <p:spPr>
            <a:xfrm>
              <a:off x="6074313"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47" name="Google Shape;447;p43"/>
            <p:cNvSpPr/>
            <p:nvPr/>
          </p:nvSpPr>
          <p:spPr>
            <a:xfrm>
              <a:off x="7350725" y="2077050"/>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48" name="Google Shape;448;p43"/>
            <p:cNvSpPr/>
            <p:nvPr/>
          </p:nvSpPr>
          <p:spPr>
            <a:xfrm>
              <a:off x="6691013" y="2803075"/>
              <a:ext cx="431400" cy="43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cxnSp>
          <p:nvCxnSpPr>
            <p:cNvPr id="449" name="Google Shape;449;p43"/>
            <p:cNvCxnSpPr>
              <a:stCxn id="446" idx="7"/>
              <a:endCxn id="445" idx="3"/>
            </p:cNvCxnSpPr>
            <p:nvPr/>
          </p:nvCxnSpPr>
          <p:spPr>
            <a:xfrm flipH="1" rot="10800000">
              <a:off x="6442535" y="1552227"/>
              <a:ext cx="286500" cy="588000"/>
            </a:xfrm>
            <a:prstGeom prst="straightConnector1">
              <a:avLst/>
            </a:prstGeom>
            <a:noFill/>
            <a:ln cap="flat" cmpd="sng" w="38100">
              <a:solidFill>
                <a:schemeClr val="accent3"/>
              </a:solidFill>
              <a:prstDash val="solid"/>
              <a:round/>
              <a:headEnd len="med" w="med" type="none"/>
              <a:tailEnd len="med" w="med" type="none"/>
            </a:ln>
          </p:spPr>
        </p:cxnSp>
        <p:cxnSp>
          <p:nvCxnSpPr>
            <p:cNvPr id="450" name="Google Shape;450;p43"/>
            <p:cNvCxnSpPr>
              <a:stCxn id="447" idx="1"/>
              <a:endCxn id="445" idx="5"/>
            </p:cNvCxnSpPr>
            <p:nvPr/>
          </p:nvCxnSpPr>
          <p:spPr>
            <a:xfrm rot="10800000">
              <a:off x="7034102" y="1552227"/>
              <a:ext cx="379800" cy="588000"/>
            </a:xfrm>
            <a:prstGeom prst="straightConnector1">
              <a:avLst/>
            </a:prstGeom>
            <a:noFill/>
            <a:ln cap="flat" cmpd="sng" w="38100">
              <a:solidFill>
                <a:schemeClr val="accent3"/>
              </a:solidFill>
              <a:prstDash val="dash"/>
              <a:round/>
              <a:headEnd len="med" w="med" type="none"/>
              <a:tailEnd len="med" w="med" type="none"/>
            </a:ln>
          </p:spPr>
        </p:cxnSp>
        <p:cxnSp>
          <p:nvCxnSpPr>
            <p:cNvPr id="451" name="Google Shape;451;p43"/>
            <p:cNvCxnSpPr>
              <a:stCxn id="448" idx="0"/>
              <a:endCxn id="445" idx="4"/>
            </p:cNvCxnSpPr>
            <p:nvPr/>
          </p:nvCxnSpPr>
          <p:spPr>
            <a:xfrm rot="10800000">
              <a:off x="6881513" y="1615375"/>
              <a:ext cx="25200" cy="1187700"/>
            </a:xfrm>
            <a:prstGeom prst="straightConnector1">
              <a:avLst/>
            </a:prstGeom>
            <a:noFill/>
            <a:ln cap="flat" cmpd="sng" w="38100">
              <a:solidFill>
                <a:schemeClr val="accent3"/>
              </a:solidFill>
              <a:prstDash val="dash"/>
              <a:round/>
              <a:headEnd len="med" w="med" type="none"/>
              <a:tailEnd len="med" w="med" type="none"/>
            </a:ln>
          </p:spPr>
        </p:cxnSp>
        <p:cxnSp>
          <p:nvCxnSpPr>
            <p:cNvPr id="452" name="Google Shape;452;p43"/>
            <p:cNvCxnSpPr>
              <a:stCxn id="448" idx="1"/>
              <a:endCxn id="446" idx="5"/>
            </p:cNvCxnSpPr>
            <p:nvPr/>
          </p:nvCxnSpPr>
          <p:spPr>
            <a:xfrm rot="10800000">
              <a:off x="6442490" y="2445352"/>
              <a:ext cx="311700" cy="420900"/>
            </a:xfrm>
            <a:prstGeom prst="straightConnector1">
              <a:avLst/>
            </a:prstGeom>
            <a:noFill/>
            <a:ln cap="flat" cmpd="sng" w="38100">
              <a:solidFill>
                <a:schemeClr val="accent3"/>
              </a:solidFill>
              <a:prstDash val="dash"/>
              <a:round/>
              <a:headEnd len="med" w="med" type="none"/>
              <a:tailEnd len="med" w="med" type="none"/>
            </a:ln>
          </p:spPr>
        </p:cxnSp>
        <p:cxnSp>
          <p:nvCxnSpPr>
            <p:cNvPr id="453" name="Google Shape;453;p43"/>
            <p:cNvCxnSpPr>
              <a:stCxn id="444" idx="0"/>
              <a:endCxn id="446" idx="3"/>
            </p:cNvCxnSpPr>
            <p:nvPr/>
          </p:nvCxnSpPr>
          <p:spPr>
            <a:xfrm flipH="1" rot="10800000">
              <a:off x="5829000" y="2445150"/>
              <a:ext cx="308400" cy="540300"/>
            </a:xfrm>
            <a:prstGeom prst="straightConnector1">
              <a:avLst/>
            </a:prstGeom>
            <a:noFill/>
            <a:ln cap="flat" cmpd="sng" w="38100">
              <a:solidFill>
                <a:schemeClr val="accent3"/>
              </a:solidFill>
              <a:prstDash val="solid"/>
              <a:round/>
              <a:headEnd len="med" w="med" type="none"/>
              <a:tailEnd len="med" w="med" type="none"/>
            </a:ln>
          </p:spPr>
        </p:cxnSp>
      </p:grpSp>
      <p:sp>
        <p:nvSpPr>
          <p:cNvPr id="454" name="Google Shape;454;p43"/>
          <p:cNvSpPr/>
          <p:nvPr/>
        </p:nvSpPr>
        <p:spPr>
          <a:xfrm>
            <a:off x="7985125" y="2561038"/>
            <a:ext cx="733500" cy="733500"/>
          </a:xfrm>
          <a:prstGeom prst="mathMultiply">
            <a:avLst>
              <a:gd fmla="val 12986" name="adj1"/>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55" name="Google Shape;455;p43"/>
          <p:cNvSpPr/>
          <p:nvPr/>
        </p:nvSpPr>
        <p:spPr>
          <a:xfrm>
            <a:off x="7377225" y="3184238"/>
            <a:ext cx="733500" cy="733500"/>
          </a:xfrm>
          <a:prstGeom prst="mathMultiply">
            <a:avLst>
              <a:gd fmla="val 12986" name="adj1"/>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Extinctions</a:t>
            </a:r>
            <a:endParaRPr/>
          </a:p>
        </p:txBody>
      </p:sp>
      <p:sp>
        <p:nvSpPr>
          <p:cNvPr id="461" name="Google Shape;46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grpSp>
        <p:nvGrpSpPr>
          <p:cNvPr id="462" name="Google Shape;462;p44"/>
          <p:cNvGrpSpPr/>
          <p:nvPr/>
        </p:nvGrpSpPr>
        <p:grpSpPr>
          <a:xfrm>
            <a:off x="417612" y="1390378"/>
            <a:ext cx="2552778" cy="3272842"/>
            <a:chOff x="5362650" y="705400"/>
            <a:chExt cx="3251532" cy="4179875"/>
          </a:xfrm>
        </p:grpSpPr>
        <p:pic>
          <p:nvPicPr>
            <p:cNvPr id="463" name="Google Shape;463;p44"/>
            <p:cNvPicPr preferRelativeResize="0"/>
            <p:nvPr/>
          </p:nvPicPr>
          <p:blipFill>
            <a:blip r:embed="rId3">
              <a:alphaModFix/>
            </a:blip>
            <a:stretch>
              <a:fillRect/>
            </a:stretch>
          </p:blipFill>
          <p:spPr>
            <a:xfrm>
              <a:off x="5362650" y="705400"/>
              <a:ext cx="3251532" cy="3732701"/>
            </a:xfrm>
            <a:prstGeom prst="rect">
              <a:avLst/>
            </a:prstGeom>
            <a:noFill/>
            <a:ln>
              <a:noFill/>
            </a:ln>
          </p:spPr>
        </p:pic>
        <p:sp>
          <p:nvSpPr>
            <p:cNvPr id="464" name="Google Shape;464;p44"/>
            <p:cNvSpPr txBox="1"/>
            <p:nvPr/>
          </p:nvSpPr>
          <p:spPr>
            <a:xfrm>
              <a:off x="5362650" y="4492275"/>
              <a:ext cx="3251400" cy="3930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latin typeface="Source Code Pro Light"/>
                  <a:ea typeface="Source Code Pro Light"/>
                  <a:cs typeface="Source Code Pro Light"/>
                  <a:sym typeface="Source Code Pro Light"/>
                </a:rPr>
                <a:t>Yeakel et al</a:t>
              </a:r>
              <a:r>
                <a:rPr lang="en-GB" sz="800">
                  <a:solidFill>
                    <a:srgbClr val="000000"/>
                  </a:solidFill>
                  <a:latin typeface="Source Code Pro Light"/>
                  <a:ea typeface="Source Code Pro Light"/>
                  <a:cs typeface="Source Code Pro Light"/>
                  <a:sym typeface="Source Code Pro Light"/>
                </a:rPr>
                <a:t>.</a:t>
              </a:r>
              <a:r>
                <a:rPr lang="en-GB" sz="800">
                  <a:latin typeface="Source Code Pro Light"/>
                  <a:ea typeface="Source Code Pro Light"/>
                  <a:cs typeface="Source Code Pro Light"/>
                  <a:sym typeface="Source Code Pro Light"/>
                </a:rPr>
                <a:t> (</a:t>
              </a:r>
              <a:r>
                <a:rPr lang="en-GB" sz="800">
                  <a:solidFill>
                    <a:srgbClr val="000000"/>
                  </a:solidFill>
                  <a:latin typeface="Source Code Pro Light"/>
                  <a:ea typeface="Source Code Pro Light"/>
                  <a:cs typeface="Source Code Pro Light"/>
                  <a:sym typeface="Source Code Pro Light"/>
                </a:rPr>
                <a:t>20</a:t>
              </a:r>
              <a:r>
                <a:rPr lang="en-GB" sz="800">
                  <a:latin typeface="Source Code Pro Light"/>
                  <a:ea typeface="Source Code Pro Light"/>
                  <a:cs typeface="Source Code Pro Light"/>
                  <a:sym typeface="Source Code Pro Light"/>
                </a:rPr>
                <a:t>14) PNAS</a:t>
              </a:r>
              <a:endParaRPr sz="800">
                <a:latin typeface="Source Code Pro Light"/>
                <a:ea typeface="Source Code Pro Light"/>
                <a:cs typeface="Source Code Pro Light"/>
                <a:sym typeface="Source Code Pro Light"/>
              </a:endParaRPr>
            </a:p>
          </p:txBody>
        </p:sp>
      </p:grpSp>
      <p:sp>
        <p:nvSpPr>
          <p:cNvPr id="465" name="Google Shape;465;p44"/>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Information about the part</a:t>
            </a:r>
            <a:endParaRPr sz="1100">
              <a:solidFill>
                <a:schemeClr val="dk2"/>
              </a:solidFill>
              <a:latin typeface="Source Code Pro Light"/>
              <a:ea typeface="Source Code Pro Light"/>
              <a:cs typeface="Source Code Pro Light"/>
              <a:sym typeface="Source Code Pro Light"/>
            </a:endParaRPr>
          </a:p>
        </p:txBody>
      </p:sp>
      <p:grpSp>
        <p:nvGrpSpPr>
          <p:cNvPr id="466" name="Google Shape;466;p44"/>
          <p:cNvGrpSpPr/>
          <p:nvPr/>
        </p:nvGrpSpPr>
        <p:grpSpPr>
          <a:xfrm>
            <a:off x="4172014" y="569700"/>
            <a:ext cx="2552736" cy="4004095"/>
            <a:chOff x="3662921" y="158525"/>
            <a:chExt cx="2987404" cy="4685893"/>
          </a:xfrm>
        </p:grpSpPr>
        <p:pic>
          <p:nvPicPr>
            <p:cNvPr id="467" name="Google Shape;467;p44"/>
            <p:cNvPicPr preferRelativeResize="0"/>
            <p:nvPr/>
          </p:nvPicPr>
          <p:blipFill>
            <a:blip r:embed="rId4">
              <a:alphaModFix/>
            </a:blip>
            <a:stretch>
              <a:fillRect/>
            </a:stretch>
          </p:blipFill>
          <p:spPr>
            <a:xfrm>
              <a:off x="3956650" y="158525"/>
              <a:ext cx="2693675" cy="4325599"/>
            </a:xfrm>
            <a:prstGeom prst="rect">
              <a:avLst/>
            </a:prstGeom>
            <a:noFill/>
            <a:ln>
              <a:noFill/>
            </a:ln>
          </p:spPr>
        </p:pic>
        <p:sp>
          <p:nvSpPr>
            <p:cNvPr id="468" name="Google Shape;468;p44"/>
            <p:cNvSpPr txBox="1"/>
            <p:nvPr/>
          </p:nvSpPr>
          <p:spPr>
            <a:xfrm>
              <a:off x="3662921" y="4484118"/>
              <a:ext cx="2987400" cy="3603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latin typeface="Source Code Pro Light"/>
                  <a:ea typeface="Source Code Pro Light"/>
                  <a:cs typeface="Source Code Pro Light"/>
                  <a:sym typeface="Source Code Pro Light"/>
                </a:rPr>
                <a:t>Dunhill</a:t>
              </a:r>
              <a:r>
                <a:rPr lang="en-GB" sz="800">
                  <a:latin typeface="Source Code Pro Light"/>
                  <a:ea typeface="Source Code Pro Light"/>
                  <a:cs typeface="Source Code Pro Light"/>
                  <a:sym typeface="Source Code Pro Light"/>
                </a:rPr>
                <a:t> et al</a:t>
              </a:r>
              <a:r>
                <a:rPr lang="en-GB" sz="800">
                  <a:solidFill>
                    <a:srgbClr val="000000"/>
                  </a:solidFill>
                  <a:latin typeface="Source Code Pro Light"/>
                  <a:ea typeface="Source Code Pro Light"/>
                  <a:cs typeface="Source Code Pro Light"/>
                  <a:sym typeface="Source Code Pro Light"/>
                </a:rPr>
                <a:t>.</a:t>
              </a:r>
              <a:r>
                <a:rPr lang="en-GB" sz="800">
                  <a:latin typeface="Source Code Pro Light"/>
                  <a:ea typeface="Source Code Pro Light"/>
                  <a:cs typeface="Source Code Pro Light"/>
                  <a:sym typeface="Source Code Pro Light"/>
                </a:rPr>
                <a:t> (</a:t>
              </a:r>
              <a:r>
                <a:rPr lang="en-GB" sz="800">
                  <a:solidFill>
                    <a:srgbClr val="000000"/>
                  </a:solidFill>
                  <a:latin typeface="Source Code Pro Light"/>
                  <a:ea typeface="Source Code Pro Light"/>
                  <a:cs typeface="Source Code Pro Light"/>
                  <a:sym typeface="Source Code Pro Light"/>
                </a:rPr>
                <a:t>20</a:t>
              </a:r>
              <a:r>
                <a:rPr lang="en-GB" sz="800">
                  <a:latin typeface="Source Code Pro Light"/>
                  <a:ea typeface="Source Code Pro Light"/>
                  <a:cs typeface="Source Code Pro Light"/>
                  <a:sym typeface="Source Code Pro Light"/>
                </a:rPr>
                <a:t>2</a:t>
              </a:r>
              <a:r>
                <a:rPr lang="en-GB" sz="800">
                  <a:latin typeface="Source Code Pro Light"/>
                  <a:ea typeface="Source Code Pro Light"/>
                  <a:cs typeface="Source Code Pro Light"/>
                  <a:sym typeface="Source Code Pro Light"/>
                </a:rPr>
                <a:t>4) Nat. Comms.</a:t>
              </a:r>
              <a:endParaRPr sz="800">
                <a:latin typeface="Source Code Pro Light"/>
                <a:ea typeface="Source Code Pro Light"/>
                <a:cs typeface="Source Code Pro Light"/>
                <a:sym typeface="Source Code Pro Light"/>
              </a:endParaRPr>
            </a:p>
          </p:txBody>
        </p:sp>
      </p:grpSp>
      <p:pic>
        <p:nvPicPr>
          <p:cNvPr id="469" name="Google Shape;469;p44"/>
          <p:cNvPicPr preferRelativeResize="0"/>
          <p:nvPr/>
        </p:nvPicPr>
        <p:blipFill rotWithShape="1">
          <a:blip r:embed="rId5">
            <a:alphaModFix/>
          </a:blip>
          <a:srcRect b="50431" l="57745" r="-4" t="0"/>
          <a:stretch/>
        </p:blipFill>
        <p:spPr>
          <a:xfrm>
            <a:off x="6724750" y="569700"/>
            <a:ext cx="2296400" cy="2731402"/>
          </a:xfrm>
          <a:prstGeom prst="rect">
            <a:avLst/>
          </a:prstGeom>
          <a:noFill/>
          <a:ln>
            <a:noFill/>
          </a:ln>
        </p:spPr>
      </p:pic>
      <p:sp>
        <p:nvSpPr>
          <p:cNvPr id="470" name="Google Shape;470;p44"/>
          <p:cNvSpPr/>
          <p:nvPr/>
        </p:nvSpPr>
        <p:spPr>
          <a:xfrm>
            <a:off x="1691175" y="1193575"/>
            <a:ext cx="20211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Source Code Pro"/>
                <a:ea typeface="Source Code Pro"/>
                <a:cs typeface="Source Code Pro"/>
                <a:sym typeface="Source Code Pro"/>
              </a:rPr>
              <a:t>Community collapse</a:t>
            </a:r>
            <a:endParaRPr sz="1500">
              <a:solidFill>
                <a:schemeClr val="lt1"/>
              </a:solidFill>
              <a:latin typeface="Source Code Pro"/>
              <a:ea typeface="Source Code Pro"/>
              <a:cs typeface="Source Code Pro"/>
              <a:sym typeface="Source Code Pro"/>
            </a:endParaRPr>
          </a:p>
        </p:txBody>
      </p:sp>
      <p:sp>
        <p:nvSpPr>
          <p:cNvPr id="471" name="Google Shape;471;p44"/>
          <p:cNvSpPr/>
          <p:nvPr/>
        </p:nvSpPr>
        <p:spPr>
          <a:xfrm>
            <a:off x="6540950" y="3340525"/>
            <a:ext cx="2021100" cy="448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Source Code Pro"/>
                <a:ea typeface="Source Code Pro"/>
                <a:cs typeface="Source Code Pro"/>
                <a:sym typeface="Source Code Pro"/>
              </a:rPr>
              <a:t>Mass extinctions</a:t>
            </a:r>
            <a:endParaRPr sz="1500">
              <a:solidFill>
                <a:schemeClr val="lt1"/>
              </a:solidFill>
              <a:latin typeface="Source Code Pro"/>
              <a:ea typeface="Source Code Pro"/>
              <a:cs typeface="Source Code Pro"/>
              <a:sym typeface="Source Code Pr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5"/>
          <p:cNvSpPr txBox="1"/>
          <p:nvPr>
            <p:ph idx="1" type="body"/>
          </p:nvPr>
        </p:nvSpPr>
        <p:spPr>
          <a:xfrm>
            <a:off x="311700" y="1468825"/>
            <a:ext cx="42603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Adding species to a community</a:t>
            </a:r>
            <a:endParaRPr/>
          </a:p>
          <a:p>
            <a:pPr indent="-342900" lvl="0" marL="457200" rtl="0" algn="l">
              <a:spcBef>
                <a:spcPts val="0"/>
              </a:spcBef>
              <a:spcAft>
                <a:spcPts val="0"/>
              </a:spcAft>
              <a:buSzPts val="1800"/>
              <a:buChar char="●"/>
            </a:pPr>
            <a:r>
              <a:rPr lang="en-GB"/>
              <a:t>What are the knock-on effects?</a:t>
            </a:r>
            <a:endParaRPr/>
          </a:p>
        </p:txBody>
      </p:sp>
      <p:sp>
        <p:nvSpPr>
          <p:cNvPr id="477" name="Google Shape;477;p4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‘Invasions’</a:t>
            </a:r>
            <a:endParaRPr/>
          </a:p>
        </p:txBody>
      </p:sp>
      <p:sp>
        <p:nvSpPr>
          <p:cNvPr id="478" name="Google Shape;478;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grpSp>
        <p:nvGrpSpPr>
          <p:cNvPr id="479" name="Google Shape;479;p45"/>
          <p:cNvGrpSpPr/>
          <p:nvPr/>
        </p:nvGrpSpPr>
        <p:grpSpPr>
          <a:xfrm>
            <a:off x="4475250" y="446550"/>
            <a:ext cx="4324473" cy="4133705"/>
            <a:chOff x="1218850" y="975725"/>
            <a:chExt cx="4324473" cy="4133705"/>
          </a:xfrm>
        </p:grpSpPr>
        <p:pic>
          <p:nvPicPr>
            <p:cNvPr id="480" name="Google Shape;480;p45"/>
            <p:cNvPicPr preferRelativeResize="0"/>
            <p:nvPr/>
          </p:nvPicPr>
          <p:blipFill>
            <a:blip r:embed="rId3">
              <a:alphaModFix/>
            </a:blip>
            <a:stretch>
              <a:fillRect/>
            </a:stretch>
          </p:blipFill>
          <p:spPr>
            <a:xfrm>
              <a:off x="1218850" y="975725"/>
              <a:ext cx="4195050" cy="3892925"/>
            </a:xfrm>
            <a:prstGeom prst="rect">
              <a:avLst/>
            </a:prstGeom>
            <a:noFill/>
            <a:ln>
              <a:noFill/>
            </a:ln>
          </p:spPr>
        </p:pic>
        <p:sp>
          <p:nvSpPr>
            <p:cNvPr id="481" name="Google Shape;481;p45"/>
            <p:cNvSpPr txBox="1"/>
            <p:nvPr/>
          </p:nvSpPr>
          <p:spPr>
            <a:xfrm>
              <a:off x="2940223" y="4801630"/>
              <a:ext cx="26031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latin typeface="Source Code Pro Light"/>
                  <a:ea typeface="Source Code Pro Light"/>
                  <a:cs typeface="Source Code Pro Light"/>
                  <a:sym typeface="Source Code Pro Light"/>
                </a:rPr>
                <a:t>Pires</a:t>
              </a:r>
              <a:r>
                <a:rPr lang="en-GB" sz="800">
                  <a:solidFill>
                    <a:srgbClr val="000000"/>
                  </a:solidFill>
                  <a:latin typeface="Source Code Pro Light"/>
                  <a:ea typeface="Source Code Pro Light"/>
                  <a:cs typeface="Source Code Pro Light"/>
                  <a:sym typeface="Source Code Pro Light"/>
                </a:rPr>
                <a:t>.</a:t>
              </a:r>
              <a:r>
                <a:rPr lang="en-GB" sz="800">
                  <a:latin typeface="Source Code Pro Light"/>
                  <a:ea typeface="Source Code Pro Light"/>
                  <a:cs typeface="Source Code Pro Light"/>
                  <a:sym typeface="Source Code Pro Light"/>
                </a:rPr>
                <a:t> (</a:t>
              </a:r>
              <a:r>
                <a:rPr lang="en-GB" sz="800">
                  <a:solidFill>
                    <a:srgbClr val="000000"/>
                  </a:solidFill>
                  <a:latin typeface="Source Code Pro Light"/>
                  <a:ea typeface="Source Code Pro Light"/>
                  <a:cs typeface="Source Code Pro Light"/>
                  <a:sym typeface="Source Code Pro Light"/>
                </a:rPr>
                <a:t>20</a:t>
              </a:r>
              <a:r>
                <a:rPr lang="en-GB" sz="800">
                  <a:latin typeface="Source Code Pro Light"/>
                  <a:ea typeface="Source Code Pro Light"/>
                  <a:cs typeface="Source Code Pro Light"/>
                  <a:sym typeface="Source Code Pro Light"/>
                </a:rPr>
                <a:t>17</a:t>
              </a:r>
              <a:r>
                <a:rPr lang="en-GB" sz="800">
                  <a:latin typeface="Source Code Pro Light"/>
                  <a:ea typeface="Source Code Pro Light"/>
                  <a:cs typeface="Source Code Pro Light"/>
                  <a:sym typeface="Source Code Pro Light"/>
                </a:rPr>
                <a:t>) </a:t>
              </a:r>
              <a:r>
                <a:rPr lang="en-GB" sz="800">
                  <a:latin typeface="Source Code Pro Light"/>
                  <a:ea typeface="Source Code Pro Light"/>
                  <a:cs typeface="Source Code Pro Light"/>
                  <a:sym typeface="Source Code Pro Light"/>
                </a:rPr>
                <a:t>Perspectives</a:t>
              </a:r>
              <a:r>
                <a:rPr lang="en-GB" sz="800">
                  <a:latin typeface="Source Code Pro Light"/>
                  <a:ea typeface="Source Code Pro Light"/>
                  <a:cs typeface="Source Code Pro Light"/>
                  <a:sym typeface="Source Code Pro Light"/>
                </a:rPr>
                <a:t> Eco &amp; Cons</a:t>
              </a:r>
              <a:endParaRPr sz="800">
                <a:latin typeface="Source Code Pro Light"/>
                <a:ea typeface="Source Code Pro Light"/>
                <a:cs typeface="Source Code Pro Light"/>
                <a:sym typeface="Source Code Pro Light"/>
              </a:endParaRPr>
            </a:p>
          </p:txBody>
        </p:sp>
      </p:grpSp>
      <p:sp>
        <p:nvSpPr>
          <p:cNvPr id="482" name="Google Shape;482;p45"/>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Information about the part</a:t>
            </a:r>
            <a:endParaRPr sz="1100">
              <a:solidFill>
                <a:schemeClr val="dk2"/>
              </a:solidFill>
              <a:latin typeface="Source Code Pro Light"/>
              <a:ea typeface="Source Code Pro Light"/>
              <a:cs typeface="Source Code Pro Light"/>
              <a:sym typeface="Source Code Pro Light"/>
            </a:endParaRPr>
          </a:p>
        </p:txBody>
      </p:sp>
      <p:grpSp>
        <p:nvGrpSpPr>
          <p:cNvPr id="483" name="Google Shape;483;p45"/>
          <p:cNvGrpSpPr/>
          <p:nvPr/>
        </p:nvGrpSpPr>
        <p:grpSpPr>
          <a:xfrm>
            <a:off x="311700" y="2823347"/>
            <a:ext cx="4427850" cy="1961358"/>
            <a:chOff x="373075" y="2624897"/>
            <a:chExt cx="4427850" cy="1961358"/>
          </a:xfrm>
        </p:grpSpPr>
        <p:pic>
          <p:nvPicPr>
            <p:cNvPr id="484" name="Google Shape;484;p45"/>
            <p:cNvPicPr preferRelativeResize="0"/>
            <p:nvPr/>
          </p:nvPicPr>
          <p:blipFill>
            <a:blip r:embed="rId4">
              <a:alphaModFix/>
            </a:blip>
            <a:stretch>
              <a:fillRect/>
            </a:stretch>
          </p:blipFill>
          <p:spPr>
            <a:xfrm>
              <a:off x="373075" y="2624897"/>
              <a:ext cx="4427850" cy="1653550"/>
            </a:xfrm>
            <a:prstGeom prst="rect">
              <a:avLst/>
            </a:prstGeom>
            <a:noFill/>
            <a:ln>
              <a:noFill/>
            </a:ln>
          </p:spPr>
        </p:pic>
        <p:sp>
          <p:nvSpPr>
            <p:cNvPr id="485" name="Google Shape;485;p45"/>
            <p:cNvSpPr txBox="1"/>
            <p:nvPr/>
          </p:nvSpPr>
          <p:spPr>
            <a:xfrm>
              <a:off x="2197823" y="4278455"/>
              <a:ext cx="26031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latin typeface="Source Code Pro Light"/>
                  <a:ea typeface="Source Code Pro Light"/>
                  <a:cs typeface="Source Code Pro Light"/>
                  <a:sym typeface="Source Code Pro Light"/>
                </a:rPr>
                <a:t>Valdovinos</a:t>
              </a:r>
              <a:r>
                <a:rPr lang="en-GB" sz="800">
                  <a:latin typeface="Source Code Pro Light"/>
                  <a:ea typeface="Source Code Pro Light"/>
                  <a:cs typeface="Source Code Pro Light"/>
                  <a:sym typeface="Source Code Pro Light"/>
                </a:rPr>
                <a:t> (</a:t>
              </a:r>
              <a:r>
                <a:rPr lang="en-GB" sz="800">
                  <a:solidFill>
                    <a:srgbClr val="000000"/>
                  </a:solidFill>
                  <a:latin typeface="Source Code Pro Light"/>
                  <a:ea typeface="Source Code Pro Light"/>
                  <a:cs typeface="Source Code Pro Light"/>
                  <a:sym typeface="Source Code Pro Light"/>
                </a:rPr>
                <a:t>20</a:t>
              </a:r>
              <a:r>
                <a:rPr lang="en-GB" sz="800">
                  <a:latin typeface="Source Code Pro Light"/>
                  <a:ea typeface="Source Code Pro Light"/>
                  <a:cs typeface="Source Code Pro Light"/>
                  <a:sym typeface="Source Code Pro Light"/>
                </a:rPr>
                <a:t>19</a:t>
              </a:r>
              <a:r>
                <a:rPr lang="en-GB" sz="800">
                  <a:latin typeface="Source Code Pro Light"/>
                  <a:ea typeface="Source Code Pro Light"/>
                  <a:cs typeface="Source Code Pro Light"/>
                  <a:sym typeface="Source Code Pro Light"/>
                </a:rPr>
                <a:t>) Eco. Lett.</a:t>
              </a:r>
              <a:endParaRPr sz="800">
                <a:latin typeface="Source Code Pro Light"/>
                <a:ea typeface="Source Code Pro Light"/>
                <a:cs typeface="Source Code Pro Light"/>
                <a:sym typeface="Source Code Pro Light"/>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6"/>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Trophic Cascades</a:t>
            </a:r>
            <a:endParaRPr/>
          </a:p>
        </p:txBody>
      </p:sp>
      <p:sp>
        <p:nvSpPr>
          <p:cNvPr id="491" name="Google Shape;49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7"/>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Checks and balances</a:t>
            </a:r>
            <a:endParaRPr/>
          </a:p>
        </p:txBody>
      </p:sp>
      <p:sp>
        <p:nvSpPr>
          <p:cNvPr id="497" name="Google Shape;497;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98" name="Google Shape;498;p47"/>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Trophic Cascades</a:t>
            </a:r>
            <a:endParaRPr sz="1100">
              <a:solidFill>
                <a:schemeClr val="dk2"/>
              </a:solidFill>
              <a:latin typeface="Source Code Pro Light"/>
              <a:ea typeface="Source Code Pro Light"/>
              <a:cs typeface="Source Code Pro Light"/>
              <a:sym typeface="Source Code Pro Light"/>
            </a:endParaRPr>
          </a:p>
        </p:txBody>
      </p:sp>
      <p:sp>
        <p:nvSpPr>
          <p:cNvPr id="499" name="Google Shape;499;p47"/>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Who keeps who in line. Changes in the part leads to changes in the whole.</a:t>
            </a:r>
            <a:endParaRPr/>
          </a:p>
        </p:txBody>
      </p:sp>
      <p:grpSp>
        <p:nvGrpSpPr>
          <p:cNvPr id="500" name="Google Shape;500;p47"/>
          <p:cNvGrpSpPr/>
          <p:nvPr/>
        </p:nvGrpSpPr>
        <p:grpSpPr>
          <a:xfrm>
            <a:off x="7683652" y="2537200"/>
            <a:ext cx="1009430" cy="847591"/>
            <a:chOff x="6038025" y="2598933"/>
            <a:chExt cx="1648857" cy="1384500"/>
          </a:xfrm>
        </p:grpSpPr>
        <p:cxnSp>
          <p:nvCxnSpPr>
            <p:cNvPr id="501" name="Google Shape;501;p47"/>
            <p:cNvCxnSpPr/>
            <p:nvPr/>
          </p:nvCxnSpPr>
          <p:spPr>
            <a:xfrm>
              <a:off x="6038025" y="3312550"/>
              <a:ext cx="582000" cy="0"/>
            </a:xfrm>
            <a:prstGeom prst="straightConnector1">
              <a:avLst/>
            </a:prstGeom>
            <a:noFill/>
            <a:ln cap="flat" cmpd="sng" w="9525">
              <a:solidFill>
                <a:srgbClr val="C2C2C2"/>
              </a:solidFill>
              <a:prstDash val="solid"/>
              <a:round/>
              <a:headEnd len="sm" w="sm" type="none"/>
              <a:tailEnd len="sm" w="sm" type="none"/>
            </a:ln>
          </p:spPr>
        </p:cxnSp>
        <p:sp>
          <p:nvSpPr>
            <p:cNvPr id="502" name="Google Shape;502;p47"/>
            <p:cNvSpPr txBox="1"/>
            <p:nvPr/>
          </p:nvSpPr>
          <p:spPr>
            <a:xfrm>
              <a:off x="6640482" y="2598933"/>
              <a:ext cx="1046400" cy="138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latin typeface="Roboto"/>
                  <a:ea typeface="Roboto"/>
                  <a:cs typeface="Roboto"/>
                  <a:sym typeface="Roboto"/>
                </a:rPr>
                <a:t>Plants</a:t>
              </a:r>
              <a:endParaRPr b="1" sz="800">
                <a:latin typeface="Roboto"/>
                <a:ea typeface="Roboto"/>
                <a:cs typeface="Roboto"/>
                <a:sym typeface="Roboto"/>
              </a:endParaRPr>
            </a:p>
          </p:txBody>
        </p:sp>
        <p:sp>
          <p:nvSpPr>
            <p:cNvPr id="503" name="Google Shape;503;p47"/>
            <p:cNvSpPr/>
            <p:nvPr/>
          </p:nvSpPr>
          <p:spPr>
            <a:xfrm>
              <a:off x="6424027" y="3212150"/>
              <a:ext cx="198600" cy="19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 name="Google Shape;504;p47"/>
          <p:cNvGrpSpPr/>
          <p:nvPr/>
        </p:nvGrpSpPr>
        <p:grpSpPr>
          <a:xfrm>
            <a:off x="6991912" y="1512575"/>
            <a:ext cx="2044062" cy="847591"/>
            <a:chOff x="4908100" y="889942"/>
            <a:chExt cx="3338879" cy="1384500"/>
          </a:xfrm>
        </p:grpSpPr>
        <p:cxnSp>
          <p:nvCxnSpPr>
            <p:cNvPr id="505" name="Google Shape;505;p47"/>
            <p:cNvCxnSpPr/>
            <p:nvPr/>
          </p:nvCxnSpPr>
          <p:spPr>
            <a:xfrm>
              <a:off x="4908100" y="1593250"/>
              <a:ext cx="1715100" cy="0"/>
            </a:xfrm>
            <a:prstGeom prst="straightConnector1">
              <a:avLst/>
            </a:prstGeom>
            <a:noFill/>
            <a:ln cap="flat" cmpd="sng" w="9525">
              <a:solidFill>
                <a:srgbClr val="C2C2C2"/>
              </a:solidFill>
              <a:prstDash val="solid"/>
              <a:round/>
              <a:headEnd len="sm" w="sm" type="none"/>
              <a:tailEnd len="sm" w="sm" type="none"/>
            </a:ln>
          </p:spPr>
        </p:cxnSp>
        <p:sp>
          <p:nvSpPr>
            <p:cNvPr id="506" name="Google Shape;506;p47"/>
            <p:cNvSpPr txBox="1"/>
            <p:nvPr/>
          </p:nvSpPr>
          <p:spPr>
            <a:xfrm>
              <a:off x="6640479" y="889942"/>
              <a:ext cx="1606500" cy="138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latin typeface="Roboto"/>
                  <a:ea typeface="Roboto"/>
                  <a:cs typeface="Roboto"/>
                  <a:sym typeface="Roboto"/>
                </a:rPr>
                <a:t>Carnivores</a:t>
              </a:r>
              <a:endParaRPr b="1" sz="800">
                <a:latin typeface="Roboto"/>
                <a:ea typeface="Roboto"/>
                <a:cs typeface="Roboto"/>
                <a:sym typeface="Roboto"/>
              </a:endParaRPr>
            </a:p>
          </p:txBody>
        </p:sp>
        <p:sp>
          <p:nvSpPr>
            <p:cNvPr id="507" name="Google Shape;507;p47"/>
            <p:cNvSpPr/>
            <p:nvPr/>
          </p:nvSpPr>
          <p:spPr>
            <a:xfrm>
              <a:off x="6427830" y="1493307"/>
              <a:ext cx="198600" cy="19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 name="Google Shape;508;p47"/>
          <p:cNvGrpSpPr/>
          <p:nvPr/>
        </p:nvGrpSpPr>
        <p:grpSpPr>
          <a:xfrm>
            <a:off x="5710257" y="1640040"/>
            <a:ext cx="2151767" cy="1990876"/>
            <a:chOff x="2991269" y="1153325"/>
            <a:chExt cx="3514811" cy="3252003"/>
          </a:xfrm>
        </p:grpSpPr>
        <p:sp>
          <p:nvSpPr>
            <p:cNvPr id="509" name="Google Shape;509;p47"/>
            <p:cNvSpPr/>
            <p:nvPr/>
          </p:nvSpPr>
          <p:spPr>
            <a:xfrm>
              <a:off x="3477586" y="2585458"/>
              <a:ext cx="2541910" cy="950456"/>
            </a:xfrm>
            <a:custGeom>
              <a:rect b="b" l="l" r="r" t="t"/>
              <a:pathLst>
                <a:path extrusionOk="0" h="43529" w="126826">
                  <a:moveTo>
                    <a:pt x="0" y="20002"/>
                  </a:moveTo>
                  <a:lnTo>
                    <a:pt x="63389" y="43529"/>
                  </a:lnTo>
                  <a:lnTo>
                    <a:pt x="126826" y="19907"/>
                  </a:lnTo>
                  <a:lnTo>
                    <a:pt x="63580" y="0"/>
                  </a:lnTo>
                  <a:close/>
                </a:path>
              </a:pathLst>
            </a:custGeom>
            <a:solidFill>
              <a:srgbClr val="D9D9D9"/>
            </a:solidFill>
            <a:ln>
              <a:noFill/>
            </a:ln>
          </p:spPr>
        </p:sp>
        <p:sp>
          <p:nvSpPr>
            <p:cNvPr id="510" name="Google Shape;510;p47"/>
            <p:cNvSpPr/>
            <p:nvPr/>
          </p:nvSpPr>
          <p:spPr>
            <a:xfrm>
              <a:off x="2991269"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563D52"/>
            </a:solidFill>
            <a:ln>
              <a:noFill/>
            </a:ln>
          </p:spPr>
        </p:sp>
        <p:sp>
          <p:nvSpPr>
            <p:cNvPr id="511" name="Google Shape;511;p47"/>
            <p:cNvSpPr/>
            <p:nvPr/>
          </p:nvSpPr>
          <p:spPr>
            <a:xfrm flipH="1">
              <a:off x="4747852"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chemeClr val="lt2"/>
            </a:solidFill>
            <a:ln>
              <a:noFill/>
            </a:ln>
          </p:spPr>
        </p:sp>
        <p:sp>
          <p:nvSpPr>
            <p:cNvPr id="512" name="Google Shape;512;p47"/>
            <p:cNvSpPr/>
            <p:nvPr/>
          </p:nvSpPr>
          <p:spPr>
            <a:xfrm>
              <a:off x="3969199" y="2001324"/>
              <a:ext cx="1565850" cy="585863"/>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513" name="Google Shape;513;p47"/>
            <p:cNvSpPr/>
            <p:nvPr/>
          </p:nvSpPr>
          <p:spPr>
            <a:xfrm>
              <a:off x="356325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563D52"/>
            </a:solidFill>
            <a:ln>
              <a:noFill/>
            </a:ln>
          </p:spPr>
        </p:sp>
        <p:sp>
          <p:nvSpPr>
            <p:cNvPr id="514" name="Google Shape;514;p47"/>
            <p:cNvSpPr/>
            <p:nvPr/>
          </p:nvSpPr>
          <p:spPr>
            <a:xfrm flipH="1">
              <a:off x="4749365" y="2275837"/>
              <a:ext cx="1189300" cy="1015326"/>
            </a:xfrm>
            <a:custGeom>
              <a:rect b="b" l="l" r="r" t="t"/>
              <a:pathLst>
                <a:path extrusionOk="0" h="14114" w="18238">
                  <a:moveTo>
                    <a:pt x="6262" y="0"/>
                  </a:moveTo>
                  <a:lnTo>
                    <a:pt x="18238" y="4324"/>
                  </a:lnTo>
                  <a:lnTo>
                    <a:pt x="18238" y="14114"/>
                  </a:lnTo>
                  <a:lnTo>
                    <a:pt x="0" y="7554"/>
                  </a:lnTo>
                  <a:close/>
                </a:path>
              </a:pathLst>
            </a:custGeom>
            <a:solidFill>
              <a:schemeClr val="lt2"/>
            </a:solidFill>
            <a:ln>
              <a:noFill/>
            </a:ln>
          </p:spPr>
        </p:sp>
        <p:sp>
          <p:nvSpPr>
            <p:cNvPr id="515" name="Google Shape;515;p47"/>
            <p:cNvSpPr/>
            <p:nvPr/>
          </p:nvSpPr>
          <p:spPr>
            <a:xfrm>
              <a:off x="4059061" y="1153325"/>
              <a:ext cx="693508" cy="1201140"/>
            </a:xfrm>
            <a:custGeom>
              <a:rect b="b" l="l" r="r" t="t"/>
              <a:pathLst>
                <a:path extrusionOk="0" h="16697" w="10635">
                  <a:moveTo>
                    <a:pt x="10635" y="0"/>
                  </a:moveTo>
                  <a:lnTo>
                    <a:pt x="0" y="12722"/>
                  </a:lnTo>
                  <a:lnTo>
                    <a:pt x="10635" y="16697"/>
                  </a:lnTo>
                  <a:close/>
                </a:path>
              </a:pathLst>
            </a:custGeom>
            <a:solidFill>
              <a:srgbClr val="563D52"/>
            </a:solidFill>
            <a:ln>
              <a:noFill/>
            </a:ln>
          </p:spPr>
        </p:sp>
        <p:sp>
          <p:nvSpPr>
            <p:cNvPr id="516" name="Google Shape;516;p47"/>
            <p:cNvSpPr/>
            <p:nvPr/>
          </p:nvSpPr>
          <p:spPr>
            <a:xfrm flipH="1">
              <a:off x="4749350" y="1153325"/>
              <a:ext cx="693508" cy="1201140"/>
            </a:xfrm>
            <a:custGeom>
              <a:rect b="b" l="l" r="r" t="t"/>
              <a:pathLst>
                <a:path extrusionOk="0" h="16697" w="10635">
                  <a:moveTo>
                    <a:pt x="10635" y="0"/>
                  </a:moveTo>
                  <a:lnTo>
                    <a:pt x="0" y="12722"/>
                  </a:lnTo>
                  <a:lnTo>
                    <a:pt x="10635" y="16697"/>
                  </a:lnTo>
                  <a:close/>
                </a:path>
              </a:pathLst>
            </a:custGeom>
            <a:solidFill>
              <a:schemeClr val="lt2"/>
            </a:solidFill>
            <a:ln>
              <a:noFill/>
            </a:ln>
          </p:spPr>
        </p:sp>
      </p:grpSp>
      <p:grpSp>
        <p:nvGrpSpPr>
          <p:cNvPr id="517" name="Google Shape;517;p47"/>
          <p:cNvGrpSpPr/>
          <p:nvPr/>
        </p:nvGrpSpPr>
        <p:grpSpPr>
          <a:xfrm>
            <a:off x="4572001" y="2064275"/>
            <a:ext cx="1638102" cy="847591"/>
            <a:chOff x="955288" y="1844089"/>
            <a:chExt cx="2675762" cy="1384500"/>
          </a:xfrm>
        </p:grpSpPr>
        <p:cxnSp>
          <p:nvCxnSpPr>
            <p:cNvPr id="518" name="Google Shape;518;p47"/>
            <p:cNvCxnSpPr/>
            <p:nvPr/>
          </p:nvCxnSpPr>
          <p:spPr>
            <a:xfrm rot="10800000">
              <a:off x="2587350" y="2536350"/>
              <a:ext cx="1043700" cy="0"/>
            </a:xfrm>
            <a:prstGeom prst="straightConnector1">
              <a:avLst/>
            </a:prstGeom>
            <a:noFill/>
            <a:ln cap="flat" cmpd="sng" w="9525">
              <a:solidFill>
                <a:srgbClr val="C2C2C2"/>
              </a:solidFill>
              <a:prstDash val="solid"/>
              <a:round/>
              <a:headEnd len="sm" w="sm" type="none"/>
              <a:tailEnd len="sm" w="sm" type="none"/>
            </a:ln>
          </p:spPr>
        </p:cxnSp>
        <p:sp>
          <p:nvSpPr>
            <p:cNvPr id="519" name="Google Shape;519;p47"/>
            <p:cNvSpPr/>
            <p:nvPr/>
          </p:nvSpPr>
          <p:spPr>
            <a:xfrm>
              <a:off x="2523501" y="2431050"/>
              <a:ext cx="198600" cy="19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7"/>
            <p:cNvSpPr txBox="1"/>
            <p:nvPr/>
          </p:nvSpPr>
          <p:spPr>
            <a:xfrm>
              <a:off x="955288" y="1844089"/>
              <a:ext cx="1548300" cy="1384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GB" sz="1200">
                  <a:latin typeface="Roboto"/>
                  <a:ea typeface="Roboto"/>
                  <a:cs typeface="Roboto"/>
                  <a:sym typeface="Roboto"/>
                </a:rPr>
                <a:t>Herbivores</a:t>
              </a:r>
              <a:endParaRPr b="1" sz="800">
                <a:latin typeface="Roboto"/>
                <a:ea typeface="Roboto"/>
                <a:cs typeface="Roboto"/>
                <a:sym typeface="Roboto"/>
              </a:endParaRPr>
            </a:p>
          </p:txBody>
        </p:sp>
      </p:grpSp>
      <p:sp>
        <p:nvSpPr>
          <p:cNvPr id="521" name="Google Shape;521;p47"/>
          <p:cNvSpPr txBox="1"/>
          <p:nvPr/>
        </p:nvSpPr>
        <p:spPr>
          <a:xfrm>
            <a:off x="5710250" y="3747600"/>
            <a:ext cx="2151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chemeClr val="dk2"/>
                </a:solidFill>
                <a:latin typeface="Source Code Pro"/>
                <a:ea typeface="Source Code Pro"/>
                <a:cs typeface="Source Code Pro"/>
                <a:sym typeface="Source Code Pro"/>
              </a:rPr>
              <a:t>Bottom-up (Elton, 1927)</a:t>
            </a:r>
            <a:endParaRPr sz="1500">
              <a:solidFill>
                <a:schemeClr val="dk2"/>
              </a:solidFill>
              <a:latin typeface="Source Code Pro"/>
              <a:ea typeface="Source Code Pro"/>
              <a:cs typeface="Source Code Pro"/>
              <a:sym typeface="Source Code Pro"/>
            </a:endParaRPr>
          </a:p>
        </p:txBody>
      </p:sp>
      <p:sp>
        <p:nvSpPr>
          <p:cNvPr id="522" name="Google Shape;522;p47"/>
          <p:cNvSpPr txBox="1"/>
          <p:nvPr/>
        </p:nvSpPr>
        <p:spPr>
          <a:xfrm>
            <a:off x="5710075" y="985525"/>
            <a:ext cx="3188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chemeClr val="dk2"/>
                </a:solidFill>
                <a:latin typeface="Source Code Pro"/>
                <a:ea typeface="Source Code Pro"/>
                <a:cs typeface="Source Code Pro"/>
                <a:sym typeface="Source Code Pro"/>
              </a:rPr>
              <a:t>Top-down (Hairston Smith Slobodkin, 1960)</a:t>
            </a:r>
            <a:endParaRPr sz="1500">
              <a:solidFill>
                <a:schemeClr val="dk2"/>
              </a:solidFill>
              <a:latin typeface="Source Code Pro"/>
              <a:ea typeface="Source Code Pro"/>
              <a:cs typeface="Source Code Pro"/>
              <a:sym typeface="Source Code Pro"/>
            </a:endParaRPr>
          </a:p>
        </p:txBody>
      </p:sp>
      <p:sp>
        <p:nvSpPr>
          <p:cNvPr id="523" name="Google Shape;523;p47"/>
          <p:cNvSpPr/>
          <p:nvPr/>
        </p:nvSpPr>
        <p:spPr>
          <a:xfrm>
            <a:off x="5430175" y="3211100"/>
            <a:ext cx="279900" cy="847500"/>
          </a:xfrm>
          <a:prstGeom prst="up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524" name="Google Shape;524;p47"/>
          <p:cNvSpPr/>
          <p:nvPr/>
        </p:nvSpPr>
        <p:spPr>
          <a:xfrm rot="10800000">
            <a:off x="5430175" y="1078750"/>
            <a:ext cx="279900" cy="847500"/>
          </a:xfrm>
          <a:prstGeom prst="up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Kelp forests and sea otters</a:t>
            </a:r>
            <a:endParaRPr/>
          </a:p>
        </p:txBody>
      </p:sp>
      <p:sp>
        <p:nvSpPr>
          <p:cNvPr id="530" name="Google Shape;53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31" name="Google Shape;531;p48"/>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Trophic Cascades</a:t>
            </a:r>
            <a:endParaRPr sz="1100">
              <a:solidFill>
                <a:schemeClr val="dk2"/>
              </a:solidFill>
              <a:latin typeface="Source Code Pro Light"/>
              <a:ea typeface="Source Code Pro Light"/>
              <a:cs typeface="Source Code Pro Light"/>
              <a:sym typeface="Source Code Pro Light"/>
            </a:endParaRPr>
          </a:p>
        </p:txBody>
      </p:sp>
      <p:pic>
        <p:nvPicPr>
          <p:cNvPr id="532" name="Google Shape;532;p48"/>
          <p:cNvPicPr preferRelativeResize="0"/>
          <p:nvPr/>
        </p:nvPicPr>
        <p:blipFill>
          <a:blip r:embed="rId3">
            <a:alphaModFix/>
          </a:blip>
          <a:stretch>
            <a:fillRect/>
          </a:stretch>
        </p:blipFill>
        <p:spPr>
          <a:xfrm>
            <a:off x="3830300" y="1139012"/>
            <a:ext cx="4642150" cy="3491199"/>
          </a:xfrm>
          <a:prstGeom prst="rect">
            <a:avLst/>
          </a:prstGeom>
          <a:noFill/>
          <a:ln>
            <a:noFill/>
          </a:ln>
        </p:spPr>
      </p:pic>
      <p:sp>
        <p:nvSpPr>
          <p:cNvPr id="533" name="Google Shape;533;p48"/>
          <p:cNvSpPr txBox="1"/>
          <p:nvPr/>
        </p:nvSpPr>
        <p:spPr>
          <a:xfrm>
            <a:off x="6229198" y="4322405"/>
            <a:ext cx="26031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latin typeface="Source Code Pro Light"/>
                <a:ea typeface="Source Code Pro Light"/>
                <a:cs typeface="Source Code Pro Light"/>
                <a:sym typeface="Source Code Pro Light"/>
              </a:rPr>
              <a:t>Estes</a:t>
            </a:r>
            <a:r>
              <a:rPr lang="en-GB" sz="800">
                <a:solidFill>
                  <a:srgbClr val="000000"/>
                </a:solidFill>
                <a:latin typeface="Source Code Pro Light"/>
                <a:ea typeface="Source Code Pro Light"/>
                <a:cs typeface="Source Code Pro Light"/>
                <a:sym typeface="Source Code Pro Light"/>
              </a:rPr>
              <a:t> et al.</a:t>
            </a:r>
            <a:r>
              <a:rPr lang="en-GB" sz="800">
                <a:latin typeface="Source Code Pro Light"/>
                <a:ea typeface="Source Code Pro Light"/>
                <a:cs typeface="Source Code Pro Light"/>
                <a:sym typeface="Source Code Pro Light"/>
              </a:rPr>
              <a:t> (</a:t>
            </a:r>
            <a:r>
              <a:rPr lang="en-GB" sz="800">
                <a:solidFill>
                  <a:srgbClr val="000000"/>
                </a:solidFill>
                <a:latin typeface="Source Code Pro Light"/>
                <a:ea typeface="Source Code Pro Light"/>
                <a:cs typeface="Source Code Pro Light"/>
                <a:sym typeface="Source Code Pro Light"/>
              </a:rPr>
              <a:t>20</a:t>
            </a:r>
            <a:r>
              <a:rPr lang="en-GB" sz="800">
                <a:latin typeface="Source Code Pro Light"/>
                <a:ea typeface="Source Code Pro Light"/>
                <a:cs typeface="Source Code Pro Light"/>
                <a:sym typeface="Source Code Pro Light"/>
              </a:rPr>
              <a:t>09) Phil. Trans. B</a:t>
            </a:r>
            <a:endParaRPr sz="800">
              <a:latin typeface="Source Code Pro Light"/>
              <a:ea typeface="Source Code Pro Light"/>
              <a:cs typeface="Source Code Pro Light"/>
              <a:sym typeface="Source Code Pro Light"/>
            </a:endParaRPr>
          </a:p>
        </p:txBody>
      </p:sp>
      <p:sp>
        <p:nvSpPr>
          <p:cNvPr id="534" name="Google Shape;534;p48"/>
          <p:cNvSpPr/>
          <p:nvPr/>
        </p:nvSpPr>
        <p:spPr>
          <a:xfrm>
            <a:off x="5560325" y="1791900"/>
            <a:ext cx="1273500" cy="2838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pic>
        <p:nvPicPr>
          <p:cNvPr id="535" name="Google Shape;535;p48"/>
          <p:cNvPicPr preferRelativeResize="0"/>
          <p:nvPr/>
        </p:nvPicPr>
        <p:blipFill rotWithShape="1">
          <a:blip r:embed="rId4">
            <a:alphaModFix/>
          </a:blip>
          <a:srcRect b="7110" l="2604" r="32766" t="9430"/>
          <a:stretch/>
        </p:blipFill>
        <p:spPr>
          <a:xfrm>
            <a:off x="311700" y="1536775"/>
            <a:ext cx="3256003" cy="2938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Foraging behaviour</a:t>
            </a:r>
            <a:endParaRPr/>
          </a:p>
        </p:txBody>
      </p:sp>
      <p:sp>
        <p:nvSpPr>
          <p:cNvPr id="541" name="Google Shape;54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542" name="Google Shape;542;p49"/>
          <p:cNvPicPr preferRelativeResize="0"/>
          <p:nvPr/>
        </p:nvPicPr>
        <p:blipFill>
          <a:blip r:embed="rId3">
            <a:alphaModFix/>
          </a:blip>
          <a:stretch>
            <a:fillRect/>
          </a:stretch>
        </p:blipFill>
        <p:spPr>
          <a:xfrm>
            <a:off x="1251949" y="1188950"/>
            <a:ext cx="6652718" cy="3566746"/>
          </a:xfrm>
          <a:prstGeom prst="rect">
            <a:avLst/>
          </a:prstGeom>
          <a:noFill/>
          <a:ln>
            <a:noFill/>
          </a:ln>
        </p:spPr>
      </p:pic>
      <p:sp>
        <p:nvSpPr>
          <p:cNvPr id="543" name="Google Shape;543;p49"/>
          <p:cNvSpPr txBox="1"/>
          <p:nvPr/>
        </p:nvSpPr>
        <p:spPr>
          <a:xfrm>
            <a:off x="5171173" y="4755705"/>
            <a:ext cx="26031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latin typeface="Source Code Pro Light"/>
                <a:ea typeface="Source Code Pro Light"/>
                <a:cs typeface="Source Code Pro Light"/>
                <a:sym typeface="Source Code Pro Light"/>
              </a:rPr>
              <a:t>Smith</a:t>
            </a:r>
            <a:r>
              <a:rPr lang="en-GB" sz="800">
                <a:solidFill>
                  <a:srgbClr val="000000"/>
                </a:solidFill>
                <a:latin typeface="Source Code Pro Light"/>
                <a:ea typeface="Source Code Pro Light"/>
                <a:cs typeface="Source Code Pro Light"/>
                <a:sym typeface="Source Code Pro Light"/>
              </a:rPr>
              <a:t> et al.</a:t>
            </a:r>
            <a:r>
              <a:rPr lang="en-GB" sz="800">
                <a:latin typeface="Source Code Pro Light"/>
                <a:ea typeface="Source Code Pro Light"/>
                <a:cs typeface="Source Code Pro Light"/>
                <a:sym typeface="Source Code Pro Light"/>
              </a:rPr>
              <a:t> (</a:t>
            </a:r>
            <a:r>
              <a:rPr lang="en-GB" sz="800">
                <a:solidFill>
                  <a:srgbClr val="000000"/>
                </a:solidFill>
                <a:latin typeface="Source Code Pro Light"/>
                <a:ea typeface="Source Code Pro Light"/>
                <a:cs typeface="Source Code Pro Light"/>
                <a:sym typeface="Source Code Pro Light"/>
              </a:rPr>
              <a:t>20</a:t>
            </a:r>
            <a:r>
              <a:rPr lang="en-GB" sz="800">
                <a:latin typeface="Source Code Pro Light"/>
                <a:ea typeface="Source Code Pro Light"/>
                <a:cs typeface="Source Code Pro Light"/>
                <a:sym typeface="Source Code Pro Light"/>
              </a:rPr>
              <a:t>21) PNAS</a:t>
            </a:r>
            <a:endParaRPr sz="800">
              <a:latin typeface="Source Code Pro Light"/>
              <a:ea typeface="Source Code Pro Light"/>
              <a:cs typeface="Source Code Pro Light"/>
              <a:sym typeface="Source Code Pro Light"/>
            </a:endParaRPr>
          </a:p>
        </p:txBody>
      </p:sp>
      <p:sp>
        <p:nvSpPr>
          <p:cNvPr id="544" name="Google Shape;544;p49"/>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Trophic Cascades</a:t>
            </a:r>
            <a:endParaRPr sz="1100">
              <a:solidFill>
                <a:schemeClr val="dk2"/>
              </a:solidFill>
              <a:latin typeface="Source Code Pro Light"/>
              <a:ea typeface="Source Code Pro Light"/>
              <a:cs typeface="Source Code Pro Light"/>
              <a:sym typeface="Source Code Pro 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If </a:t>
            </a:r>
            <a:r>
              <a:rPr lang="en-GB"/>
              <a:t>dynamic</a:t>
            </a:r>
            <a:r>
              <a:rPr lang="en-GB"/>
              <a:t> why are networks stable?</a:t>
            </a:r>
            <a:endParaRPr/>
          </a:p>
        </p:txBody>
      </p:sp>
      <p:sp>
        <p:nvSpPr>
          <p:cNvPr id="550" name="Google Shape;550;p50"/>
          <p:cNvSpPr txBox="1"/>
          <p:nvPr>
            <p:ph idx="1" type="body"/>
          </p:nvPr>
        </p:nvSpPr>
        <p:spPr>
          <a:xfrm>
            <a:off x="311700" y="1468825"/>
            <a:ext cx="42603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Rewiring</a:t>
            </a:r>
            <a:endParaRPr/>
          </a:p>
          <a:p>
            <a:pPr indent="-342900" lvl="0" marL="457200" rtl="0" algn="l">
              <a:spcBef>
                <a:spcPts val="0"/>
              </a:spcBef>
              <a:spcAft>
                <a:spcPts val="0"/>
              </a:spcAft>
              <a:buSzPts val="1800"/>
              <a:buChar char="●"/>
            </a:pPr>
            <a:r>
              <a:rPr lang="en-GB"/>
              <a:t>Changes in interaction strength</a:t>
            </a:r>
            <a:endParaRPr/>
          </a:p>
        </p:txBody>
      </p:sp>
      <p:sp>
        <p:nvSpPr>
          <p:cNvPr id="551" name="Google Shape;551;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52" name="Google Shape;552;p50"/>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Trophic Cascades</a:t>
            </a:r>
            <a:endParaRPr sz="1100">
              <a:solidFill>
                <a:schemeClr val="dk2"/>
              </a:solidFill>
              <a:latin typeface="Source Code Pro Light"/>
              <a:ea typeface="Source Code Pro Light"/>
              <a:cs typeface="Source Code Pro Light"/>
              <a:sym typeface="Source Code Pro Light"/>
            </a:endParaRPr>
          </a:p>
        </p:txBody>
      </p:sp>
      <p:grpSp>
        <p:nvGrpSpPr>
          <p:cNvPr id="553" name="Google Shape;553;p50"/>
          <p:cNvGrpSpPr/>
          <p:nvPr/>
        </p:nvGrpSpPr>
        <p:grpSpPr>
          <a:xfrm>
            <a:off x="4899025" y="1249249"/>
            <a:ext cx="3254439" cy="2952796"/>
            <a:chOff x="4899025" y="1249249"/>
            <a:chExt cx="3254439" cy="2952796"/>
          </a:xfrm>
        </p:grpSpPr>
        <p:pic>
          <p:nvPicPr>
            <p:cNvPr id="554" name="Google Shape;554;p50"/>
            <p:cNvPicPr preferRelativeResize="0"/>
            <p:nvPr/>
          </p:nvPicPr>
          <p:blipFill>
            <a:blip r:embed="rId3">
              <a:alphaModFix/>
            </a:blip>
            <a:stretch>
              <a:fillRect/>
            </a:stretch>
          </p:blipFill>
          <p:spPr>
            <a:xfrm>
              <a:off x="4899025" y="1249249"/>
              <a:ext cx="3203876" cy="2645000"/>
            </a:xfrm>
            <a:prstGeom prst="rect">
              <a:avLst/>
            </a:prstGeom>
            <a:noFill/>
            <a:ln>
              <a:noFill/>
            </a:ln>
          </p:spPr>
        </p:pic>
        <p:sp>
          <p:nvSpPr>
            <p:cNvPr id="555" name="Google Shape;555;p50"/>
            <p:cNvSpPr txBox="1"/>
            <p:nvPr/>
          </p:nvSpPr>
          <p:spPr>
            <a:xfrm>
              <a:off x="5600764" y="3894244"/>
              <a:ext cx="25527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latin typeface="Source Code Pro Light"/>
                  <a:ea typeface="Source Code Pro Light"/>
                  <a:cs typeface="Source Code Pro Light"/>
                  <a:sym typeface="Source Code Pro Light"/>
                </a:rPr>
                <a:t>Gaedke</a:t>
              </a:r>
              <a:r>
                <a:rPr lang="en-GB" sz="800">
                  <a:latin typeface="Source Code Pro Light"/>
                  <a:ea typeface="Source Code Pro Light"/>
                  <a:cs typeface="Source Code Pro Light"/>
                  <a:sym typeface="Source Code Pro Light"/>
                </a:rPr>
                <a:t> et al</a:t>
              </a:r>
              <a:r>
                <a:rPr lang="en-GB" sz="800">
                  <a:solidFill>
                    <a:srgbClr val="000000"/>
                  </a:solidFill>
                  <a:latin typeface="Source Code Pro Light"/>
                  <a:ea typeface="Source Code Pro Light"/>
                  <a:cs typeface="Source Code Pro Light"/>
                  <a:sym typeface="Source Code Pro Light"/>
                </a:rPr>
                <a:t>.</a:t>
              </a:r>
              <a:r>
                <a:rPr lang="en-GB" sz="800">
                  <a:latin typeface="Source Code Pro Light"/>
                  <a:ea typeface="Source Code Pro Light"/>
                  <a:cs typeface="Source Code Pro Light"/>
                  <a:sym typeface="Source Code Pro Light"/>
                </a:rPr>
                <a:t> (</a:t>
              </a:r>
              <a:r>
                <a:rPr lang="en-GB" sz="800">
                  <a:solidFill>
                    <a:srgbClr val="000000"/>
                  </a:solidFill>
                  <a:latin typeface="Source Code Pro Light"/>
                  <a:ea typeface="Source Code Pro Light"/>
                  <a:cs typeface="Source Code Pro Light"/>
                  <a:sym typeface="Source Code Pro Light"/>
                </a:rPr>
                <a:t>20</a:t>
              </a:r>
              <a:r>
                <a:rPr lang="en-GB" sz="800">
                  <a:latin typeface="Source Code Pro Light"/>
                  <a:ea typeface="Source Code Pro Light"/>
                  <a:cs typeface="Source Code Pro Light"/>
                  <a:sym typeface="Source Code Pro Light"/>
                </a:rPr>
                <a:t>25) Eco. Lett.</a:t>
              </a:r>
              <a:endParaRPr sz="800">
                <a:latin typeface="Source Code Pro Light"/>
                <a:ea typeface="Source Code Pro Light"/>
                <a:cs typeface="Source Code Pro Light"/>
                <a:sym typeface="Source Code Pro Light"/>
              </a:endParaRPr>
            </a:p>
          </p:txBody>
        </p:sp>
      </p:grpSp>
      <p:grpSp>
        <p:nvGrpSpPr>
          <p:cNvPr id="556" name="Google Shape;556;p50"/>
          <p:cNvGrpSpPr/>
          <p:nvPr/>
        </p:nvGrpSpPr>
        <p:grpSpPr>
          <a:xfrm>
            <a:off x="311700" y="2650275"/>
            <a:ext cx="3055075" cy="2226245"/>
            <a:chOff x="311700" y="2650275"/>
            <a:chExt cx="3055075" cy="2226245"/>
          </a:xfrm>
        </p:grpSpPr>
        <p:pic>
          <p:nvPicPr>
            <p:cNvPr id="557" name="Google Shape;557;p50"/>
            <p:cNvPicPr preferRelativeResize="0"/>
            <p:nvPr/>
          </p:nvPicPr>
          <p:blipFill rotWithShape="1">
            <a:blip r:embed="rId4">
              <a:alphaModFix/>
            </a:blip>
            <a:srcRect b="0" l="0" r="36016" t="54775"/>
            <a:stretch/>
          </p:blipFill>
          <p:spPr>
            <a:xfrm>
              <a:off x="311700" y="2650275"/>
              <a:ext cx="3055075" cy="2012949"/>
            </a:xfrm>
            <a:prstGeom prst="rect">
              <a:avLst/>
            </a:prstGeom>
            <a:noFill/>
            <a:ln>
              <a:noFill/>
            </a:ln>
          </p:spPr>
        </p:pic>
        <p:sp>
          <p:nvSpPr>
            <p:cNvPr id="558" name="Google Shape;558;p50"/>
            <p:cNvSpPr txBox="1"/>
            <p:nvPr/>
          </p:nvSpPr>
          <p:spPr>
            <a:xfrm>
              <a:off x="814064" y="4568719"/>
              <a:ext cx="25527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GB" sz="800">
                  <a:latin typeface="Source Code Pro Light"/>
                  <a:ea typeface="Source Code Pro Light"/>
                  <a:cs typeface="Source Code Pro Light"/>
                  <a:sym typeface="Source Code Pro Light"/>
                </a:rPr>
                <a:t>Staniczenko</a:t>
              </a:r>
              <a:r>
                <a:rPr lang="en-GB" sz="800">
                  <a:latin typeface="Source Code Pro Light"/>
                  <a:ea typeface="Source Code Pro Light"/>
                  <a:cs typeface="Source Code Pro Light"/>
                  <a:sym typeface="Source Code Pro Light"/>
                </a:rPr>
                <a:t> et al</a:t>
              </a:r>
              <a:r>
                <a:rPr lang="en-GB" sz="800">
                  <a:solidFill>
                    <a:srgbClr val="000000"/>
                  </a:solidFill>
                  <a:latin typeface="Source Code Pro Light"/>
                  <a:ea typeface="Source Code Pro Light"/>
                  <a:cs typeface="Source Code Pro Light"/>
                  <a:sym typeface="Source Code Pro Light"/>
                </a:rPr>
                <a:t>.</a:t>
              </a:r>
              <a:r>
                <a:rPr lang="en-GB" sz="800">
                  <a:latin typeface="Source Code Pro Light"/>
                  <a:ea typeface="Source Code Pro Light"/>
                  <a:cs typeface="Source Code Pro Light"/>
                  <a:sym typeface="Source Code Pro Light"/>
                </a:rPr>
                <a:t> (</a:t>
              </a:r>
              <a:r>
                <a:rPr lang="en-GB" sz="800">
                  <a:solidFill>
                    <a:srgbClr val="000000"/>
                  </a:solidFill>
                  <a:latin typeface="Source Code Pro Light"/>
                  <a:ea typeface="Source Code Pro Light"/>
                  <a:cs typeface="Source Code Pro Light"/>
                  <a:sym typeface="Source Code Pro Light"/>
                </a:rPr>
                <a:t>20</a:t>
              </a:r>
              <a:r>
                <a:rPr lang="en-GB" sz="800">
                  <a:latin typeface="Source Code Pro Light"/>
                  <a:ea typeface="Source Code Pro Light"/>
                  <a:cs typeface="Source Code Pro Light"/>
                  <a:sym typeface="Source Code Pro Light"/>
                </a:rPr>
                <a:t>10</a:t>
              </a:r>
              <a:r>
                <a:rPr lang="en-GB" sz="800">
                  <a:latin typeface="Source Code Pro Light"/>
                  <a:ea typeface="Source Code Pro Light"/>
                  <a:cs typeface="Source Code Pro Light"/>
                  <a:sym typeface="Source Code Pro Light"/>
                </a:rPr>
                <a:t>) Eco. Lett.</a:t>
              </a:r>
              <a:endParaRPr sz="800">
                <a:latin typeface="Source Code Pro Light"/>
                <a:ea typeface="Source Code Pro Light"/>
                <a:cs typeface="Source Code Pro Light"/>
                <a:sym typeface="Source Code Pro Light"/>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1"/>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Takeaways</a:t>
            </a:r>
            <a:endParaRPr/>
          </a:p>
        </p:txBody>
      </p:sp>
      <p:sp>
        <p:nvSpPr>
          <p:cNvPr id="564" name="Google Shape;564;p51"/>
          <p:cNvSpPr txBox="1"/>
          <p:nvPr>
            <p:ph idx="1" type="subTitle"/>
          </p:nvPr>
        </p:nvSpPr>
        <p:spPr>
          <a:xfrm>
            <a:off x="265500" y="2921400"/>
            <a:ext cx="4045200" cy="1573800"/>
          </a:xfrm>
          <a:prstGeom prst="rect">
            <a:avLst/>
          </a:prstGeom>
        </p:spPr>
        <p:txBody>
          <a:bodyPr anchorCtr="0" anchor="t" bIns="91425" lIns="91425" spcFirstLastPara="1" rIns="91425" wrap="square" tIns="91425">
            <a:normAutofit lnSpcReduction="20000"/>
          </a:bodyPr>
          <a:lstStyle/>
          <a:p>
            <a:pPr indent="-349250" lvl="0" marL="457200" rtl="0" algn="l">
              <a:spcBef>
                <a:spcPts val="0"/>
              </a:spcBef>
              <a:spcAft>
                <a:spcPts val="0"/>
              </a:spcAft>
              <a:buSzPts val="1900"/>
              <a:buChar char="●"/>
            </a:pPr>
            <a:r>
              <a:rPr lang="en-GB"/>
              <a:t>Networks give multi-species insights on populations</a:t>
            </a:r>
            <a:endParaRPr/>
          </a:p>
          <a:p>
            <a:pPr indent="-349250" lvl="0" marL="457200" rtl="0" algn="l">
              <a:spcBef>
                <a:spcPts val="0"/>
              </a:spcBef>
              <a:spcAft>
                <a:spcPts val="0"/>
              </a:spcAft>
              <a:buSzPts val="1900"/>
              <a:buChar char="●"/>
            </a:pPr>
            <a:r>
              <a:rPr lang="en-GB"/>
              <a:t>Populations are dynamic but networks remain stable</a:t>
            </a:r>
            <a:endParaRPr/>
          </a:p>
        </p:txBody>
      </p:sp>
      <p:sp>
        <p:nvSpPr>
          <p:cNvPr id="565" name="Google Shape;565;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566" name="Google Shape;566;p51"/>
          <p:cNvPicPr preferRelativeResize="0"/>
          <p:nvPr/>
        </p:nvPicPr>
        <p:blipFill>
          <a:blip r:embed="rId3">
            <a:alphaModFix/>
          </a:blip>
          <a:stretch>
            <a:fillRect/>
          </a:stretch>
        </p:blipFill>
        <p:spPr>
          <a:xfrm>
            <a:off x="4601550" y="518135"/>
            <a:ext cx="4419600" cy="394011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52"/>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Where to next?</a:t>
            </a:r>
            <a:endParaRPr/>
          </a:p>
        </p:txBody>
      </p:sp>
      <p:sp>
        <p:nvSpPr>
          <p:cNvPr id="572" name="Google Shape;572;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Methodological Development</a:t>
            </a:r>
            <a:endParaRPr/>
          </a:p>
        </p:txBody>
      </p:sp>
      <p:sp>
        <p:nvSpPr>
          <p:cNvPr id="578" name="Google Shape;578;p53"/>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Estimating both feasibility and realisation of links</a:t>
            </a:r>
            <a:endParaRPr/>
          </a:p>
          <a:p>
            <a:pPr indent="-342900" lvl="0" marL="457200" rtl="0" algn="l">
              <a:spcBef>
                <a:spcPts val="0"/>
              </a:spcBef>
              <a:spcAft>
                <a:spcPts val="0"/>
              </a:spcAft>
              <a:buSzPts val="1800"/>
              <a:buChar char="●"/>
            </a:pPr>
            <a:r>
              <a:rPr lang="en-GB"/>
              <a:t>Incorporating interaction strength</a:t>
            </a:r>
            <a:endParaRPr/>
          </a:p>
          <a:p>
            <a:pPr indent="-342900" lvl="0" marL="457200" rtl="0" algn="l">
              <a:spcBef>
                <a:spcPts val="0"/>
              </a:spcBef>
              <a:spcAft>
                <a:spcPts val="0"/>
              </a:spcAft>
              <a:buSzPts val="1800"/>
              <a:buChar char="●"/>
            </a:pPr>
            <a:r>
              <a:rPr lang="en-GB"/>
              <a:t>Appropriate unit of scale?</a:t>
            </a:r>
            <a:endParaRPr/>
          </a:p>
          <a:p>
            <a:pPr indent="-342900" lvl="0" marL="457200" rtl="0" algn="l">
              <a:spcBef>
                <a:spcPts val="0"/>
              </a:spcBef>
              <a:spcAft>
                <a:spcPts val="0"/>
              </a:spcAft>
              <a:buSzPts val="1800"/>
              <a:buChar char="●"/>
            </a:pPr>
            <a:r>
              <a:rPr lang="en-GB"/>
              <a:t>How do we validate our models or predictions?</a:t>
            </a:r>
            <a:endParaRPr/>
          </a:p>
          <a:p>
            <a:pPr indent="-342900" lvl="0" marL="457200" rtl="0" algn="l">
              <a:spcBef>
                <a:spcPts val="0"/>
              </a:spcBef>
              <a:spcAft>
                <a:spcPts val="0"/>
              </a:spcAft>
              <a:buSzPts val="1800"/>
              <a:buChar char="●"/>
            </a:pPr>
            <a:r>
              <a:rPr lang="en-GB"/>
              <a:t>Making networks more tractable in an applied space - what can ‘boots on the ground’ conservation use?</a:t>
            </a:r>
            <a:endParaRPr/>
          </a:p>
          <a:p>
            <a:pPr indent="-342900" lvl="0" marL="457200" rtl="0" algn="l">
              <a:spcBef>
                <a:spcPts val="0"/>
              </a:spcBef>
              <a:spcAft>
                <a:spcPts val="0"/>
              </a:spcAft>
              <a:buSzPts val="1800"/>
              <a:buChar char="●"/>
            </a:pPr>
            <a:r>
              <a:rPr lang="en-GB"/>
              <a:t>Networks in other facets of ecology -&gt; joint SDMS, biogeography</a:t>
            </a:r>
            <a:endParaRPr/>
          </a:p>
        </p:txBody>
      </p:sp>
      <p:sp>
        <p:nvSpPr>
          <p:cNvPr id="579" name="Google Shape;579;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80" name="Google Shape;580;p53"/>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Where to next?</a:t>
            </a:r>
            <a:endParaRPr sz="1100">
              <a:solidFill>
                <a:schemeClr val="dk2"/>
              </a:solidFill>
              <a:latin typeface="Source Code Pro Light"/>
              <a:ea typeface="Source Code Pro Light"/>
              <a:cs typeface="Source Code Pro Light"/>
              <a:sym typeface="Source Code Pro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Reinforcing</a:t>
            </a:r>
            <a:r>
              <a:rPr lang="en-GB"/>
              <a:t> old questions in ecology: </a:t>
            </a:r>
            <a:r>
              <a:rPr lang="en-GB"/>
              <a:t>coexistence</a:t>
            </a:r>
            <a:r>
              <a:rPr lang="en-GB"/>
              <a:t>, top-down v. bottom up</a:t>
            </a:r>
            <a:endParaRPr/>
          </a:p>
          <a:p>
            <a:pPr indent="-342900" lvl="0" marL="457200" rtl="0" algn="l">
              <a:spcBef>
                <a:spcPts val="0"/>
              </a:spcBef>
              <a:spcAft>
                <a:spcPts val="0"/>
              </a:spcAft>
              <a:buSzPts val="1800"/>
              <a:buChar char="●"/>
            </a:pPr>
            <a:r>
              <a:rPr lang="en-GB"/>
              <a:t>Scaling up the stability-diversity-productivity discussion to complex communities</a:t>
            </a:r>
            <a:endParaRPr/>
          </a:p>
          <a:p>
            <a:pPr indent="-342900" lvl="0" marL="457200" rtl="0" algn="l">
              <a:spcBef>
                <a:spcPts val="0"/>
              </a:spcBef>
              <a:spcAft>
                <a:spcPts val="0"/>
              </a:spcAft>
              <a:buSzPts val="1800"/>
              <a:buChar char="●"/>
            </a:pPr>
            <a:r>
              <a:rPr lang="en-GB"/>
              <a:t>Novel communities under climate change - the role of ‘invasions’ and re-wiring</a:t>
            </a:r>
            <a:endParaRPr/>
          </a:p>
          <a:p>
            <a:pPr indent="-342900" lvl="0" marL="457200" rtl="0" algn="l">
              <a:spcBef>
                <a:spcPts val="0"/>
              </a:spcBef>
              <a:spcAft>
                <a:spcPts val="0"/>
              </a:spcAft>
              <a:buSzPts val="1800"/>
              <a:buChar char="●"/>
            </a:pPr>
            <a:r>
              <a:rPr lang="en-GB"/>
              <a:t>COmbining socioeconomic and biological networks</a:t>
            </a:r>
            <a:endParaRPr/>
          </a:p>
        </p:txBody>
      </p:sp>
      <p:sp>
        <p:nvSpPr>
          <p:cNvPr id="586" name="Google Shape;586;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87" name="Google Shape;587;p54"/>
          <p:cNvSpPr txBox="1"/>
          <p:nvPr/>
        </p:nvSpPr>
        <p:spPr>
          <a:xfrm>
            <a:off x="0" y="4749600"/>
            <a:ext cx="9144000" cy="23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chemeClr val="dk2"/>
                </a:solidFill>
                <a:latin typeface="Source Code Pro Light"/>
                <a:ea typeface="Source Code Pro Light"/>
                <a:cs typeface="Source Code Pro Light"/>
                <a:sym typeface="Source Code Pro Light"/>
              </a:rPr>
              <a:t>Where to next?</a:t>
            </a:r>
            <a:endParaRPr sz="1100">
              <a:solidFill>
                <a:schemeClr val="dk2"/>
              </a:solidFill>
              <a:latin typeface="Source Code Pro Light"/>
              <a:ea typeface="Source Code Pro Light"/>
              <a:cs typeface="Source Code Pro Light"/>
              <a:sym typeface="Source Code Pro Light"/>
            </a:endParaRPr>
          </a:p>
        </p:txBody>
      </p:sp>
      <p:sp>
        <p:nvSpPr>
          <p:cNvPr id="588" name="Google Shape;588;p5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Theoretical development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References</a:t>
            </a:r>
            <a:endParaRPr/>
          </a:p>
        </p:txBody>
      </p:sp>
      <p:sp>
        <p:nvSpPr>
          <p:cNvPr id="594" name="Google Shape;594;p55"/>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285750" lvl="0" marL="457200" rtl="0" algn="l">
              <a:spcBef>
                <a:spcPts val="0"/>
              </a:spcBef>
              <a:spcAft>
                <a:spcPts val="0"/>
              </a:spcAft>
              <a:buClr>
                <a:srgbClr val="373A3C"/>
              </a:buClr>
              <a:buSzPts val="900"/>
              <a:buFont typeface="Oswald ExtraLight"/>
              <a:buAutoNum type="arabicPeriod"/>
            </a:pPr>
            <a:r>
              <a:rPr lang="en-GB" sz="900">
                <a:solidFill>
                  <a:srgbClr val="373A3C"/>
                </a:solidFill>
                <a:highlight>
                  <a:schemeClr val="lt1"/>
                </a:highlight>
                <a:latin typeface="Oswald ExtraLight"/>
                <a:ea typeface="Oswald ExtraLight"/>
                <a:cs typeface="Oswald ExtraLight"/>
                <a:sym typeface="Oswald ExtraLight"/>
              </a:rPr>
              <a:t>Morales-Castilla, Ignacio, Miguel G. Matias, Dominique Gravel, and Miguel B. Araújo. 2015. </a:t>
            </a:r>
            <a:r>
              <a:rPr lang="en-GB" sz="900">
                <a:solidFill>
                  <a:srgbClr val="373A3C"/>
                </a:solidFill>
                <a:latin typeface="Oswald ExtraLight"/>
                <a:ea typeface="Oswald ExtraLight"/>
                <a:cs typeface="Oswald ExtraLight"/>
                <a:sym typeface="Oswald ExtraLight"/>
              </a:rPr>
              <a:t>“Inferring Biotic Interactions from Proxies.”</a:t>
            </a:r>
            <a:r>
              <a:rPr lang="en-GB" sz="900">
                <a:solidFill>
                  <a:srgbClr val="373A3C"/>
                </a:solidFill>
                <a:highlight>
                  <a:schemeClr val="lt1"/>
                </a:highlight>
                <a:latin typeface="Oswald ExtraLight"/>
                <a:ea typeface="Oswald ExtraLight"/>
                <a:cs typeface="Oswald ExtraLight"/>
                <a:sym typeface="Oswald ExtraLight"/>
              </a:rPr>
              <a:t> </a:t>
            </a:r>
            <a:r>
              <a:rPr i="1" lang="en-GB" sz="900">
                <a:solidFill>
                  <a:srgbClr val="373A3C"/>
                </a:solidFill>
                <a:latin typeface="Oswald ExtraLight"/>
                <a:ea typeface="Oswald ExtraLight"/>
                <a:cs typeface="Oswald ExtraLight"/>
                <a:sym typeface="Oswald ExtraLight"/>
              </a:rPr>
              <a:t>Trends in Ecology &amp; Evolution</a:t>
            </a:r>
            <a:r>
              <a:rPr lang="en-GB" sz="900">
                <a:solidFill>
                  <a:srgbClr val="373A3C"/>
                </a:solidFill>
                <a:highlight>
                  <a:schemeClr val="lt1"/>
                </a:highlight>
                <a:latin typeface="Oswald ExtraLight"/>
                <a:ea typeface="Oswald ExtraLight"/>
                <a:cs typeface="Oswald ExtraLight"/>
                <a:sym typeface="Oswald ExtraLight"/>
              </a:rPr>
              <a:t> 30 (6): 347–56. </a:t>
            </a:r>
            <a:r>
              <a:rPr lang="en-GB" sz="900" u="sng">
                <a:solidFill>
                  <a:srgbClr val="000000"/>
                </a:solidFill>
                <a:latin typeface="Oswald ExtraLight"/>
                <a:ea typeface="Oswald ExtraLight"/>
                <a:cs typeface="Oswald ExtraLight"/>
                <a:sym typeface="Oswald ExtraLight"/>
                <a:hlinkClick r:id="rId3">
                  <a:extLst>
                    <a:ext uri="{A12FA001-AC4F-418D-AE19-62706E023703}">
                      <ahyp:hlinkClr val="tx"/>
                    </a:ext>
                  </a:extLst>
                </a:hlinkClick>
              </a:rPr>
              <a:t>https://doi.org/10.1016/j.tree.2015.03.014</a:t>
            </a:r>
            <a:endParaRPr sz="900">
              <a:solidFill>
                <a:srgbClr val="373A3C"/>
              </a:solidFill>
              <a:highlight>
                <a:srgbClr val="FFFFFF"/>
              </a:highlight>
              <a:latin typeface="Oswald ExtraLight"/>
              <a:ea typeface="Oswald ExtraLight"/>
              <a:cs typeface="Oswald ExtraLight"/>
              <a:sym typeface="Oswald ExtraLight"/>
            </a:endParaRPr>
          </a:p>
          <a:p>
            <a:pPr indent="-285750" lvl="0" marL="457200" rtl="0" algn="l">
              <a:spcBef>
                <a:spcPts val="0"/>
              </a:spcBef>
              <a:spcAft>
                <a:spcPts val="0"/>
              </a:spcAft>
              <a:buClr>
                <a:srgbClr val="373A3C"/>
              </a:buClr>
              <a:buSzPts val="900"/>
              <a:buFont typeface="Oswald ExtraLight"/>
              <a:buAutoNum type="arabicPeriod"/>
            </a:pPr>
            <a:r>
              <a:rPr lang="en-GB" sz="900">
                <a:solidFill>
                  <a:srgbClr val="000000"/>
                </a:solidFill>
                <a:latin typeface="Oswald ExtraLight"/>
                <a:ea typeface="Oswald ExtraLight"/>
                <a:cs typeface="Oswald ExtraLight"/>
                <a:sym typeface="Oswald ExtraLight"/>
              </a:rPr>
              <a:t>Stock, Michiel, Timothée Poisot, Willem Waegeman, and Bernard De Baets. 2017. “Linear Filtering Reveals False Negatives in Species Interaction Data.” Scientific Reports 7 (April): 45908.</a:t>
            </a:r>
            <a:r>
              <a:rPr lang="en-GB" sz="900">
                <a:solidFill>
                  <a:srgbClr val="000000"/>
                </a:solidFill>
                <a:uFill>
                  <a:noFill/>
                </a:uFill>
                <a:latin typeface="Oswald ExtraLight"/>
                <a:ea typeface="Oswald ExtraLight"/>
                <a:cs typeface="Oswald ExtraLight"/>
                <a:sym typeface="Oswald ExtraLight"/>
                <a:hlinkClick r:id="rId4">
                  <a:extLst>
                    <a:ext uri="{A12FA001-AC4F-418D-AE19-62706E023703}">
                      <ahyp:hlinkClr val="tx"/>
                    </a:ext>
                  </a:extLst>
                </a:hlinkClick>
              </a:rPr>
              <a:t> </a:t>
            </a:r>
            <a:r>
              <a:rPr lang="en-GB" sz="900" u="sng">
                <a:solidFill>
                  <a:schemeClr val="hlink"/>
                </a:solidFill>
                <a:latin typeface="Oswald ExtraLight"/>
                <a:ea typeface="Oswald ExtraLight"/>
                <a:cs typeface="Oswald ExtraLight"/>
                <a:sym typeface="Oswald ExtraLight"/>
                <a:hlinkClick r:id="rId5"/>
              </a:rPr>
              <a:t>https://doi.org/10.1038/srep45908</a:t>
            </a:r>
            <a:r>
              <a:rPr lang="en-GB" sz="900">
                <a:solidFill>
                  <a:srgbClr val="000000"/>
                </a:solidFill>
                <a:latin typeface="Oswald ExtraLight"/>
                <a:ea typeface="Oswald ExtraLight"/>
                <a:cs typeface="Oswald ExtraLight"/>
                <a:sym typeface="Oswald ExtraLight"/>
              </a:rPr>
              <a:t>.</a:t>
            </a:r>
            <a:endParaRPr sz="900">
              <a:solidFill>
                <a:srgbClr val="000000"/>
              </a:solidFill>
              <a:latin typeface="Oswald ExtraLight"/>
              <a:ea typeface="Oswald ExtraLight"/>
              <a:cs typeface="Oswald ExtraLight"/>
              <a:sym typeface="Oswald ExtraLight"/>
            </a:endParaRPr>
          </a:p>
          <a:p>
            <a:pPr indent="-285750" lvl="0" marL="457200" rtl="0" algn="l">
              <a:spcBef>
                <a:spcPts val="0"/>
              </a:spcBef>
              <a:spcAft>
                <a:spcPts val="0"/>
              </a:spcAft>
              <a:buClr>
                <a:srgbClr val="373A3C"/>
              </a:buClr>
              <a:buSzPts val="900"/>
              <a:buFont typeface="Oswald ExtraLight"/>
              <a:buAutoNum type="arabicPeriod"/>
            </a:pPr>
            <a:r>
              <a:rPr lang="en-GB" sz="900">
                <a:solidFill>
                  <a:srgbClr val="000000"/>
                </a:solidFill>
                <a:latin typeface="Oswald ExtraLight"/>
                <a:ea typeface="Oswald ExtraLight"/>
                <a:cs typeface="Oswald ExtraLight"/>
                <a:sym typeface="Oswald ExtraLight"/>
              </a:rPr>
              <a:t>Poisot, Timothée, Marie-Andrée Ouellet, Nardus Mollentze, Maxwell J. Farrell, Daniel J. Becker, Liam Brierley, Gregory F. Albery, Rory J. Gibb, Stephanie N. Seifert, and Colin J. Carlson. 2023. “Network Embedding Unveils the Hidden Interactions in the Mammalian Virome.” Patterns 4 (6): 100738.</a:t>
            </a:r>
            <a:r>
              <a:rPr lang="en-GB" sz="900">
                <a:solidFill>
                  <a:srgbClr val="000000"/>
                </a:solidFill>
                <a:uFill>
                  <a:noFill/>
                </a:uFill>
                <a:latin typeface="Oswald ExtraLight"/>
                <a:ea typeface="Oswald ExtraLight"/>
                <a:cs typeface="Oswald ExtraLight"/>
                <a:sym typeface="Oswald ExtraLight"/>
                <a:hlinkClick r:id="rId6">
                  <a:extLst>
                    <a:ext uri="{A12FA001-AC4F-418D-AE19-62706E023703}">
                      <ahyp:hlinkClr val="tx"/>
                    </a:ext>
                  </a:extLst>
                </a:hlinkClick>
              </a:rPr>
              <a:t> </a:t>
            </a:r>
            <a:r>
              <a:rPr lang="en-GB" sz="900" u="sng">
                <a:solidFill>
                  <a:schemeClr val="hlink"/>
                </a:solidFill>
                <a:latin typeface="Oswald ExtraLight"/>
                <a:ea typeface="Oswald ExtraLight"/>
                <a:cs typeface="Oswald ExtraLight"/>
                <a:sym typeface="Oswald ExtraLight"/>
                <a:hlinkClick r:id="rId7"/>
              </a:rPr>
              <a:t>https://doi.org/10.1016/j.patter.2023.100738</a:t>
            </a:r>
            <a:r>
              <a:rPr lang="en-GB" sz="900">
                <a:solidFill>
                  <a:srgbClr val="000000"/>
                </a:solidFill>
                <a:latin typeface="Oswald ExtraLight"/>
                <a:ea typeface="Oswald ExtraLight"/>
                <a:cs typeface="Oswald ExtraLight"/>
                <a:sym typeface="Oswald ExtraLight"/>
              </a:rPr>
              <a:t>.</a:t>
            </a:r>
            <a:endParaRPr sz="900">
              <a:solidFill>
                <a:srgbClr val="000000"/>
              </a:solidFill>
              <a:latin typeface="Oswald ExtraLight"/>
              <a:ea typeface="Oswald ExtraLight"/>
              <a:cs typeface="Oswald ExtraLight"/>
              <a:sym typeface="Oswald ExtraLight"/>
            </a:endParaRPr>
          </a:p>
          <a:p>
            <a:pPr indent="-285750" lvl="0" marL="457200" rtl="0" algn="l">
              <a:spcBef>
                <a:spcPts val="0"/>
              </a:spcBef>
              <a:spcAft>
                <a:spcPts val="0"/>
              </a:spcAft>
              <a:buClr>
                <a:srgbClr val="373A3C"/>
              </a:buClr>
              <a:buSzPts val="900"/>
              <a:buFont typeface="Oswald ExtraLight"/>
              <a:buAutoNum type="arabicPeriod"/>
            </a:pPr>
            <a:r>
              <a:rPr lang="en-GB" sz="900">
                <a:solidFill>
                  <a:srgbClr val="000000"/>
                </a:solidFill>
                <a:latin typeface="Oswald ExtraLight"/>
                <a:ea typeface="Oswald ExtraLight"/>
                <a:cs typeface="Oswald ExtraLight"/>
                <a:sym typeface="Oswald ExtraLight"/>
              </a:rPr>
              <a:t>Caron, Dominique, Luigi Maiorano, Wilfried Thuiller, and Laura J. Pollock. 2022. “Addressing the Eltonian Shortfall with Trait-Based Interaction Models.” </a:t>
            </a:r>
            <a:r>
              <a:rPr i="1" lang="en-GB" sz="900">
                <a:solidFill>
                  <a:srgbClr val="000000"/>
                </a:solidFill>
                <a:latin typeface="Oswald ExtraLight"/>
                <a:ea typeface="Oswald ExtraLight"/>
                <a:cs typeface="Oswald ExtraLight"/>
                <a:sym typeface="Oswald ExtraLight"/>
              </a:rPr>
              <a:t>Ecology Letters</a:t>
            </a:r>
            <a:r>
              <a:rPr lang="en-GB" sz="900">
                <a:solidFill>
                  <a:srgbClr val="000000"/>
                </a:solidFill>
                <a:latin typeface="Oswald ExtraLight"/>
                <a:ea typeface="Oswald ExtraLight"/>
                <a:cs typeface="Oswald ExtraLight"/>
                <a:sym typeface="Oswald ExtraLight"/>
              </a:rPr>
              <a:t> 25 (4): 889–99. </a:t>
            </a:r>
            <a:r>
              <a:rPr lang="en-GB" sz="900" u="sng">
                <a:solidFill>
                  <a:schemeClr val="hlink"/>
                </a:solidFill>
                <a:latin typeface="Oswald ExtraLight"/>
                <a:ea typeface="Oswald ExtraLight"/>
                <a:cs typeface="Oswald ExtraLight"/>
                <a:sym typeface="Oswald ExtraLight"/>
                <a:hlinkClick r:id="rId8"/>
              </a:rPr>
              <a:t>https://doi.org/10.1111/ele.13966</a:t>
            </a:r>
            <a:r>
              <a:rPr lang="en-GB" sz="900">
                <a:solidFill>
                  <a:srgbClr val="000000"/>
                </a:solidFill>
                <a:latin typeface="Oswald ExtraLight"/>
                <a:ea typeface="Oswald ExtraLight"/>
                <a:cs typeface="Oswald ExtraLight"/>
                <a:sym typeface="Oswald ExtraLight"/>
              </a:rPr>
              <a:t>.</a:t>
            </a:r>
            <a:endParaRPr sz="900">
              <a:solidFill>
                <a:srgbClr val="000000"/>
              </a:solidFill>
              <a:latin typeface="Oswald ExtraLight"/>
              <a:ea typeface="Oswald ExtraLight"/>
              <a:cs typeface="Oswald ExtraLight"/>
              <a:sym typeface="Oswald ExtraLight"/>
            </a:endParaRPr>
          </a:p>
          <a:p>
            <a:pPr indent="-285750" lvl="0" marL="457200" rtl="0" algn="l">
              <a:spcBef>
                <a:spcPts val="0"/>
              </a:spcBef>
              <a:spcAft>
                <a:spcPts val="0"/>
              </a:spcAft>
              <a:buClr>
                <a:srgbClr val="373A3C"/>
              </a:buClr>
              <a:buSzPts val="900"/>
              <a:buFont typeface="Oswald ExtraLight"/>
              <a:buAutoNum type="arabicPeriod"/>
            </a:pPr>
            <a:r>
              <a:rPr lang="en-GB" sz="900">
                <a:solidFill>
                  <a:srgbClr val="000000"/>
                </a:solidFill>
                <a:latin typeface="Oswald ExtraLight"/>
                <a:ea typeface="Oswald ExtraLight"/>
                <a:cs typeface="Oswald ExtraLight"/>
                <a:sym typeface="Oswald ExtraLight"/>
              </a:rPr>
              <a:t>Strydom, Tanya, Salomé Bouskila, Francis Banville, Ceres Barros, Dominique Caron, Maxwell J. Farrell, Marie-Josée Fortin, et al. 2022. “Food Web Reconstruction Through Phylogenetic Transfer of Low-Rank Network Representation.” Methods in Ecology and Evolution 13 (12): 2838–49.</a:t>
            </a:r>
            <a:r>
              <a:rPr lang="en-GB" sz="900">
                <a:solidFill>
                  <a:srgbClr val="000000"/>
                </a:solidFill>
                <a:uFill>
                  <a:noFill/>
                </a:uFill>
                <a:latin typeface="Oswald ExtraLight"/>
                <a:ea typeface="Oswald ExtraLight"/>
                <a:cs typeface="Oswald ExtraLight"/>
                <a:sym typeface="Oswald ExtraLight"/>
                <a:hlinkClick r:id="rId9">
                  <a:extLst>
                    <a:ext uri="{A12FA001-AC4F-418D-AE19-62706E023703}">
                      <ahyp:hlinkClr val="tx"/>
                    </a:ext>
                  </a:extLst>
                </a:hlinkClick>
              </a:rPr>
              <a:t> </a:t>
            </a:r>
            <a:r>
              <a:rPr lang="en-GB" sz="900" u="sng">
                <a:solidFill>
                  <a:schemeClr val="hlink"/>
                </a:solidFill>
                <a:latin typeface="Oswald ExtraLight"/>
                <a:ea typeface="Oswald ExtraLight"/>
                <a:cs typeface="Oswald ExtraLight"/>
                <a:sym typeface="Oswald ExtraLight"/>
                <a:hlinkClick r:id="rId10"/>
              </a:rPr>
              <a:t>https://doi.org/10.1111/2041-210X.13835</a:t>
            </a:r>
            <a:r>
              <a:rPr lang="en-GB" sz="900">
                <a:solidFill>
                  <a:srgbClr val="000000"/>
                </a:solidFill>
                <a:latin typeface="Oswald ExtraLight"/>
                <a:ea typeface="Oswald ExtraLight"/>
                <a:cs typeface="Oswald ExtraLight"/>
                <a:sym typeface="Oswald ExtraLight"/>
              </a:rPr>
              <a:t>.</a:t>
            </a:r>
            <a:endParaRPr sz="900">
              <a:solidFill>
                <a:srgbClr val="000000"/>
              </a:solidFill>
              <a:latin typeface="Oswald ExtraLight"/>
              <a:ea typeface="Oswald ExtraLight"/>
              <a:cs typeface="Oswald ExtraLight"/>
              <a:sym typeface="Oswald ExtraLight"/>
            </a:endParaRPr>
          </a:p>
          <a:p>
            <a:pPr indent="-285750" lvl="0" marL="457200" rtl="0" algn="l">
              <a:spcBef>
                <a:spcPts val="0"/>
              </a:spcBef>
              <a:spcAft>
                <a:spcPts val="0"/>
              </a:spcAft>
              <a:buClr>
                <a:srgbClr val="373A3C"/>
              </a:buClr>
              <a:buSzPts val="900"/>
              <a:buFont typeface="Oswald ExtraLight"/>
              <a:buAutoNum type="arabicPeriod"/>
            </a:pPr>
            <a:r>
              <a:rPr lang="en-GB" sz="900">
                <a:solidFill>
                  <a:srgbClr val="373A3C"/>
                </a:solidFill>
                <a:highlight>
                  <a:schemeClr val="lt1"/>
                </a:highlight>
                <a:latin typeface="Oswald ExtraLight"/>
                <a:ea typeface="Oswald ExtraLight"/>
                <a:cs typeface="Oswald ExtraLight"/>
                <a:sym typeface="Oswald ExtraLight"/>
              </a:rPr>
              <a:t>Petchey, Owen L., Andrew P. Beckerman, Jens O. Riede, and Philip H. Warren. 2008. </a:t>
            </a:r>
            <a:r>
              <a:rPr lang="en-GB" sz="900">
                <a:solidFill>
                  <a:srgbClr val="373A3C"/>
                </a:solidFill>
                <a:latin typeface="Oswald ExtraLight"/>
                <a:ea typeface="Oswald ExtraLight"/>
                <a:cs typeface="Oswald ExtraLight"/>
                <a:sym typeface="Oswald ExtraLight"/>
              </a:rPr>
              <a:t>“Size, Foraging, and Food Web Structure.”</a:t>
            </a:r>
            <a:r>
              <a:rPr lang="en-GB" sz="900">
                <a:solidFill>
                  <a:srgbClr val="373A3C"/>
                </a:solidFill>
                <a:highlight>
                  <a:schemeClr val="lt1"/>
                </a:highlight>
                <a:latin typeface="Oswald ExtraLight"/>
                <a:ea typeface="Oswald ExtraLight"/>
                <a:cs typeface="Oswald ExtraLight"/>
                <a:sym typeface="Oswald ExtraLight"/>
              </a:rPr>
              <a:t> </a:t>
            </a:r>
            <a:r>
              <a:rPr i="1" lang="en-GB" sz="900">
                <a:solidFill>
                  <a:srgbClr val="373A3C"/>
                </a:solidFill>
                <a:latin typeface="Oswald ExtraLight"/>
                <a:ea typeface="Oswald ExtraLight"/>
                <a:cs typeface="Oswald ExtraLight"/>
                <a:sym typeface="Oswald ExtraLight"/>
              </a:rPr>
              <a:t>Proceedings of the National Academy of Sciences</a:t>
            </a:r>
            <a:r>
              <a:rPr lang="en-GB" sz="900">
                <a:solidFill>
                  <a:srgbClr val="373A3C"/>
                </a:solidFill>
                <a:highlight>
                  <a:schemeClr val="lt1"/>
                </a:highlight>
                <a:latin typeface="Oswald ExtraLight"/>
                <a:ea typeface="Oswald ExtraLight"/>
                <a:cs typeface="Oswald ExtraLight"/>
                <a:sym typeface="Oswald ExtraLight"/>
              </a:rPr>
              <a:t> 105 (11): 4191–96. </a:t>
            </a:r>
            <a:r>
              <a:rPr lang="en-GB" sz="900" u="sng">
                <a:solidFill>
                  <a:srgbClr val="000000"/>
                </a:solidFill>
                <a:latin typeface="Oswald ExtraLight"/>
                <a:ea typeface="Oswald ExtraLight"/>
                <a:cs typeface="Oswald ExtraLight"/>
                <a:sym typeface="Oswald ExtraLight"/>
                <a:hlinkClick r:id="rId11">
                  <a:extLst>
                    <a:ext uri="{A12FA001-AC4F-418D-AE19-62706E023703}">
                      <ahyp:hlinkClr val="tx"/>
                    </a:ext>
                  </a:extLst>
                </a:hlinkClick>
              </a:rPr>
              <a:t>https://doi.org/10.1073/pnas.0710672105</a:t>
            </a:r>
            <a:r>
              <a:rPr lang="en-GB" sz="900">
                <a:solidFill>
                  <a:srgbClr val="373A3C"/>
                </a:solidFill>
                <a:highlight>
                  <a:schemeClr val="lt1"/>
                </a:highlight>
                <a:latin typeface="Oswald ExtraLight"/>
                <a:ea typeface="Oswald ExtraLight"/>
                <a:cs typeface="Oswald ExtraLight"/>
                <a:sym typeface="Oswald ExtraLight"/>
              </a:rPr>
              <a:t>.</a:t>
            </a:r>
            <a:endParaRPr sz="900">
              <a:solidFill>
                <a:srgbClr val="373A3C"/>
              </a:solidFill>
              <a:highlight>
                <a:schemeClr val="lt1"/>
              </a:highlight>
              <a:latin typeface="Oswald ExtraLight"/>
              <a:ea typeface="Oswald ExtraLight"/>
              <a:cs typeface="Oswald ExtraLight"/>
              <a:sym typeface="Oswald ExtraLight"/>
            </a:endParaRPr>
          </a:p>
          <a:p>
            <a:pPr indent="-285750" lvl="0" marL="457200" rtl="0" algn="l">
              <a:spcBef>
                <a:spcPts val="0"/>
              </a:spcBef>
              <a:spcAft>
                <a:spcPts val="0"/>
              </a:spcAft>
              <a:buClr>
                <a:srgbClr val="373A3C"/>
              </a:buClr>
              <a:buSzPts val="900"/>
              <a:buFont typeface="Oswald ExtraLight"/>
              <a:buAutoNum type="arabicPeriod"/>
            </a:pPr>
            <a:r>
              <a:rPr lang="en-GB" sz="900">
                <a:solidFill>
                  <a:srgbClr val="373A3C"/>
                </a:solidFill>
                <a:highlight>
                  <a:srgbClr val="FFFFFF"/>
                </a:highlight>
                <a:latin typeface="Oswald ExtraLight"/>
                <a:ea typeface="Oswald ExtraLight"/>
                <a:cs typeface="Oswald ExtraLight"/>
                <a:sym typeface="Oswald ExtraLight"/>
              </a:rPr>
              <a:t>Beckerman, Andrew P., Owen L. Petchey, and Philip H. Warren. 2006. </a:t>
            </a:r>
            <a:r>
              <a:rPr lang="en-GB" sz="900">
                <a:solidFill>
                  <a:srgbClr val="373A3C"/>
                </a:solidFill>
                <a:latin typeface="Oswald ExtraLight"/>
                <a:ea typeface="Oswald ExtraLight"/>
                <a:cs typeface="Oswald ExtraLight"/>
                <a:sym typeface="Oswald ExtraLight"/>
              </a:rPr>
              <a:t>“Foraging Biology Predicts Food Web Complexity.”</a:t>
            </a:r>
            <a:r>
              <a:rPr lang="en-GB" sz="900">
                <a:solidFill>
                  <a:srgbClr val="373A3C"/>
                </a:solidFill>
                <a:highlight>
                  <a:srgbClr val="FFFFFF"/>
                </a:highlight>
                <a:latin typeface="Oswald ExtraLight"/>
                <a:ea typeface="Oswald ExtraLight"/>
                <a:cs typeface="Oswald ExtraLight"/>
                <a:sym typeface="Oswald ExtraLight"/>
              </a:rPr>
              <a:t> </a:t>
            </a:r>
            <a:r>
              <a:rPr i="1" lang="en-GB" sz="900">
                <a:solidFill>
                  <a:srgbClr val="373A3C"/>
                </a:solidFill>
                <a:latin typeface="Oswald ExtraLight"/>
                <a:ea typeface="Oswald ExtraLight"/>
                <a:cs typeface="Oswald ExtraLight"/>
                <a:sym typeface="Oswald ExtraLight"/>
              </a:rPr>
              <a:t>Proceedings of the National Academy of Sciences</a:t>
            </a:r>
            <a:r>
              <a:rPr lang="en-GB" sz="900">
                <a:solidFill>
                  <a:srgbClr val="373A3C"/>
                </a:solidFill>
                <a:highlight>
                  <a:srgbClr val="FFFFFF"/>
                </a:highlight>
                <a:latin typeface="Oswald ExtraLight"/>
                <a:ea typeface="Oswald ExtraLight"/>
                <a:cs typeface="Oswald ExtraLight"/>
                <a:sym typeface="Oswald ExtraLight"/>
              </a:rPr>
              <a:t> 103 (37): 13745–49. </a:t>
            </a:r>
            <a:r>
              <a:rPr lang="en-GB" sz="900" u="sng">
                <a:solidFill>
                  <a:srgbClr val="000000"/>
                </a:solidFill>
                <a:latin typeface="Oswald ExtraLight"/>
                <a:ea typeface="Oswald ExtraLight"/>
                <a:cs typeface="Oswald ExtraLight"/>
                <a:sym typeface="Oswald ExtraLight"/>
                <a:hlinkClick r:id="rId12">
                  <a:extLst>
                    <a:ext uri="{A12FA001-AC4F-418D-AE19-62706E023703}">
                      <ahyp:hlinkClr val="tx"/>
                    </a:ext>
                  </a:extLst>
                </a:hlinkClick>
              </a:rPr>
              <a:t>https://doi.org/10.1073/pnas.0603039103</a:t>
            </a:r>
            <a:r>
              <a:rPr lang="en-GB" sz="900">
                <a:solidFill>
                  <a:srgbClr val="373A3C"/>
                </a:solidFill>
                <a:highlight>
                  <a:srgbClr val="FFFFFF"/>
                </a:highlight>
                <a:latin typeface="Oswald ExtraLight"/>
                <a:ea typeface="Oswald ExtraLight"/>
                <a:cs typeface="Oswald ExtraLight"/>
                <a:sym typeface="Oswald ExtraLight"/>
              </a:rPr>
              <a:t>.</a:t>
            </a:r>
            <a:endParaRPr sz="900">
              <a:solidFill>
                <a:srgbClr val="373A3C"/>
              </a:solidFill>
              <a:highlight>
                <a:srgbClr val="FFFFFF"/>
              </a:highlight>
              <a:latin typeface="Oswald ExtraLight"/>
              <a:ea typeface="Oswald ExtraLight"/>
              <a:cs typeface="Oswald ExtraLight"/>
              <a:sym typeface="Oswald ExtraLight"/>
            </a:endParaRPr>
          </a:p>
          <a:p>
            <a:pPr indent="-285750" lvl="0" marL="457200" rtl="0" algn="l">
              <a:spcBef>
                <a:spcPts val="0"/>
              </a:spcBef>
              <a:spcAft>
                <a:spcPts val="0"/>
              </a:spcAft>
              <a:buClr>
                <a:srgbClr val="373A3C"/>
              </a:buClr>
              <a:buSzPts val="900"/>
              <a:buFont typeface="Oswald ExtraLight"/>
              <a:buAutoNum type="arabicPeriod"/>
            </a:pPr>
            <a:r>
              <a:rPr lang="en-GB" sz="900">
                <a:solidFill>
                  <a:srgbClr val="373A3C"/>
                </a:solidFill>
                <a:highlight>
                  <a:srgbClr val="FFFFFF"/>
                </a:highlight>
                <a:latin typeface="Oswald ExtraLight"/>
                <a:ea typeface="Oswald ExtraLight"/>
                <a:cs typeface="Oswald ExtraLight"/>
                <a:sym typeface="Oswald ExtraLight"/>
              </a:rPr>
              <a:t>Brose, Ulrich, Richard J. Williams, and Neo D. Martinez. 2006. </a:t>
            </a:r>
            <a:r>
              <a:rPr lang="en-GB" sz="900">
                <a:solidFill>
                  <a:srgbClr val="373A3C"/>
                </a:solidFill>
                <a:latin typeface="Oswald ExtraLight"/>
                <a:ea typeface="Oswald ExtraLight"/>
                <a:cs typeface="Oswald ExtraLight"/>
                <a:sym typeface="Oswald ExtraLight"/>
              </a:rPr>
              <a:t>“Allometric Scaling Enhances Stability in Complex Food Webs.”</a:t>
            </a:r>
            <a:r>
              <a:rPr lang="en-GB" sz="900">
                <a:solidFill>
                  <a:srgbClr val="373A3C"/>
                </a:solidFill>
                <a:highlight>
                  <a:srgbClr val="FFFFFF"/>
                </a:highlight>
                <a:latin typeface="Oswald ExtraLight"/>
                <a:ea typeface="Oswald ExtraLight"/>
                <a:cs typeface="Oswald ExtraLight"/>
                <a:sym typeface="Oswald ExtraLight"/>
              </a:rPr>
              <a:t> </a:t>
            </a:r>
            <a:r>
              <a:rPr i="1" lang="en-GB" sz="900">
                <a:solidFill>
                  <a:srgbClr val="373A3C"/>
                </a:solidFill>
                <a:latin typeface="Oswald ExtraLight"/>
                <a:ea typeface="Oswald ExtraLight"/>
                <a:cs typeface="Oswald ExtraLight"/>
                <a:sym typeface="Oswald ExtraLight"/>
              </a:rPr>
              <a:t>Ecology Letters</a:t>
            </a:r>
            <a:r>
              <a:rPr lang="en-GB" sz="900">
                <a:solidFill>
                  <a:srgbClr val="373A3C"/>
                </a:solidFill>
                <a:highlight>
                  <a:srgbClr val="FFFFFF"/>
                </a:highlight>
                <a:latin typeface="Oswald ExtraLight"/>
                <a:ea typeface="Oswald ExtraLight"/>
                <a:cs typeface="Oswald ExtraLight"/>
                <a:sym typeface="Oswald ExtraLight"/>
              </a:rPr>
              <a:t> 9 (11): 1228–36. </a:t>
            </a:r>
            <a:r>
              <a:rPr lang="en-GB" sz="900" u="sng">
                <a:solidFill>
                  <a:srgbClr val="000000"/>
                </a:solidFill>
                <a:latin typeface="Oswald ExtraLight"/>
                <a:ea typeface="Oswald ExtraLight"/>
                <a:cs typeface="Oswald ExtraLight"/>
                <a:sym typeface="Oswald ExtraLight"/>
                <a:hlinkClick r:id="rId13">
                  <a:extLst>
                    <a:ext uri="{A12FA001-AC4F-418D-AE19-62706E023703}">
                      <ahyp:hlinkClr val="tx"/>
                    </a:ext>
                  </a:extLst>
                </a:hlinkClick>
              </a:rPr>
              <a:t>https://doi.org/10.1111/j.1461-0248.2006.00978.x</a:t>
            </a:r>
            <a:r>
              <a:rPr lang="en-GB" sz="900">
                <a:solidFill>
                  <a:srgbClr val="373A3C"/>
                </a:solidFill>
                <a:highlight>
                  <a:srgbClr val="FFFFFF"/>
                </a:highlight>
                <a:latin typeface="Oswald ExtraLight"/>
                <a:ea typeface="Oswald ExtraLight"/>
                <a:cs typeface="Oswald ExtraLight"/>
                <a:sym typeface="Oswald ExtraLight"/>
              </a:rPr>
              <a:t>.</a:t>
            </a:r>
            <a:endParaRPr sz="900">
              <a:solidFill>
                <a:srgbClr val="373A3C"/>
              </a:solidFill>
              <a:highlight>
                <a:srgbClr val="FFFFFF"/>
              </a:highlight>
              <a:latin typeface="Oswald ExtraLight"/>
              <a:ea typeface="Oswald ExtraLight"/>
              <a:cs typeface="Oswald ExtraLight"/>
              <a:sym typeface="Oswald ExtraLight"/>
            </a:endParaRPr>
          </a:p>
          <a:p>
            <a:pPr indent="-285750" lvl="0" marL="457200" rtl="0" algn="l">
              <a:spcBef>
                <a:spcPts val="0"/>
              </a:spcBef>
              <a:spcAft>
                <a:spcPts val="0"/>
              </a:spcAft>
              <a:buClr>
                <a:srgbClr val="373A3C"/>
              </a:buClr>
              <a:buSzPts val="900"/>
              <a:buFont typeface="Oswald ExtraLight"/>
              <a:buAutoNum type="arabicPeriod"/>
            </a:pPr>
            <a:r>
              <a:rPr lang="en-GB" sz="900">
                <a:solidFill>
                  <a:srgbClr val="373A3C"/>
                </a:solidFill>
                <a:highlight>
                  <a:schemeClr val="lt1"/>
                </a:highlight>
                <a:latin typeface="Oswald ExtraLight"/>
                <a:ea typeface="Oswald ExtraLight"/>
                <a:cs typeface="Oswald ExtraLight"/>
                <a:sym typeface="Oswald ExtraLight"/>
              </a:rPr>
              <a:t>Williams, Richard J., and Neo D. Martinez. 2000. “Simple Rules Yield Complex Food Webs.” </a:t>
            </a:r>
            <a:r>
              <a:rPr i="1" lang="en-GB" sz="900">
                <a:solidFill>
                  <a:srgbClr val="373A3C"/>
                </a:solidFill>
                <a:highlight>
                  <a:schemeClr val="lt1"/>
                </a:highlight>
                <a:latin typeface="Oswald ExtraLight"/>
                <a:ea typeface="Oswald ExtraLight"/>
                <a:cs typeface="Oswald ExtraLight"/>
                <a:sym typeface="Oswald ExtraLight"/>
              </a:rPr>
              <a:t>Nature</a:t>
            </a:r>
            <a:r>
              <a:rPr lang="en-GB" sz="900">
                <a:solidFill>
                  <a:srgbClr val="373A3C"/>
                </a:solidFill>
                <a:highlight>
                  <a:schemeClr val="lt1"/>
                </a:highlight>
                <a:latin typeface="Oswald ExtraLight"/>
                <a:ea typeface="Oswald ExtraLight"/>
                <a:cs typeface="Oswald ExtraLight"/>
                <a:sym typeface="Oswald ExtraLight"/>
              </a:rPr>
              <a:t> 404 (6774): 180–83. </a:t>
            </a:r>
            <a:r>
              <a:rPr lang="en-GB" sz="900" u="sng">
                <a:solidFill>
                  <a:srgbClr val="1155CC"/>
                </a:solidFill>
                <a:highlight>
                  <a:schemeClr val="lt1"/>
                </a:highlight>
                <a:latin typeface="Oswald ExtraLight"/>
                <a:ea typeface="Oswald ExtraLight"/>
                <a:cs typeface="Oswald ExtraLight"/>
                <a:sym typeface="Oswald ExtraLight"/>
                <a:hlinkClick r:id="rId14">
                  <a:extLst>
                    <a:ext uri="{A12FA001-AC4F-418D-AE19-62706E023703}">
                      <ahyp:hlinkClr val="tx"/>
                    </a:ext>
                  </a:extLst>
                </a:hlinkClick>
              </a:rPr>
              <a:t>https://doi.org/10.1038/35004572</a:t>
            </a:r>
            <a:r>
              <a:rPr lang="en-GB" sz="900">
                <a:solidFill>
                  <a:srgbClr val="373A3C"/>
                </a:solidFill>
                <a:highlight>
                  <a:schemeClr val="lt1"/>
                </a:highlight>
                <a:latin typeface="Oswald ExtraLight"/>
                <a:ea typeface="Oswald ExtraLight"/>
                <a:cs typeface="Oswald ExtraLight"/>
                <a:sym typeface="Oswald ExtraLight"/>
              </a:rPr>
              <a:t>.</a:t>
            </a:r>
            <a:endParaRPr sz="900">
              <a:solidFill>
                <a:srgbClr val="373A3C"/>
              </a:solidFill>
              <a:highlight>
                <a:schemeClr val="lt1"/>
              </a:highlight>
              <a:latin typeface="Oswald ExtraLight"/>
              <a:ea typeface="Oswald ExtraLight"/>
              <a:cs typeface="Oswald ExtraLight"/>
              <a:sym typeface="Oswald ExtraLight"/>
            </a:endParaRPr>
          </a:p>
          <a:p>
            <a:pPr indent="-285750" lvl="0" marL="457200" rtl="0" algn="l">
              <a:spcBef>
                <a:spcPts val="0"/>
              </a:spcBef>
              <a:spcAft>
                <a:spcPts val="0"/>
              </a:spcAft>
              <a:buClr>
                <a:srgbClr val="373A3C"/>
              </a:buClr>
              <a:buSzPts val="900"/>
              <a:buFont typeface="Oswald ExtraLight"/>
              <a:buAutoNum type="arabicPeriod"/>
            </a:pPr>
            <a:r>
              <a:rPr lang="en-GB" sz="900">
                <a:solidFill>
                  <a:srgbClr val="373A3C"/>
                </a:solidFill>
                <a:highlight>
                  <a:schemeClr val="lt1"/>
                </a:highlight>
                <a:latin typeface="Oswald ExtraLight"/>
                <a:ea typeface="Oswald ExtraLight"/>
                <a:cs typeface="Oswald ExtraLight"/>
                <a:sym typeface="Oswald ExtraLight"/>
              </a:rPr>
              <a:t>Delmas, Eva, Mathilde Besson, Marie-Hélène Brice, Laura A. Burkle, Giulio V. Dalla Riva, Marie-Josée Fortin, Dominique Gravel, et al. 2019. </a:t>
            </a:r>
            <a:r>
              <a:rPr lang="en-GB" sz="900">
                <a:solidFill>
                  <a:srgbClr val="373A3C"/>
                </a:solidFill>
                <a:latin typeface="Oswald ExtraLight"/>
                <a:ea typeface="Oswald ExtraLight"/>
                <a:cs typeface="Oswald ExtraLight"/>
                <a:sym typeface="Oswald ExtraLight"/>
              </a:rPr>
              <a:t>“Analysing Ecological Networks of Species Interactions.”</a:t>
            </a:r>
            <a:r>
              <a:rPr i="1" lang="en-GB" sz="900">
                <a:solidFill>
                  <a:srgbClr val="373A3C"/>
                </a:solidFill>
                <a:latin typeface="Oswald ExtraLight"/>
                <a:ea typeface="Oswald ExtraLight"/>
                <a:cs typeface="Oswald ExtraLight"/>
                <a:sym typeface="Oswald ExtraLight"/>
              </a:rPr>
              <a:t>Biological Reviews</a:t>
            </a:r>
            <a:r>
              <a:rPr lang="en-GB" sz="900">
                <a:solidFill>
                  <a:srgbClr val="373A3C"/>
                </a:solidFill>
                <a:highlight>
                  <a:schemeClr val="lt1"/>
                </a:highlight>
                <a:latin typeface="Oswald ExtraLight"/>
                <a:ea typeface="Oswald ExtraLight"/>
                <a:cs typeface="Oswald ExtraLight"/>
                <a:sym typeface="Oswald ExtraLight"/>
              </a:rPr>
              <a:t> 94 (1): 16–36. </a:t>
            </a:r>
            <a:r>
              <a:rPr lang="en-GB" sz="900" u="sng">
                <a:solidFill>
                  <a:srgbClr val="000000"/>
                </a:solidFill>
                <a:latin typeface="Oswald ExtraLight"/>
                <a:ea typeface="Oswald ExtraLight"/>
                <a:cs typeface="Oswald ExtraLight"/>
                <a:sym typeface="Oswald ExtraLight"/>
                <a:hlinkClick r:id="rId15">
                  <a:extLst>
                    <a:ext uri="{A12FA001-AC4F-418D-AE19-62706E023703}">
                      <ahyp:hlinkClr val="tx"/>
                    </a:ext>
                  </a:extLst>
                </a:hlinkClick>
              </a:rPr>
              <a:t>https://doi.org/10.1111/brv.12433</a:t>
            </a:r>
            <a:r>
              <a:rPr lang="en-GB" sz="900">
                <a:solidFill>
                  <a:srgbClr val="373A3C"/>
                </a:solidFill>
                <a:highlight>
                  <a:schemeClr val="lt1"/>
                </a:highlight>
                <a:latin typeface="Oswald ExtraLight"/>
                <a:ea typeface="Oswald ExtraLight"/>
                <a:cs typeface="Oswald ExtraLight"/>
                <a:sym typeface="Oswald ExtraLight"/>
              </a:rPr>
              <a:t>.</a:t>
            </a:r>
            <a:endParaRPr sz="900">
              <a:solidFill>
                <a:srgbClr val="373A3C"/>
              </a:solidFill>
              <a:highlight>
                <a:srgbClr val="FFFFFF"/>
              </a:highlight>
              <a:latin typeface="Oswald ExtraLight"/>
              <a:ea typeface="Oswald ExtraLight"/>
              <a:cs typeface="Oswald ExtraLight"/>
              <a:sym typeface="Oswald ExtraLight"/>
            </a:endParaRPr>
          </a:p>
        </p:txBody>
      </p:sp>
      <p:sp>
        <p:nvSpPr>
          <p:cNvPr id="595" name="Google Shape;595;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0B8C7F"/>
      </a:dk1>
      <a:lt1>
        <a:srgbClr val="FFFFFF"/>
      </a:lt1>
      <a:dk2>
        <a:srgbClr val="424242"/>
      </a:dk2>
      <a:lt2>
        <a:srgbClr val="73576E"/>
      </a:lt2>
      <a:accent1>
        <a:srgbClr val="F2BA52"/>
      </a:accent1>
      <a:accent2>
        <a:srgbClr val="5F392C"/>
      </a:accent2>
      <a:accent3>
        <a:srgbClr val="F27244"/>
      </a:accent3>
      <a:accent4>
        <a:srgbClr val="0090AC"/>
      </a:accent4>
      <a:accent5>
        <a:srgbClr val="00838F"/>
      </a:accent5>
      <a:accent6>
        <a:srgbClr val="F8E71C"/>
      </a:accent6>
      <a:hlink>
        <a:srgbClr val="80CECE"/>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