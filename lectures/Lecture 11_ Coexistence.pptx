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D9E6F5-B275-4C07-A761-71AFACBA48CE}">
  <a:tblStyle styleId="{9ED9E6F5-B275-4C07-A761-71AFACBA48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9408ed0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9408ed0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9594ad5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d9594ad5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594ad59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d9594ad59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594ad59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d9594ad59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9594ad59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d9594ad59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9594ad59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9594ad59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9594ad59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9594ad59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9594ad59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9594ad59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9594ad59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9594ad59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9594ad59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9594ad59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9594ad59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9594ad59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9594ad59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9594ad59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9594ad59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9594ad59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9594ad59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9594ad59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94ad59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94ad59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9594ad59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9594ad59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9594ad59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9594ad59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 = ability to tolerate stressful condition, dominance = ability to competitively exclude other species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9594ad59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9594ad59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9594ad59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d9594ad59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9594ad59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9594ad59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9594ad59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d9594ad59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9594ad59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9594ad59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9594ad59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d9594ad59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9594ad59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d9594ad59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be driven by camouflage, etc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9594ad59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9594ad59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9594ad59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d9594ad59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d9594ad594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d9594ad59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9594ad59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d9594ad59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9594ad59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9594ad59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d9594ad594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d9594ad594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d9594ad594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d9594ad594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9594ad59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d9594ad59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9594ad59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d9594ad59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d9594ad594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d9594ad594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d9594ad594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d9594ad594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d9594ad594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d9594ad59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d9594ad594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d9594ad594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d9594ad594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d9594ad594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d9594ad594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d9594ad594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d9594ad594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d9594ad594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d9594ad594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d9594ad594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d9594ad594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d9594ad594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d9594ad594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d9594ad594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d9594ad594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d9594ad594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d9594ad594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d9594ad594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d9594ad594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d9594ad594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d9594ad594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d9594ad594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d9594ad594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d9594ad594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d9594ad594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d9594ad594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d9594ad594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d9594ad594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d9594ad594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d9594ad59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d9594ad594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d9594ad594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d9594ad594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d9594ad594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d9408ed0bf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d9408ed0bf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Coexistence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Paradox of the plankton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need different niches to coexist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so many species of plankton coexist?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need the same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Well-mixed, homogeneous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35953" l="28416" r="29640" t="42660"/>
          <a:stretch/>
        </p:blipFill>
        <p:spPr>
          <a:xfrm>
            <a:off x="5336758" y="63425"/>
            <a:ext cx="3624216" cy="10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Paradox of the plankton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need different niches to coexist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so many species of plankton coexist?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need the same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Well-mixed, homogeneous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Or, more generally, how can so many </a:t>
            </a:r>
            <a:r>
              <a:rPr lang="en"/>
              <a:t>species</a:t>
            </a:r>
            <a:r>
              <a:rPr lang="en"/>
              <a:t> coexist in a given location when they all need more or less the same things (oxygen, water, carbon, etc.)?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35953" l="28416" r="29640" t="42660"/>
          <a:stretch/>
        </p:blipFill>
        <p:spPr>
          <a:xfrm>
            <a:off x="5336758" y="63425"/>
            <a:ext cx="3624216" cy="10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now know the answer (in a broad sense)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needs to happen for species to coexist?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now know the answer (in a broad sense)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needs to happen for species to coexist?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600"/>
              <a:t>			α</a:t>
            </a:r>
            <a:r>
              <a:rPr b="1" baseline="-25000" lang="en" sz="2600"/>
              <a:t>ii</a:t>
            </a:r>
            <a:r>
              <a:rPr b="1" lang="en" sz="2600"/>
              <a:t> &gt; α</a:t>
            </a:r>
            <a:r>
              <a:rPr b="1" baseline="-25000" lang="en" sz="2600"/>
              <a:t>ji</a:t>
            </a:r>
            <a:endParaRPr b="1" baseline="-25000"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baseline="-25000" lang="en" sz="2600"/>
              <a:t>			</a:t>
            </a:r>
            <a:r>
              <a:rPr b="1" lang="en" sz="2600"/>
              <a:t>α</a:t>
            </a:r>
            <a:r>
              <a:rPr b="1" baseline="-25000" lang="en" sz="2600"/>
              <a:t>jj</a:t>
            </a:r>
            <a:r>
              <a:rPr b="1" lang="en" sz="2600"/>
              <a:t> &gt; α</a:t>
            </a:r>
            <a:r>
              <a:rPr b="1" baseline="-25000" lang="en" sz="2600"/>
              <a:t>ij</a:t>
            </a:r>
            <a:endParaRPr b="1" baseline="-25000"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</a:t>
            </a:r>
            <a:r>
              <a:rPr lang="en"/>
              <a:t>species</a:t>
            </a:r>
            <a:r>
              <a:rPr lang="en"/>
              <a:t> to limit themselves more than their </a:t>
            </a:r>
            <a:r>
              <a:rPr lang="en"/>
              <a:t>competitors</a:t>
            </a:r>
            <a:r>
              <a:rPr lang="en"/>
              <a:t>?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predators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coexist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species to limit themselves more than their competitors?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predators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Spatial variation (use different locations)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variation (use different times)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combination of these things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difference make species more likely to compete with conspecifics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difference make species more likely to compete with conspecifics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Increases intraspecific competition relative to interspecific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spatial variation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resources (or predators) within a 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do best with different levels of that resource/predators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Requires a trade-off!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need to be good at something, bad at others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difference make species more likely to compete with conspecifics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Increases intraspecific competition relative to interspecific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r>
              <a:rPr b="1" lang="en" sz="2600"/>
              <a:t>			α</a:t>
            </a:r>
            <a:r>
              <a:rPr b="1" baseline="-25000" lang="en" sz="2600"/>
              <a:t>ii</a:t>
            </a:r>
            <a:r>
              <a:rPr b="1" lang="en" sz="2600"/>
              <a:t> &gt; α</a:t>
            </a:r>
            <a:r>
              <a:rPr b="1" baseline="-25000" lang="en" sz="2600"/>
              <a:t>ji</a:t>
            </a:r>
            <a:endParaRPr b="1" baseline="-25000"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42" name="Google Shape;142;p27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43" name="Google Shape;143;p27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7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5" name="Google Shape;145;p27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7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54" name="Google Shape;154;p28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55" name="Google Shape;155;p28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8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7" name="Google Shape;157;p28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8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>
            <a:off x="2717425" y="3036550"/>
            <a:ext cx="1020900" cy="7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8"/>
          <p:cNvSpPr txBox="1"/>
          <p:nvPr/>
        </p:nvSpPr>
        <p:spPr>
          <a:xfrm rot="2158261">
            <a:off x="1427920" y="2502376"/>
            <a:ext cx="1793741" cy="4618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Stress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68" name="Google Shape;168;p29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69" name="Google Shape;169;p29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9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1" name="Google Shape;171;p29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3" name="Google Shape;173;p29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4" name="Google Shape;174;p29"/>
          <p:cNvGrpSpPr/>
          <p:nvPr/>
        </p:nvGrpSpPr>
        <p:grpSpPr>
          <a:xfrm>
            <a:off x="5317925" y="2088925"/>
            <a:ext cx="3092100" cy="2156700"/>
            <a:chOff x="517325" y="2088925"/>
            <a:chExt cx="3092100" cy="2156700"/>
          </a:xfrm>
        </p:grpSpPr>
        <p:cxnSp>
          <p:nvCxnSpPr>
            <p:cNvPr id="175" name="Google Shape;175;p29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29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7" name="Google Shape;177;p29"/>
          <p:cNvSpPr txBox="1"/>
          <p:nvPr/>
        </p:nvSpPr>
        <p:spPr>
          <a:xfrm>
            <a:off x="5710375" y="4315000"/>
            <a:ext cx="24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Predation Tolerance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29"/>
          <p:cNvSpPr txBox="1"/>
          <p:nvPr/>
        </p:nvSpPr>
        <p:spPr>
          <a:xfrm rot="-5400000">
            <a:off x="3667475" y="2875000"/>
            <a:ext cx="27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Competitive Dominance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9" name="Google Shape;179;p29"/>
          <p:cNvCxnSpPr/>
          <p:nvPr/>
        </p:nvCxnSpPr>
        <p:spPr>
          <a:xfrm>
            <a:off x="54331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n-dimensional, but we often focus on 2-dimensional trade-offs</a:t>
            </a:r>
            <a:endParaRPr/>
          </a:p>
        </p:txBody>
      </p:sp>
      <p:grpSp>
        <p:nvGrpSpPr>
          <p:cNvPr id="186" name="Google Shape;186;p30"/>
          <p:cNvGrpSpPr/>
          <p:nvPr/>
        </p:nvGrpSpPr>
        <p:grpSpPr>
          <a:xfrm>
            <a:off x="669725" y="2088925"/>
            <a:ext cx="3092100" cy="2156700"/>
            <a:chOff x="517325" y="2088925"/>
            <a:chExt cx="3092100" cy="2156700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30"/>
          <p:cNvSpPr txBox="1"/>
          <p:nvPr/>
        </p:nvSpPr>
        <p:spPr>
          <a:xfrm rot="-5400000">
            <a:off x="-509875" y="2791000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Dominance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1309013" y="4341425"/>
            <a:ext cx="17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1" name="Google Shape;191;p30"/>
          <p:cNvCxnSpPr/>
          <p:nvPr/>
        </p:nvCxnSpPr>
        <p:spPr>
          <a:xfrm>
            <a:off x="7849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" name="Google Shape;192;p30"/>
          <p:cNvGrpSpPr/>
          <p:nvPr/>
        </p:nvGrpSpPr>
        <p:grpSpPr>
          <a:xfrm>
            <a:off x="5317925" y="2088925"/>
            <a:ext cx="3092100" cy="2156700"/>
            <a:chOff x="517325" y="2088925"/>
            <a:chExt cx="3092100" cy="2156700"/>
          </a:xfrm>
        </p:grpSpPr>
        <p:cxnSp>
          <p:nvCxnSpPr>
            <p:cNvPr id="193" name="Google Shape;193;p3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" name="Google Shape;195;p30"/>
          <p:cNvSpPr txBox="1"/>
          <p:nvPr/>
        </p:nvSpPr>
        <p:spPr>
          <a:xfrm>
            <a:off x="5710375" y="4315000"/>
            <a:ext cx="24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Predation Tolerance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30"/>
          <p:cNvSpPr txBox="1"/>
          <p:nvPr/>
        </p:nvSpPr>
        <p:spPr>
          <a:xfrm rot="-5400000">
            <a:off x="3667475" y="2875000"/>
            <a:ext cx="27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Competitive Dominance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7" name="Google Shape;197;p30"/>
          <p:cNvCxnSpPr/>
          <p:nvPr/>
        </p:nvCxnSpPr>
        <p:spPr>
          <a:xfrm>
            <a:off x="5433100" y="21743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0"/>
          <p:cNvCxnSpPr/>
          <p:nvPr/>
        </p:nvCxnSpPr>
        <p:spPr>
          <a:xfrm>
            <a:off x="7213225" y="2960350"/>
            <a:ext cx="1020900" cy="7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30"/>
          <p:cNvSpPr txBox="1"/>
          <p:nvPr/>
        </p:nvSpPr>
        <p:spPr>
          <a:xfrm rot="2158261">
            <a:off x="5615470" y="2211051"/>
            <a:ext cx="1793741" cy="4618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Predation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Tolerance-Fecundity</a:t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3817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4">
            <a:alphaModFix/>
          </a:blip>
          <a:srcRect b="46607" l="17578" r="20417" t="23128"/>
          <a:stretch/>
        </p:blipFill>
        <p:spPr>
          <a:xfrm>
            <a:off x="4413500" y="112975"/>
            <a:ext cx="4656499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Tolerance-Fecundity</a:t>
            </a:r>
            <a:endParaRPr/>
          </a:p>
        </p:txBody>
      </p:sp>
      <p:pic>
        <p:nvPicPr>
          <p:cNvPr id="212" name="Google Shape;21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3817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4">
            <a:alphaModFix/>
          </a:blip>
          <a:srcRect b="46607" l="17578" r="20417" t="23128"/>
          <a:stretch/>
        </p:blipFill>
        <p:spPr>
          <a:xfrm>
            <a:off x="4413500" y="112975"/>
            <a:ext cx="4656499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32"/>
          <p:cNvSpPr txBox="1"/>
          <p:nvPr/>
        </p:nvSpPr>
        <p:spPr>
          <a:xfrm>
            <a:off x="5343700" y="1936500"/>
            <a:ext cx="38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Found theoretical support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</a:t>
            </a:r>
            <a:r>
              <a:rPr lang="en"/>
              <a:t>-Defense Trade-off</a:t>
            </a: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98449" cy="3820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 rotWithShape="1">
          <a:blip r:embed="rId4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Competition-Defense Trade-off</a:t>
            </a:r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98449" cy="3820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/>
          <p:cNvPicPr preferRelativeResize="0"/>
          <p:nvPr/>
        </p:nvPicPr>
        <p:blipFill rotWithShape="1">
          <a:blip r:embed="rId4">
            <a:alphaModFix/>
          </a:blip>
          <a:srcRect b="0" l="33488" r="0" t="0"/>
          <a:stretch/>
        </p:blipFill>
        <p:spPr>
          <a:xfrm>
            <a:off x="5115750" y="1017725"/>
            <a:ext cx="3488901" cy="3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/>
          <p:cNvPicPr preferRelativeResize="0"/>
          <p:nvPr/>
        </p:nvPicPr>
        <p:blipFill rotWithShape="1">
          <a:blip r:embed="rId5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Competition-Defense Trade-off</a:t>
            </a:r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070876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5"/>
          <p:cNvPicPr preferRelativeResize="0"/>
          <p:nvPr/>
        </p:nvPicPr>
        <p:blipFill rotWithShape="1">
          <a:blip r:embed="rId4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Competition-Defense Trade-off</a:t>
            </a:r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070876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6582500" y="955375"/>
            <a:ext cx="2584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Found trade-offs, but…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Trade-off sometimes helped, sometimes made things worse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4" name="Google Shape;244;p36"/>
          <p:cNvPicPr preferRelativeResize="0"/>
          <p:nvPr/>
        </p:nvPicPr>
        <p:blipFill rotWithShape="1">
          <a:blip r:embed="rId4">
            <a:alphaModFix/>
          </a:blip>
          <a:srcRect b="39698" l="19835" r="21427" t="20929"/>
          <a:stretch/>
        </p:blipFill>
        <p:spPr>
          <a:xfrm>
            <a:off x="6195880" y="92126"/>
            <a:ext cx="2858918" cy="10779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</a:t>
            </a:r>
            <a:r>
              <a:rPr lang="en"/>
              <a:t>differences</a:t>
            </a:r>
            <a:endParaRPr/>
          </a:p>
        </p:txBody>
      </p:sp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strata within a habitat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strata within a habitat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resource, but </a:t>
            </a:r>
            <a:r>
              <a:rPr lang="en"/>
              <a:t>different</a:t>
            </a:r>
            <a:r>
              <a:rPr lang="en"/>
              <a:t> </a:t>
            </a:r>
            <a:r>
              <a:rPr lang="en"/>
              <a:t>locations: increases α</a:t>
            </a:r>
            <a:r>
              <a:rPr baseline="-25000" lang="en"/>
              <a:t>ii</a:t>
            </a:r>
            <a:r>
              <a:rPr lang="en"/>
              <a:t> relative to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habitats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strata within a habitat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resource, but different locations: increases α</a:t>
            </a:r>
            <a:r>
              <a:rPr baseline="-25000" lang="en"/>
              <a:t>ii</a:t>
            </a:r>
            <a:r>
              <a:rPr lang="en"/>
              <a:t> relative to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9"/>
          <p:cNvSpPr txBox="1"/>
          <p:nvPr/>
        </p:nvSpPr>
        <p:spPr>
          <a:xfrm>
            <a:off x="845350" y="3109525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 that there are a few caveats about this!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269" name="Google Shape;269;p40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275" name="Google Shape;275;p41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41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1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1"/>
          <p:cNvSpPr/>
          <p:nvPr/>
        </p:nvSpPr>
        <p:spPr>
          <a:xfrm rot="1806979">
            <a:off x="2995403" y="21901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1"/>
          <p:cNvSpPr/>
          <p:nvPr/>
        </p:nvSpPr>
        <p:spPr>
          <a:xfrm rot="1806979">
            <a:off x="2157203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1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1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1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"/>
          <p:cNvSpPr/>
          <p:nvPr/>
        </p:nvSpPr>
        <p:spPr>
          <a:xfrm rot="1806979">
            <a:off x="5282603" y="3288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1"/>
          <p:cNvSpPr/>
          <p:nvPr/>
        </p:nvSpPr>
        <p:spPr>
          <a:xfrm rot="1806979">
            <a:off x="1111053" y="3288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1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1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1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1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1"/>
          <p:cNvSpPr/>
          <p:nvPr/>
        </p:nvSpPr>
        <p:spPr>
          <a:xfrm rot="-8992804">
            <a:off x="2807210" y="3731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1"/>
          <p:cNvSpPr/>
          <p:nvPr/>
        </p:nvSpPr>
        <p:spPr>
          <a:xfrm rot="-8992804">
            <a:off x="3326285" y="202372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1"/>
          <p:cNvSpPr/>
          <p:nvPr/>
        </p:nvSpPr>
        <p:spPr>
          <a:xfrm rot="-8992804">
            <a:off x="5229710" y="2093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1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1"/>
          <p:cNvSpPr/>
          <p:nvPr/>
        </p:nvSpPr>
        <p:spPr>
          <a:xfrm rot="-8992804">
            <a:off x="4233185" y="316672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1"/>
          <p:cNvSpPr/>
          <p:nvPr/>
        </p:nvSpPr>
        <p:spPr>
          <a:xfrm rot="-8992804">
            <a:off x="2176160" y="209992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1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1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1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1"/>
          <p:cNvSpPr/>
          <p:nvPr/>
        </p:nvSpPr>
        <p:spPr>
          <a:xfrm rot="-8992804">
            <a:off x="2869085" y="2651339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1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1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2" name="Google Shape;302;p41"/>
          <p:cNvSpPr txBox="1"/>
          <p:nvPr/>
        </p:nvSpPr>
        <p:spPr>
          <a:xfrm>
            <a:off x="6113850" y="2405050"/>
            <a:ext cx="30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Similar </a:t>
            </a:r>
            <a:r>
              <a:rPr lang="en" sz="1800">
                <a:solidFill>
                  <a:schemeClr val="dk2"/>
                </a:solidFill>
              </a:rPr>
              <a:t>preferences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308" name="Google Shape;308;p42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42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2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2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2"/>
          <p:cNvSpPr/>
          <p:nvPr/>
        </p:nvSpPr>
        <p:spPr>
          <a:xfrm rot="1806979">
            <a:off x="33791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2"/>
          <p:cNvSpPr/>
          <p:nvPr/>
        </p:nvSpPr>
        <p:spPr>
          <a:xfrm rot="1806979">
            <a:off x="29219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2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2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2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2"/>
          <p:cNvSpPr/>
          <p:nvPr/>
        </p:nvSpPr>
        <p:spPr>
          <a:xfrm rot="1806979">
            <a:off x="2388578" y="3218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2"/>
          <p:cNvSpPr/>
          <p:nvPr/>
        </p:nvSpPr>
        <p:spPr>
          <a:xfrm rot="1806979">
            <a:off x="1855178" y="3142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2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2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2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2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/>
          <p:nvPr/>
        </p:nvSpPr>
        <p:spPr>
          <a:xfrm rot="-8992804">
            <a:off x="52297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"/>
          <p:cNvSpPr/>
          <p:nvPr/>
        </p:nvSpPr>
        <p:spPr>
          <a:xfrm rot="-8992804">
            <a:off x="4772510" y="2702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2"/>
          <p:cNvSpPr/>
          <p:nvPr/>
        </p:nvSpPr>
        <p:spPr>
          <a:xfrm rot="-8992804">
            <a:off x="5229710" y="2093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2"/>
          <p:cNvSpPr/>
          <p:nvPr/>
        </p:nvSpPr>
        <p:spPr>
          <a:xfrm rot="-8992804">
            <a:off x="5229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2"/>
          <p:cNvSpPr/>
          <p:nvPr/>
        </p:nvSpPr>
        <p:spPr>
          <a:xfrm rot="-8992804">
            <a:off x="4848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2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2"/>
          <p:cNvSpPr/>
          <p:nvPr/>
        </p:nvSpPr>
        <p:spPr>
          <a:xfrm rot="-8992804">
            <a:off x="48487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2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2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6113850" y="2405050"/>
            <a:ext cx="30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Distinct</a:t>
            </a:r>
            <a:r>
              <a:rPr lang="en" sz="1800">
                <a:solidFill>
                  <a:schemeClr val="dk2"/>
                </a:solidFill>
              </a:rPr>
              <a:t> preferences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341" name="Google Shape;341;p43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43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3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3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3"/>
          <p:cNvSpPr/>
          <p:nvPr/>
        </p:nvSpPr>
        <p:spPr>
          <a:xfrm rot="1806979">
            <a:off x="33791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3"/>
          <p:cNvSpPr/>
          <p:nvPr/>
        </p:nvSpPr>
        <p:spPr>
          <a:xfrm rot="1806979">
            <a:off x="29219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3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3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3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/>
          <p:nvPr/>
        </p:nvSpPr>
        <p:spPr>
          <a:xfrm rot="1806979">
            <a:off x="2388578" y="3218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3"/>
          <p:cNvSpPr/>
          <p:nvPr/>
        </p:nvSpPr>
        <p:spPr>
          <a:xfrm rot="1806979">
            <a:off x="1855178" y="3142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3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3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3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3"/>
          <p:cNvSpPr/>
          <p:nvPr/>
        </p:nvSpPr>
        <p:spPr>
          <a:xfrm rot="-8992804">
            <a:off x="52297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"/>
          <p:cNvSpPr/>
          <p:nvPr/>
        </p:nvSpPr>
        <p:spPr>
          <a:xfrm rot="-8992804">
            <a:off x="4772510" y="2702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3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3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3"/>
          <p:cNvSpPr/>
          <p:nvPr/>
        </p:nvSpPr>
        <p:spPr>
          <a:xfrm rot="-8992804">
            <a:off x="5229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"/>
          <p:cNvSpPr/>
          <p:nvPr/>
        </p:nvSpPr>
        <p:spPr>
          <a:xfrm rot="-8992804">
            <a:off x="4848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3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3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3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3"/>
          <p:cNvSpPr/>
          <p:nvPr/>
        </p:nvSpPr>
        <p:spPr>
          <a:xfrm rot="-8992804">
            <a:off x="48487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3"/>
          <p:cNvSpPr/>
          <p:nvPr/>
        </p:nvSpPr>
        <p:spPr>
          <a:xfrm>
            <a:off x="4766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3"/>
          <p:cNvSpPr/>
          <p:nvPr/>
        </p:nvSpPr>
        <p:spPr>
          <a:xfrm>
            <a:off x="37762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3"/>
          <p:cNvSpPr/>
          <p:nvPr/>
        </p:nvSpPr>
        <p:spPr>
          <a:xfrm>
            <a:off x="30904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3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3"/>
          <p:cNvSpPr/>
          <p:nvPr/>
        </p:nvSpPr>
        <p:spPr>
          <a:xfrm>
            <a:off x="5071675" y="2601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3"/>
          <p:cNvSpPr/>
          <p:nvPr/>
        </p:nvSpPr>
        <p:spPr>
          <a:xfrm>
            <a:off x="44620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3"/>
          <p:cNvSpPr/>
          <p:nvPr/>
        </p:nvSpPr>
        <p:spPr>
          <a:xfrm>
            <a:off x="4157275" y="2906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3"/>
          <p:cNvSpPr/>
          <p:nvPr/>
        </p:nvSpPr>
        <p:spPr>
          <a:xfrm>
            <a:off x="28618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3"/>
          <p:cNvSpPr/>
          <p:nvPr/>
        </p:nvSpPr>
        <p:spPr>
          <a:xfrm>
            <a:off x="30904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3"/>
          <p:cNvSpPr/>
          <p:nvPr/>
        </p:nvSpPr>
        <p:spPr>
          <a:xfrm>
            <a:off x="50716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3"/>
          <p:cNvSpPr/>
          <p:nvPr/>
        </p:nvSpPr>
        <p:spPr>
          <a:xfrm>
            <a:off x="2328475" y="2753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3"/>
          <p:cNvSpPr/>
          <p:nvPr/>
        </p:nvSpPr>
        <p:spPr>
          <a:xfrm>
            <a:off x="1337875" y="3439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3"/>
          <p:cNvSpPr/>
          <p:nvPr/>
        </p:nvSpPr>
        <p:spPr>
          <a:xfrm>
            <a:off x="5147875" y="3134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3"/>
          <p:cNvSpPr/>
          <p:nvPr/>
        </p:nvSpPr>
        <p:spPr>
          <a:xfrm>
            <a:off x="5452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3"/>
          <p:cNvSpPr/>
          <p:nvPr/>
        </p:nvSpPr>
        <p:spPr>
          <a:xfrm>
            <a:off x="4462075" y="4049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3"/>
          <p:cNvSpPr/>
          <p:nvPr/>
        </p:nvSpPr>
        <p:spPr>
          <a:xfrm>
            <a:off x="43096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3"/>
          <p:cNvSpPr/>
          <p:nvPr/>
        </p:nvSpPr>
        <p:spPr>
          <a:xfrm>
            <a:off x="40048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3"/>
          <p:cNvSpPr/>
          <p:nvPr/>
        </p:nvSpPr>
        <p:spPr>
          <a:xfrm>
            <a:off x="61384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3"/>
          <p:cNvSpPr txBox="1"/>
          <p:nvPr/>
        </p:nvSpPr>
        <p:spPr>
          <a:xfrm>
            <a:off x="6429175" y="1829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Resources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6113850" y="2405050"/>
            <a:ext cx="305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Distinct preferences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Mostly intraspecific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without resource/predation differences</a:t>
            </a:r>
            <a:endParaRPr/>
          </a:p>
        </p:txBody>
      </p:sp>
      <p:graphicFrame>
        <p:nvGraphicFramePr>
          <p:cNvPr id="392" name="Google Shape;392;p44"/>
          <p:cNvGraphicFramePr/>
          <p:nvPr/>
        </p:nvGraphicFramePr>
        <p:xfrm>
          <a:off x="813600" y="14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969575"/>
                <a:gridCol w="969575"/>
                <a:gridCol w="969575"/>
                <a:gridCol w="969575"/>
                <a:gridCol w="969575"/>
              </a:tblGrid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44"/>
          <p:cNvSpPr/>
          <p:nvPr/>
        </p:nvSpPr>
        <p:spPr>
          <a:xfrm rot="1806979">
            <a:off x="29219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4"/>
          <p:cNvSpPr/>
          <p:nvPr/>
        </p:nvSpPr>
        <p:spPr>
          <a:xfrm rot="1806979">
            <a:off x="3912578" y="2152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4"/>
          <p:cNvSpPr/>
          <p:nvPr/>
        </p:nvSpPr>
        <p:spPr>
          <a:xfrm rot="1806979">
            <a:off x="4217378" y="2075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4"/>
          <p:cNvSpPr/>
          <p:nvPr/>
        </p:nvSpPr>
        <p:spPr>
          <a:xfrm rot="1806979">
            <a:off x="33791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4"/>
          <p:cNvSpPr/>
          <p:nvPr/>
        </p:nvSpPr>
        <p:spPr>
          <a:xfrm rot="1806979">
            <a:off x="29219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4"/>
          <p:cNvSpPr/>
          <p:nvPr/>
        </p:nvSpPr>
        <p:spPr>
          <a:xfrm rot="1806979">
            <a:off x="3912578" y="32950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4"/>
          <p:cNvSpPr/>
          <p:nvPr/>
        </p:nvSpPr>
        <p:spPr>
          <a:xfrm rot="1806979">
            <a:off x="1169378" y="2609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4"/>
          <p:cNvSpPr/>
          <p:nvPr/>
        </p:nvSpPr>
        <p:spPr>
          <a:xfrm rot="1806979">
            <a:off x="3912578" y="26854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4"/>
          <p:cNvSpPr/>
          <p:nvPr/>
        </p:nvSpPr>
        <p:spPr>
          <a:xfrm rot="1806979">
            <a:off x="2388578" y="3218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4"/>
          <p:cNvSpPr/>
          <p:nvPr/>
        </p:nvSpPr>
        <p:spPr>
          <a:xfrm rot="1806979">
            <a:off x="1855178" y="3142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4"/>
          <p:cNvSpPr/>
          <p:nvPr/>
        </p:nvSpPr>
        <p:spPr>
          <a:xfrm rot="1806979">
            <a:off x="2083778" y="33712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4"/>
          <p:cNvSpPr/>
          <p:nvPr/>
        </p:nvSpPr>
        <p:spPr>
          <a:xfrm rot="1806979">
            <a:off x="3379178" y="39046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4"/>
          <p:cNvSpPr/>
          <p:nvPr/>
        </p:nvSpPr>
        <p:spPr>
          <a:xfrm rot="1806979">
            <a:off x="1474178" y="1694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4"/>
          <p:cNvSpPr/>
          <p:nvPr/>
        </p:nvSpPr>
        <p:spPr>
          <a:xfrm rot="1806979">
            <a:off x="3226778" y="2837876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4"/>
          <p:cNvSpPr/>
          <p:nvPr/>
        </p:nvSpPr>
        <p:spPr>
          <a:xfrm rot="-8992804">
            <a:off x="52297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4"/>
          <p:cNvSpPr/>
          <p:nvPr/>
        </p:nvSpPr>
        <p:spPr>
          <a:xfrm rot="-8992804">
            <a:off x="4772510" y="2702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4"/>
          <p:cNvSpPr/>
          <p:nvPr/>
        </p:nvSpPr>
        <p:spPr>
          <a:xfrm rot="-8992804">
            <a:off x="6067910" y="15599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4"/>
          <p:cNvSpPr/>
          <p:nvPr/>
        </p:nvSpPr>
        <p:spPr>
          <a:xfrm rot="-8992804">
            <a:off x="4315310" y="2626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4"/>
          <p:cNvSpPr/>
          <p:nvPr/>
        </p:nvSpPr>
        <p:spPr>
          <a:xfrm rot="-8992804">
            <a:off x="5229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4"/>
          <p:cNvSpPr/>
          <p:nvPr/>
        </p:nvSpPr>
        <p:spPr>
          <a:xfrm rot="-8992804">
            <a:off x="48487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4"/>
          <p:cNvSpPr/>
          <p:nvPr/>
        </p:nvSpPr>
        <p:spPr>
          <a:xfrm rot="-8992804">
            <a:off x="3248510" y="3236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4"/>
          <p:cNvSpPr/>
          <p:nvPr/>
        </p:nvSpPr>
        <p:spPr>
          <a:xfrm rot="-8992804">
            <a:off x="4162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4"/>
          <p:cNvSpPr/>
          <p:nvPr/>
        </p:nvSpPr>
        <p:spPr>
          <a:xfrm rot="-8992804">
            <a:off x="3781910" y="37697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4"/>
          <p:cNvSpPr/>
          <p:nvPr/>
        </p:nvSpPr>
        <p:spPr>
          <a:xfrm rot="-8992804">
            <a:off x="48487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4"/>
          <p:cNvSpPr/>
          <p:nvPr/>
        </p:nvSpPr>
        <p:spPr>
          <a:xfrm>
            <a:off x="4766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4"/>
          <p:cNvSpPr/>
          <p:nvPr/>
        </p:nvSpPr>
        <p:spPr>
          <a:xfrm>
            <a:off x="37762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4"/>
          <p:cNvSpPr/>
          <p:nvPr/>
        </p:nvSpPr>
        <p:spPr>
          <a:xfrm>
            <a:off x="30904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4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4"/>
          <p:cNvSpPr/>
          <p:nvPr/>
        </p:nvSpPr>
        <p:spPr>
          <a:xfrm>
            <a:off x="5071675" y="2601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4"/>
          <p:cNvSpPr/>
          <p:nvPr/>
        </p:nvSpPr>
        <p:spPr>
          <a:xfrm>
            <a:off x="44620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4"/>
          <p:cNvSpPr/>
          <p:nvPr/>
        </p:nvSpPr>
        <p:spPr>
          <a:xfrm>
            <a:off x="4157275" y="2906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4"/>
          <p:cNvSpPr/>
          <p:nvPr/>
        </p:nvSpPr>
        <p:spPr>
          <a:xfrm>
            <a:off x="2861875" y="3211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4"/>
          <p:cNvSpPr/>
          <p:nvPr/>
        </p:nvSpPr>
        <p:spPr>
          <a:xfrm>
            <a:off x="30904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4"/>
          <p:cNvSpPr/>
          <p:nvPr/>
        </p:nvSpPr>
        <p:spPr>
          <a:xfrm>
            <a:off x="5071675" y="3744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4"/>
          <p:cNvSpPr/>
          <p:nvPr/>
        </p:nvSpPr>
        <p:spPr>
          <a:xfrm>
            <a:off x="2328475" y="2753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4"/>
          <p:cNvSpPr/>
          <p:nvPr/>
        </p:nvSpPr>
        <p:spPr>
          <a:xfrm>
            <a:off x="1337875" y="3439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4"/>
          <p:cNvSpPr/>
          <p:nvPr/>
        </p:nvSpPr>
        <p:spPr>
          <a:xfrm>
            <a:off x="5147875" y="3134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4"/>
          <p:cNvSpPr/>
          <p:nvPr/>
        </p:nvSpPr>
        <p:spPr>
          <a:xfrm>
            <a:off x="5452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4"/>
          <p:cNvSpPr/>
          <p:nvPr/>
        </p:nvSpPr>
        <p:spPr>
          <a:xfrm>
            <a:off x="4462075" y="4049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4"/>
          <p:cNvSpPr/>
          <p:nvPr/>
        </p:nvSpPr>
        <p:spPr>
          <a:xfrm>
            <a:off x="43096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40048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4"/>
          <p:cNvSpPr/>
          <p:nvPr/>
        </p:nvSpPr>
        <p:spPr>
          <a:xfrm>
            <a:off x="61384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4"/>
          <p:cNvSpPr txBox="1"/>
          <p:nvPr/>
        </p:nvSpPr>
        <p:spPr>
          <a:xfrm>
            <a:off x="6429175" y="1829475"/>
            <a:ext cx="264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Resources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(can now move)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6" name="Google Shape;436;p44"/>
          <p:cNvSpPr txBox="1"/>
          <p:nvPr/>
        </p:nvSpPr>
        <p:spPr>
          <a:xfrm>
            <a:off x="6496800" y="1448475"/>
            <a:ext cx="26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Competitor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37" name="Google Shape;437;p44"/>
          <p:cNvCxnSpPr>
            <a:stCxn id="420" idx="0"/>
          </p:cNvCxnSpPr>
          <p:nvPr/>
        </p:nvCxnSpPr>
        <p:spPr>
          <a:xfrm rot="10800000">
            <a:off x="3484525" y="1670925"/>
            <a:ext cx="66300" cy="5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44"/>
          <p:cNvCxnSpPr>
            <a:stCxn id="419" idx="1"/>
          </p:cNvCxnSpPr>
          <p:nvPr/>
        </p:nvCxnSpPr>
        <p:spPr>
          <a:xfrm rot="10800000">
            <a:off x="2313916" y="1760259"/>
            <a:ext cx="799800" cy="5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44"/>
          <p:cNvCxnSpPr>
            <a:stCxn id="427" idx="0"/>
            <a:endCxn id="413" idx="0"/>
          </p:cNvCxnSpPr>
          <p:nvPr/>
        </p:nvCxnSpPr>
        <p:spPr>
          <a:xfrm>
            <a:off x="2407825" y="2753925"/>
            <a:ext cx="863400" cy="5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44"/>
          <p:cNvCxnSpPr>
            <a:stCxn id="428" idx="4"/>
          </p:cNvCxnSpPr>
          <p:nvPr/>
        </p:nvCxnSpPr>
        <p:spPr>
          <a:xfrm flipH="1">
            <a:off x="1222225" y="3576525"/>
            <a:ext cx="195000" cy="2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44"/>
          <p:cNvCxnSpPr>
            <a:stCxn id="423" idx="4"/>
          </p:cNvCxnSpPr>
          <p:nvPr/>
        </p:nvCxnSpPr>
        <p:spPr>
          <a:xfrm>
            <a:off x="4236625" y="3043125"/>
            <a:ext cx="71400" cy="3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44"/>
          <p:cNvCxnSpPr>
            <a:stCxn id="426" idx="2"/>
          </p:cNvCxnSpPr>
          <p:nvPr/>
        </p:nvCxnSpPr>
        <p:spPr>
          <a:xfrm rot="10800000">
            <a:off x="4794175" y="3595725"/>
            <a:ext cx="277500" cy="2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44"/>
          <p:cNvCxnSpPr>
            <a:stCxn id="432" idx="6"/>
          </p:cNvCxnSpPr>
          <p:nvPr/>
        </p:nvCxnSpPr>
        <p:spPr>
          <a:xfrm flipH="1" rot="10800000">
            <a:off x="4468375" y="1621125"/>
            <a:ext cx="365700" cy="13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44"/>
          <p:cNvSpPr txBox="1"/>
          <p:nvPr/>
        </p:nvSpPr>
        <p:spPr>
          <a:xfrm>
            <a:off x="6113850" y="2786050"/>
            <a:ext cx="305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Distinct preferences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 longer consuming unique resource,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increases </a:t>
            </a:r>
            <a:r>
              <a:rPr b="1" lang="en" sz="1800">
                <a:solidFill>
                  <a:schemeClr val="dk2"/>
                </a:solidFill>
              </a:rPr>
              <a:t>interspecific </a:t>
            </a:r>
            <a:r>
              <a:rPr lang="en" sz="1800">
                <a:solidFill>
                  <a:schemeClr val="dk2"/>
                </a:solidFill>
              </a:rPr>
              <a:t>competition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via temporal mechanisms</a:t>
            </a:r>
            <a:endParaRPr/>
          </a:p>
        </p:txBody>
      </p:sp>
      <p:sp>
        <p:nvSpPr>
          <p:cNvPr id="450" name="Google Shape;45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niche partitioning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Relative non-linearity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Storage effects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sp>
        <p:nvSpPr>
          <p:cNvPr id="456" name="Google Shape;45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species use resources at different times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 the resource pools need to be different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462" name="Google Shape;462;p47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3" name="Google Shape;463;p47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64" name="Google Shape;464;p47"/>
          <p:cNvCxnSpPr>
            <a:stCxn id="463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470" name="Google Shape;470;p48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1" name="Google Shape;471;p48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72" name="Google Shape;472;p48"/>
          <p:cNvCxnSpPr>
            <a:stCxn id="471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48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8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8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8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8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8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8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8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8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8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8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489" name="Google Shape;489;p49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0" name="Google Shape;490;p49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91" name="Google Shape;491;p49"/>
          <p:cNvCxnSpPr>
            <a:stCxn id="490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49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9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9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9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9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9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9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9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9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9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9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9"/>
          <p:cNvSpPr/>
          <p:nvPr/>
        </p:nvSpPr>
        <p:spPr>
          <a:xfrm>
            <a:off x="81958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9"/>
          <p:cNvSpPr/>
          <p:nvPr/>
        </p:nvSpPr>
        <p:spPr>
          <a:xfrm>
            <a:off x="8424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9"/>
          <p:cNvSpPr/>
          <p:nvPr/>
        </p:nvSpPr>
        <p:spPr>
          <a:xfrm>
            <a:off x="4234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9"/>
          <p:cNvSpPr/>
          <p:nvPr/>
        </p:nvSpPr>
        <p:spPr>
          <a:xfrm>
            <a:off x="7282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9"/>
          <p:cNvSpPr/>
          <p:nvPr/>
        </p:nvSpPr>
        <p:spPr>
          <a:xfrm>
            <a:off x="14140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9"/>
          <p:cNvSpPr/>
          <p:nvPr/>
        </p:nvSpPr>
        <p:spPr>
          <a:xfrm>
            <a:off x="1871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9"/>
          <p:cNvSpPr/>
          <p:nvPr/>
        </p:nvSpPr>
        <p:spPr>
          <a:xfrm>
            <a:off x="24808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9"/>
          <p:cNvSpPr/>
          <p:nvPr/>
        </p:nvSpPr>
        <p:spPr>
          <a:xfrm>
            <a:off x="2709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9"/>
          <p:cNvSpPr/>
          <p:nvPr/>
        </p:nvSpPr>
        <p:spPr>
          <a:xfrm>
            <a:off x="2861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9"/>
          <p:cNvSpPr/>
          <p:nvPr/>
        </p:nvSpPr>
        <p:spPr>
          <a:xfrm>
            <a:off x="25570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9"/>
          <p:cNvSpPr/>
          <p:nvPr/>
        </p:nvSpPr>
        <p:spPr>
          <a:xfrm>
            <a:off x="33190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9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9"/>
          <p:cNvSpPr/>
          <p:nvPr/>
        </p:nvSpPr>
        <p:spPr>
          <a:xfrm>
            <a:off x="35476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3547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9"/>
          <p:cNvSpPr/>
          <p:nvPr/>
        </p:nvSpPr>
        <p:spPr>
          <a:xfrm>
            <a:off x="32428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9"/>
          <p:cNvSpPr/>
          <p:nvPr/>
        </p:nvSpPr>
        <p:spPr>
          <a:xfrm>
            <a:off x="33190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9"/>
          <p:cNvSpPr/>
          <p:nvPr/>
        </p:nvSpPr>
        <p:spPr>
          <a:xfrm>
            <a:off x="32428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9"/>
          <p:cNvSpPr/>
          <p:nvPr/>
        </p:nvSpPr>
        <p:spPr>
          <a:xfrm>
            <a:off x="4233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9"/>
          <p:cNvSpPr/>
          <p:nvPr/>
        </p:nvSpPr>
        <p:spPr>
          <a:xfrm>
            <a:off x="4004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9"/>
          <p:cNvSpPr/>
          <p:nvPr/>
        </p:nvSpPr>
        <p:spPr>
          <a:xfrm>
            <a:off x="41572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9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9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9"/>
          <p:cNvSpPr/>
          <p:nvPr/>
        </p:nvSpPr>
        <p:spPr>
          <a:xfrm>
            <a:off x="39286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9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9"/>
          <p:cNvSpPr/>
          <p:nvPr/>
        </p:nvSpPr>
        <p:spPr>
          <a:xfrm>
            <a:off x="39286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9"/>
          <p:cNvSpPr/>
          <p:nvPr/>
        </p:nvSpPr>
        <p:spPr>
          <a:xfrm>
            <a:off x="4614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9"/>
          <p:cNvSpPr/>
          <p:nvPr/>
        </p:nvSpPr>
        <p:spPr>
          <a:xfrm>
            <a:off x="46906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9"/>
          <p:cNvSpPr/>
          <p:nvPr/>
        </p:nvSpPr>
        <p:spPr>
          <a:xfrm>
            <a:off x="4538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9"/>
          <p:cNvSpPr/>
          <p:nvPr/>
        </p:nvSpPr>
        <p:spPr>
          <a:xfrm>
            <a:off x="4919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9"/>
          <p:cNvSpPr/>
          <p:nvPr/>
        </p:nvSpPr>
        <p:spPr>
          <a:xfrm>
            <a:off x="5300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9"/>
          <p:cNvSpPr/>
          <p:nvPr/>
        </p:nvSpPr>
        <p:spPr>
          <a:xfrm>
            <a:off x="5300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9"/>
          <p:cNvSpPr/>
          <p:nvPr/>
        </p:nvSpPr>
        <p:spPr>
          <a:xfrm>
            <a:off x="6290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9"/>
          <p:cNvSpPr/>
          <p:nvPr/>
        </p:nvSpPr>
        <p:spPr>
          <a:xfrm>
            <a:off x="7052875" y="2068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9"/>
          <p:cNvSpPr/>
          <p:nvPr/>
        </p:nvSpPr>
        <p:spPr>
          <a:xfrm>
            <a:off x="70528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9"/>
          <p:cNvSpPr/>
          <p:nvPr/>
        </p:nvSpPr>
        <p:spPr>
          <a:xfrm>
            <a:off x="68242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9"/>
          <p:cNvSpPr/>
          <p:nvPr/>
        </p:nvSpPr>
        <p:spPr>
          <a:xfrm>
            <a:off x="7738675" y="2068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9"/>
          <p:cNvSpPr/>
          <p:nvPr/>
        </p:nvSpPr>
        <p:spPr>
          <a:xfrm>
            <a:off x="7738675" y="2296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9"/>
          <p:cNvSpPr/>
          <p:nvPr/>
        </p:nvSpPr>
        <p:spPr>
          <a:xfrm>
            <a:off x="75100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9"/>
          <p:cNvSpPr/>
          <p:nvPr/>
        </p:nvSpPr>
        <p:spPr>
          <a:xfrm>
            <a:off x="7662475" y="1306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9"/>
          <p:cNvSpPr/>
          <p:nvPr/>
        </p:nvSpPr>
        <p:spPr>
          <a:xfrm>
            <a:off x="76624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9"/>
          <p:cNvSpPr/>
          <p:nvPr/>
        </p:nvSpPr>
        <p:spPr>
          <a:xfrm>
            <a:off x="74338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9"/>
          <p:cNvSpPr/>
          <p:nvPr/>
        </p:nvSpPr>
        <p:spPr>
          <a:xfrm>
            <a:off x="75862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9"/>
          <p:cNvSpPr/>
          <p:nvPr/>
        </p:nvSpPr>
        <p:spPr>
          <a:xfrm>
            <a:off x="75862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9"/>
          <p:cNvSpPr/>
          <p:nvPr/>
        </p:nvSpPr>
        <p:spPr>
          <a:xfrm>
            <a:off x="73576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9"/>
          <p:cNvSpPr/>
          <p:nvPr/>
        </p:nvSpPr>
        <p:spPr>
          <a:xfrm>
            <a:off x="8348275" y="1306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9"/>
          <p:cNvSpPr/>
          <p:nvPr/>
        </p:nvSpPr>
        <p:spPr>
          <a:xfrm>
            <a:off x="8348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9"/>
          <p:cNvSpPr/>
          <p:nvPr/>
        </p:nvSpPr>
        <p:spPr>
          <a:xfrm>
            <a:off x="81196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9"/>
          <p:cNvSpPr txBox="1"/>
          <p:nvPr/>
        </p:nvSpPr>
        <p:spPr>
          <a:xfrm>
            <a:off x="1807775" y="3427025"/>
            <a:ext cx="57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Resources are renewed over time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can </a:t>
            </a:r>
            <a:r>
              <a:rPr lang="en" sz="1800">
                <a:solidFill>
                  <a:schemeClr val="dk2"/>
                </a:solidFill>
              </a:rPr>
              <a:t>increase</a:t>
            </a:r>
            <a:r>
              <a:rPr lang="en" sz="1800">
                <a:solidFill>
                  <a:schemeClr val="dk2"/>
                </a:solidFill>
              </a:rPr>
              <a:t> intraspecific competition vs interspecific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556" name="Google Shape;556;p50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7" name="Google Shape;557;p50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8" name="Google Shape;558;p50"/>
          <p:cNvCxnSpPr>
            <a:stCxn id="557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9" name="Google Shape;559;p50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0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0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0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0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0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0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0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0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0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0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0"/>
          <p:cNvSpPr/>
          <p:nvPr/>
        </p:nvSpPr>
        <p:spPr>
          <a:xfrm>
            <a:off x="2861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0"/>
          <p:cNvSpPr/>
          <p:nvPr/>
        </p:nvSpPr>
        <p:spPr>
          <a:xfrm>
            <a:off x="33190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0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0"/>
          <p:cNvSpPr/>
          <p:nvPr/>
        </p:nvSpPr>
        <p:spPr>
          <a:xfrm>
            <a:off x="3547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0"/>
          <p:cNvSpPr/>
          <p:nvPr/>
        </p:nvSpPr>
        <p:spPr>
          <a:xfrm>
            <a:off x="32428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0"/>
          <p:cNvSpPr/>
          <p:nvPr/>
        </p:nvSpPr>
        <p:spPr>
          <a:xfrm>
            <a:off x="32428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0"/>
          <p:cNvSpPr/>
          <p:nvPr/>
        </p:nvSpPr>
        <p:spPr>
          <a:xfrm>
            <a:off x="4233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/>
          <p:nvPr/>
        </p:nvSpPr>
        <p:spPr>
          <a:xfrm>
            <a:off x="4004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0"/>
          <p:cNvSpPr/>
          <p:nvPr/>
        </p:nvSpPr>
        <p:spPr>
          <a:xfrm>
            <a:off x="41572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0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0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0"/>
          <p:cNvSpPr/>
          <p:nvPr/>
        </p:nvSpPr>
        <p:spPr>
          <a:xfrm>
            <a:off x="39286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0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0"/>
          <p:cNvSpPr/>
          <p:nvPr/>
        </p:nvSpPr>
        <p:spPr>
          <a:xfrm>
            <a:off x="39286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0"/>
          <p:cNvSpPr/>
          <p:nvPr/>
        </p:nvSpPr>
        <p:spPr>
          <a:xfrm>
            <a:off x="4614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0"/>
          <p:cNvSpPr/>
          <p:nvPr/>
        </p:nvSpPr>
        <p:spPr>
          <a:xfrm>
            <a:off x="46906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0"/>
          <p:cNvSpPr/>
          <p:nvPr/>
        </p:nvSpPr>
        <p:spPr>
          <a:xfrm>
            <a:off x="4538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0"/>
          <p:cNvSpPr/>
          <p:nvPr/>
        </p:nvSpPr>
        <p:spPr>
          <a:xfrm>
            <a:off x="4919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0"/>
          <p:cNvSpPr/>
          <p:nvPr/>
        </p:nvSpPr>
        <p:spPr>
          <a:xfrm>
            <a:off x="5300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0"/>
          <p:cNvSpPr/>
          <p:nvPr/>
        </p:nvSpPr>
        <p:spPr>
          <a:xfrm>
            <a:off x="5300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0"/>
          <p:cNvSpPr/>
          <p:nvPr/>
        </p:nvSpPr>
        <p:spPr>
          <a:xfrm>
            <a:off x="6062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1807775" y="3427025"/>
            <a:ext cx="57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Resources are renewed rarely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dominance by one competitor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Niche Partitioning </a:t>
            </a:r>
            <a:endParaRPr/>
          </a:p>
        </p:txBody>
      </p:sp>
      <p:graphicFrame>
        <p:nvGraphicFramePr>
          <p:cNvPr id="597" name="Google Shape;597;p51"/>
          <p:cNvGraphicFramePr/>
          <p:nvPr/>
        </p:nvGraphicFramePr>
        <p:xfrm>
          <a:off x="311700" y="127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{9ED9E6F5-B275-4C07-A761-71AFACBA48CE}</a:tableStyleId>
              </a:tblPr>
              <a:tblGrid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  <a:gridCol w="699650"/>
              </a:tblGrid>
              <a:tr h="138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98" name="Google Shape;598;p51"/>
          <p:cNvSpPr txBox="1"/>
          <p:nvPr/>
        </p:nvSpPr>
        <p:spPr>
          <a:xfrm>
            <a:off x="398850" y="2772175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9" name="Google Shape;599;p51"/>
          <p:cNvCxnSpPr>
            <a:stCxn id="598" idx="3"/>
          </p:cNvCxnSpPr>
          <p:nvPr/>
        </p:nvCxnSpPr>
        <p:spPr>
          <a:xfrm flipH="1" rot="10800000">
            <a:off x="1132950" y="3000325"/>
            <a:ext cx="71340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51"/>
          <p:cNvSpPr/>
          <p:nvPr/>
        </p:nvSpPr>
        <p:spPr>
          <a:xfrm rot="1806979">
            <a:off x="4835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1"/>
          <p:cNvSpPr/>
          <p:nvPr/>
        </p:nvSpPr>
        <p:spPr>
          <a:xfrm rot="-8992804">
            <a:off x="4696310" y="20171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1"/>
          <p:cNvSpPr/>
          <p:nvPr/>
        </p:nvSpPr>
        <p:spPr>
          <a:xfrm rot="-8992804">
            <a:off x="5382110" y="17123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1"/>
          <p:cNvSpPr/>
          <p:nvPr/>
        </p:nvSpPr>
        <p:spPr>
          <a:xfrm rot="-8992804">
            <a:off x="60679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1"/>
          <p:cNvSpPr/>
          <p:nvPr/>
        </p:nvSpPr>
        <p:spPr>
          <a:xfrm rot="-8992804">
            <a:off x="5458310" y="2169552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1"/>
          <p:cNvSpPr/>
          <p:nvPr/>
        </p:nvSpPr>
        <p:spPr>
          <a:xfrm rot="1806979">
            <a:off x="8332178" y="17645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1"/>
          <p:cNvSpPr/>
          <p:nvPr/>
        </p:nvSpPr>
        <p:spPr>
          <a:xfrm rot="1806979">
            <a:off x="635978" y="20693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1"/>
          <p:cNvSpPr/>
          <p:nvPr/>
        </p:nvSpPr>
        <p:spPr>
          <a:xfrm rot="1806979">
            <a:off x="1169378" y="22217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1"/>
          <p:cNvSpPr/>
          <p:nvPr/>
        </p:nvSpPr>
        <p:spPr>
          <a:xfrm rot="1806979">
            <a:off x="1093178" y="1535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1"/>
          <p:cNvSpPr/>
          <p:nvPr/>
        </p:nvSpPr>
        <p:spPr>
          <a:xfrm rot="1806979">
            <a:off x="11693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1"/>
          <p:cNvSpPr/>
          <p:nvPr/>
        </p:nvSpPr>
        <p:spPr>
          <a:xfrm rot="1806979">
            <a:off x="1855178" y="191690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1"/>
          <p:cNvSpPr/>
          <p:nvPr/>
        </p:nvSpPr>
        <p:spPr>
          <a:xfrm>
            <a:off x="28618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1"/>
          <p:cNvSpPr/>
          <p:nvPr/>
        </p:nvSpPr>
        <p:spPr>
          <a:xfrm>
            <a:off x="3319075" y="1991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1"/>
          <p:cNvSpPr/>
          <p:nvPr/>
        </p:nvSpPr>
        <p:spPr>
          <a:xfrm>
            <a:off x="34714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1"/>
          <p:cNvSpPr/>
          <p:nvPr/>
        </p:nvSpPr>
        <p:spPr>
          <a:xfrm>
            <a:off x="3547675" y="1763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1"/>
          <p:cNvSpPr/>
          <p:nvPr/>
        </p:nvSpPr>
        <p:spPr>
          <a:xfrm>
            <a:off x="32428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1"/>
          <p:cNvSpPr/>
          <p:nvPr/>
        </p:nvSpPr>
        <p:spPr>
          <a:xfrm>
            <a:off x="3242875" y="2220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1"/>
          <p:cNvSpPr/>
          <p:nvPr/>
        </p:nvSpPr>
        <p:spPr>
          <a:xfrm>
            <a:off x="4233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1"/>
          <p:cNvSpPr/>
          <p:nvPr/>
        </p:nvSpPr>
        <p:spPr>
          <a:xfrm>
            <a:off x="4004875" y="1915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1"/>
          <p:cNvSpPr/>
          <p:nvPr/>
        </p:nvSpPr>
        <p:spPr>
          <a:xfrm>
            <a:off x="41572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1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51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1"/>
          <p:cNvSpPr/>
          <p:nvPr/>
        </p:nvSpPr>
        <p:spPr>
          <a:xfrm>
            <a:off x="3928675" y="2372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1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1"/>
          <p:cNvSpPr/>
          <p:nvPr/>
        </p:nvSpPr>
        <p:spPr>
          <a:xfrm>
            <a:off x="3928675" y="21443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1"/>
          <p:cNvSpPr/>
          <p:nvPr/>
        </p:nvSpPr>
        <p:spPr>
          <a:xfrm>
            <a:off x="46144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1"/>
          <p:cNvSpPr/>
          <p:nvPr/>
        </p:nvSpPr>
        <p:spPr>
          <a:xfrm>
            <a:off x="46906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1"/>
          <p:cNvSpPr/>
          <p:nvPr/>
        </p:nvSpPr>
        <p:spPr>
          <a:xfrm>
            <a:off x="4538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1"/>
          <p:cNvSpPr/>
          <p:nvPr/>
        </p:nvSpPr>
        <p:spPr>
          <a:xfrm>
            <a:off x="4919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51"/>
          <p:cNvSpPr/>
          <p:nvPr/>
        </p:nvSpPr>
        <p:spPr>
          <a:xfrm>
            <a:off x="5300275" y="2449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1"/>
          <p:cNvSpPr/>
          <p:nvPr/>
        </p:nvSpPr>
        <p:spPr>
          <a:xfrm>
            <a:off x="5300275" y="15347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1"/>
          <p:cNvSpPr/>
          <p:nvPr/>
        </p:nvSpPr>
        <p:spPr>
          <a:xfrm>
            <a:off x="6062275" y="1839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1"/>
          <p:cNvSpPr txBox="1"/>
          <p:nvPr/>
        </p:nvSpPr>
        <p:spPr>
          <a:xfrm>
            <a:off x="1807775" y="3427025"/>
            <a:ext cx="57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Resources are renewed rarely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dominance by one competitor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3" name="Google Shape;633;p51"/>
          <p:cNvSpPr/>
          <p:nvPr/>
        </p:nvSpPr>
        <p:spPr>
          <a:xfrm>
            <a:off x="4233475" y="14585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1"/>
          <p:cNvSpPr/>
          <p:nvPr/>
        </p:nvSpPr>
        <p:spPr>
          <a:xfrm>
            <a:off x="4233475" y="16871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1"/>
          <p:cNvSpPr/>
          <p:nvPr/>
        </p:nvSpPr>
        <p:spPr>
          <a:xfrm>
            <a:off x="4004875" y="1610925"/>
            <a:ext cx="158700" cy="13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/>
          <p:nvPr/>
        </p:nvSpPr>
        <p:spPr>
          <a:xfrm>
            <a:off x="8230000" y="15474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1"/>
          <p:cNvSpPr/>
          <p:nvPr/>
        </p:nvSpPr>
        <p:spPr>
          <a:xfrm>
            <a:off x="381400" y="15474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1"/>
          <p:cNvSpPr/>
          <p:nvPr/>
        </p:nvSpPr>
        <p:spPr>
          <a:xfrm>
            <a:off x="533800" y="19284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1"/>
          <p:cNvSpPr/>
          <p:nvPr/>
        </p:nvSpPr>
        <p:spPr>
          <a:xfrm>
            <a:off x="1067200" y="20046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1"/>
          <p:cNvSpPr/>
          <p:nvPr/>
        </p:nvSpPr>
        <p:spPr>
          <a:xfrm>
            <a:off x="991000" y="16998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1"/>
          <p:cNvSpPr/>
          <p:nvPr/>
        </p:nvSpPr>
        <p:spPr>
          <a:xfrm>
            <a:off x="991000" y="13188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1"/>
          <p:cNvSpPr/>
          <p:nvPr/>
        </p:nvSpPr>
        <p:spPr>
          <a:xfrm>
            <a:off x="1753000" y="1699825"/>
            <a:ext cx="444300" cy="572700"/>
          </a:xfrm>
          <a:prstGeom prst="mathMultiply">
            <a:avLst>
              <a:gd fmla="val 8109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Nonlinearity of competition</a:t>
            </a:r>
            <a:endParaRPr/>
          </a:p>
        </p:txBody>
      </p:sp>
      <p:grpSp>
        <p:nvGrpSpPr>
          <p:cNvPr id="653" name="Google Shape;653;p53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654" name="Google Shape;654;p53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53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6" name="Google Shape;656;p53"/>
          <p:cNvSpPr txBox="1"/>
          <p:nvPr/>
        </p:nvSpPr>
        <p:spPr>
          <a:xfrm>
            <a:off x="788975" y="3808025"/>
            <a:ext cx="284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high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57" name="Google Shape;657;p53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53"/>
          <p:cNvSpPr txBox="1"/>
          <p:nvPr/>
        </p:nvSpPr>
        <p:spPr>
          <a:xfrm rot="-5400000">
            <a:off x="-868075" y="2102375"/>
            <a:ext cx="26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low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664" name="Google Shape;664;p54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665" name="Google Shape;665;p54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54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7" name="Google Shape;667;p54"/>
          <p:cNvSpPr txBox="1"/>
          <p:nvPr/>
        </p:nvSpPr>
        <p:spPr>
          <a:xfrm>
            <a:off x="788975" y="3808025"/>
            <a:ext cx="284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high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68" name="Google Shape;668;p54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54"/>
          <p:cNvSpPr txBox="1"/>
          <p:nvPr/>
        </p:nvSpPr>
        <p:spPr>
          <a:xfrm rot="-5400000">
            <a:off x="-868075" y="2102375"/>
            <a:ext cx="26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Relative</a:t>
            </a:r>
            <a:r>
              <a:rPr lang="en" sz="1800">
                <a:solidFill>
                  <a:schemeClr val="dk2"/>
                </a:solidFill>
              </a:rPr>
              <a:t> dominance at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low</a:t>
            </a:r>
            <a:r>
              <a:rPr lang="en" sz="1800">
                <a:solidFill>
                  <a:schemeClr val="dk2"/>
                </a:solidFill>
              </a:rPr>
              <a:t> resource values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70" name="Google Shape;670;p54"/>
          <p:cNvGrpSpPr/>
          <p:nvPr/>
        </p:nvGrpSpPr>
        <p:grpSpPr>
          <a:xfrm>
            <a:off x="5622725" y="1555525"/>
            <a:ext cx="3092100" cy="2156700"/>
            <a:chOff x="517325" y="2088925"/>
            <a:chExt cx="3092100" cy="2156700"/>
          </a:xfrm>
        </p:grpSpPr>
        <p:cxnSp>
          <p:nvCxnSpPr>
            <p:cNvPr id="671" name="Google Shape;671;p54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54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3" name="Google Shape;673;p54"/>
          <p:cNvSpPr txBox="1"/>
          <p:nvPr/>
        </p:nvSpPr>
        <p:spPr>
          <a:xfrm>
            <a:off x="56657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4" name="Google Shape;674;p54"/>
          <p:cNvSpPr txBox="1"/>
          <p:nvPr/>
        </p:nvSpPr>
        <p:spPr>
          <a:xfrm rot="-5400000">
            <a:off x="4641875" y="2340900"/>
            <a:ext cx="15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Growth rate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5" name="Google Shape;675;p54"/>
          <p:cNvSpPr/>
          <p:nvPr/>
        </p:nvSpPr>
        <p:spPr>
          <a:xfrm>
            <a:off x="6480975" y="1770050"/>
            <a:ext cx="1696539" cy="1805800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B6D7A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6" name="Google Shape;676;p54"/>
          <p:cNvSpPr/>
          <p:nvPr/>
        </p:nvSpPr>
        <p:spPr>
          <a:xfrm>
            <a:off x="5947575" y="2464600"/>
            <a:ext cx="2230010" cy="1187494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7" name="Google Shape;677;p54"/>
          <p:cNvSpPr/>
          <p:nvPr/>
        </p:nvSpPr>
        <p:spPr>
          <a:xfrm>
            <a:off x="6938175" y="1261950"/>
            <a:ext cx="1239346" cy="2313952"/>
          </a:xfrm>
          <a:custGeom>
            <a:rect b="b" l="l" r="r" t="t"/>
            <a:pathLst>
              <a:path extrusionOk="0" h="72232" w="95647">
                <a:moveTo>
                  <a:pt x="0" y="72232"/>
                </a:moveTo>
                <a:cubicBezTo>
                  <a:pt x="2778" y="65882"/>
                  <a:pt x="7012" y="44782"/>
                  <a:pt x="16669" y="34132"/>
                </a:cubicBezTo>
                <a:cubicBezTo>
                  <a:pt x="26326" y="23483"/>
                  <a:pt x="44781" y="14024"/>
                  <a:pt x="57944" y="8335"/>
                </a:cubicBezTo>
                <a:cubicBezTo>
                  <a:pt x="71107" y="2646"/>
                  <a:pt x="89363" y="1389"/>
                  <a:pt x="95647" y="0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683" name="Google Shape;683;p55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684" name="Google Shape;684;p55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55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6" name="Google Shape;686;p55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7" name="Google Shape;687;p55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8" name="Google Shape;688;p55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694" name="Google Shape;694;p56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695" name="Google Shape;695;p56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56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7" name="Google Shape;697;p56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8" name="Google Shape;698;p56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9" name="Google Shape;699;p56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0" name="Google Shape;700;p56"/>
          <p:cNvSpPr/>
          <p:nvPr/>
        </p:nvSpPr>
        <p:spPr>
          <a:xfrm rot="-8992804">
            <a:off x="2592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"/>
          <p:cNvSpPr/>
          <p:nvPr/>
        </p:nvSpPr>
        <p:spPr>
          <a:xfrm rot="1806979">
            <a:off x="1507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6"/>
          <p:cNvSpPr/>
          <p:nvPr/>
        </p:nvSpPr>
        <p:spPr>
          <a:xfrm rot="1806979">
            <a:off x="1888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/>
          <p:nvPr/>
        </p:nvSpPr>
        <p:spPr>
          <a:xfrm rot="-8992804">
            <a:off x="3050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6"/>
          <p:cNvSpPr/>
          <p:nvPr/>
        </p:nvSpPr>
        <p:spPr>
          <a:xfrm rot="-8992804">
            <a:off x="4878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6"/>
          <p:cNvSpPr/>
          <p:nvPr/>
        </p:nvSpPr>
        <p:spPr>
          <a:xfrm rot="-8992804">
            <a:off x="5336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6"/>
          <p:cNvSpPr/>
          <p:nvPr/>
        </p:nvSpPr>
        <p:spPr>
          <a:xfrm rot="-8992804">
            <a:off x="67838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/>
          <p:nvPr/>
        </p:nvSpPr>
        <p:spPr>
          <a:xfrm rot="-8992804">
            <a:off x="72410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6"/>
          <p:cNvSpPr/>
          <p:nvPr/>
        </p:nvSpPr>
        <p:spPr>
          <a:xfrm rot="-8992804">
            <a:off x="80030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6"/>
          <p:cNvSpPr/>
          <p:nvPr/>
        </p:nvSpPr>
        <p:spPr>
          <a:xfrm rot="-8992804">
            <a:off x="84602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6"/>
          <p:cNvSpPr/>
          <p:nvPr/>
        </p:nvSpPr>
        <p:spPr>
          <a:xfrm rot="1806979">
            <a:off x="3870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6"/>
          <p:cNvSpPr/>
          <p:nvPr/>
        </p:nvSpPr>
        <p:spPr>
          <a:xfrm rot="1806979">
            <a:off x="4251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6"/>
          <p:cNvSpPr/>
          <p:nvPr/>
        </p:nvSpPr>
        <p:spPr>
          <a:xfrm rot="1806979">
            <a:off x="5851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6"/>
          <p:cNvSpPr/>
          <p:nvPr/>
        </p:nvSpPr>
        <p:spPr>
          <a:xfrm rot="1806979">
            <a:off x="6232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6"/>
          <p:cNvSpPr/>
          <p:nvPr/>
        </p:nvSpPr>
        <p:spPr>
          <a:xfrm rot="1806979">
            <a:off x="7527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/>
          <p:nvPr/>
        </p:nvSpPr>
        <p:spPr>
          <a:xfrm rot="1806979">
            <a:off x="7908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6"/>
          <p:cNvSpPr/>
          <p:nvPr/>
        </p:nvSpPr>
        <p:spPr>
          <a:xfrm rot="1806979">
            <a:off x="2879503" y="2136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6"/>
          <p:cNvSpPr/>
          <p:nvPr/>
        </p:nvSpPr>
        <p:spPr>
          <a:xfrm rot="-8992804">
            <a:off x="6021860" y="3278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6"/>
          <p:cNvSpPr/>
          <p:nvPr/>
        </p:nvSpPr>
        <p:spPr>
          <a:xfrm rot="-8992804">
            <a:off x="7698260" y="3202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/>
          <p:nvPr/>
        </p:nvSpPr>
        <p:spPr>
          <a:xfrm rot="1806979">
            <a:off x="64609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6"/>
          <p:cNvSpPr/>
          <p:nvPr/>
        </p:nvSpPr>
        <p:spPr>
          <a:xfrm rot="1806979">
            <a:off x="5165503" y="1527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6"/>
          <p:cNvSpPr/>
          <p:nvPr/>
        </p:nvSpPr>
        <p:spPr>
          <a:xfrm rot="1806979">
            <a:off x="7070503" y="1450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6"/>
          <p:cNvSpPr/>
          <p:nvPr/>
        </p:nvSpPr>
        <p:spPr>
          <a:xfrm rot="1806979">
            <a:off x="8289703" y="1831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6"/>
          <p:cNvSpPr/>
          <p:nvPr/>
        </p:nvSpPr>
        <p:spPr>
          <a:xfrm rot="-8992804">
            <a:off x="2821460" y="1373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6"/>
          <p:cNvSpPr/>
          <p:nvPr/>
        </p:nvSpPr>
        <p:spPr>
          <a:xfrm rot="-8992804">
            <a:off x="40406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6"/>
          <p:cNvSpPr/>
          <p:nvPr/>
        </p:nvSpPr>
        <p:spPr>
          <a:xfrm rot="-8992804">
            <a:off x="16784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6"/>
          <p:cNvSpPr/>
          <p:nvPr/>
        </p:nvSpPr>
        <p:spPr>
          <a:xfrm rot="-8992804">
            <a:off x="8231660" y="1068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6"/>
          <p:cNvSpPr/>
          <p:nvPr/>
        </p:nvSpPr>
        <p:spPr>
          <a:xfrm rot="1806979">
            <a:off x="44035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7"/>
          <p:cNvSpPr txBox="1"/>
          <p:nvPr/>
        </p:nvSpPr>
        <p:spPr>
          <a:xfrm>
            <a:off x="69000" y="45730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Effect on Resources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3" name="Google Shape;73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</a:t>
            </a:r>
            <a:r>
              <a:rPr lang="en"/>
              <a:t>Nonlinearity</a:t>
            </a:r>
            <a:r>
              <a:rPr lang="en"/>
              <a:t> of competition</a:t>
            </a:r>
            <a:endParaRPr/>
          </a:p>
        </p:txBody>
      </p:sp>
      <p:grpSp>
        <p:nvGrpSpPr>
          <p:cNvPr id="734" name="Google Shape;734;p57"/>
          <p:cNvGrpSpPr/>
          <p:nvPr/>
        </p:nvGrpSpPr>
        <p:grpSpPr>
          <a:xfrm>
            <a:off x="745920" y="1555602"/>
            <a:ext cx="7620171" cy="2119605"/>
            <a:chOff x="517325" y="2088925"/>
            <a:chExt cx="3092100" cy="2156700"/>
          </a:xfrm>
        </p:grpSpPr>
        <p:cxnSp>
          <p:nvCxnSpPr>
            <p:cNvPr id="735" name="Google Shape;735;p57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6" name="Google Shape;736;p57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7" name="Google Shape;737;p57"/>
          <p:cNvSpPr txBox="1"/>
          <p:nvPr/>
        </p:nvSpPr>
        <p:spPr>
          <a:xfrm>
            <a:off x="788975" y="3808025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57"/>
          <p:cNvSpPr txBox="1"/>
          <p:nvPr/>
        </p:nvSpPr>
        <p:spPr>
          <a:xfrm rot="-5400000">
            <a:off x="-917375" y="2252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 Availability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9" name="Google Shape;739;p57"/>
          <p:cNvSpPr/>
          <p:nvPr/>
        </p:nvSpPr>
        <p:spPr>
          <a:xfrm>
            <a:off x="984250" y="1691060"/>
            <a:ext cx="7620000" cy="1448400"/>
          </a:xfrm>
          <a:custGeom>
            <a:rect b="b" l="l" r="r" t="t"/>
            <a:pathLst>
              <a:path extrusionOk="0" h="57936" w="304800">
                <a:moveTo>
                  <a:pt x="0" y="13082"/>
                </a:moveTo>
                <a:cubicBezTo>
                  <a:pt x="6019" y="20557"/>
                  <a:pt x="23085" y="58061"/>
                  <a:pt x="36116" y="57929"/>
                </a:cubicBezTo>
                <a:cubicBezTo>
                  <a:pt x="49147" y="57797"/>
                  <a:pt x="63367" y="13083"/>
                  <a:pt x="78184" y="12289"/>
                </a:cubicBezTo>
                <a:cubicBezTo>
                  <a:pt x="93001" y="11495"/>
                  <a:pt x="109207" y="52704"/>
                  <a:pt x="125016" y="53167"/>
                </a:cubicBezTo>
                <a:cubicBezTo>
                  <a:pt x="140825" y="53630"/>
                  <a:pt x="159477" y="15927"/>
                  <a:pt x="173037" y="15067"/>
                </a:cubicBezTo>
                <a:cubicBezTo>
                  <a:pt x="186597" y="14207"/>
                  <a:pt x="193410" y="48602"/>
                  <a:pt x="206375" y="48007"/>
                </a:cubicBezTo>
                <a:cubicBezTo>
                  <a:pt x="219340" y="47412"/>
                  <a:pt x="239646" y="12421"/>
                  <a:pt x="250825" y="11495"/>
                </a:cubicBezTo>
                <a:cubicBezTo>
                  <a:pt x="262004" y="10569"/>
                  <a:pt x="266039" y="44171"/>
                  <a:pt x="273447" y="42451"/>
                </a:cubicBezTo>
                <a:cubicBezTo>
                  <a:pt x="280855" y="40731"/>
                  <a:pt x="290050" y="6269"/>
                  <a:pt x="295275" y="1176"/>
                </a:cubicBezTo>
                <a:cubicBezTo>
                  <a:pt x="300501" y="-3917"/>
                  <a:pt x="303213" y="10106"/>
                  <a:pt x="304800" y="118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0" name="Google Shape;740;p57"/>
          <p:cNvSpPr/>
          <p:nvPr/>
        </p:nvSpPr>
        <p:spPr>
          <a:xfrm rot="-8992804">
            <a:off x="2592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7"/>
          <p:cNvSpPr/>
          <p:nvPr/>
        </p:nvSpPr>
        <p:spPr>
          <a:xfrm rot="1806979">
            <a:off x="1507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7"/>
          <p:cNvSpPr/>
          <p:nvPr/>
        </p:nvSpPr>
        <p:spPr>
          <a:xfrm rot="1806979">
            <a:off x="18889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7"/>
          <p:cNvSpPr/>
          <p:nvPr/>
        </p:nvSpPr>
        <p:spPr>
          <a:xfrm rot="-8992804">
            <a:off x="3050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7"/>
          <p:cNvSpPr/>
          <p:nvPr/>
        </p:nvSpPr>
        <p:spPr>
          <a:xfrm rot="-8992804">
            <a:off x="48788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7"/>
          <p:cNvSpPr/>
          <p:nvPr/>
        </p:nvSpPr>
        <p:spPr>
          <a:xfrm rot="-8992804">
            <a:off x="5336060" y="1754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7"/>
          <p:cNvSpPr/>
          <p:nvPr/>
        </p:nvSpPr>
        <p:spPr>
          <a:xfrm rot="-8992804">
            <a:off x="67838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7"/>
          <p:cNvSpPr/>
          <p:nvPr/>
        </p:nvSpPr>
        <p:spPr>
          <a:xfrm rot="-8992804">
            <a:off x="7241060" y="1678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7"/>
          <p:cNvSpPr/>
          <p:nvPr/>
        </p:nvSpPr>
        <p:spPr>
          <a:xfrm rot="-8992804">
            <a:off x="80030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7"/>
          <p:cNvSpPr/>
          <p:nvPr/>
        </p:nvSpPr>
        <p:spPr>
          <a:xfrm rot="-8992804">
            <a:off x="8460260" y="1449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7"/>
          <p:cNvSpPr/>
          <p:nvPr/>
        </p:nvSpPr>
        <p:spPr>
          <a:xfrm rot="1806979">
            <a:off x="3870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7"/>
          <p:cNvSpPr/>
          <p:nvPr/>
        </p:nvSpPr>
        <p:spPr>
          <a:xfrm rot="1806979">
            <a:off x="4251103" y="31273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7"/>
          <p:cNvSpPr/>
          <p:nvPr/>
        </p:nvSpPr>
        <p:spPr>
          <a:xfrm rot="1806979">
            <a:off x="5851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7"/>
          <p:cNvSpPr/>
          <p:nvPr/>
        </p:nvSpPr>
        <p:spPr>
          <a:xfrm rot="1806979">
            <a:off x="6232303" y="3051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7"/>
          <p:cNvSpPr/>
          <p:nvPr/>
        </p:nvSpPr>
        <p:spPr>
          <a:xfrm rot="1806979">
            <a:off x="7527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7"/>
          <p:cNvSpPr/>
          <p:nvPr/>
        </p:nvSpPr>
        <p:spPr>
          <a:xfrm rot="1806979">
            <a:off x="7908703" y="2898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7"/>
          <p:cNvSpPr/>
          <p:nvPr/>
        </p:nvSpPr>
        <p:spPr>
          <a:xfrm rot="1806979">
            <a:off x="2879503" y="21367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7"/>
          <p:cNvSpPr/>
          <p:nvPr/>
        </p:nvSpPr>
        <p:spPr>
          <a:xfrm rot="-8992804">
            <a:off x="6021860" y="3278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57"/>
          <p:cNvSpPr/>
          <p:nvPr/>
        </p:nvSpPr>
        <p:spPr>
          <a:xfrm rot="-8992804">
            <a:off x="7698260" y="32022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7"/>
          <p:cNvSpPr/>
          <p:nvPr/>
        </p:nvSpPr>
        <p:spPr>
          <a:xfrm rot="1806979">
            <a:off x="64609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7"/>
          <p:cNvSpPr/>
          <p:nvPr/>
        </p:nvSpPr>
        <p:spPr>
          <a:xfrm rot="1806979">
            <a:off x="5165503" y="15271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7"/>
          <p:cNvSpPr/>
          <p:nvPr/>
        </p:nvSpPr>
        <p:spPr>
          <a:xfrm rot="1806979">
            <a:off x="7070503" y="1450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7"/>
          <p:cNvSpPr/>
          <p:nvPr/>
        </p:nvSpPr>
        <p:spPr>
          <a:xfrm rot="1806979">
            <a:off x="8289703" y="1831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7"/>
          <p:cNvSpPr/>
          <p:nvPr/>
        </p:nvSpPr>
        <p:spPr>
          <a:xfrm rot="-8992804">
            <a:off x="2821460" y="13734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7"/>
          <p:cNvSpPr/>
          <p:nvPr/>
        </p:nvSpPr>
        <p:spPr>
          <a:xfrm rot="-8992804">
            <a:off x="40406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57"/>
          <p:cNvSpPr/>
          <p:nvPr/>
        </p:nvSpPr>
        <p:spPr>
          <a:xfrm rot="-8992804">
            <a:off x="1678460" y="3354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7"/>
          <p:cNvSpPr/>
          <p:nvPr/>
        </p:nvSpPr>
        <p:spPr>
          <a:xfrm rot="-8992804">
            <a:off x="8231660" y="10686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7"/>
          <p:cNvSpPr/>
          <p:nvPr/>
        </p:nvSpPr>
        <p:spPr>
          <a:xfrm rot="-8992804">
            <a:off x="3583460" y="4650077"/>
            <a:ext cx="335385" cy="307550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8" name="Google Shape;768;p57"/>
          <p:cNvCxnSpPr/>
          <p:nvPr/>
        </p:nvCxnSpPr>
        <p:spPr>
          <a:xfrm rot="10800000">
            <a:off x="2857500" y="4429125"/>
            <a:ext cx="0" cy="40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57"/>
          <p:cNvCxnSpPr/>
          <p:nvPr/>
        </p:nvCxnSpPr>
        <p:spPr>
          <a:xfrm rot="10800000">
            <a:off x="4076700" y="4429125"/>
            <a:ext cx="0" cy="40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70" name="Google Shape;770;p57"/>
          <p:cNvSpPr/>
          <p:nvPr/>
        </p:nvSpPr>
        <p:spPr>
          <a:xfrm rot="1806979">
            <a:off x="2498503" y="47275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7"/>
          <p:cNvSpPr/>
          <p:nvPr/>
        </p:nvSpPr>
        <p:spPr>
          <a:xfrm rot="1806979">
            <a:off x="4403503" y="3355951"/>
            <a:ext cx="229593" cy="203248"/>
          </a:xfrm>
          <a:prstGeom prst="pie">
            <a:avLst>
              <a:gd fmla="val 0" name="adj1"/>
              <a:gd fmla="val 18544509" name="adj2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sp>
        <p:nvSpPr>
          <p:cNvPr id="782" name="Google Shape;78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differ in the environment they do best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they can persist through sub-optimal conditions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(Note that there is a spatial version of this as well)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788" name="Google Shape;788;p60"/>
          <p:cNvGrpSpPr/>
          <p:nvPr/>
        </p:nvGrpSpPr>
        <p:grpSpPr>
          <a:xfrm>
            <a:off x="745925" y="1555525"/>
            <a:ext cx="3092100" cy="2156700"/>
            <a:chOff x="517325" y="2088925"/>
            <a:chExt cx="3092100" cy="2156700"/>
          </a:xfrm>
        </p:grpSpPr>
        <p:cxnSp>
          <p:nvCxnSpPr>
            <p:cNvPr id="789" name="Google Shape;789;p60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60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1" name="Google Shape;791;p60"/>
          <p:cNvSpPr txBox="1"/>
          <p:nvPr/>
        </p:nvSpPr>
        <p:spPr>
          <a:xfrm>
            <a:off x="788975" y="3808025"/>
            <a:ext cx="318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Tolerance to low resources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92" name="Google Shape;792;p60"/>
          <p:cNvCxnSpPr/>
          <p:nvPr/>
        </p:nvCxnSpPr>
        <p:spPr>
          <a:xfrm>
            <a:off x="861100" y="1640950"/>
            <a:ext cx="2775000" cy="1942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3" name="Google Shape;793;p60"/>
          <p:cNvSpPr txBox="1"/>
          <p:nvPr/>
        </p:nvSpPr>
        <p:spPr>
          <a:xfrm rot="-5400000">
            <a:off x="-1006675" y="2240975"/>
            <a:ext cx="26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Relative Growth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799" name="Google Shape;799;p61"/>
          <p:cNvGrpSpPr/>
          <p:nvPr/>
        </p:nvGrpSpPr>
        <p:grpSpPr>
          <a:xfrm>
            <a:off x="745924" y="1113148"/>
            <a:ext cx="7620171" cy="1418893"/>
            <a:chOff x="517325" y="2088925"/>
            <a:chExt cx="3092100" cy="2156700"/>
          </a:xfrm>
        </p:grpSpPr>
        <p:cxnSp>
          <p:nvCxnSpPr>
            <p:cNvPr id="800" name="Google Shape;800;p61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61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2" name="Google Shape;802;p61"/>
          <p:cNvSpPr txBox="1"/>
          <p:nvPr/>
        </p:nvSpPr>
        <p:spPr>
          <a:xfrm>
            <a:off x="745925" y="46656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3" name="Google Shape;803;p61"/>
          <p:cNvSpPr txBox="1"/>
          <p:nvPr/>
        </p:nvSpPr>
        <p:spPr>
          <a:xfrm rot="-5400000">
            <a:off x="-384850" y="1311875"/>
            <a:ext cx="175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Mean Annual </a:t>
            </a:r>
            <a:r>
              <a:rPr b="1" lang="en" sz="1800">
                <a:solidFill>
                  <a:schemeClr val="dk2"/>
                </a:solidFill>
              </a:rPr>
              <a:t>Precipitation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04" name="Google Shape;804;p61"/>
          <p:cNvGrpSpPr/>
          <p:nvPr/>
        </p:nvGrpSpPr>
        <p:grpSpPr>
          <a:xfrm>
            <a:off x="745924" y="2652585"/>
            <a:ext cx="7620171" cy="870013"/>
            <a:chOff x="517325" y="2088925"/>
            <a:chExt cx="3092100" cy="2156700"/>
          </a:xfrm>
        </p:grpSpPr>
        <p:cxnSp>
          <p:nvCxnSpPr>
            <p:cNvPr id="805" name="Google Shape;805;p61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61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7" name="Google Shape;807;p61"/>
          <p:cNvGrpSpPr/>
          <p:nvPr/>
        </p:nvGrpSpPr>
        <p:grpSpPr>
          <a:xfrm>
            <a:off x="745924" y="3795585"/>
            <a:ext cx="7620171" cy="870013"/>
            <a:chOff x="517325" y="2088925"/>
            <a:chExt cx="3092100" cy="2156700"/>
          </a:xfrm>
        </p:grpSpPr>
        <p:cxnSp>
          <p:nvCxnSpPr>
            <p:cNvPr id="808" name="Google Shape;808;p61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61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0" name="Google Shape;810;p61"/>
          <p:cNvSpPr txBox="1"/>
          <p:nvPr/>
        </p:nvSpPr>
        <p:spPr>
          <a:xfrm rot="-5400000">
            <a:off x="9925" y="2799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Adults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1" name="Google Shape;811;p61"/>
          <p:cNvSpPr txBox="1"/>
          <p:nvPr/>
        </p:nvSpPr>
        <p:spPr>
          <a:xfrm rot="-5400000">
            <a:off x="9925" y="3942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Seeds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2" name="Google Shape;812;p61"/>
          <p:cNvSpPr/>
          <p:nvPr/>
        </p:nvSpPr>
        <p:spPr>
          <a:xfrm>
            <a:off x="1103300" y="18593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61"/>
          <p:cNvSpPr/>
          <p:nvPr/>
        </p:nvSpPr>
        <p:spPr>
          <a:xfrm>
            <a:off x="1941500" y="174030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61"/>
          <p:cNvSpPr/>
          <p:nvPr/>
        </p:nvSpPr>
        <p:spPr>
          <a:xfrm>
            <a:off x="2779700" y="2395150"/>
            <a:ext cx="595200" cy="137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61"/>
          <p:cNvSpPr/>
          <p:nvPr/>
        </p:nvSpPr>
        <p:spPr>
          <a:xfrm>
            <a:off x="3694100" y="805625"/>
            <a:ext cx="595200" cy="1726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1"/>
          <p:cNvSpPr/>
          <p:nvPr/>
        </p:nvSpPr>
        <p:spPr>
          <a:xfrm>
            <a:off x="4608500" y="728275"/>
            <a:ext cx="595200" cy="1803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61"/>
          <p:cNvSpPr/>
          <p:nvPr/>
        </p:nvSpPr>
        <p:spPr>
          <a:xfrm>
            <a:off x="5522900" y="2028025"/>
            <a:ext cx="595200" cy="504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61"/>
          <p:cNvSpPr/>
          <p:nvPr/>
        </p:nvSpPr>
        <p:spPr>
          <a:xfrm>
            <a:off x="6513500" y="18592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61"/>
          <p:cNvSpPr/>
          <p:nvPr/>
        </p:nvSpPr>
        <p:spPr>
          <a:xfrm>
            <a:off x="7504100" y="174015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0" name="Google Shape;82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00" y="27426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7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9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27426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100" y="29712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300" y="2666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700" y="28950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3047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00" y="28188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3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1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3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8300" y="25902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00" y="28188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700" y="2514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500" y="2895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500" y="2742675"/>
            <a:ext cx="672900" cy="6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1"/>
          <p:cNvSpPr/>
          <p:nvPr/>
        </p:nvSpPr>
        <p:spPr>
          <a:xfrm>
            <a:off x="4016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1"/>
          <p:cNvSpPr/>
          <p:nvPr/>
        </p:nvSpPr>
        <p:spPr>
          <a:xfrm>
            <a:off x="8159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1"/>
          <p:cNvSpPr/>
          <p:nvPr/>
        </p:nvSpPr>
        <p:spPr>
          <a:xfrm>
            <a:off x="10445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61"/>
          <p:cNvSpPr/>
          <p:nvPr/>
        </p:nvSpPr>
        <p:spPr>
          <a:xfrm>
            <a:off x="14255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1"/>
          <p:cNvSpPr/>
          <p:nvPr/>
        </p:nvSpPr>
        <p:spPr>
          <a:xfrm>
            <a:off x="2797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1"/>
          <p:cNvSpPr/>
          <p:nvPr/>
        </p:nvSpPr>
        <p:spPr>
          <a:xfrm>
            <a:off x="4321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61"/>
          <p:cNvSpPr/>
          <p:nvPr/>
        </p:nvSpPr>
        <p:spPr>
          <a:xfrm>
            <a:off x="4321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1"/>
          <p:cNvSpPr/>
          <p:nvPr/>
        </p:nvSpPr>
        <p:spPr>
          <a:xfrm>
            <a:off x="4549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61"/>
          <p:cNvSpPr/>
          <p:nvPr/>
        </p:nvSpPr>
        <p:spPr>
          <a:xfrm>
            <a:off x="4625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61"/>
          <p:cNvSpPr/>
          <p:nvPr/>
        </p:nvSpPr>
        <p:spPr>
          <a:xfrm>
            <a:off x="4854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1"/>
          <p:cNvSpPr/>
          <p:nvPr/>
        </p:nvSpPr>
        <p:spPr>
          <a:xfrm>
            <a:off x="3940175" y="3648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61"/>
          <p:cNvSpPr/>
          <p:nvPr/>
        </p:nvSpPr>
        <p:spPr>
          <a:xfrm>
            <a:off x="3178175" y="3800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61"/>
          <p:cNvSpPr/>
          <p:nvPr/>
        </p:nvSpPr>
        <p:spPr>
          <a:xfrm>
            <a:off x="3940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1"/>
          <p:cNvSpPr/>
          <p:nvPr/>
        </p:nvSpPr>
        <p:spPr>
          <a:xfrm>
            <a:off x="3178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1"/>
          <p:cNvSpPr/>
          <p:nvPr/>
        </p:nvSpPr>
        <p:spPr>
          <a:xfrm>
            <a:off x="29495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1"/>
          <p:cNvSpPr/>
          <p:nvPr/>
        </p:nvSpPr>
        <p:spPr>
          <a:xfrm>
            <a:off x="2797175" y="3724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1"/>
          <p:cNvSpPr/>
          <p:nvPr/>
        </p:nvSpPr>
        <p:spPr>
          <a:xfrm>
            <a:off x="30257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61"/>
          <p:cNvSpPr/>
          <p:nvPr/>
        </p:nvSpPr>
        <p:spPr>
          <a:xfrm>
            <a:off x="19589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1"/>
          <p:cNvSpPr/>
          <p:nvPr/>
        </p:nvSpPr>
        <p:spPr>
          <a:xfrm>
            <a:off x="916550" y="4309238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1"/>
          <p:cNvSpPr/>
          <p:nvPr/>
        </p:nvSpPr>
        <p:spPr>
          <a:xfrm>
            <a:off x="5845175" y="4410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61"/>
          <p:cNvSpPr/>
          <p:nvPr/>
        </p:nvSpPr>
        <p:spPr>
          <a:xfrm>
            <a:off x="49307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1"/>
          <p:cNvSpPr/>
          <p:nvPr/>
        </p:nvSpPr>
        <p:spPr>
          <a:xfrm>
            <a:off x="5235575" y="3800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1"/>
          <p:cNvSpPr/>
          <p:nvPr/>
        </p:nvSpPr>
        <p:spPr>
          <a:xfrm>
            <a:off x="52355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61"/>
          <p:cNvSpPr/>
          <p:nvPr/>
        </p:nvSpPr>
        <p:spPr>
          <a:xfrm>
            <a:off x="5464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61"/>
          <p:cNvSpPr/>
          <p:nvPr/>
        </p:nvSpPr>
        <p:spPr>
          <a:xfrm>
            <a:off x="5540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1"/>
          <p:cNvSpPr/>
          <p:nvPr/>
        </p:nvSpPr>
        <p:spPr>
          <a:xfrm>
            <a:off x="57689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1"/>
          <p:cNvSpPr/>
          <p:nvPr/>
        </p:nvSpPr>
        <p:spPr>
          <a:xfrm>
            <a:off x="48545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61"/>
          <p:cNvSpPr/>
          <p:nvPr/>
        </p:nvSpPr>
        <p:spPr>
          <a:xfrm>
            <a:off x="4854575" y="4029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5921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61"/>
          <p:cNvSpPr/>
          <p:nvPr/>
        </p:nvSpPr>
        <p:spPr>
          <a:xfrm>
            <a:off x="6226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61"/>
          <p:cNvSpPr/>
          <p:nvPr/>
        </p:nvSpPr>
        <p:spPr>
          <a:xfrm>
            <a:off x="6226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61"/>
          <p:cNvSpPr/>
          <p:nvPr/>
        </p:nvSpPr>
        <p:spPr>
          <a:xfrm>
            <a:off x="6454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6530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61"/>
          <p:cNvSpPr/>
          <p:nvPr/>
        </p:nvSpPr>
        <p:spPr>
          <a:xfrm>
            <a:off x="6759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61"/>
          <p:cNvSpPr/>
          <p:nvPr/>
        </p:nvSpPr>
        <p:spPr>
          <a:xfrm>
            <a:off x="6073775" y="37029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61"/>
          <p:cNvSpPr/>
          <p:nvPr/>
        </p:nvSpPr>
        <p:spPr>
          <a:xfrm>
            <a:off x="5845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70643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61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1"/>
          <p:cNvSpPr/>
          <p:nvPr/>
        </p:nvSpPr>
        <p:spPr>
          <a:xfrm>
            <a:off x="7369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61"/>
          <p:cNvSpPr/>
          <p:nvPr/>
        </p:nvSpPr>
        <p:spPr>
          <a:xfrm>
            <a:off x="75977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1"/>
          <p:cNvSpPr/>
          <p:nvPr/>
        </p:nvSpPr>
        <p:spPr>
          <a:xfrm>
            <a:off x="76739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61"/>
          <p:cNvSpPr/>
          <p:nvPr/>
        </p:nvSpPr>
        <p:spPr>
          <a:xfrm>
            <a:off x="79025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61"/>
          <p:cNvSpPr/>
          <p:nvPr/>
        </p:nvSpPr>
        <p:spPr>
          <a:xfrm>
            <a:off x="79787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61"/>
          <p:cNvSpPr/>
          <p:nvPr/>
        </p:nvSpPr>
        <p:spPr>
          <a:xfrm>
            <a:off x="69881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61"/>
          <p:cNvSpPr/>
          <p:nvPr/>
        </p:nvSpPr>
        <p:spPr>
          <a:xfrm>
            <a:off x="6226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1"/>
          <p:cNvSpPr/>
          <p:nvPr/>
        </p:nvSpPr>
        <p:spPr>
          <a:xfrm>
            <a:off x="65309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61"/>
          <p:cNvSpPr/>
          <p:nvPr/>
        </p:nvSpPr>
        <p:spPr>
          <a:xfrm>
            <a:off x="67595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61"/>
          <p:cNvSpPr/>
          <p:nvPr/>
        </p:nvSpPr>
        <p:spPr>
          <a:xfrm>
            <a:off x="66833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61"/>
          <p:cNvSpPr/>
          <p:nvPr/>
        </p:nvSpPr>
        <p:spPr>
          <a:xfrm>
            <a:off x="72929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61"/>
          <p:cNvSpPr/>
          <p:nvPr/>
        </p:nvSpPr>
        <p:spPr>
          <a:xfrm>
            <a:off x="7597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1"/>
          <p:cNvSpPr/>
          <p:nvPr/>
        </p:nvSpPr>
        <p:spPr>
          <a:xfrm>
            <a:off x="7826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61"/>
          <p:cNvSpPr/>
          <p:nvPr/>
        </p:nvSpPr>
        <p:spPr>
          <a:xfrm>
            <a:off x="7978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61"/>
          <p:cNvSpPr/>
          <p:nvPr/>
        </p:nvSpPr>
        <p:spPr>
          <a:xfrm>
            <a:off x="80549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1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61"/>
          <p:cNvSpPr/>
          <p:nvPr/>
        </p:nvSpPr>
        <p:spPr>
          <a:xfrm>
            <a:off x="968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1"/>
          <p:cNvSpPr/>
          <p:nvPr/>
        </p:nvSpPr>
        <p:spPr>
          <a:xfrm>
            <a:off x="1120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61"/>
          <p:cNvSpPr/>
          <p:nvPr/>
        </p:nvSpPr>
        <p:spPr>
          <a:xfrm>
            <a:off x="1425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61"/>
          <p:cNvSpPr/>
          <p:nvPr/>
        </p:nvSpPr>
        <p:spPr>
          <a:xfrm>
            <a:off x="13493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61"/>
          <p:cNvSpPr/>
          <p:nvPr/>
        </p:nvSpPr>
        <p:spPr>
          <a:xfrm>
            <a:off x="1730375" y="4029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1"/>
          <p:cNvSpPr/>
          <p:nvPr/>
        </p:nvSpPr>
        <p:spPr>
          <a:xfrm>
            <a:off x="17303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61"/>
          <p:cNvSpPr/>
          <p:nvPr/>
        </p:nvSpPr>
        <p:spPr>
          <a:xfrm>
            <a:off x="2035175" y="3876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61"/>
          <p:cNvSpPr/>
          <p:nvPr/>
        </p:nvSpPr>
        <p:spPr>
          <a:xfrm>
            <a:off x="2187575" y="4105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61"/>
          <p:cNvSpPr/>
          <p:nvPr/>
        </p:nvSpPr>
        <p:spPr>
          <a:xfrm>
            <a:off x="21875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1"/>
          <p:cNvSpPr/>
          <p:nvPr/>
        </p:nvSpPr>
        <p:spPr>
          <a:xfrm>
            <a:off x="23399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61"/>
          <p:cNvSpPr/>
          <p:nvPr/>
        </p:nvSpPr>
        <p:spPr>
          <a:xfrm>
            <a:off x="25685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1"/>
          <p:cNvSpPr/>
          <p:nvPr/>
        </p:nvSpPr>
        <p:spPr>
          <a:xfrm>
            <a:off x="3025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61"/>
          <p:cNvSpPr/>
          <p:nvPr/>
        </p:nvSpPr>
        <p:spPr>
          <a:xfrm>
            <a:off x="3482975" y="4181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1"/>
          <p:cNvSpPr/>
          <p:nvPr/>
        </p:nvSpPr>
        <p:spPr>
          <a:xfrm>
            <a:off x="4473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1"/>
          <p:cNvSpPr/>
          <p:nvPr/>
        </p:nvSpPr>
        <p:spPr>
          <a:xfrm>
            <a:off x="5464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1"/>
          <p:cNvSpPr/>
          <p:nvPr/>
        </p:nvSpPr>
        <p:spPr>
          <a:xfrm>
            <a:off x="35591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grpSp>
        <p:nvGrpSpPr>
          <p:cNvPr id="926" name="Google Shape;926;p62"/>
          <p:cNvGrpSpPr/>
          <p:nvPr/>
        </p:nvGrpSpPr>
        <p:grpSpPr>
          <a:xfrm>
            <a:off x="745924" y="1113148"/>
            <a:ext cx="7620171" cy="1418893"/>
            <a:chOff x="517325" y="2088925"/>
            <a:chExt cx="3092100" cy="2156700"/>
          </a:xfrm>
        </p:grpSpPr>
        <p:cxnSp>
          <p:nvCxnSpPr>
            <p:cNvPr id="927" name="Google Shape;927;p62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62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9" name="Google Shape;929;p62"/>
          <p:cNvSpPr txBox="1"/>
          <p:nvPr/>
        </p:nvSpPr>
        <p:spPr>
          <a:xfrm>
            <a:off x="745925" y="4665600"/>
            <a:ext cx="28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0" name="Google Shape;930;p62"/>
          <p:cNvSpPr txBox="1"/>
          <p:nvPr/>
        </p:nvSpPr>
        <p:spPr>
          <a:xfrm rot="-5400000">
            <a:off x="-384850" y="1311875"/>
            <a:ext cx="175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Mean Annual Precipitation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31" name="Google Shape;931;p62"/>
          <p:cNvGrpSpPr/>
          <p:nvPr/>
        </p:nvGrpSpPr>
        <p:grpSpPr>
          <a:xfrm>
            <a:off x="745924" y="2652585"/>
            <a:ext cx="7620171" cy="870013"/>
            <a:chOff x="517325" y="2088925"/>
            <a:chExt cx="3092100" cy="2156700"/>
          </a:xfrm>
        </p:grpSpPr>
        <p:cxnSp>
          <p:nvCxnSpPr>
            <p:cNvPr id="932" name="Google Shape;932;p62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62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34" name="Google Shape;934;p62"/>
          <p:cNvGrpSpPr/>
          <p:nvPr/>
        </p:nvGrpSpPr>
        <p:grpSpPr>
          <a:xfrm>
            <a:off x="745924" y="3795585"/>
            <a:ext cx="7620171" cy="870013"/>
            <a:chOff x="517325" y="2088925"/>
            <a:chExt cx="3092100" cy="2156700"/>
          </a:xfrm>
        </p:grpSpPr>
        <p:cxnSp>
          <p:nvCxnSpPr>
            <p:cNvPr id="935" name="Google Shape;935;p62"/>
            <p:cNvCxnSpPr/>
            <p:nvPr/>
          </p:nvCxnSpPr>
          <p:spPr>
            <a:xfrm>
              <a:off x="517325" y="4245625"/>
              <a:ext cx="309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62"/>
            <p:cNvCxnSpPr/>
            <p:nvPr/>
          </p:nvCxnSpPr>
          <p:spPr>
            <a:xfrm flipH="1" rot="10800000">
              <a:off x="517325" y="2088925"/>
              <a:ext cx="3900" cy="215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37" name="Google Shape;937;p62"/>
          <p:cNvSpPr txBox="1"/>
          <p:nvPr/>
        </p:nvSpPr>
        <p:spPr>
          <a:xfrm rot="-5400000">
            <a:off x="9925" y="2799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Adults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8" name="Google Shape;938;p62"/>
          <p:cNvSpPr txBox="1"/>
          <p:nvPr/>
        </p:nvSpPr>
        <p:spPr>
          <a:xfrm rot="-5400000">
            <a:off x="9925" y="3942275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Seeds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9" name="Google Shape;939;p62"/>
          <p:cNvSpPr/>
          <p:nvPr/>
        </p:nvSpPr>
        <p:spPr>
          <a:xfrm>
            <a:off x="1103300" y="18593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2"/>
          <p:cNvSpPr/>
          <p:nvPr/>
        </p:nvSpPr>
        <p:spPr>
          <a:xfrm>
            <a:off x="1941500" y="174030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2"/>
          <p:cNvSpPr/>
          <p:nvPr/>
        </p:nvSpPr>
        <p:spPr>
          <a:xfrm>
            <a:off x="2779700" y="2395150"/>
            <a:ext cx="595200" cy="1371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2"/>
          <p:cNvSpPr/>
          <p:nvPr/>
        </p:nvSpPr>
        <p:spPr>
          <a:xfrm>
            <a:off x="3694100" y="805625"/>
            <a:ext cx="595200" cy="1726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2"/>
          <p:cNvSpPr/>
          <p:nvPr/>
        </p:nvSpPr>
        <p:spPr>
          <a:xfrm>
            <a:off x="4608500" y="728275"/>
            <a:ext cx="595200" cy="1803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2"/>
          <p:cNvSpPr/>
          <p:nvPr/>
        </p:nvSpPr>
        <p:spPr>
          <a:xfrm>
            <a:off x="5522900" y="2028025"/>
            <a:ext cx="595200" cy="504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2"/>
          <p:cNvSpPr/>
          <p:nvPr/>
        </p:nvSpPr>
        <p:spPr>
          <a:xfrm>
            <a:off x="6513500" y="1859250"/>
            <a:ext cx="595200" cy="6729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2"/>
          <p:cNvSpPr/>
          <p:nvPr/>
        </p:nvSpPr>
        <p:spPr>
          <a:xfrm>
            <a:off x="7504100" y="1740150"/>
            <a:ext cx="595200" cy="792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7" name="Google Shape;94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00" y="27426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9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1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700" y="2514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900" y="28950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27426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0100" y="29712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300" y="2666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700" y="28950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700" y="3047475"/>
            <a:ext cx="202801" cy="3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00" y="28188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7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300" y="26664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3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2100" y="2590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3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00" y="2971275"/>
            <a:ext cx="4617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8300" y="25902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00" y="28188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700" y="2514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500" y="2895075"/>
            <a:ext cx="672900" cy="6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500" y="2742675"/>
            <a:ext cx="672900" cy="6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62"/>
          <p:cNvSpPr/>
          <p:nvPr/>
        </p:nvSpPr>
        <p:spPr>
          <a:xfrm>
            <a:off x="4016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2"/>
          <p:cNvSpPr/>
          <p:nvPr/>
        </p:nvSpPr>
        <p:spPr>
          <a:xfrm>
            <a:off x="8159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2"/>
          <p:cNvSpPr/>
          <p:nvPr/>
        </p:nvSpPr>
        <p:spPr>
          <a:xfrm>
            <a:off x="10445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2"/>
          <p:cNvSpPr/>
          <p:nvPr/>
        </p:nvSpPr>
        <p:spPr>
          <a:xfrm>
            <a:off x="14255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2"/>
          <p:cNvSpPr/>
          <p:nvPr/>
        </p:nvSpPr>
        <p:spPr>
          <a:xfrm>
            <a:off x="2797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2"/>
          <p:cNvSpPr/>
          <p:nvPr/>
        </p:nvSpPr>
        <p:spPr>
          <a:xfrm>
            <a:off x="4321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2"/>
          <p:cNvSpPr/>
          <p:nvPr/>
        </p:nvSpPr>
        <p:spPr>
          <a:xfrm>
            <a:off x="4321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2"/>
          <p:cNvSpPr/>
          <p:nvPr/>
        </p:nvSpPr>
        <p:spPr>
          <a:xfrm>
            <a:off x="4549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2"/>
          <p:cNvSpPr/>
          <p:nvPr/>
        </p:nvSpPr>
        <p:spPr>
          <a:xfrm>
            <a:off x="4625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2"/>
          <p:cNvSpPr/>
          <p:nvPr/>
        </p:nvSpPr>
        <p:spPr>
          <a:xfrm>
            <a:off x="4854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2"/>
          <p:cNvSpPr/>
          <p:nvPr/>
        </p:nvSpPr>
        <p:spPr>
          <a:xfrm>
            <a:off x="3940175" y="3648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2"/>
          <p:cNvSpPr/>
          <p:nvPr/>
        </p:nvSpPr>
        <p:spPr>
          <a:xfrm>
            <a:off x="3178175" y="3800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2"/>
          <p:cNvSpPr/>
          <p:nvPr/>
        </p:nvSpPr>
        <p:spPr>
          <a:xfrm>
            <a:off x="3940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2"/>
          <p:cNvSpPr/>
          <p:nvPr/>
        </p:nvSpPr>
        <p:spPr>
          <a:xfrm>
            <a:off x="3178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2"/>
          <p:cNvSpPr/>
          <p:nvPr/>
        </p:nvSpPr>
        <p:spPr>
          <a:xfrm>
            <a:off x="29495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2"/>
          <p:cNvSpPr/>
          <p:nvPr/>
        </p:nvSpPr>
        <p:spPr>
          <a:xfrm>
            <a:off x="2797175" y="3724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2"/>
          <p:cNvSpPr/>
          <p:nvPr/>
        </p:nvSpPr>
        <p:spPr>
          <a:xfrm>
            <a:off x="30257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2"/>
          <p:cNvSpPr/>
          <p:nvPr/>
        </p:nvSpPr>
        <p:spPr>
          <a:xfrm>
            <a:off x="1958975" y="42576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2"/>
          <p:cNvSpPr/>
          <p:nvPr/>
        </p:nvSpPr>
        <p:spPr>
          <a:xfrm>
            <a:off x="916550" y="4309238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"/>
          <p:cNvSpPr/>
          <p:nvPr/>
        </p:nvSpPr>
        <p:spPr>
          <a:xfrm>
            <a:off x="5845175" y="4410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2"/>
          <p:cNvSpPr/>
          <p:nvPr/>
        </p:nvSpPr>
        <p:spPr>
          <a:xfrm>
            <a:off x="49307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2"/>
          <p:cNvSpPr/>
          <p:nvPr/>
        </p:nvSpPr>
        <p:spPr>
          <a:xfrm>
            <a:off x="5235575" y="3800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2"/>
          <p:cNvSpPr/>
          <p:nvPr/>
        </p:nvSpPr>
        <p:spPr>
          <a:xfrm>
            <a:off x="52355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5464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5540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57689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2"/>
          <p:cNvSpPr/>
          <p:nvPr/>
        </p:nvSpPr>
        <p:spPr>
          <a:xfrm>
            <a:off x="4854575" y="35718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4854575" y="40290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59213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6226175" y="3876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2"/>
          <p:cNvSpPr/>
          <p:nvPr/>
        </p:nvSpPr>
        <p:spPr>
          <a:xfrm>
            <a:off x="6226175" y="41814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2"/>
          <p:cNvSpPr/>
          <p:nvPr/>
        </p:nvSpPr>
        <p:spPr>
          <a:xfrm>
            <a:off x="64547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2"/>
          <p:cNvSpPr/>
          <p:nvPr/>
        </p:nvSpPr>
        <p:spPr>
          <a:xfrm>
            <a:off x="65309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>
            <a:off x="6759575" y="4333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6073775" y="37029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5845175" y="41052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2"/>
          <p:cNvSpPr/>
          <p:nvPr/>
        </p:nvSpPr>
        <p:spPr>
          <a:xfrm>
            <a:off x="7064375" y="4029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2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2"/>
          <p:cNvSpPr/>
          <p:nvPr/>
        </p:nvSpPr>
        <p:spPr>
          <a:xfrm>
            <a:off x="7369175" y="42576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2"/>
          <p:cNvSpPr/>
          <p:nvPr/>
        </p:nvSpPr>
        <p:spPr>
          <a:xfrm>
            <a:off x="75977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2"/>
          <p:cNvSpPr/>
          <p:nvPr/>
        </p:nvSpPr>
        <p:spPr>
          <a:xfrm>
            <a:off x="7673975" y="41052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2"/>
          <p:cNvSpPr/>
          <p:nvPr/>
        </p:nvSpPr>
        <p:spPr>
          <a:xfrm>
            <a:off x="7902575" y="4410075"/>
            <a:ext cx="196800" cy="208500"/>
          </a:xfrm>
          <a:prstGeom prst="ellipse">
            <a:avLst/>
          </a:prstGeom>
          <a:solidFill>
            <a:srgbClr val="DCE67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2"/>
          <p:cNvSpPr/>
          <p:nvPr/>
        </p:nvSpPr>
        <p:spPr>
          <a:xfrm>
            <a:off x="79787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2"/>
          <p:cNvSpPr/>
          <p:nvPr/>
        </p:nvSpPr>
        <p:spPr>
          <a:xfrm>
            <a:off x="6988175" y="4181475"/>
            <a:ext cx="196800" cy="208500"/>
          </a:xfrm>
          <a:prstGeom prst="ellipse">
            <a:avLst/>
          </a:prstGeom>
          <a:solidFill>
            <a:srgbClr val="5F68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2"/>
          <p:cNvSpPr/>
          <p:nvPr/>
        </p:nvSpPr>
        <p:spPr>
          <a:xfrm>
            <a:off x="6226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2"/>
          <p:cNvSpPr/>
          <p:nvPr/>
        </p:nvSpPr>
        <p:spPr>
          <a:xfrm>
            <a:off x="65309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2"/>
          <p:cNvSpPr/>
          <p:nvPr/>
        </p:nvSpPr>
        <p:spPr>
          <a:xfrm>
            <a:off x="67595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2"/>
          <p:cNvSpPr/>
          <p:nvPr/>
        </p:nvSpPr>
        <p:spPr>
          <a:xfrm>
            <a:off x="66833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2"/>
          <p:cNvSpPr/>
          <p:nvPr/>
        </p:nvSpPr>
        <p:spPr>
          <a:xfrm>
            <a:off x="72929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2"/>
          <p:cNvSpPr/>
          <p:nvPr/>
        </p:nvSpPr>
        <p:spPr>
          <a:xfrm>
            <a:off x="7597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2"/>
          <p:cNvSpPr/>
          <p:nvPr/>
        </p:nvSpPr>
        <p:spPr>
          <a:xfrm>
            <a:off x="7826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2"/>
          <p:cNvSpPr/>
          <p:nvPr/>
        </p:nvSpPr>
        <p:spPr>
          <a:xfrm>
            <a:off x="7978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2"/>
          <p:cNvSpPr/>
          <p:nvPr/>
        </p:nvSpPr>
        <p:spPr>
          <a:xfrm>
            <a:off x="80549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2"/>
          <p:cNvSpPr/>
          <p:nvPr/>
        </p:nvSpPr>
        <p:spPr>
          <a:xfrm>
            <a:off x="73691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2"/>
          <p:cNvSpPr/>
          <p:nvPr/>
        </p:nvSpPr>
        <p:spPr>
          <a:xfrm>
            <a:off x="9683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2"/>
          <p:cNvSpPr/>
          <p:nvPr/>
        </p:nvSpPr>
        <p:spPr>
          <a:xfrm>
            <a:off x="11207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2"/>
          <p:cNvSpPr/>
          <p:nvPr/>
        </p:nvSpPr>
        <p:spPr>
          <a:xfrm>
            <a:off x="1425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2"/>
          <p:cNvSpPr/>
          <p:nvPr/>
        </p:nvSpPr>
        <p:spPr>
          <a:xfrm>
            <a:off x="13493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2"/>
          <p:cNvSpPr/>
          <p:nvPr/>
        </p:nvSpPr>
        <p:spPr>
          <a:xfrm>
            <a:off x="1730375" y="4029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2"/>
          <p:cNvSpPr/>
          <p:nvPr/>
        </p:nvSpPr>
        <p:spPr>
          <a:xfrm>
            <a:off x="17303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2"/>
          <p:cNvSpPr/>
          <p:nvPr/>
        </p:nvSpPr>
        <p:spPr>
          <a:xfrm>
            <a:off x="2035175" y="3876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2"/>
          <p:cNvSpPr/>
          <p:nvPr/>
        </p:nvSpPr>
        <p:spPr>
          <a:xfrm>
            <a:off x="2187575" y="4105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2"/>
          <p:cNvSpPr/>
          <p:nvPr/>
        </p:nvSpPr>
        <p:spPr>
          <a:xfrm>
            <a:off x="21875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2"/>
          <p:cNvSpPr/>
          <p:nvPr/>
        </p:nvSpPr>
        <p:spPr>
          <a:xfrm>
            <a:off x="2339975" y="3800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2"/>
          <p:cNvSpPr/>
          <p:nvPr/>
        </p:nvSpPr>
        <p:spPr>
          <a:xfrm>
            <a:off x="2568575" y="42576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2"/>
          <p:cNvSpPr/>
          <p:nvPr/>
        </p:nvSpPr>
        <p:spPr>
          <a:xfrm>
            <a:off x="3025775" y="3952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2"/>
          <p:cNvSpPr/>
          <p:nvPr/>
        </p:nvSpPr>
        <p:spPr>
          <a:xfrm>
            <a:off x="3482975" y="41814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2"/>
          <p:cNvSpPr/>
          <p:nvPr/>
        </p:nvSpPr>
        <p:spPr>
          <a:xfrm>
            <a:off x="4473575" y="36480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2"/>
          <p:cNvSpPr/>
          <p:nvPr/>
        </p:nvSpPr>
        <p:spPr>
          <a:xfrm>
            <a:off x="5464175" y="35718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2"/>
          <p:cNvSpPr/>
          <p:nvPr/>
        </p:nvSpPr>
        <p:spPr>
          <a:xfrm>
            <a:off x="3559175" y="3724275"/>
            <a:ext cx="196800" cy="208500"/>
          </a:xfrm>
          <a:prstGeom prst="ellipse">
            <a:avLst/>
          </a:prstGeom>
          <a:solidFill>
            <a:srgbClr val="E6B37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8" name="Google Shape;1048;p62"/>
          <p:cNvCxnSpPr/>
          <p:nvPr/>
        </p:nvCxnSpPr>
        <p:spPr>
          <a:xfrm rot="10800000">
            <a:off x="6044400" y="827500"/>
            <a:ext cx="545700" cy="2053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49" name="Google Shape;1049;p62"/>
          <p:cNvSpPr txBox="1"/>
          <p:nvPr/>
        </p:nvSpPr>
        <p:spPr>
          <a:xfrm>
            <a:off x="5391725" y="193475"/>
            <a:ext cx="12561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980000"/>
                </a:solidFill>
              </a:rPr>
              <a:t>α</a:t>
            </a:r>
            <a:r>
              <a:rPr b="1" baseline="-25000" lang="en" sz="2600">
                <a:solidFill>
                  <a:srgbClr val="980000"/>
                </a:solidFill>
              </a:rPr>
              <a:t>ii</a:t>
            </a:r>
            <a:r>
              <a:rPr b="1" lang="en" sz="2600">
                <a:solidFill>
                  <a:srgbClr val="980000"/>
                </a:solidFill>
              </a:rPr>
              <a:t> &gt; α</a:t>
            </a:r>
            <a:r>
              <a:rPr b="1" baseline="-25000" lang="en" sz="2600">
                <a:solidFill>
                  <a:srgbClr val="980000"/>
                </a:solidFill>
              </a:rPr>
              <a:t>ji</a:t>
            </a:r>
            <a:endParaRPr b="1" baseline="-25000" sz="2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55" name="Google Shape;1055;p63"/>
          <p:cNvPicPr preferRelativeResize="0"/>
          <p:nvPr/>
        </p:nvPicPr>
        <p:blipFill rotWithShape="1">
          <a:blip r:embed="rId3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61" name="Google Shape;106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83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64"/>
          <p:cNvPicPr preferRelativeResize="0"/>
          <p:nvPr/>
        </p:nvPicPr>
        <p:blipFill rotWithShape="1">
          <a:blip r:embed="rId4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68" name="Google Shape;106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1683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100" y="46400"/>
            <a:ext cx="2910299" cy="50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5"/>
          <p:cNvPicPr preferRelativeResize="0"/>
          <p:nvPr/>
        </p:nvPicPr>
        <p:blipFill rotWithShape="1">
          <a:blip r:embed="rId5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Effect</a:t>
            </a:r>
            <a:endParaRPr/>
          </a:p>
        </p:txBody>
      </p:sp>
      <p:pic>
        <p:nvPicPr>
          <p:cNvPr id="1076" name="Google Shape;1076;p66"/>
          <p:cNvPicPr preferRelativeResize="0"/>
          <p:nvPr/>
        </p:nvPicPr>
        <p:blipFill rotWithShape="1">
          <a:blip r:embed="rId3">
            <a:alphaModFix/>
          </a:blip>
          <a:srcRect b="0" l="0" r="46265" t="0"/>
          <a:stretch/>
        </p:blipFill>
        <p:spPr>
          <a:xfrm>
            <a:off x="152400" y="1170125"/>
            <a:ext cx="3560373" cy="38209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7" name="Google Shape;1077;p66"/>
          <p:cNvPicPr preferRelativeResize="0"/>
          <p:nvPr/>
        </p:nvPicPr>
        <p:blipFill rotWithShape="1">
          <a:blip r:embed="rId4">
            <a:alphaModFix/>
          </a:blip>
          <a:srcRect b="47136" l="17128" r="23951" t="25712"/>
          <a:stretch/>
        </p:blipFill>
        <p:spPr>
          <a:xfrm>
            <a:off x="2561825" y="138175"/>
            <a:ext cx="3393274" cy="879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</a:t>
            </a:r>
            <a:r>
              <a:rPr lang="en"/>
              <a:t>Takeaways</a:t>
            </a:r>
            <a:endParaRPr/>
          </a:p>
        </p:txBody>
      </p:sp>
      <p:sp>
        <p:nvSpPr>
          <p:cNvPr id="1083" name="Google Shape;1083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</a:t>
            </a:r>
            <a:r>
              <a:rPr lang="en"/>
              <a:t> coexistence requires meaningful differences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can differ in </a:t>
            </a:r>
            <a:r>
              <a:rPr lang="en"/>
              <a:t>resource/predation in space and/or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Trade-offs are critical!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Trade-offs need to make </a:t>
            </a:r>
            <a:r>
              <a:rPr b="1" lang="en"/>
              <a:t>α</a:t>
            </a:r>
            <a:r>
              <a:rPr b="1" baseline="-25000" lang="en"/>
              <a:t>ii</a:t>
            </a:r>
            <a:r>
              <a:rPr b="1" lang="en"/>
              <a:t> &gt; α</a:t>
            </a:r>
            <a:r>
              <a:rPr b="1" baseline="-25000" lang="en"/>
              <a:t>ji</a:t>
            </a:r>
            <a:r>
              <a:rPr baseline="-25000" lang="en"/>
              <a:t> </a:t>
            </a:r>
            <a:r>
              <a:rPr lang="en"/>
              <a:t>for coexistence</a:t>
            </a:r>
            <a:endParaRPr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Mutualism and Facilitation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